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heme/themeOverride1.xml" ContentType="application/vnd.openxmlformats-officedocument.themeOverr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1"/>
  </p:notesMasterIdLst>
  <p:sldIdLst>
    <p:sldId id="256" r:id="rId2"/>
    <p:sldId id="328" r:id="rId3"/>
    <p:sldId id="257" r:id="rId4"/>
    <p:sldId id="258" r:id="rId5"/>
    <p:sldId id="360" r:id="rId6"/>
    <p:sldId id="290" r:id="rId7"/>
    <p:sldId id="271" r:id="rId8"/>
    <p:sldId id="272" r:id="rId9"/>
    <p:sldId id="356" r:id="rId10"/>
    <p:sldId id="275" r:id="rId11"/>
    <p:sldId id="296" r:id="rId12"/>
    <p:sldId id="357" r:id="rId13"/>
    <p:sldId id="358" r:id="rId14"/>
    <p:sldId id="263" r:id="rId15"/>
    <p:sldId id="264" r:id="rId16"/>
    <p:sldId id="265" r:id="rId17"/>
    <p:sldId id="266" r:id="rId18"/>
    <p:sldId id="267" r:id="rId19"/>
    <p:sldId id="359" r:id="rId20"/>
    <p:sldId id="335" r:id="rId21"/>
    <p:sldId id="361" r:id="rId22"/>
    <p:sldId id="278" r:id="rId23"/>
    <p:sldId id="279" r:id="rId24"/>
    <p:sldId id="280" r:id="rId25"/>
    <p:sldId id="283" r:id="rId26"/>
    <p:sldId id="353" r:id="rId27"/>
    <p:sldId id="316" r:id="rId28"/>
    <p:sldId id="282" r:id="rId29"/>
    <p:sldId id="281" r:id="rId30"/>
    <p:sldId id="349" r:id="rId31"/>
    <p:sldId id="314" r:id="rId32"/>
    <p:sldId id="318" r:id="rId33"/>
    <p:sldId id="315" r:id="rId34"/>
    <p:sldId id="317" r:id="rId35"/>
    <p:sldId id="362" r:id="rId36"/>
    <p:sldId id="363" r:id="rId37"/>
    <p:sldId id="364" r:id="rId38"/>
    <p:sldId id="365" r:id="rId39"/>
    <p:sldId id="322" r:id="rId40"/>
    <p:sldId id="284" r:id="rId41"/>
    <p:sldId id="330" r:id="rId42"/>
    <p:sldId id="319" r:id="rId43"/>
    <p:sldId id="320" r:id="rId44"/>
    <p:sldId id="321" r:id="rId45"/>
    <p:sldId id="333" r:id="rId46"/>
    <p:sldId id="331" r:id="rId47"/>
    <p:sldId id="329" r:id="rId48"/>
    <p:sldId id="288" r:id="rId49"/>
    <p:sldId id="289" r:id="rId50"/>
    <p:sldId id="323" r:id="rId51"/>
    <p:sldId id="324" r:id="rId52"/>
    <p:sldId id="332" r:id="rId53"/>
    <p:sldId id="326" r:id="rId54"/>
    <p:sldId id="327" r:id="rId55"/>
    <p:sldId id="325" r:id="rId56"/>
    <p:sldId id="334" r:id="rId57"/>
    <p:sldId id="301" r:id="rId58"/>
    <p:sldId id="302" r:id="rId59"/>
    <p:sldId id="348" r:id="rId60"/>
    <p:sldId id="303" r:id="rId61"/>
    <p:sldId id="304" r:id="rId62"/>
    <p:sldId id="305" r:id="rId63"/>
    <p:sldId id="306" r:id="rId64"/>
    <p:sldId id="307" r:id="rId65"/>
    <p:sldId id="354" r:id="rId66"/>
    <p:sldId id="308" r:id="rId67"/>
    <p:sldId id="309" r:id="rId68"/>
    <p:sldId id="310" r:id="rId69"/>
    <p:sldId id="311" r:id="rId70"/>
  </p:sldIdLst>
  <p:sldSz cx="12192000" cy="6858000"/>
  <p:notesSz cx="9144000" cy="6858000"/>
  <p:custDataLst>
    <p:tags r:id="rId72"/>
  </p:custDataLst>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717"/>
    <p:restoredTop sz="84825"/>
  </p:normalViewPr>
  <p:slideViewPr>
    <p:cSldViewPr>
      <p:cViewPr varScale="1">
        <p:scale>
          <a:sx n="104" d="100"/>
          <a:sy n="104" d="100"/>
        </p:scale>
        <p:origin x="832" y="208"/>
      </p:cViewPr>
      <p:guideLst>
        <p:guide orient="horz" pos="288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gs" Target="tags/tag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965D74A5-D504-9848-839A-5EA8BB440F9C}" type="datetimeFigureOut">
              <a:rPr lang="en-NL" smtClean="0"/>
              <a:t>07/11/2025</a:t>
            </a:fld>
            <a:endParaRPr lang="en-NL"/>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92E2CED6-FFCC-DF49-8621-6AEC29F36828}" type="slidenum">
              <a:rPr lang="en-NL" smtClean="0"/>
              <a:t>‹#›</a:t>
            </a:fld>
            <a:endParaRPr lang="en-NL"/>
          </a:p>
        </p:txBody>
      </p:sp>
    </p:spTree>
    <p:extLst>
      <p:ext uri="{BB962C8B-B14F-4D97-AF65-F5344CB8AC3E}">
        <p14:creationId xmlns:p14="http://schemas.microsoft.com/office/powerpoint/2010/main" val="1931608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g34675f59f6b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2" name="Google Shape;572;g34675f59f6b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g300a6b8ee78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9" name="Google Shape;579;g300a6b8ee78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g314065cd653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1" name="Google Shape;781;g314065cd653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g314c6dacc2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7" name="Google Shape;857;g314c6dacc2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g314065cd653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4" name="Google Shape;794;g314065cd653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34675f59f6b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9" name="Google Shape;379;g34675f59f6b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300a6b8ee78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300a6b8ee78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300a6b8ee78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300a6b8ee78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300a6b8ee78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9" name="Google Shape;409;g300a6b8ee78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300a6b8ee78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3" name="Google Shape;423;g300a6b8ee78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300ffccb3a0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300ffccb3a0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92E2CED6-FFCC-DF49-8621-6AEC29F36828}" type="slidenum">
              <a:rPr lang="en-NL" smtClean="0"/>
              <a:t>19</a:t>
            </a:fld>
            <a:endParaRPr lang="en-NL"/>
          </a:p>
        </p:txBody>
      </p:sp>
    </p:spTree>
    <p:extLst>
      <p:ext uri="{BB962C8B-B14F-4D97-AF65-F5344CB8AC3E}">
        <p14:creationId xmlns:p14="http://schemas.microsoft.com/office/powerpoint/2010/main" val="772481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333333"/>
                </a:solidFill>
                <a:effectLst/>
                <a:latin typeface="NVIDIA Sans"/>
              </a:rPr>
              <a:t>&gt;There is no dedicated texture memory in current architectures. Textures are stored as global memory which is bound to a given texture reference. CUDA provides an API for this.</a:t>
            </a:r>
          </a:p>
          <a:p>
            <a:pPr algn="l"/>
            <a:r>
              <a:rPr lang="en-GB" b="0" i="0" dirty="0">
                <a:solidFill>
                  <a:srgbClr val="333333"/>
                </a:solidFill>
                <a:effectLst/>
                <a:latin typeface="NVIDIA Sans"/>
              </a:rPr>
              <a:t>&gt;The texture units have a small read cache, and that cache often provides some speed up over reading from global memory, although cache misses can hurt performance depending on the spatial organization of the data bound to a texture and access patterns.</a:t>
            </a:r>
          </a:p>
          <a:p>
            <a:pPr algn="l"/>
            <a:r>
              <a:rPr lang="en-GB" b="0" i="0" dirty="0">
                <a:solidFill>
                  <a:srgbClr val="333333"/>
                </a:solidFill>
                <a:effectLst/>
                <a:latin typeface="NVIDIA Sans"/>
              </a:rPr>
              <a:t>&gt;Texture references provide a method for CUDA kernels running on the shader cores to transparently fork texture unit threads and access data bound as textures. This data access can include filtering and interpolation, and as of CUDA 2.x can be done in 1D, 2D, or 3D.</a:t>
            </a:r>
          </a:p>
          <a:p>
            <a:endParaRPr lang="en-NL" dirty="0"/>
          </a:p>
        </p:txBody>
      </p:sp>
      <p:sp>
        <p:nvSpPr>
          <p:cNvPr id="4" name="Slide Number Placeholder 3"/>
          <p:cNvSpPr>
            <a:spLocks noGrp="1"/>
          </p:cNvSpPr>
          <p:nvPr>
            <p:ph type="sldNum" sz="quarter" idx="5"/>
          </p:nvPr>
        </p:nvSpPr>
        <p:spPr/>
        <p:txBody>
          <a:bodyPr/>
          <a:lstStyle/>
          <a:p>
            <a:fld id="{92E2CED6-FFCC-DF49-8621-6AEC29F36828}" type="slidenum">
              <a:rPr lang="en-NL" smtClean="0"/>
              <a:t>28</a:t>
            </a:fld>
            <a:endParaRPr lang="en-NL"/>
          </a:p>
        </p:txBody>
      </p:sp>
    </p:spTree>
    <p:extLst>
      <p:ext uri="{BB962C8B-B14F-4D97-AF65-F5344CB8AC3E}">
        <p14:creationId xmlns:p14="http://schemas.microsoft.com/office/powerpoint/2010/main" val="42797187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a:t>
            </a:r>
          </a:p>
        </p:txBody>
      </p:sp>
      <p:sp>
        <p:nvSpPr>
          <p:cNvPr id="4" name="Slide Number Placeholder 3"/>
          <p:cNvSpPr>
            <a:spLocks noGrp="1"/>
          </p:cNvSpPr>
          <p:nvPr>
            <p:ph type="sldNum" sz="quarter" idx="5"/>
          </p:nvPr>
        </p:nvSpPr>
        <p:spPr/>
        <p:txBody>
          <a:bodyPr/>
          <a:lstStyle/>
          <a:p>
            <a:fld id="{8212B5DA-D4B9-224A-A7C2-18744B9D6577}" type="slidenum">
              <a:rPr lang="en-NL" smtClean="0"/>
              <a:t>32</a:t>
            </a:fld>
            <a:endParaRPr lang="en-NL"/>
          </a:p>
        </p:txBody>
      </p:sp>
    </p:spTree>
    <p:extLst>
      <p:ext uri="{BB962C8B-B14F-4D97-AF65-F5344CB8AC3E}">
        <p14:creationId xmlns:p14="http://schemas.microsoft.com/office/powerpoint/2010/main" val="26349722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92E2CED6-FFCC-DF49-8621-6AEC29F36828}" type="slidenum">
              <a:rPr lang="en-NL" smtClean="0"/>
              <a:t>34</a:t>
            </a:fld>
            <a:endParaRPr lang="en-NL"/>
          </a:p>
        </p:txBody>
      </p:sp>
    </p:spTree>
    <p:extLst>
      <p:ext uri="{BB962C8B-B14F-4D97-AF65-F5344CB8AC3E}">
        <p14:creationId xmlns:p14="http://schemas.microsoft.com/office/powerpoint/2010/main" val="17788954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5"/>
        <p:cNvGrpSpPr/>
        <p:nvPr/>
      </p:nvGrpSpPr>
      <p:grpSpPr>
        <a:xfrm>
          <a:off x="0" y="0"/>
          <a:ext cx="0" cy="0"/>
          <a:chOff x="0" y="0"/>
          <a:chExt cx="0" cy="0"/>
        </a:xfrm>
      </p:grpSpPr>
      <p:sp>
        <p:nvSpPr>
          <p:cNvPr id="1296" name="Google Shape;1296;g2a445f0e237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7" name="Google Shape;1297;g2a445f0e237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5"/>
        <p:cNvGrpSpPr/>
        <p:nvPr/>
      </p:nvGrpSpPr>
      <p:grpSpPr>
        <a:xfrm>
          <a:off x="0" y="0"/>
          <a:ext cx="0" cy="0"/>
          <a:chOff x="0" y="0"/>
          <a:chExt cx="0" cy="0"/>
        </a:xfrm>
      </p:grpSpPr>
      <p:sp>
        <p:nvSpPr>
          <p:cNvPr id="1306" name="Google Shape;1306;g2a445f0e237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7" name="Google Shape;1307;g2a445f0e237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7"/>
        <p:cNvGrpSpPr/>
        <p:nvPr/>
      </p:nvGrpSpPr>
      <p:grpSpPr>
        <a:xfrm>
          <a:off x="0" y="0"/>
          <a:ext cx="0" cy="0"/>
          <a:chOff x="0" y="0"/>
          <a:chExt cx="0" cy="0"/>
        </a:xfrm>
      </p:grpSpPr>
      <p:sp>
        <p:nvSpPr>
          <p:cNvPr id="1378" name="Google Shape;1378;g2a445f0e237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9" name="Google Shape;1379;g2a445f0e237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 blocks need to reserve hardware resources to execute, </a:t>
            </a: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3"/>
        <p:cNvGrpSpPr/>
        <p:nvPr/>
      </p:nvGrpSpPr>
      <p:grpSpPr>
        <a:xfrm>
          <a:off x="0" y="0"/>
          <a:ext cx="0" cy="0"/>
          <a:chOff x="0" y="0"/>
          <a:chExt cx="0" cy="0"/>
        </a:xfrm>
      </p:grpSpPr>
      <p:sp>
        <p:nvSpPr>
          <p:cNvPr id="1474" name="Google Shape;1474;g2a445f0e237_0_2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5" name="Google Shape;1475;g2a445f0e237_0_2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7"/>
        <p:cNvGrpSpPr/>
        <p:nvPr/>
      </p:nvGrpSpPr>
      <p:grpSpPr>
        <a:xfrm>
          <a:off x="0" y="0"/>
          <a:ext cx="0" cy="0"/>
          <a:chOff x="0" y="0"/>
          <a:chExt cx="0" cy="0"/>
        </a:xfrm>
      </p:grpSpPr>
      <p:sp>
        <p:nvSpPr>
          <p:cNvPr id="1528" name="Google Shape;1528;g2a445f0e237_0_4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9" name="Google Shape;1529;g2a445f0e237_0_4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a:r>
              <a:rPr lang="en-GB" dirty="0"/>
              <a:t>This part of the implementation, </a:t>
            </a:r>
            <a:r>
              <a:rPr lang="en-GB" u="sng" dirty="0"/>
              <a:t>not</a:t>
            </a:r>
            <a:r>
              <a:rPr lang="en-GB" dirty="0"/>
              <a:t> of the programming model </a:t>
            </a:r>
          </a:p>
          <a:p>
            <a:pPr rtl="0">
              <a:spcBef>
                <a:spcPts val="0"/>
              </a:spcBef>
            </a:pPr>
            <a:r>
              <a:rPr lang="en-GB" dirty="0"/>
              <a:t>Warps are divided based on the linearized thread index </a:t>
            </a:r>
          </a:p>
          <a:p>
            <a:pPr marL="0" lvl="0" indent="0" algn="l" rtl="0">
              <a:spcBef>
                <a:spcPts val="0"/>
              </a:spcBef>
              <a:spcAft>
                <a:spcPts val="0"/>
              </a:spcAft>
              <a:buNone/>
            </a:pP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HIDE LATENCY</a:t>
            </a:r>
          </a:p>
        </p:txBody>
      </p:sp>
      <p:sp>
        <p:nvSpPr>
          <p:cNvPr id="4" name="Slide Number Placeholder 3"/>
          <p:cNvSpPr>
            <a:spLocks noGrp="1"/>
          </p:cNvSpPr>
          <p:nvPr>
            <p:ph type="sldNum" sz="quarter" idx="5"/>
          </p:nvPr>
        </p:nvSpPr>
        <p:spPr/>
        <p:txBody>
          <a:bodyPr/>
          <a:lstStyle/>
          <a:p>
            <a:fld id="{92E2CED6-FFCC-DF49-8621-6AEC29F36828}" type="slidenum">
              <a:rPr lang="en-NL" smtClean="0"/>
              <a:t>44</a:t>
            </a:fld>
            <a:endParaRPr lang="en-NL"/>
          </a:p>
        </p:txBody>
      </p:sp>
    </p:spTree>
    <p:extLst>
      <p:ext uri="{BB962C8B-B14F-4D97-AF65-F5344CB8AC3E}">
        <p14:creationId xmlns:p14="http://schemas.microsoft.com/office/powerpoint/2010/main" val="3252847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0CD52-E030-4F25-5B2D-66BB517280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CE4FE2-3D31-8950-072D-E71213B85A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142DE4-6006-F869-0017-B05FA76ED37B}"/>
              </a:ext>
            </a:extLst>
          </p:cNvPr>
          <p:cNvSpPr>
            <a:spLocks noGrp="1"/>
          </p:cNvSpPr>
          <p:nvPr>
            <p:ph type="body" idx="1"/>
          </p:nvPr>
        </p:nvSpPr>
        <p:spPr/>
        <p:txBody>
          <a:bodyPr/>
          <a:lstStyle/>
          <a:p>
            <a:r>
              <a:rPr lang="en-NL" dirty="0"/>
              <a:t>There are 2 warp schedulers. So all 64 cores are being used by 2 warps at a time. </a:t>
            </a:r>
          </a:p>
        </p:txBody>
      </p:sp>
      <p:sp>
        <p:nvSpPr>
          <p:cNvPr id="4" name="Slide Number Placeholder 3">
            <a:extLst>
              <a:ext uri="{FF2B5EF4-FFF2-40B4-BE49-F238E27FC236}">
                <a16:creationId xmlns:a16="http://schemas.microsoft.com/office/drawing/2014/main" id="{2867D7E0-4C90-ADA9-8742-F8FF3EE46C35}"/>
              </a:ext>
            </a:extLst>
          </p:cNvPr>
          <p:cNvSpPr>
            <a:spLocks noGrp="1"/>
          </p:cNvSpPr>
          <p:nvPr>
            <p:ph type="sldNum" sz="quarter" idx="5"/>
          </p:nvPr>
        </p:nvSpPr>
        <p:spPr/>
        <p:txBody>
          <a:bodyPr/>
          <a:lstStyle/>
          <a:p>
            <a:fld id="{92E2CED6-FFCC-DF49-8621-6AEC29F36828}" type="slidenum">
              <a:rPr lang="en-NL" smtClean="0"/>
              <a:t>45</a:t>
            </a:fld>
            <a:endParaRPr lang="en-NL"/>
          </a:p>
        </p:txBody>
      </p:sp>
    </p:spTree>
    <p:extLst>
      <p:ext uri="{BB962C8B-B14F-4D97-AF65-F5344CB8AC3E}">
        <p14:creationId xmlns:p14="http://schemas.microsoft.com/office/powerpoint/2010/main" val="13273347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7"/>
        <p:cNvGrpSpPr/>
        <p:nvPr/>
      </p:nvGrpSpPr>
      <p:grpSpPr>
        <a:xfrm>
          <a:off x="0" y="0"/>
          <a:ext cx="0" cy="0"/>
          <a:chOff x="0" y="0"/>
          <a:chExt cx="0" cy="0"/>
        </a:xfrm>
      </p:grpSpPr>
      <p:sp>
        <p:nvSpPr>
          <p:cNvPr id="1818" name="Google Shape;1818;g34675f59f6b_0_4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9" name="Google Shape;1819;g34675f59f6b_0_4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9"/>
        <p:cNvGrpSpPr/>
        <p:nvPr/>
      </p:nvGrpSpPr>
      <p:grpSpPr>
        <a:xfrm>
          <a:off x="0" y="0"/>
          <a:ext cx="0" cy="0"/>
          <a:chOff x="0" y="0"/>
          <a:chExt cx="0" cy="0"/>
        </a:xfrm>
      </p:grpSpPr>
      <p:sp>
        <p:nvSpPr>
          <p:cNvPr id="1860" name="Google Shape;1860;g34675f59f6b_0_5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1" name="Google Shape;1861;g34675f59f6b_0_5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Threads in a warp must follow same instruction. </a:t>
            </a:r>
          </a:p>
        </p:txBody>
      </p:sp>
      <p:sp>
        <p:nvSpPr>
          <p:cNvPr id="4" name="Slide Number Placeholder 3"/>
          <p:cNvSpPr>
            <a:spLocks noGrp="1"/>
          </p:cNvSpPr>
          <p:nvPr>
            <p:ph type="sldNum" sz="quarter" idx="5"/>
          </p:nvPr>
        </p:nvSpPr>
        <p:spPr/>
        <p:txBody>
          <a:bodyPr/>
          <a:lstStyle/>
          <a:p>
            <a:fld id="{92E2CED6-FFCC-DF49-8621-6AEC29F36828}" type="slidenum">
              <a:rPr lang="en-NL" smtClean="0"/>
              <a:t>50</a:t>
            </a:fld>
            <a:endParaRPr lang="en-NL"/>
          </a:p>
        </p:txBody>
      </p:sp>
    </p:spTree>
    <p:extLst>
      <p:ext uri="{BB962C8B-B14F-4D97-AF65-F5344CB8AC3E}">
        <p14:creationId xmlns:p14="http://schemas.microsoft.com/office/powerpoint/2010/main" val="10568131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E2383-B734-7242-ECB3-2D41B1238F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C89BB6-F554-2515-0916-D3ED0F3E94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E0B908-3BF1-CB90-FACD-E569EEB7758B}"/>
              </a:ext>
            </a:extLst>
          </p:cNvPr>
          <p:cNvSpPr>
            <a:spLocks noGrp="1"/>
          </p:cNvSpPr>
          <p:nvPr>
            <p:ph type="body" idx="1"/>
          </p:nvPr>
        </p:nvSpPr>
        <p:spPr/>
        <p:txBody>
          <a:bodyPr/>
          <a:lstStyle/>
          <a:p>
            <a:r>
              <a:rPr lang="en-NL" dirty="0"/>
              <a:t>Threads in a warp must follow same instruction. </a:t>
            </a:r>
          </a:p>
        </p:txBody>
      </p:sp>
      <p:sp>
        <p:nvSpPr>
          <p:cNvPr id="4" name="Slide Number Placeholder 3">
            <a:extLst>
              <a:ext uri="{FF2B5EF4-FFF2-40B4-BE49-F238E27FC236}">
                <a16:creationId xmlns:a16="http://schemas.microsoft.com/office/drawing/2014/main" id="{E1E6953E-C548-D396-5C2C-C3EDE9676007}"/>
              </a:ext>
            </a:extLst>
          </p:cNvPr>
          <p:cNvSpPr>
            <a:spLocks noGrp="1"/>
          </p:cNvSpPr>
          <p:nvPr>
            <p:ph type="sldNum" sz="quarter" idx="5"/>
          </p:nvPr>
        </p:nvSpPr>
        <p:spPr/>
        <p:txBody>
          <a:bodyPr/>
          <a:lstStyle/>
          <a:p>
            <a:fld id="{92E2CED6-FFCC-DF49-8621-6AEC29F36828}" type="slidenum">
              <a:rPr lang="en-NL" smtClean="0"/>
              <a:t>51</a:t>
            </a:fld>
            <a:endParaRPr lang="en-NL"/>
          </a:p>
        </p:txBody>
      </p:sp>
    </p:spTree>
    <p:extLst>
      <p:ext uri="{BB962C8B-B14F-4D97-AF65-F5344CB8AC3E}">
        <p14:creationId xmlns:p14="http://schemas.microsoft.com/office/powerpoint/2010/main" val="10843901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4BD2E-9BDA-C010-B2CE-63FA9E4FEA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A3BF51-18AE-B9F8-A310-8223646237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AA4294-F8BF-91C1-4008-717D18F78F04}"/>
              </a:ext>
            </a:extLst>
          </p:cNvPr>
          <p:cNvSpPr>
            <a:spLocks noGrp="1"/>
          </p:cNvSpPr>
          <p:nvPr>
            <p:ph type="body" idx="1"/>
          </p:nvPr>
        </p:nvSpPr>
        <p:spPr/>
        <p:txBody>
          <a:bodyPr/>
          <a:lstStyle/>
          <a:p>
            <a:r>
              <a:rPr lang="en-NL" dirty="0"/>
              <a:t>Threads in a warp must follow same instruction. </a:t>
            </a:r>
          </a:p>
        </p:txBody>
      </p:sp>
      <p:sp>
        <p:nvSpPr>
          <p:cNvPr id="4" name="Slide Number Placeholder 3">
            <a:extLst>
              <a:ext uri="{FF2B5EF4-FFF2-40B4-BE49-F238E27FC236}">
                <a16:creationId xmlns:a16="http://schemas.microsoft.com/office/drawing/2014/main" id="{99F171AB-B972-4741-E0C5-E76EB0BCA549}"/>
              </a:ext>
            </a:extLst>
          </p:cNvPr>
          <p:cNvSpPr>
            <a:spLocks noGrp="1"/>
          </p:cNvSpPr>
          <p:nvPr>
            <p:ph type="sldNum" sz="quarter" idx="5"/>
          </p:nvPr>
        </p:nvSpPr>
        <p:spPr/>
        <p:txBody>
          <a:bodyPr/>
          <a:lstStyle/>
          <a:p>
            <a:fld id="{92E2CED6-FFCC-DF49-8621-6AEC29F36828}" type="slidenum">
              <a:rPr lang="en-NL" smtClean="0"/>
              <a:t>52</a:t>
            </a:fld>
            <a:endParaRPr lang="en-NL"/>
          </a:p>
        </p:txBody>
      </p:sp>
    </p:spTree>
    <p:extLst>
      <p:ext uri="{BB962C8B-B14F-4D97-AF65-F5344CB8AC3E}">
        <p14:creationId xmlns:p14="http://schemas.microsoft.com/office/powerpoint/2010/main" val="41812296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DBE2D-605A-E3F6-3B6A-FDDBAC5C91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2173C7-7BBC-5558-ED85-F5017BE16D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F9CB1B-0F1C-B64F-79A8-DCF656F0353D}"/>
              </a:ext>
            </a:extLst>
          </p:cNvPr>
          <p:cNvSpPr>
            <a:spLocks noGrp="1"/>
          </p:cNvSpPr>
          <p:nvPr>
            <p:ph type="body" idx="1"/>
          </p:nvPr>
        </p:nvSpPr>
        <p:spPr/>
        <p:txBody>
          <a:bodyPr/>
          <a:lstStyle/>
          <a:p>
            <a:r>
              <a:rPr lang="en-NL" dirty="0"/>
              <a:t>Threads in a warp must follow same instruction. </a:t>
            </a:r>
          </a:p>
        </p:txBody>
      </p:sp>
      <p:sp>
        <p:nvSpPr>
          <p:cNvPr id="4" name="Slide Number Placeholder 3">
            <a:extLst>
              <a:ext uri="{FF2B5EF4-FFF2-40B4-BE49-F238E27FC236}">
                <a16:creationId xmlns:a16="http://schemas.microsoft.com/office/drawing/2014/main" id="{8E323E63-D4AB-1875-0000-9A04654BB8E2}"/>
              </a:ext>
            </a:extLst>
          </p:cNvPr>
          <p:cNvSpPr>
            <a:spLocks noGrp="1"/>
          </p:cNvSpPr>
          <p:nvPr>
            <p:ph type="sldNum" sz="quarter" idx="5"/>
          </p:nvPr>
        </p:nvSpPr>
        <p:spPr/>
        <p:txBody>
          <a:bodyPr/>
          <a:lstStyle/>
          <a:p>
            <a:fld id="{92E2CED6-FFCC-DF49-8621-6AEC29F36828}" type="slidenum">
              <a:rPr lang="en-NL" smtClean="0"/>
              <a:t>53</a:t>
            </a:fld>
            <a:endParaRPr lang="en-NL"/>
          </a:p>
        </p:txBody>
      </p:sp>
    </p:spTree>
    <p:extLst>
      <p:ext uri="{BB962C8B-B14F-4D97-AF65-F5344CB8AC3E}">
        <p14:creationId xmlns:p14="http://schemas.microsoft.com/office/powerpoint/2010/main" val="17612657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83BFB-4FB1-B366-4925-B5F5122F06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EE2AF4-B2C0-A57D-C084-8D3273ABE1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2BD326-4E08-4CCC-7064-A6ABB84F5433}"/>
              </a:ext>
            </a:extLst>
          </p:cNvPr>
          <p:cNvSpPr>
            <a:spLocks noGrp="1"/>
          </p:cNvSpPr>
          <p:nvPr>
            <p:ph type="body" idx="1"/>
          </p:nvPr>
        </p:nvSpPr>
        <p:spPr/>
        <p:txBody>
          <a:bodyPr/>
          <a:lstStyle/>
          <a:p>
            <a:r>
              <a:rPr lang="en-NL" dirty="0"/>
              <a:t>Threads in a warp must follow same instruction. </a:t>
            </a:r>
          </a:p>
        </p:txBody>
      </p:sp>
      <p:sp>
        <p:nvSpPr>
          <p:cNvPr id="4" name="Slide Number Placeholder 3">
            <a:extLst>
              <a:ext uri="{FF2B5EF4-FFF2-40B4-BE49-F238E27FC236}">
                <a16:creationId xmlns:a16="http://schemas.microsoft.com/office/drawing/2014/main" id="{7418CD67-8FDA-DB1F-E974-78E6EB7E020F}"/>
              </a:ext>
            </a:extLst>
          </p:cNvPr>
          <p:cNvSpPr>
            <a:spLocks noGrp="1"/>
          </p:cNvSpPr>
          <p:nvPr>
            <p:ph type="sldNum" sz="quarter" idx="5"/>
          </p:nvPr>
        </p:nvSpPr>
        <p:spPr/>
        <p:txBody>
          <a:bodyPr/>
          <a:lstStyle/>
          <a:p>
            <a:fld id="{92E2CED6-FFCC-DF49-8621-6AEC29F36828}" type="slidenum">
              <a:rPr lang="en-NL" smtClean="0"/>
              <a:t>54</a:t>
            </a:fld>
            <a:endParaRPr lang="en-NL"/>
          </a:p>
        </p:txBody>
      </p:sp>
    </p:spTree>
    <p:extLst>
      <p:ext uri="{BB962C8B-B14F-4D97-AF65-F5344CB8AC3E}">
        <p14:creationId xmlns:p14="http://schemas.microsoft.com/office/powerpoint/2010/main" val="41932782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30055-0790-1D51-2B5F-A6B51C62DD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CF57CB-5B42-7C0E-9CDD-5032BA18D4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890DDE-77D7-7D57-7A96-C9D35694BADD}"/>
              </a:ext>
            </a:extLst>
          </p:cNvPr>
          <p:cNvSpPr>
            <a:spLocks noGrp="1"/>
          </p:cNvSpPr>
          <p:nvPr>
            <p:ph type="body" idx="1"/>
          </p:nvPr>
        </p:nvSpPr>
        <p:spPr/>
        <p:txBody>
          <a:bodyPr/>
          <a:lstStyle/>
          <a:p>
            <a:r>
              <a:rPr lang="en-NL" dirty="0"/>
              <a:t>Threads in a warp must follow same instruction. </a:t>
            </a:r>
          </a:p>
        </p:txBody>
      </p:sp>
      <p:sp>
        <p:nvSpPr>
          <p:cNvPr id="4" name="Slide Number Placeholder 3">
            <a:extLst>
              <a:ext uri="{FF2B5EF4-FFF2-40B4-BE49-F238E27FC236}">
                <a16:creationId xmlns:a16="http://schemas.microsoft.com/office/drawing/2014/main" id="{1525F1D8-3DA9-90FC-8F55-4AA35DE923CB}"/>
              </a:ext>
            </a:extLst>
          </p:cNvPr>
          <p:cNvSpPr>
            <a:spLocks noGrp="1"/>
          </p:cNvSpPr>
          <p:nvPr>
            <p:ph type="sldNum" sz="quarter" idx="5"/>
          </p:nvPr>
        </p:nvSpPr>
        <p:spPr/>
        <p:txBody>
          <a:bodyPr/>
          <a:lstStyle/>
          <a:p>
            <a:fld id="{92E2CED6-FFCC-DF49-8621-6AEC29F36828}" type="slidenum">
              <a:rPr lang="en-NL" smtClean="0"/>
              <a:t>55</a:t>
            </a:fld>
            <a:endParaRPr lang="en-NL"/>
          </a:p>
        </p:txBody>
      </p:sp>
    </p:spTree>
    <p:extLst>
      <p:ext uri="{BB962C8B-B14F-4D97-AF65-F5344CB8AC3E}">
        <p14:creationId xmlns:p14="http://schemas.microsoft.com/office/powerpoint/2010/main" val="2430190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AA161-9402-4388-EC2E-D4F6BDF6F3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EC055A-04D1-8189-5571-FFF284A274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F36C12-60B0-5D0A-83B0-59DB2C2A7922}"/>
              </a:ext>
            </a:extLst>
          </p:cNvPr>
          <p:cNvSpPr>
            <a:spLocks noGrp="1"/>
          </p:cNvSpPr>
          <p:nvPr>
            <p:ph type="body" idx="1"/>
          </p:nvPr>
        </p:nvSpPr>
        <p:spPr/>
        <p:txBody>
          <a:bodyPr/>
          <a:lstStyle/>
          <a:p>
            <a:r>
              <a:rPr lang="en-NL" dirty="0"/>
              <a:t>Threads in a warp must follow same instruction. </a:t>
            </a:r>
          </a:p>
        </p:txBody>
      </p:sp>
      <p:sp>
        <p:nvSpPr>
          <p:cNvPr id="4" name="Slide Number Placeholder 3">
            <a:extLst>
              <a:ext uri="{FF2B5EF4-FFF2-40B4-BE49-F238E27FC236}">
                <a16:creationId xmlns:a16="http://schemas.microsoft.com/office/drawing/2014/main" id="{6029F4F2-39B6-F3E1-38B0-F43AB5FD2351}"/>
              </a:ext>
            </a:extLst>
          </p:cNvPr>
          <p:cNvSpPr>
            <a:spLocks noGrp="1"/>
          </p:cNvSpPr>
          <p:nvPr>
            <p:ph type="sldNum" sz="quarter" idx="5"/>
          </p:nvPr>
        </p:nvSpPr>
        <p:spPr/>
        <p:txBody>
          <a:bodyPr/>
          <a:lstStyle/>
          <a:p>
            <a:fld id="{92E2CED6-FFCC-DF49-8621-6AEC29F36828}" type="slidenum">
              <a:rPr lang="en-NL" smtClean="0"/>
              <a:t>56</a:t>
            </a:fld>
            <a:endParaRPr lang="en-NL"/>
          </a:p>
        </p:txBody>
      </p:sp>
    </p:spTree>
    <p:extLst>
      <p:ext uri="{BB962C8B-B14F-4D97-AF65-F5344CB8AC3E}">
        <p14:creationId xmlns:p14="http://schemas.microsoft.com/office/powerpoint/2010/main" val="7995043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1"/>
        <p:cNvGrpSpPr/>
        <p:nvPr/>
      </p:nvGrpSpPr>
      <p:grpSpPr>
        <a:xfrm>
          <a:off x="0" y="0"/>
          <a:ext cx="0" cy="0"/>
          <a:chOff x="0" y="0"/>
          <a:chExt cx="0" cy="0"/>
        </a:xfrm>
      </p:grpSpPr>
      <p:sp>
        <p:nvSpPr>
          <p:cNvPr id="2192" name="Google Shape;2192;g30b61c9878b_0_2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3" name="Google Shape;2193;g30b61c9878b_0_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0"/>
        <p:cNvGrpSpPr/>
        <p:nvPr/>
      </p:nvGrpSpPr>
      <p:grpSpPr>
        <a:xfrm>
          <a:off x="0" y="0"/>
          <a:ext cx="0" cy="0"/>
          <a:chOff x="0" y="0"/>
          <a:chExt cx="0" cy="0"/>
        </a:xfrm>
      </p:grpSpPr>
      <p:sp>
        <p:nvSpPr>
          <p:cNvPr id="2201" name="Google Shape;2201;g30c4fec4a17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2" name="Google Shape;2202;g30c4fec4a17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449579"/>
            <a:ext cx="12192000" cy="6408420"/>
          </a:xfrm>
          <a:custGeom>
            <a:avLst/>
            <a:gdLst/>
            <a:ahLst/>
            <a:cxnLst/>
            <a:rect l="l" t="t" r="r" b="b"/>
            <a:pathLst>
              <a:path w="9144000" h="6408420">
                <a:moveTo>
                  <a:pt x="0" y="6408420"/>
                </a:moveTo>
                <a:lnTo>
                  <a:pt x="9144000" y="6408420"/>
                </a:lnTo>
                <a:lnTo>
                  <a:pt x="9144000" y="0"/>
                </a:lnTo>
                <a:lnTo>
                  <a:pt x="0" y="0"/>
                </a:lnTo>
                <a:lnTo>
                  <a:pt x="0" y="6408420"/>
                </a:lnTo>
                <a:close/>
              </a:path>
            </a:pathLst>
          </a:custGeom>
          <a:solidFill>
            <a:srgbClr val="1F487C"/>
          </a:solidFill>
        </p:spPr>
        <p:txBody>
          <a:bodyPr wrap="square" lIns="0" tIns="0" rIns="0" bIns="0" rtlCol="0"/>
          <a:lstStyle/>
          <a:p>
            <a:endParaRPr/>
          </a:p>
        </p:txBody>
      </p:sp>
      <p:sp>
        <p:nvSpPr>
          <p:cNvPr id="17" name="bg object 17"/>
          <p:cNvSpPr/>
          <p:nvPr/>
        </p:nvSpPr>
        <p:spPr>
          <a:xfrm>
            <a:off x="0" y="365759"/>
            <a:ext cx="12192000" cy="83820"/>
          </a:xfrm>
          <a:custGeom>
            <a:avLst/>
            <a:gdLst/>
            <a:ahLst/>
            <a:cxnLst/>
            <a:rect l="l" t="t" r="r" b="b"/>
            <a:pathLst>
              <a:path w="9144000" h="83820">
                <a:moveTo>
                  <a:pt x="0" y="83820"/>
                </a:moveTo>
                <a:lnTo>
                  <a:pt x="9144000" y="83820"/>
                </a:lnTo>
                <a:lnTo>
                  <a:pt x="9144000" y="0"/>
                </a:lnTo>
                <a:lnTo>
                  <a:pt x="0" y="0"/>
                </a:lnTo>
                <a:lnTo>
                  <a:pt x="0" y="83820"/>
                </a:lnTo>
                <a:close/>
              </a:path>
            </a:pathLst>
          </a:custGeom>
          <a:solidFill>
            <a:srgbClr val="FFFFFF"/>
          </a:solidFill>
        </p:spPr>
        <p:txBody>
          <a:bodyPr wrap="square" lIns="0" tIns="0" rIns="0" bIns="0" rtlCol="0"/>
          <a:lstStyle/>
          <a:p>
            <a:endParaRPr/>
          </a:p>
        </p:txBody>
      </p:sp>
      <p:sp>
        <p:nvSpPr>
          <p:cNvPr id="18" name="bg object 18"/>
          <p:cNvSpPr/>
          <p:nvPr/>
        </p:nvSpPr>
        <p:spPr>
          <a:xfrm>
            <a:off x="0" y="0"/>
            <a:ext cx="12192000" cy="365760"/>
          </a:xfrm>
          <a:custGeom>
            <a:avLst/>
            <a:gdLst/>
            <a:ahLst/>
            <a:cxnLst/>
            <a:rect l="l" t="t" r="r" b="b"/>
            <a:pathLst>
              <a:path w="9144000" h="365760">
                <a:moveTo>
                  <a:pt x="9144000" y="0"/>
                </a:moveTo>
                <a:lnTo>
                  <a:pt x="0" y="0"/>
                </a:lnTo>
                <a:lnTo>
                  <a:pt x="0" y="365760"/>
                </a:lnTo>
                <a:lnTo>
                  <a:pt x="9144000" y="365760"/>
                </a:lnTo>
                <a:lnTo>
                  <a:pt x="9144000" y="0"/>
                </a:lnTo>
                <a:close/>
              </a:path>
            </a:pathLst>
          </a:custGeom>
          <a:solidFill>
            <a:srgbClr val="4F80BC"/>
          </a:solidFill>
        </p:spPr>
        <p:txBody>
          <a:bodyPr wrap="square" lIns="0" tIns="0" rIns="0" bIns="0" rtlCol="0"/>
          <a:lstStyle/>
          <a:p>
            <a:endParaRPr/>
          </a:p>
        </p:txBody>
      </p:sp>
      <p:sp>
        <p:nvSpPr>
          <p:cNvPr id="19" name="bg object 19"/>
          <p:cNvSpPr/>
          <p:nvPr/>
        </p:nvSpPr>
        <p:spPr>
          <a:xfrm>
            <a:off x="976379" y="4600194"/>
            <a:ext cx="10464800" cy="1905"/>
          </a:xfrm>
          <a:custGeom>
            <a:avLst/>
            <a:gdLst/>
            <a:ahLst/>
            <a:cxnLst/>
            <a:rect l="l" t="t" r="r" b="b"/>
            <a:pathLst>
              <a:path w="7848600" h="1904">
                <a:moveTo>
                  <a:pt x="0" y="0"/>
                </a:moveTo>
                <a:lnTo>
                  <a:pt x="7848597" y="1524"/>
                </a:lnTo>
              </a:path>
            </a:pathLst>
          </a:custGeom>
          <a:ln w="19050">
            <a:solidFill>
              <a:srgbClr val="EEECE1"/>
            </a:solidFill>
          </a:ln>
        </p:spPr>
        <p:txBody>
          <a:bodyPr wrap="square" lIns="0" tIns="0" rIns="0" bIns="0" rtlCol="0"/>
          <a:lstStyle/>
          <a:p>
            <a:endParaRPr/>
          </a:p>
        </p:txBody>
      </p:sp>
      <p:sp>
        <p:nvSpPr>
          <p:cNvPr id="2" name="Holder 2"/>
          <p:cNvSpPr>
            <a:spLocks noGrp="1"/>
          </p:cNvSpPr>
          <p:nvPr>
            <p:ph type="ctrTitle"/>
          </p:nvPr>
        </p:nvSpPr>
        <p:spPr>
          <a:xfrm>
            <a:off x="1068156" y="1212596"/>
            <a:ext cx="6771640" cy="615553"/>
          </a:xfrm>
          <a:prstGeom prst="rect">
            <a:avLst/>
          </a:prstGeom>
        </p:spPr>
        <p:txBody>
          <a:bodyPr wrap="square" lIns="0" tIns="0" rIns="0" bIns="0">
            <a:spAutoFit/>
          </a:bodyPr>
          <a:lstStyle>
            <a:lvl1pPr>
              <a:defRPr sz="4000" b="0" i="0">
                <a:solidFill>
                  <a:srgbClr val="1F487C"/>
                </a:solidFill>
                <a:latin typeface="Arial"/>
                <a:cs typeface="Arial"/>
              </a:defRPr>
            </a:lvl1pPr>
          </a:lstStyle>
          <a:p>
            <a:endParaRPr/>
          </a:p>
        </p:txBody>
      </p:sp>
      <p:sp>
        <p:nvSpPr>
          <p:cNvPr id="3" name="Holder 3"/>
          <p:cNvSpPr>
            <a:spLocks noGrp="1"/>
          </p:cNvSpPr>
          <p:nvPr>
            <p:ph type="subTitle" idx="4"/>
          </p:nvPr>
        </p:nvSpPr>
        <p:spPr>
          <a:xfrm>
            <a:off x="1828800" y="3840480"/>
            <a:ext cx="8534400" cy="27699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11/7/25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1F487C"/>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11/7/25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1F487C"/>
                </a:solidFill>
                <a:latin typeface="Arial"/>
                <a:cs typeface="Arial"/>
              </a:defRPr>
            </a:lvl1pPr>
          </a:lstStyle>
          <a:p>
            <a:endParaRPr/>
          </a:p>
        </p:txBody>
      </p:sp>
      <p:sp>
        <p:nvSpPr>
          <p:cNvPr id="3" name="Holder 3"/>
          <p:cNvSpPr>
            <a:spLocks noGrp="1"/>
          </p:cNvSpPr>
          <p:nvPr>
            <p:ph sz="half" idx="2"/>
          </p:nvPr>
        </p:nvSpPr>
        <p:spPr>
          <a:xfrm>
            <a:off x="609600" y="1577340"/>
            <a:ext cx="530352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11/7/25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449579"/>
            <a:ext cx="12192000" cy="6408420"/>
          </a:xfrm>
          <a:custGeom>
            <a:avLst/>
            <a:gdLst/>
            <a:ahLst/>
            <a:cxnLst/>
            <a:rect l="l" t="t" r="r" b="b"/>
            <a:pathLst>
              <a:path w="9144000" h="6408420">
                <a:moveTo>
                  <a:pt x="0" y="6408420"/>
                </a:moveTo>
                <a:lnTo>
                  <a:pt x="9144000" y="6408420"/>
                </a:lnTo>
                <a:lnTo>
                  <a:pt x="9144000" y="0"/>
                </a:lnTo>
                <a:lnTo>
                  <a:pt x="0" y="0"/>
                </a:lnTo>
                <a:lnTo>
                  <a:pt x="0" y="6408420"/>
                </a:lnTo>
                <a:close/>
              </a:path>
            </a:pathLst>
          </a:custGeom>
          <a:solidFill>
            <a:srgbClr val="1F487C"/>
          </a:solidFill>
        </p:spPr>
        <p:txBody>
          <a:bodyPr wrap="square" lIns="0" tIns="0" rIns="0" bIns="0" rtlCol="0"/>
          <a:lstStyle/>
          <a:p>
            <a:endParaRPr/>
          </a:p>
        </p:txBody>
      </p:sp>
      <p:sp>
        <p:nvSpPr>
          <p:cNvPr id="17" name="bg object 17"/>
          <p:cNvSpPr/>
          <p:nvPr/>
        </p:nvSpPr>
        <p:spPr>
          <a:xfrm>
            <a:off x="0" y="365759"/>
            <a:ext cx="12192000" cy="83820"/>
          </a:xfrm>
          <a:custGeom>
            <a:avLst/>
            <a:gdLst/>
            <a:ahLst/>
            <a:cxnLst/>
            <a:rect l="l" t="t" r="r" b="b"/>
            <a:pathLst>
              <a:path w="9144000" h="83820">
                <a:moveTo>
                  <a:pt x="0" y="83820"/>
                </a:moveTo>
                <a:lnTo>
                  <a:pt x="9144000" y="83820"/>
                </a:lnTo>
                <a:lnTo>
                  <a:pt x="9144000" y="0"/>
                </a:lnTo>
                <a:lnTo>
                  <a:pt x="0" y="0"/>
                </a:lnTo>
                <a:lnTo>
                  <a:pt x="0" y="83820"/>
                </a:lnTo>
                <a:close/>
              </a:path>
            </a:pathLst>
          </a:custGeom>
          <a:solidFill>
            <a:srgbClr val="FFFFFF"/>
          </a:solidFill>
        </p:spPr>
        <p:txBody>
          <a:bodyPr wrap="square" lIns="0" tIns="0" rIns="0" bIns="0" rtlCol="0"/>
          <a:lstStyle/>
          <a:p>
            <a:endParaRPr/>
          </a:p>
        </p:txBody>
      </p:sp>
      <p:sp>
        <p:nvSpPr>
          <p:cNvPr id="18" name="bg object 18"/>
          <p:cNvSpPr/>
          <p:nvPr/>
        </p:nvSpPr>
        <p:spPr>
          <a:xfrm>
            <a:off x="0" y="0"/>
            <a:ext cx="12192000" cy="365760"/>
          </a:xfrm>
          <a:custGeom>
            <a:avLst/>
            <a:gdLst/>
            <a:ahLst/>
            <a:cxnLst/>
            <a:rect l="l" t="t" r="r" b="b"/>
            <a:pathLst>
              <a:path w="9144000" h="365760">
                <a:moveTo>
                  <a:pt x="9144000" y="0"/>
                </a:moveTo>
                <a:lnTo>
                  <a:pt x="0" y="0"/>
                </a:lnTo>
                <a:lnTo>
                  <a:pt x="0" y="365760"/>
                </a:lnTo>
                <a:lnTo>
                  <a:pt x="9144000" y="365760"/>
                </a:lnTo>
                <a:lnTo>
                  <a:pt x="9144000" y="0"/>
                </a:lnTo>
                <a:close/>
              </a:path>
            </a:pathLst>
          </a:custGeom>
          <a:solidFill>
            <a:srgbClr val="4F80BC"/>
          </a:solidFill>
        </p:spPr>
        <p:txBody>
          <a:bodyPr wrap="square" lIns="0" tIns="0" rIns="0" bIns="0" rtlCol="0"/>
          <a:lstStyle/>
          <a:p>
            <a:endParaRPr/>
          </a:p>
        </p:txBody>
      </p:sp>
      <p:sp>
        <p:nvSpPr>
          <p:cNvPr id="19" name="bg object 19"/>
          <p:cNvSpPr/>
          <p:nvPr/>
        </p:nvSpPr>
        <p:spPr>
          <a:xfrm>
            <a:off x="976379" y="4600194"/>
            <a:ext cx="10464800" cy="1905"/>
          </a:xfrm>
          <a:custGeom>
            <a:avLst/>
            <a:gdLst/>
            <a:ahLst/>
            <a:cxnLst/>
            <a:rect l="l" t="t" r="r" b="b"/>
            <a:pathLst>
              <a:path w="7848600" h="1904">
                <a:moveTo>
                  <a:pt x="0" y="0"/>
                </a:moveTo>
                <a:lnTo>
                  <a:pt x="7848597" y="1524"/>
                </a:lnTo>
              </a:path>
            </a:pathLst>
          </a:custGeom>
          <a:ln w="19050">
            <a:solidFill>
              <a:srgbClr val="EEECE1"/>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000" b="0" i="0">
                <a:solidFill>
                  <a:srgbClr val="1F487C"/>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11/7/25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449579"/>
            <a:ext cx="12192000" cy="6408420"/>
          </a:xfrm>
          <a:custGeom>
            <a:avLst/>
            <a:gdLst/>
            <a:ahLst/>
            <a:cxnLst/>
            <a:rect l="l" t="t" r="r" b="b"/>
            <a:pathLst>
              <a:path w="9144000" h="6408420">
                <a:moveTo>
                  <a:pt x="0" y="6408420"/>
                </a:moveTo>
                <a:lnTo>
                  <a:pt x="9144000" y="6408420"/>
                </a:lnTo>
                <a:lnTo>
                  <a:pt x="9144000" y="0"/>
                </a:lnTo>
                <a:lnTo>
                  <a:pt x="0" y="0"/>
                </a:lnTo>
                <a:lnTo>
                  <a:pt x="0" y="6408420"/>
                </a:lnTo>
                <a:close/>
              </a:path>
            </a:pathLst>
          </a:custGeom>
          <a:solidFill>
            <a:srgbClr val="1F487C"/>
          </a:solidFill>
        </p:spPr>
        <p:txBody>
          <a:bodyPr wrap="square" lIns="0" tIns="0" rIns="0" bIns="0" rtlCol="0"/>
          <a:lstStyle/>
          <a:p>
            <a:endParaRPr/>
          </a:p>
        </p:txBody>
      </p:sp>
      <p:sp>
        <p:nvSpPr>
          <p:cNvPr id="17" name="bg object 17"/>
          <p:cNvSpPr/>
          <p:nvPr/>
        </p:nvSpPr>
        <p:spPr>
          <a:xfrm>
            <a:off x="0" y="365759"/>
            <a:ext cx="12192000" cy="83820"/>
          </a:xfrm>
          <a:custGeom>
            <a:avLst/>
            <a:gdLst/>
            <a:ahLst/>
            <a:cxnLst/>
            <a:rect l="l" t="t" r="r" b="b"/>
            <a:pathLst>
              <a:path w="9144000" h="83820">
                <a:moveTo>
                  <a:pt x="0" y="83820"/>
                </a:moveTo>
                <a:lnTo>
                  <a:pt x="9144000" y="83820"/>
                </a:lnTo>
                <a:lnTo>
                  <a:pt x="9144000" y="0"/>
                </a:lnTo>
                <a:lnTo>
                  <a:pt x="0" y="0"/>
                </a:lnTo>
                <a:lnTo>
                  <a:pt x="0" y="83820"/>
                </a:lnTo>
                <a:close/>
              </a:path>
            </a:pathLst>
          </a:custGeom>
          <a:solidFill>
            <a:srgbClr val="FFFFFF"/>
          </a:solidFill>
        </p:spPr>
        <p:txBody>
          <a:bodyPr wrap="square" lIns="0" tIns="0" rIns="0" bIns="0" rtlCol="0"/>
          <a:lstStyle/>
          <a:p>
            <a:endParaRPr/>
          </a:p>
        </p:txBody>
      </p:sp>
      <p:sp>
        <p:nvSpPr>
          <p:cNvPr id="18" name="bg object 18"/>
          <p:cNvSpPr/>
          <p:nvPr/>
        </p:nvSpPr>
        <p:spPr>
          <a:xfrm>
            <a:off x="0" y="0"/>
            <a:ext cx="12192000" cy="365760"/>
          </a:xfrm>
          <a:custGeom>
            <a:avLst/>
            <a:gdLst/>
            <a:ahLst/>
            <a:cxnLst/>
            <a:rect l="l" t="t" r="r" b="b"/>
            <a:pathLst>
              <a:path w="9144000" h="365760">
                <a:moveTo>
                  <a:pt x="9144000" y="0"/>
                </a:moveTo>
                <a:lnTo>
                  <a:pt x="0" y="0"/>
                </a:lnTo>
                <a:lnTo>
                  <a:pt x="0" y="365760"/>
                </a:lnTo>
                <a:lnTo>
                  <a:pt x="9144000" y="365760"/>
                </a:lnTo>
                <a:lnTo>
                  <a:pt x="9144000" y="0"/>
                </a:lnTo>
                <a:close/>
              </a:path>
            </a:pathLst>
          </a:custGeom>
          <a:solidFill>
            <a:srgbClr val="4F80BC"/>
          </a:solidFill>
        </p:spPr>
        <p:txBody>
          <a:bodyPr wrap="square" lIns="0" tIns="0" rIns="0" bIns="0" rtlCol="0"/>
          <a:lstStyle/>
          <a:p>
            <a:endParaRPr/>
          </a:p>
        </p:txBody>
      </p:sp>
      <p:sp>
        <p:nvSpPr>
          <p:cNvPr id="19" name="bg object 19"/>
          <p:cNvSpPr/>
          <p:nvPr/>
        </p:nvSpPr>
        <p:spPr>
          <a:xfrm>
            <a:off x="976379" y="4600194"/>
            <a:ext cx="10464800" cy="1905"/>
          </a:xfrm>
          <a:custGeom>
            <a:avLst/>
            <a:gdLst/>
            <a:ahLst/>
            <a:cxnLst/>
            <a:rect l="l" t="t" r="r" b="b"/>
            <a:pathLst>
              <a:path w="7848600" h="1904">
                <a:moveTo>
                  <a:pt x="0" y="0"/>
                </a:moveTo>
                <a:lnTo>
                  <a:pt x="7848597" y="1524"/>
                </a:lnTo>
              </a:path>
            </a:pathLst>
          </a:custGeom>
          <a:ln w="19050">
            <a:solidFill>
              <a:srgbClr val="EEECE1"/>
            </a:solidFill>
          </a:ln>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11/7/25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80"/>
        <p:cNvGrpSpPr/>
        <p:nvPr/>
      </p:nvGrpSpPr>
      <p:grpSpPr>
        <a:xfrm>
          <a:off x="0" y="0"/>
          <a:ext cx="0" cy="0"/>
          <a:chOff x="0" y="0"/>
          <a:chExt cx="0" cy="0"/>
        </a:xfrm>
      </p:grpSpPr>
      <p:sp>
        <p:nvSpPr>
          <p:cNvPr id="81" name="Google Shape;81;p13"/>
          <p:cNvSpPr txBox="1">
            <a:spLocks noGrp="1"/>
          </p:cNvSpPr>
          <p:nvPr>
            <p:ph type="ctrTitle"/>
          </p:nvPr>
        </p:nvSpPr>
        <p:spPr>
          <a:xfrm>
            <a:off x="415611" y="2524183"/>
            <a:ext cx="11360800" cy="1205384"/>
          </a:xfrm>
          <a:prstGeom prst="rect">
            <a:avLst/>
          </a:prstGeom>
        </p:spPr>
        <p:txBody>
          <a:bodyPr spcFirstLastPara="1" wrap="square" lIns="274325" tIns="68575" rIns="0" bIns="68575" anchor="b" anchorCtr="0">
            <a:spAutoFit/>
          </a:bodyPr>
          <a:lstStyle>
            <a:lvl1pPr lvl="0" algn="ctr" rtl="0">
              <a:spcBef>
                <a:spcPts val="0"/>
              </a:spcBef>
              <a:spcAft>
                <a:spcPts val="0"/>
              </a:spcAft>
              <a:buSzPts val="5200"/>
              <a:buNone/>
              <a:defRPr sz="6933"/>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endParaRPr/>
          </a:p>
        </p:txBody>
      </p:sp>
      <p:sp>
        <p:nvSpPr>
          <p:cNvPr id="82" name="Google Shape;82;p13"/>
          <p:cNvSpPr txBox="1">
            <a:spLocks noGrp="1"/>
          </p:cNvSpPr>
          <p:nvPr>
            <p:ph type="subTitle" idx="1"/>
          </p:nvPr>
        </p:nvSpPr>
        <p:spPr>
          <a:xfrm>
            <a:off x="415600" y="3778833"/>
            <a:ext cx="11360800" cy="1056800"/>
          </a:xfrm>
          <a:prstGeom prst="rect">
            <a:avLst/>
          </a:prstGeom>
        </p:spPr>
        <p:txBody>
          <a:bodyPr spcFirstLastPara="1" wrap="square" lIns="0" tIns="0" rIns="0" bIns="0" anchor="t" anchorCtr="0">
            <a:noAutofit/>
          </a:bodyPr>
          <a:lstStyle>
            <a:lvl1pPr lvl="0" algn="ctr" rtl="0">
              <a:lnSpc>
                <a:spcPct val="100000"/>
              </a:lnSpc>
              <a:spcBef>
                <a:spcPts val="0"/>
              </a:spcBef>
              <a:spcAft>
                <a:spcPts val="0"/>
              </a:spcAft>
              <a:buSzPts val="2800"/>
              <a:buNone/>
              <a:defRPr sz="3733"/>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400"/>
              </a:spcBef>
              <a:spcAft>
                <a:spcPts val="0"/>
              </a:spcAft>
              <a:buSzPts val="2800"/>
              <a:buNone/>
              <a:defRPr sz="3733"/>
            </a:lvl5pPr>
            <a:lvl6pPr lvl="5" algn="ctr" rtl="0">
              <a:lnSpc>
                <a:spcPct val="100000"/>
              </a:lnSpc>
              <a:spcBef>
                <a:spcPts val="400"/>
              </a:spcBef>
              <a:spcAft>
                <a:spcPts val="0"/>
              </a:spcAft>
              <a:buSzPts val="2800"/>
              <a:buNone/>
              <a:defRPr sz="3733"/>
            </a:lvl6pPr>
            <a:lvl7pPr lvl="6" algn="ctr" rtl="0">
              <a:lnSpc>
                <a:spcPct val="100000"/>
              </a:lnSpc>
              <a:spcBef>
                <a:spcPts val="400"/>
              </a:spcBef>
              <a:spcAft>
                <a:spcPts val="0"/>
              </a:spcAft>
              <a:buSzPts val="2800"/>
              <a:buNone/>
              <a:defRPr sz="3733"/>
            </a:lvl7pPr>
            <a:lvl8pPr lvl="7" algn="ctr" rtl="0">
              <a:lnSpc>
                <a:spcPct val="100000"/>
              </a:lnSpc>
              <a:spcBef>
                <a:spcPts val="400"/>
              </a:spcBef>
              <a:spcAft>
                <a:spcPts val="0"/>
              </a:spcAft>
              <a:buSzPts val="2800"/>
              <a:buNone/>
              <a:defRPr sz="3733"/>
            </a:lvl8pPr>
            <a:lvl9pPr lvl="8" algn="ctr" rtl="0">
              <a:lnSpc>
                <a:spcPct val="100000"/>
              </a:lnSpc>
              <a:spcBef>
                <a:spcPts val="400"/>
              </a:spcBef>
              <a:spcAft>
                <a:spcPts val="0"/>
              </a:spcAft>
              <a:buSzPts val="2800"/>
              <a:buNone/>
              <a:defRPr sz="3733"/>
            </a:lvl9pPr>
          </a:lstStyle>
          <a:p>
            <a:endParaRPr/>
          </a:p>
        </p:txBody>
      </p:sp>
      <p:sp>
        <p:nvSpPr>
          <p:cNvPr id="83" name="Google Shape;83;p13"/>
          <p:cNvSpPr txBox="1">
            <a:spLocks noGrp="1"/>
          </p:cNvSpPr>
          <p:nvPr>
            <p:ph type="sldNum" idx="12"/>
          </p:nvPr>
        </p:nvSpPr>
        <p:spPr>
          <a:xfrm>
            <a:off x="11296611" y="6217623"/>
            <a:ext cx="731600" cy="5248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540898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76"/>
        <p:cNvGrpSpPr/>
        <p:nvPr/>
      </p:nvGrpSpPr>
      <p:grpSpPr>
        <a:xfrm>
          <a:off x="0" y="0"/>
          <a:ext cx="0" cy="0"/>
          <a:chOff x="0" y="0"/>
          <a:chExt cx="0" cy="0"/>
        </a:xfrm>
      </p:grpSpPr>
      <p:sp>
        <p:nvSpPr>
          <p:cNvPr id="77" name="Google Shape;77;p12"/>
          <p:cNvSpPr txBox="1">
            <a:spLocks noGrp="1"/>
          </p:cNvSpPr>
          <p:nvPr>
            <p:ph type="title"/>
          </p:nvPr>
        </p:nvSpPr>
        <p:spPr>
          <a:xfrm>
            <a:off x="418011" y="71257"/>
            <a:ext cx="10650400" cy="709600"/>
          </a:xfrm>
          <a:prstGeom prst="rect">
            <a:avLst/>
          </a:prstGeom>
          <a:solidFill>
            <a:schemeClr val="lt2"/>
          </a:solidFill>
          <a:ln>
            <a:noFill/>
          </a:ln>
        </p:spPr>
        <p:txBody>
          <a:bodyPr spcFirstLastPara="1" wrap="square" lIns="68575" tIns="68575" rIns="68575" bIns="68575" anchor="b" anchorCtr="0">
            <a:noAutofit/>
          </a:bodyPr>
          <a:lstStyle>
            <a:lvl1pPr lvl="0" algn="l">
              <a:lnSpc>
                <a:spcPct val="100000"/>
              </a:lnSpc>
              <a:spcBef>
                <a:spcPts val="0"/>
              </a:spcBef>
              <a:spcAft>
                <a:spcPts val="0"/>
              </a:spcAft>
              <a:buClr>
                <a:schemeClr val="dk2"/>
              </a:buClr>
              <a:buSzPts val="2500"/>
              <a:buNone/>
              <a:defRPr sz="2933" cap="small">
                <a:solidFill>
                  <a:schemeClr val="dk2"/>
                </a:solidFill>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78" name="Google Shape;78;p12"/>
          <p:cNvSpPr txBox="1">
            <a:spLocks noGrp="1"/>
          </p:cNvSpPr>
          <p:nvPr>
            <p:ph type="body" idx="1"/>
          </p:nvPr>
        </p:nvSpPr>
        <p:spPr>
          <a:xfrm>
            <a:off x="418000" y="927167"/>
            <a:ext cx="11326400" cy="5150000"/>
          </a:xfrm>
          <a:prstGeom prst="rect">
            <a:avLst/>
          </a:prstGeom>
          <a:noFill/>
          <a:ln>
            <a:noFill/>
          </a:ln>
        </p:spPr>
        <p:txBody>
          <a:bodyPr spcFirstLastPara="1" wrap="square" lIns="68575" tIns="68575" rIns="68575" bIns="68575" anchor="t" anchorCtr="0">
            <a:noAutofit/>
          </a:bodyPr>
          <a:lstStyle>
            <a:lvl1pPr marL="609585" lvl="0" indent="-431789" algn="l">
              <a:lnSpc>
                <a:spcPct val="110000"/>
              </a:lnSpc>
              <a:spcBef>
                <a:spcPts val="800"/>
              </a:spcBef>
              <a:spcAft>
                <a:spcPts val="0"/>
              </a:spcAft>
              <a:buClr>
                <a:schemeClr val="dk2"/>
              </a:buClr>
              <a:buSzPts val="1500"/>
              <a:buFont typeface="Lato"/>
              <a:buChar char="▷"/>
              <a:defRPr>
                <a:latin typeface="Lato"/>
                <a:ea typeface="Lato"/>
                <a:cs typeface="Lato"/>
                <a:sym typeface="Lato"/>
              </a:defRPr>
            </a:lvl1pPr>
            <a:lvl2pPr marL="1219170" lvl="1" indent="-457189" algn="l">
              <a:lnSpc>
                <a:spcPct val="110000"/>
              </a:lnSpc>
              <a:spcBef>
                <a:spcPts val="0"/>
              </a:spcBef>
              <a:spcAft>
                <a:spcPts val="0"/>
              </a:spcAft>
              <a:buClr>
                <a:schemeClr val="dk2"/>
              </a:buClr>
              <a:buSzPts val="1800"/>
              <a:buFont typeface="Lato"/>
              <a:buChar char="○"/>
              <a:defRPr>
                <a:solidFill>
                  <a:srgbClr val="595959"/>
                </a:solidFill>
                <a:latin typeface="Lato"/>
                <a:ea typeface="Lato"/>
                <a:cs typeface="Lato"/>
                <a:sym typeface="Lato"/>
              </a:defRPr>
            </a:lvl2pPr>
            <a:lvl3pPr marL="1828754" lvl="2" indent="-457189" algn="l">
              <a:lnSpc>
                <a:spcPct val="110000"/>
              </a:lnSpc>
              <a:spcBef>
                <a:spcPts val="0"/>
              </a:spcBef>
              <a:spcAft>
                <a:spcPts val="0"/>
              </a:spcAft>
              <a:buClr>
                <a:srgbClr val="595959"/>
              </a:buClr>
              <a:buSzPts val="1800"/>
              <a:buFont typeface="Lato"/>
              <a:buChar char="■"/>
              <a:defRPr>
                <a:solidFill>
                  <a:srgbClr val="595959"/>
                </a:solidFill>
                <a:latin typeface="Lato"/>
                <a:ea typeface="Lato"/>
                <a:cs typeface="Lato"/>
                <a:sym typeface="Lato"/>
              </a:defRPr>
            </a:lvl3pPr>
            <a:lvl4pPr marL="2438339" lvl="3" indent="-457189" algn="l">
              <a:lnSpc>
                <a:spcPct val="110000"/>
              </a:lnSpc>
              <a:spcBef>
                <a:spcPts val="0"/>
              </a:spcBef>
              <a:spcAft>
                <a:spcPts val="0"/>
              </a:spcAft>
              <a:buClr>
                <a:srgbClr val="595959"/>
              </a:buClr>
              <a:buSzPts val="1800"/>
              <a:buFont typeface="Lato"/>
              <a:buChar char="●"/>
              <a:defRPr>
                <a:solidFill>
                  <a:srgbClr val="595959"/>
                </a:solidFill>
                <a:latin typeface="Lato"/>
                <a:ea typeface="Lato"/>
                <a:cs typeface="Lato"/>
                <a:sym typeface="Lato"/>
              </a:defRPr>
            </a:lvl4pPr>
            <a:lvl5pPr marL="3047924" lvl="4" indent="-457189" algn="l">
              <a:lnSpc>
                <a:spcPct val="90000"/>
              </a:lnSpc>
              <a:spcBef>
                <a:spcPts val="0"/>
              </a:spcBef>
              <a:spcAft>
                <a:spcPts val="0"/>
              </a:spcAft>
              <a:buClr>
                <a:srgbClr val="595959"/>
              </a:buClr>
              <a:buSzPts val="1800"/>
              <a:buFont typeface="Lato"/>
              <a:buChar char="○"/>
              <a:defRPr>
                <a:solidFill>
                  <a:srgbClr val="595959"/>
                </a:solidFill>
                <a:latin typeface="Lato"/>
                <a:ea typeface="Lato"/>
                <a:cs typeface="Lato"/>
                <a:sym typeface="Lato"/>
              </a:defRPr>
            </a:lvl5pPr>
            <a:lvl6pPr marL="3657509" lvl="5" indent="-457189" algn="l">
              <a:lnSpc>
                <a:spcPct val="90000"/>
              </a:lnSpc>
              <a:spcBef>
                <a:spcPts val="0"/>
              </a:spcBef>
              <a:spcAft>
                <a:spcPts val="0"/>
              </a:spcAft>
              <a:buClr>
                <a:srgbClr val="595959"/>
              </a:buClr>
              <a:buSzPts val="1800"/>
              <a:buFont typeface="Lato"/>
              <a:buChar char="■"/>
              <a:defRPr>
                <a:solidFill>
                  <a:srgbClr val="595959"/>
                </a:solidFill>
                <a:latin typeface="Lato"/>
                <a:ea typeface="Lato"/>
                <a:cs typeface="Lato"/>
                <a:sym typeface="Lato"/>
              </a:defRPr>
            </a:lvl6pPr>
            <a:lvl7pPr marL="4267093" lvl="6" indent="-457189" algn="l">
              <a:lnSpc>
                <a:spcPct val="90000"/>
              </a:lnSpc>
              <a:spcBef>
                <a:spcPts val="0"/>
              </a:spcBef>
              <a:spcAft>
                <a:spcPts val="0"/>
              </a:spcAft>
              <a:buClr>
                <a:srgbClr val="595959"/>
              </a:buClr>
              <a:buSzPts val="1800"/>
              <a:buFont typeface="Lato"/>
              <a:buChar char="●"/>
              <a:defRPr>
                <a:solidFill>
                  <a:srgbClr val="595959"/>
                </a:solidFill>
                <a:latin typeface="Lato"/>
                <a:ea typeface="Lato"/>
                <a:cs typeface="Lato"/>
                <a:sym typeface="Lato"/>
              </a:defRPr>
            </a:lvl7pPr>
            <a:lvl8pPr marL="4876678" lvl="7" indent="-457189" algn="l">
              <a:lnSpc>
                <a:spcPct val="90000"/>
              </a:lnSpc>
              <a:spcBef>
                <a:spcPts val="0"/>
              </a:spcBef>
              <a:spcAft>
                <a:spcPts val="0"/>
              </a:spcAft>
              <a:buClr>
                <a:srgbClr val="595959"/>
              </a:buClr>
              <a:buSzPts val="1800"/>
              <a:buFont typeface="Lato"/>
              <a:buChar char="○"/>
              <a:defRPr>
                <a:solidFill>
                  <a:srgbClr val="595959"/>
                </a:solidFill>
                <a:latin typeface="Lato"/>
                <a:ea typeface="Lato"/>
                <a:cs typeface="Lato"/>
                <a:sym typeface="Lato"/>
              </a:defRPr>
            </a:lvl8pPr>
            <a:lvl9pPr marL="5486263" lvl="8" indent="-457189" algn="l">
              <a:lnSpc>
                <a:spcPct val="90000"/>
              </a:lnSpc>
              <a:spcBef>
                <a:spcPts val="0"/>
              </a:spcBef>
              <a:spcAft>
                <a:spcPts val="0"/>
              </a:spcAft>
              <a:buClr>
                <a:srgbClr val="595959"/>
              </a:buClr>
              <a:buSzPts val="1800"/>
              <a:buFont typeface="Lato"/>
              <a:buChar char="■"/>
              <a:defRPr>
                <a:solidFill>
                  <a:srgbClr val="595959"/>
                </a:solidFill>
                <a:latin typeface="Lato"/>
                <a:ea typeface="Lato"/>
                <a:cs typeface="Lato"/>
                <a:sym typeface="Lato"/>
              </a:defRPr>
            </a:lvl9pPr>
          </a:lstStyle>
          <a:p>
            <a:endParaRPr/>
          </a:p>
        </p:txBody>
      </p:sp>
      <p:sp>
        <p:nvSpPr>
          <p:cNvPr id="79" name="Google Shape;79;p12"/>
          <p:cNvSpPr txBox="1">
            <a:spLocks noGrp="1"/>
          </p:cNvSpPr>
          <p:nvPr>
            <p:ph type="sldNum" idx="12"/>
          </p:nvPr>
        </p:nvSpPr>
        <p:spPr>
          <a:xfrm>
            <a:off x="11466783" y="5913927"/>
            <a:ext cx="731600" cy="418000"/>
          </a:xfrm>
          <a:prstGeom prst="rect">
            <a:avLst/>
          </a:prstGeom>
          <a:noFill/>
          <a:ln>
            <a:noFill/>
          </a:ln>
        </p:spPr>
        <p:txBody>
          <a:bodyPr spcFirstLastPara="1" wrap="square" lIns="68575" tIns="68575" rIns="68575" bIns="68575" anchor="t" anchorCtr="0">
            <a:noAutofit/>
          </a:bodyPr>
          <a:lstStyle>
            <a:lvl1pPr marL="0" lvl="0" indent="0" algn="r">
              <a:buClr>
                <a:schemeClr val="dk1"/>
              </a:buClr>
              <a:buSzPts val="1200"/>
              <a:buFont typeface="Calibri"/>
              <a:buNone/>
              <a:defRPr sz="1600" b="0" i="0">
                <a:solidFill>
                  <a:schemeClr val="dk1"/>
                </a:solidFill>
                <a:latin typeface="Calibri"/>
                <a:ea typeface="Calibri"/>
                <a:cs typeface="Calibri"/>
                <a:sym typeface="Calibri"/>
              </a:defRPr>
            </a:lvl1pPr>
            <a:lvl2pPr marL="0" lvl="1" indent="0" algn="r">
              <a:buClr>
                <a:schemeClr val="dk1"/>
              </a:buClr>
              <a:buSzPts val="1200"/>
              <a:buFont typeface="Calibri"/>
              <a:buNone/>
              <a:defRPr sz="1600" b="0" i="0">
                <a:solidFill>
                  <a:schemeClr val="dk1"/>
                </a:solidFill>
                <a:latin typeface="Calibri"/>
                <a:ea typeface="Calibri"/>
                <a:cs typeface="Calibri"/>
                <a:sym typeface="Calibri"/>
              </a:defRPr>
            </a:lvl2pPr>
            <a:lvl3pPr marL="0" lvl="2" indent="0" algn="r">
              <a:buClr>
                <a:schemeClr val="dk1"/>
              </a:buClr>
              <a:buSzPts val="1200"/>
              <a:buFont typeface="Calibri"/>
              <a:buNone/>
              <a:defRPr sz="1600" b="0" i="0">
                <a:solidFill>
                  <a:schemeClr val="dk1"/>
                </a:solidFill>
                <a:latin typeface="Calibri"/>
                <a:ea typeface="Calibri"/>
                <a:cs typeface="Calibri"/>
                <a:sym typeface="Calibri"/>
              </a:defRPr>
            </a:lvl3pPr>
            <a:lvl4pPr marL="0" lvl="3" indent="0" algn="r">
              <a:buClr>
                <a:schemeClr val="dk1"/>
              </a:buClr>
              <a:buSzPts val="1200"/>
              <a:buFont typeface="Calibri"/>
              <a:buNone/>
              <a:defRPr sz="1600" b="0" i="0">
                <a:solidFill>
                  <a:schemeClr val="dk1"/>
                </a:solidFill>
                <a:latin typeface="Calibri"/>
                <a:ea typeface="Calibri"/>
                <a:cs typeface="Calibri"/>
                <a:sym typeface="Calibri"/>
              </a:defRPr>
            </a:lvl4pPr>
            <a:lvl5pPr marL="0" lvl="4" indent="0" algn="r">
              <a:buClr>
                <a:schemeClr val="dk1"/>
              </a:buClr>
              <a:buSzPts val="1200"/>
              <a:buFont typeface="Calibri"/>
              <a:buNone/>
              <a:defRPr sz="1600" b="0" i="0">
                <a:solidFill>
                  <a:schemeClr val="dk1"/>
                </a:solidFill>
                <a:latin typeface="Calibri"/>
                <a:ea typeface="Calibri"/>
                <a:cs typeface="Calibri"/>
                <a:sym typeface="Calibri"/>
              </a:defRPr>
            </a:lvl5pPr>
            <a:lvl6pPr marL="0" lvl="5" indent="0" algn="r">
              <a:buClr>
                <a:schemeClr val="dk1"/>
              </a:buClr>
              <a:buSzPts val="1200"/>
              <a:buFont typeface="Calibri"/>
              <a:buNone/>
              <a:defRPr sz="1600" b="0" i="0">
                <a:solidFill>
                  <a:schemeClr val="dk1"/>
                </a:solidFill>
                <a:latin typeface="Calibri"/>
                <a:ea typeface="Calibri"/>
                <a:cs typeface="Calibri"/>
                <a:sym typeface="Calibri"/>
              </a:defRPr>
            </a:lvl6pPr>
            <a:lvl7pPr marL="0" lvl="6" indent="0" algn="r">
              <a:buClr>
                <a:schemeClr val="dk1"/>
              </a:buClr>
              <a:buSzPts val="1200"/>
              <a:buFont typeface="Calibri"/>
              <a:buNone/>
              <a:defRPr sz="1600" b="0" i="0">
                <a:solidFill>
                  <a:schemeClr val="dk1"/>
                </a:solidFill>
                <a:latin typeface="Calibri"/>
                <a:ea typeface="Calibri"/>
                <a:cs typeface="Calibri"/>
                <a:sym typeface="Calibri"/>
              </a:defRPr>
            </a:lvl7pPr>
            <a:lvl8pPr marL="0" lvl="7" indent="0" algn="r">
              <a:buClr>
                <a:schemeClr val="dk1"/>
              </a:buClr>
              <a:buSzPts val="1200"/>
              <a:buFont typeface="Calibri"/>
              <a:buNone/>
              <a:defRPr sz="1600" b="0" i="0">
                <a:solidFill>
                  <a:schemeClr val="dk1"/>
                </a:solidFill>
                <a:latin typeface="Calibri"/>
                <a:ea typeface="Calibri"/>
                <a:cs typeface="Calibri"/>
                <a:sym typeface="Calibri"/>
              </a:defRPr>
            </a:lvl8pPr>
            <a:lvl9pPr marL="0" lvl="8" indent="0" algn="r">
              <a:buClr>
                <a:schemeClr val="dk1"/>
              </a:buClr>
              <a:buSzPts val="1200"/>
              <a:buFont typeface="Calibri"/>
              <a:buNone/>
              <a:defRPr sz="1600" b="0" i="0">
                <a:solidFill>
                  <a:schemeClr val="dk1"/>
                </a:solidFill>
                <a:latin typeface="Calibri"/>
                <a:ea typeface="Calibri"/>
                <a:cs typeface="Calibri"/>
                <a:sym typeface="Calibri"/>
              </a:defRPr>
            </a:lvl9pPr>
          </a:lstStyle>
          <a:p>
            <a:pPr rtl="0"/>
            <a:fld id="{00000000-1234-1234-1234-123412341234}" type="slidenum">
              <a:rPr lang="en-GB" smtClean="0"/>
              <a:pPr rtl="0"/>
              <a:t>‹#›</a:t>
            </a:fld>
            <a:endParaRPr lang="en-GB"/>
          </a:p>
        </p:txBody>
      </p:sp>
    </p:spTree>
    <p:extLst>
      <p:ext uri="{BB962C8B-B14F-4D97-AF65-F5344CB8AC3E}">
        <p14:creationId xmlns:p14="http://schemas.microsoft.com/office/powerpoint/2010/main" val="34005642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365760"/>
          </a:xfrm>
          <a:custGeom>
            <a:avLst/>
            <a:gdLst/>
            <a:ahLst/>
            <a:cxnLst/>
            <a:rect l="l" t="t" r="r" b="b"/>
            <a:pathLst>
              <a:path w="9144000" h="365760">
                <a:moveTo>
                  <a:pt x="9144000" y="0"/>
                </a:moveTo>
                <a:lnTo>
                  <a:pt x="0" y="0"/>
                </a:lnTo>
                <a:lnTo>
                  <a:pt x="0" y="365760"/>
                </a:lnTo>
                <a:lnTo>
                  <a:pt x="9144000" y="365760"/>
                </a:lnTo>
                <a:lnTo>
                  <a:pt x="9144000" y="0"/>
                </a:lnTo>
                <a:close/>
              </a:path>
            </a:pathLst>
          </a:custGeom>
          <a:solidFill>
            <a:srgbClr val="4F80BC"/>
          </a:solidFill>
        </p:spPr>
        <p:txBody>
          <a:bodyPr wrap="square" lIns="0" tIns="0" rIns="0" bIns="0" rtlCol="0"/>
          <a:lstStyle/>
          <a:p>
            <a:endParaRPr/>
          </a:p>
        </p:txBody>
      </p:sp>
      <p:sp>
        <p:nvSpPr>
          <p:cNvPr id="2" name="Holder 2"/>
          <p:cNvSpPr>
            <a:spLocks noGrp="1"/>
          </p:cNvSpPr>
          <p:nvPr>
            <p:ph type="title"/>
          </p:nvPr>
        </p:nvSpPr>
        <p:spPr>
          <a:xfrm>
            <a:off x="698499" y="729741"/>
            <a:ext cx="10795000" cy="615553"/>
          </a:xfrm>
          <a:prstGeom prst="rect">
            <a:avLst/>
          </a:prstGeom>
        </p:spPr>
        <p:txBody>
          <a:bodyPr wrap="square" lIns="0" tIns="0" rIns="0" bIns="0">
            <a:spAutoFit/>
          </a:bodyPr>
          <a:lstStyle>
            <a:lvl1pPr>
              <a:defRPr sz="4000" b="0" i="0">
                <a:solidFill>
                  <a:srgbClr val="1F487C"/>
                </a:solidFill>
                <a:latin typeface="Arial"/>
                <a:cs typeface="Arial"/>
              </a:defRPr>
            </a:lvl1pPr>
          </a:lstStyle>
          <a:p>
            <a:endParaRPr/>
          </a:p>
        </p:txBody>
      </p:sp>
      <p:sp>
        <p:nvSpPr>
          <p:cNvPr id="3" name="Holder 3"/>
          <p:cNvSpPr>
            <a:spLocks noGrp="1"/>
          </p:cNvSpPr>
          <p:nvPr>
            <p:ph type="body" idx="1"/>
          </p:nvPr>
        </p:nvSpPr>
        <p:spPr>
          <a:xfrm>
            <a:off x="395358" y="2285921"/>
            <a:ext cx="11291993" cy="27699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11/7/25</a:t>
            </a:fld>
            <a:endParaRPr lang="en-US"/>
          </a:p>
        </p:txBody>
      </p:sp>
      <p:sp>
        <p:nvSpPr>
          <p:cNvPr id="6" name="Holder 6"/>
          <p:cNvSpPr>
            <a:spLocks noGrp="1"/>
          </p:cNvSpPr>
          <p:nvPr>
            <p:ph type="sldNum" sz="quarter" idx="7"/>
          </p:nvPr>
        </p:nvSpPr>
        <p:spPr>
          <a:xfrm>
            <a:off x="8778240" y="6377940"/>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docs.nvidia.com/cuda/archive/12.3.0/cuda-runtime-api/group__CUDART__MEMORY.html#group__CUDART__MEMORY_1gc263dbe6574220cc776b45438fc351e8"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hyperlink" Target="https://docs.nvidia.com/cuda/archive/12.3.0/cuda-runtime-api/group__CUDART__MEMORY.html"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s://www.google.com/search?q=NVIDIA+Multi-Process+Service+%28MPS%29&amp;oq=can+multiple+applications+launch+GPU+&amp;gs_lcrp=EgZjaHJvbWUqBwgBECEYoAEyBggAEEUYOTIHCAEQIRigATIHCAIQIRigATIHCAMQIRigATIHCAQQIRigATIHCAUQIRiPAjIHCAYQIRiPAtIBCTEwMjk5ajBqN6gCALACAA&amp;sourceid=chrome&amp;ie=UTF-8&amp;mstk=AUtExfC5fbXoUgBkG29IcQ67kacmE5Mkdg8AB3H-WrCQIXauqtsq2ehEt88g4bSR9WJnUmVErBwMYOJ6mR5G08_bYscCJ6XIQ-L6tKRNb9afHhX3RVGpuuX6yiEvYLFezxFV9Zjfvnu9ngNrR_NCVrFdH1k6EvR5EN6aEDIVNxyfSUuuP1A&amp;csui=3&amp;ved=2ahUKEwi_lc6wqOOQAxX4_rsIHT0UABYQgK4QegQIBhAB"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hyperlink" Target="https://www.google.com/search?q=Multi-Instance+GPU&amp;sca_esv=3d29dfa0f0d45526&amp;sxsrf=AE3TifMJ4_4M2AkkpAzpgbA0p6bCWcwzlg%3A1762631057679&amp;ei=kZ0PaZaWKfiG9u8Pg96gmQk&amp;ved=2ahUKEwjR_YGQqeOQAxUa_7sIHQtdIAMQgK4QegQIARAE&amp;uact=5&amp;oq=MPS+and+MIG+difference+%28NVIDIA%29&amp;gs_lp=Egxnd3Mtd2l6LXNlcnAiH01QUyBhbmQgTUlHIGRpZmZlcmVuY2UgKE5WSURJQSkyBRAhGKABSJZQUM4KWMBNcAZ4AZABAJgBeaABnBeqAQQyOC43uAEDyAEA-AEBmAIpoAKFGMICChAAGEcY1gQYsAPCAgoQIxiABBiKBRgnwgINECMY8AUYgAQYigUYJ8ICCxAAGIAEGIoFGJECwgIFEAAYgATCAgsQLhiABBjHARjRA8ICBRAuGIAEwgIKEAAYgAQYigUYQ8ICCxAuGIAEGMcBGK8BwgIUEC4YgAQYxwEYrwEYmAUYmQUYjgXCAhEQLhiABBjLARjHARivARiOBcICCBAAGIAEGMsBwgIOEC4YgAQYywEYxwEYrwHCAg4QLhivARjHARjLARiABMICFxAuGIAEGMsBGMcBGK8BGJgFGJkFGI4FwgIgEC4YgAQYywEYxwEYrwEYjgUYlwUY3AQY3gQY4ATYAQHCAgYQABgWGB7CAgsQABiABBiKBRiGA8ICCBAAGIAEGKIEwgIFEAAY7wXCAggQABiJBRiiBMICBxAhGAoYoAGYAwCIBgGQBgi6BgYIARABGBSSBwQzNC43oAfliQGyBwQyOC43uAf1F8IHBzE3LjIxLjPIBzo&amp;sclient=gws-wiz-serp&amp;mstk=AUtExfC3GVhXy2X6Gljp7pC3vTSaJBZH4NmQyAjOUI59BSu_I0c8pgnCBJfcnV-wzRlgiQKRcHGm26Tzf3rqkgBlsHP37H4qHI0vNDMsl8ZsKw7RVKshAWO0YmzMpu_sMDqtQUVdAff_WQkJ1ZCPBhjXapj8Wtpi6bXwiUUWU94PIPc60luRJ_wgo6z4F2rv6tiLW7ghZVSJ0h02QLP4kz_pXA0Eri-GqRrodnKQMs5YuBMtzc80ST753cb1WH0I1T2newkS4_k1nr18Eo0nMine6gfZ&amp;csui=3" TargetMode="External"/><Relationship Id="rId5" Type="http://schemas.openxmlformats.org/officeDocument/2006/relationships/hyperlink" Target="https://www.google.com/search?q=Multi-Process+Service&amp;sca_esv=3d29dfa0f0d45526&amp;sxsrf=AE3TifMJ4_4M2AkkpAzpgbA0p6bCWcwzlg%3A1762631057679&amp;ei=kZ0PaZaWKfiG9u8Pg96gmQk&amp;ved=2ahUKEwjR_YGQqeOQAxUa_7sIHQtdIAMQgK4QegQIARAF&amp;uact=5&amp;oq=MPS+and+MIG+difference+%28NVIDIA%29&amp;gs_lp=Egxnd3Mtd2l6LXNlcnAiH01QUyBhbmQgTUlHIGRpZmZlcmVuY2UgKE5WSURJQSkyBRAhGKABSJZQUM4KWMBNcAZ4AZABAJgBeaABnBeqAQQyOC43uAEDyAEA-AEBmAIpoAKFGMICChAAGEcY1gQYsAPCAgoQIxiABBiKBRgnwgINECMY8AUYgAQYigUYJ8ICCxAAGIAEGIoFGJECwgIFEAAYgATCAgsQLhiABBjHARjRA8ICBRAuGIAEwgIKEAAYgAQYigUYQ8ICCxAuGIAEGMcBGK8BwgIUEC4YgAQYxwEYrwEYmAUYmQUYjgXCAhEQLhiABBjLARjHARivARiOBcICCBAAGIAEGMsBwgIOEC4YgAQYywEYxwEYrwHCAg4QLhivARjHARjLARiABMICFxAuGIAEGMsBGMcBGK8BGJgFGJkFGI4FwgIgEC4YgAQYywEYxwEYrwEYjgUYlwUY3AQY3gQY4ATYAQHCAgYQABgWGB7CAgsQABiABBiKBRiGA8ICCBAAGIAEGKIEwgIFEAAY7wXCAggQABiJBRiiBMICBxAhGAoYoAGYAwCIBgGQBgi6BgYIARABGBSSBwQzNC43oAfliQGyBwQyOC43uAf1F8IHBzE3LjIxLjPIBzo&amp;sclient=gws-wiz-serp&amp;mstk=AUtExfC3GVhXy2X6Gljp7pC3vTSaJBZH4NmQyAjOUI59BSu_I0c8pgnCBJfcnV-wzRlgiQKRcHGm26Tzf3rqkgBlsHP37H4qHI0vNDMsl8ZsKw7RVKshAWO0YmzMpu_sMDqtQUVdAff_WQkJ1ZCPBhjXapj8Wtpi6bXwiUUWU94PIPc60luRJ_wgo6z4F2rv6tiLW7ghZVSJ0h02QLP4kz_pXA0Eri-GqRrodnKQMs5YuBMtzc80ST753cb1WH0I1T2newkS4_k1nr18Eo0nMine6gfZ&amp;csui=3" TargetMode="External"/><Relationship Id="rId4" Type="http://schemas.openxmlformats.org/officeDocument/2006/relationships/hyperlink" Target="https://www.google.com/search?q=NVIDIA+Multi-Instance+GPU+%28MIG%29&amp;oq=can+multiple+applications+launch+GPU+&amp;gs_lcrp=EgZjaHJvbWUqBwgBECEYoAEyBggAEEUYOTIHCAEQIRigATIHCAIQIRigATIHCAMQIRigATIHCAQQIRigATIHCAUQIRiPAjIHCAYQIRiPAtIBCTEwMjk5ajBqN6gCALACAA&amp;sourceid=chrome&amp;ie=UTF-8&amp;mstk=AUtExfC5fbXoUgBkG29IcQ67kacmE5Mkdg8AB3H-WrCQIXauqtsq2ehEt88g4bSR9WJnUmVErBwMYOJ6mR5G08_bYscCJ6XIQ-L6tKRNb9afHhX3RVGpuuX6yiEvYLFezxFV9Zjfvnu9ngNrR_NCVrFdH1k6EvR5EN6aEDIVNxyfSUuuP1A&amp;csui=3&amp;ved=2ahUKEwi_lc6wqOOQAxX4_rsIHT0UABYQgK4QegQIBhAD"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 Id="rId9" Type="http://schemas.openxmlformats.org/officeDocument/2006/relationships/image" Target="../media/image39.png"/></Relationships>
</file>

<file path=ppt/slides/_rels/slide2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docs.nvidia.com/cuda/cuda-c-programming-guide/index.html#texture-memory"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 Id="rId9" Type="http://schemas.openxmlformats.org/officeDocument/2006/relationships/image" Target="../media/image49.png"/></Relationships>
</file>

<file path=ppt/slides/_rels/slide30.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jpg"/><Relationship Id="rId4" Type="http://schemas.openxmlformats.org/officeDocument/2006/relationships/image" Target="../media/image52.png"/><Relationship Id="rId9" Type="http://schemas.openxmlformats.org/officeDocument/2006/relationships/image" Target="../media/image5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hyperlink" Target="https://github.com/parallel-forall/code-samples/blob/master/series/cuda-cpp/overlap-data-transfers/async.cu" TargetMode="Externa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6.jpg"/><Relationship Id="rId2" Type="http://schemas.openxmlformats.org/officeDocument/2006/relationships/image" Target="../media/image65.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25117" y="2523489"/>
            <a:ext cx="5435600" cy="680720"/>
          </a:xfrm>
          <a:prstGeom prst="rect">
            <a:avLst/>
          </a:prstGeom>
        </p:spPr>
        <p:txBody>
          <a:bodyPr vert="horz" wrap="square" lIns="0" tIns="12065" rIns="0" bIns="0" rtlCol="0">
            <a:spAutoFit/>
          </a:bodyPr>
          <a:lstStyle/>
          <a:p>
            <a:pPr marL="12700">
              <a:spcBef>
                <a:spcPts val="95"/>
              </a:spcBef>
            </a:pPr>
            <a:r>
              <a:rPr sz="4300" spc="-60" dirty="0">
                <a:solidFill>
                  <a:srgbClr val="EEECE1"/>
                </a:solidFill>
                <a:latin typeface="Arial"/>
                <a:cs typeface="Arial"/>
              </a:rPr>
              <a:t>GPU</a:t>
            </a:r>
            <a:r>
              <a:rPr sz="4300" spc="-240" dirty="0">
                <a:solidFill>
                  <a:srgbClr val="EEECE1"/>
                </a:solidFill>
                <a:latin typeface="Arial"/>
                <a:cs typeface="Arial"/>
              </a:rPr>
              <a:t> </a:t>
            </a:r>
            <a:r>
              <a:rPr sz="4300" spc="-90" dirty="0">
                <a:solidFill>
                  <a:srgbClr val="EEECE1"/>
                </a:solidFill>
                <a:latin typeface="Arial"/>
                <a:cs typeface="Arial"/>
              </a:rPr>
              <a:t>PROGRAMMING</a:t>
            </a:r>
            <a:endParaRPr sz="4300">
              <a:latin typeface="Arial"/>
              <a:cs typeface="Arial"/>
            </a:endParaRPr>
          </a:p>
        </p:txBody>
      </p:sp>
      <p:sp>
        <p:nvSpPr>
          <p:cNvPr id="3" name="object 3"/>
          <p:cNvSpPr txBox="1"/>
          <p:nvPr/>
        </p:nvSpPr>
        <p:spPr>
          <a:xfrm>
            <a:off x="8763000" y="3962400"/>
            <a:ext cx="3664585" cy="2022990"/>
          </a:xfrm>
          <a:prstGeom prst="rect">
            <a:avLst/>
          </a:prstGeom>
        </p:spPr>
        <p:txBody>
          <a:bodyPr vert="horz" wrap="square" lIns="0" tIns="12065" rIns="0" bIns="0" rtlCol="0">
            <a:spAutoFit/>
          </a:bodyPr>
          <a:lstStyle/>
          <a:p>
            <a:pPr marL="12700">
              <a:spcBef>
                <a:spcPts val="95"/>
              </a:spcBef>
            </a:pPr>
            <a:r>
              <a:rPr lang="en-US" sz="4300" spc="-90" dirty="0">
                <a:solidFill>
                  <a:srgbClr val="EEECE1"/>
                </a:solidFill>
                <a:latin typeface="Arial"/>
                <a:cs typeface="Arial"/>
              </a:rPr>
              <a:t>Lecture #2 </a:t>
            </a:r>
          </a:p>
          <a:p>
            <a:pPr marL="12700">
              <a:spcBef>
                <a:spcPts val="95"/>
              </a:spcBef>
            </a:pPr>
            <a:endParaRPr lang="en-US" sz="4300" spc="-90" dirty="0">
              <a:solidFill>
                <a:srgbClr val="EEECE1"/>
              </a:solidFill>
              <a:latin typeface="Arial"/>
              <a:cs typeface="Arial"/>
            </a:endParaRPr>
          </a:p>
          <a:p>
            <a:pPr marL="12700">
              <a:spcBef>
                <a:spcPts val="95"/>
              </a:spcBef>
            </a:pPr>
            <a:r>
              <a:rPr lang="en-US" sz="4300" spc="-90" dirty="0">
                <a:solidFill>
                  <a:srgbClr val="EEECE1"/>
                </a:solidFill>
                <a:latin typeface="Arial"/>
                <a:cs typeface="Arial"/>
              </a:rPr>
              <a:t>Dolly Sapra</a:t>
            </a:r>
            <a:endParaRPr sz="4300" dirty="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1DE7F-C9BA-FA28-FBC8-6F0E1222118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B983D2D-E230-FB51-E94F-EE8F0756EF86}"/>
              </a:ext>
            </a:extLst>
          </p:cNvPr>
          <p:cNvSpPr txBox="1"/>
          <p:nvPr/>
        </p:nvSpPr>
        <p:spPr>
          <a:xfrm>
            <a:off x="2325118" y="3834510"/>
            <a:ext cx="3664585" cy="680720"/>
          </a:xfrm>
          <a:prstGeom prst="rect">
            <a:avLst/>
          </a:prstGeom>
        </p:spPr>
        <p:txBody>
          <a:bodyPr vert="horz" wrap="square" lIns="0" tIns="12065" rIns="0" bIns="0" rtlCol="0">
            <a:spAutoFit/>
          </a:bodyPr>
          <a:lstStyle/>
          <a:p>
            <a:pPr marL="12700">
              <a:spcBef>
                <a:spcPts val="95"/>
              </a:spcBef>
            </a:pPr>
            <a:r>
              <a:rPr sz="4300" spc="-90" dirty="0">
                <a:solidFill>
                  <a:srgbClr val="EEECE1"/>
                </a:solidFill>
                <a:latin typeface="Arial"/>
                <a:cs typeface="Arial"/>
              </a:rPr>
              <a:t>QUICK</a:t>
            </a:r>
            <a:r>
              <a:rPr sz="4300" spc="-200" dirty="0">
                <a:solidFill>
                  <a:srgbClr val="EEECE1"/>
                </a:solidFill>
                <a:latin typeface="Arial"/>
                <a:cs typeface="Arial"/>
              </a:rPr>
              <a:t> </a:t>
            </a:r>
            <a:r>
              <a:rPr sz="4300" spc="-55" dirty="0">
                <a:solidFill>
                  <a:srgbClr val="EEECE1"/>
                </a:solidFill>
                <a:latin typeface="Arial"/>
                <a:cs typeface="Arial"/>
              </a:rPr>
              <a:t>RECAP</a:t>
            </a:r>
            <a:endParaRPr sz="4300" dirty="0">
              <a:latin typeface="Arial"/>
              <a:cs typeface="Arial"/>
            </a:endParaRPr>
          </a:p>
        </p:txBody>
      </p:sp>
    </p:spTree>
    <p:extLst>
      <p:ext uri="{BB962C8B-B14F-4D97-AF65-F5344CB8AC3E}">
        <p14:creationId xmlns:p14="http://schemas.microsoft.com/office/powerpoint/2010/main" val="1953553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59941" y="697737"/>
            <a:ext cx="3861435" cy="635000"/>
          </a:xfrm>
          <a:prstGeom prst="rect">
            <a:avLst/>
          </a:prstGeom>
        </p:spPr>
        <p:txBody>
          <a:bodyPr vert="horz" wrap="square" lIns="0" tIns="12065" rIns="0" bIns="0" rtlCol="0">
            <a:spAutoFit/>
          </a:bodyPr>
          <a:lstStyle/>
          <a:p>
            <a:pPr marL="12700">
              <a:spcBef>
                <a:spcPts val="95"/>
              </a:spcBef>
            </a:pPr>
            <a:r>
              <a:rPr spc="-85" dirty="0"/>
              <a:t>The</a:t>
            </a:r>
            <a:r>
              <a:rPr spc="-190" dirty="0"/>
              <a:t> </a:t>
            </a:r>
            <a:r>
              <a:rPr spc="-105" dirty="0"/>
              <a:t>story</a:t>
            </a:r>
            <a:r>
              <a:rPr spc="-195" dirty="0"/>
              <a:t> </a:t>
            </a:r>
            <a:r>
              <a:rPr spc="-65" dirty="0"/>
              <a:t>so</a:t>
            </a:r>
            <a:r>
              <a:rPr spc="-185" dirty="0"/>
              <a:t> </a:t>
            </a:r>
            <a:r>
              <a:rPr spc="-25" dirty="0"/>
              <a:t>far…</a:t>
            </a:r>
          </a:p>
        </p:txBody>
      </p:sp>
      <p:sp>
        <p:nvSpPr>
          <p:cNvPr id="3" name="object 3"/>
          <p:cNvSpPr txBox="1"/>
          <p:nvPr/>
        </p:nvSpPr>
        <p:spPr>
          <a:xfrm>
            <a:off x="2059941" y="1552087"/>
            <a:ext cx="6122035" cy="2628925"/>
          </a:xfrm>
          <a:prstGeom prst="rect">
            <a:avLst/>
          </a:prstGeom>
        </p:spPr>
        <p:txBody>
          <a:bodyPr vert="horz" wrap="square" lIns="0" tIns="86360" rIns="0" bIns="0" rtlCol="0">
            <a:spAutoFit/>
          </a:bodyPr>
          <a:lstStyle/>
          <a:p>
            <a:pPr marL="196215" indent="-183515">
              <a:spcBef>
                <a:spcPts val="680"/>
              </a:spcBef>
              <a:buClr>
                <a:srgbClr val="4F80BC"/>
              </a:buClr>
              <a:buSzPct val="85416"/>
              <a:buChar char="•"/>
              <a:tabLst>
                <a:tab pos="196215" algn="l"/>
              </a:tabLst>
            </a:pPr>
            <a:r>
              <a:rPr sz="2400" dirty="0">
                <a:latin typeface="Arial"/>
                <a:cs typeface="Arial"/>
              </a:rPr>
              <a:t>Introduction:</a:t>
            </a:r>
            <a:r>
              <a:rPr sz="2400" spc="-35" dirty="0">
                <a:latin typeface="Arial"/>
                <a:cs typeface="Arial"/>
              </a:rPr>
              <a:t> </a:t>
            </a:r>
            <a:r>
              <a:rPr sz="2400" dirty="0">
                <a:latin typeface="Arial"/>
                <a:cs typeface="Arial"/>
              </a:rPr>
              <a:t>why</a:t>
            </a:r>
            <a:r>
              <a:rPr sz="2400" spc="-20" dirty="0">
                <a:latin typeface="Arial"/>
                <a:cs typeface="Arial"/>
              </a:rPr>
              <a:t> </a:t>
            </a:r>
            <a:r>
              <a:rPr sz="2400" dirty="0">
                <a:latin typeface="Arial"/>
                <a:cs typeface="Arial"/>
              </a:rPr>
              <a:t>do</a:t>
            </a:r>
            <a:r>
              <a:rPr sz="2400" spc="-30" dirty="0">
                <a:latin typeface="Arial"/>
                <a:cs typeface="Arial"/>
              </a:rPr>
              <a:t> </a:t>
            </a:r>
            <a:r>
              <a:rPr sz="2400" dirty="0">
                <a:latin typeface="Arial"/>
                <a:cs typeface="Arial"/>
              </a:rPr>
              <a:t>we</a:t>
            </a:r>
            <a:r>
              <a:rPr sz="2400" spc="-35" dirty="0">
                <a:latin typeface="Arial"/>
                <a:cs typeface="Arial"/>
              </a:rPr>
              <a:t> </a:t>
            </a:r>
            <a:r>
              <a:rPr sz="2400" dirty="0">
                <a:latin typeface="Arial"/>
                <a:cs typeface="Arial"/>
              </a:rPr>
              <a:t>want</a:t>
            </a:r>
            <a:r>
              <a:rPr sz="2400" spc="-20" dirty="0">
                <a:latin typeface="Arial"/>
                <a:cs typeface="Arial"/>
              </a:rPr>
              <a:t> </a:t>
            </a:r>
            <a:r>
              <a:rPr sz="2400" dirty="0">
                <a:latin typeface="Arial"/>
                <a:cs typeface="Arial"/>
              </a:rPr>
              <a:t>to</a:t>
            </a:r>
            <a:r>
              <a:rPr sz="2400" spc="-35" dirty="0">
                <a:latin typeface="Arial"/>
                <a:cs typeface="Arial"/>
              </a:rPr>
              <a:t> </a:t>
            </a:r>
            <a:r>
              <a:rPr sz="2400" dirty="0">
                <a:latin typeface="Arial"/>
                <a:cs typeface="Arial"/>
              </a:rPr>
              <a:t>use</a:t>
            </a:r>
            <a:r>
              <a:rPr sz="2400" spc="-30" dirty="0">
                <a:latin typeface="Arial"/>
                <a:cs typeface="Arial"/>
              </a:rPr>
              <a:t> </a:t>
            </a:r>
            <a:r>
              <a:rPr sz="2400" spc="-10" dirty="0">
                <a:latin typeface="Arial"/>
                <a:cs typeface="Arial"/>
              </a:rPr>
              <a:t>GPUs?</a:t>
            </a:r>
            <a:endParaRPr sz="2400">
              <a:latin typeface="Arial"/>
              <a:cs typeface="Arial"/>
            </a:endParaRPr>
          </a:p>
          <a:p>
            <a:pPr marL="469900" lvl="1" indent="-182880">
              <a:spcBef>
                <a:spcPts val="484"/>
              </a:spcBef>
              <a:buClr>
                <a:srgbClr val="4F80BC"/>
              </a:buClr>
              <a:buSzPct val="85000"/>
              <a:buChar char="•"/>
              <a:tabLst>
                <a:tab pos="469900" algn="l"/>
              </a:tabLst>
            </a:pPr>
            <a:r>
              <a:rPr sz="2000" dirty="0">
                <a:latin typeface="Arial"/>
                <a:cs typeface="Arial"/>
              </a:rPr>
              <a:t>Performance,</a:t>
            </a:r>
            <a:r>
              <a:rPr sz="2000" spc="-70" dirty="0">
                <a:latin typeface="Arial"/>
                <a:cs typeface="Arial"/>
              </a:rPr>
              <a:t> </a:t>
            </a:r>
            <a:r>
              <a:rPr sz="2000" dirty="0">
                <a:latin typeface="Arial"/>
                <a:cs typeface="Arial"/>
              </a:rPr>
              <a:t>energy</a:t>
            </a:r>
            <a:r>
              <a:rPr sz="2000" spc="-60" dirty="0">
                <a:latin typeface="Arial"/>
                <a:cs typeface="Arial"/>
              </a:rPr>
              <a:t> </a:t>
            </a:r>
            <a:r>
              <a:rPr sz="2000" spc="-10" dirty="0">
                <a:latin typeface="Arial"/>
                <a:cs typeface="Arial"/>
              </a:rPr>
              <a:t>efficiency,</a:t>
            </a:r>
            <a:r>
              <a:rPr sz="2000" spc="-60" dirty="0">
                <a:latin typeface="Arial"/>
                <a:cs typeface="Arial"/>
              </a:rPr>
              <a:t> </a:t>
            </a:r>
            <a:r>
              <a:rPr sz="2000" spc="-10" dirty="0">
                <a:latin typeface="Arial"/>
                <a:cs typeface="Arial"/>
              </a:rPr>
              <a:t>price</a:t>
            </a:r>
            <a:endParaRPr sz="2000">
              <a:latin typeface="Arial"/>
              <a:cs typeface="Arial"/>
            </a:endParaRPr>
          </a:p>
          <a:p>
            <a:pPr lvl="1">
              <a:spcBef>
                <a:spcPts val="1730"/>
              </a:spcBef>
              <a:buClr>
                <a:srgbClr val="4F80BC"/>
              </a:buClr>
              <a:buFont typeface="Arial"/>
              <a:buChar char="•"/>
            </a:pPr>
            <a:endParaRPr sz="2000">
              <a:latin typeface="Arial"/>
              <a:cs typeface="Arial"/>
            </a:endParaRPr>
          </a:p>
          <a:p>
            <a:pPr marL="195580" indent="-182880">
              <a:buClr>
                <a:srgbClr val="4F80BC"/>
              </a:buClr>
              <a:buSzPct val="85416"/>
              <a:buChar char="•"/>
              <a:tabLst>
                <a:tab pos="195580" algn="l"/>
              </a:tabLst>
            </a:pPr>
            <a:r>
              <a:rPr sz="2400" dirty="0">
                <a:latin typeface="Arial"/>
                <a:cs typeface="Arial"/>
              </a:rPr>
              <a:t>Basics</a:t>
            </a:r>
            <a:r>
              <a:rPr sz="2400" spc="-20" dirty="0">
                <a:latin typeface="Arial"/>
                <a:cs typeface="Arial"/>
              </a:rPr>
              <a:t> </a:t>
            </a:r>
            <a:r>
              <a:rPr sz="2400" dirty="0">
                <a:latin typeface="Arial"/>
                <a:cs typeface="Arial"/>
              </a:rPr>
              <a:t>of</a:t>
            </a:r>
            <a:r>
              <a:rPr sz="2400" spc="-25" dirty="0">
                <a:latin typeface="Arial"/>
                <a:cs typeface="Arial"/>
              </a:rPr>
              <a:t> </a:t>
            </a:r>
            <a:r>
              <a:rPr sz="2400" dirty="0">
                <a:latin typeface="Arial"/>
                <a:cs typeface="Arial"/>
              </a:rPr>
              <a:t>GPU</a:t>
            </a:r>
            <a:r>
              <a:rPr sz="2400" spc="-35" dirty="0">
                <a:latin typeface="Arial"/>
                <a:cs typeface="Arial"/>
              </a:rPr>
              <a:t> </a:t>
            </a:r>
            <a:r>
              <a:rPr sz="2400" spc="-10" dirty="0">
                <a:latin typeface="Arial"/>
                <a:cs typeface="Arial"/>
              </a:rPr>
              <a:t>architecture</a:t>
            </a:r>
            <a:endParaRPr sz="2400">
              <a:latin typeface="Arial"/>
              <a:cs typeface="Arial"/>
            </a:endParaRPr>
          </a:p>
          <a:p>
            <a:pPr>
              <a:spcBef>
                <a:spcPts val="1275"/>
              </a:spcBef>
              <a:buClr>
                <a:srgbClr val="4F80BC"/>
              </a:buClr>
              <a:buFont typeface="Arial"/>
              <a:buChar char="•"/>
            </a:pPr>
            <a:endParaRPr sz="2400">
              <a:latin typeface="Arial"/>
              <a:cs typeface="Arial"/>
            </a:endParaRPr>
          </a:p>
          <a:p>
            <a:pPr marL="195580" indent="-182880">
              <a:buClr>
                <a:srgbClr val="4F80BC"/>
              </a:buClr>
              <a:buSzPct val="85416"/>
              <a:buChar char="•"/>
              <a:tabLst>
                <a:tab pos="195580" algn="l"/>
              </a:tabLst>
            </a:pPr>
            <a:r>
              <a:rPr sz="2400" dirty="0">
                <a:latin typeface="Arial"/>
                <a:cs typeface="Arial"/>
              </a:rPr>
              <a:t>Basics</a:t>
            </a:r>
            <a:r>
              <a:rPr sz="2400" spc="-20" dirty="0">
                <a:latin typeface="Arial"/>
                <a:cs typeface="Arial"/>
              </a:rPr>
              <a:t> </a:t>
            </a:r>
            <a:r>
              <a:rPr sz="2400" dirty="0">
                <a:latin typeface="Arial"/>
                <a:cs typeface="Arial"/>
              </a:rPr>
              <a:t>of</a:t>
            </a:r>
            <a:r>
              <a:rPr sz="2400" spc="-25" dirty="0">
                <a:latin typeface="Arial"/>
                <a:cs typeface="Arial"/>
              </a:rPr>
              <a:t> </a:t>
            </a:r>
            <a:r>
              <a:rPr sz="2400" dirty="0">
                <a:latin typeface="Arial"/>
                <a:cs typeface="Arial"/>
              </a:rPr>
              <a:t>GPU</a:t>
            </a:r>
            <a:r>
              <a:rPr sz="2400" spc="-35" dirty="0">
                <a:latin typeface="Arial"/>
                <a:cs typeface="Arial"/>
              </a:rPr>
              <a:t> </a:t>
            </a:r>
            <a:r>
              <a:rPr sz="2400" spc="-10" dirty="0">
                <a:latin typeface="Arial"/>
                <a:cs typeface="Arial"/>
              </a:rPr>
              <a:t>programming</a:t>
            </a:r>
            <a:endParaRPr sz="2400">
              <a:latin typeface="Arial"/>
              <a:cs typeface="Arial"/>
            </a:endParaRPr>
          </a:p>
        </p:txBody>
      </p:sp>
      <p:pic>
        <p:nvPicPr>
          <p:cNvPr id="4" name="object 4"/>
          <p:cNvPicPr/>
          <p:nvPr/>
        </p:nvPicPr>
        <p:blipFill>
          <a:blip r:embed="rId2" cstate="print"/>
          <a:stretch>
            <a:fillRect/>
          </a:stretch>
        </p:blipFill>
        <p:spPr>
          <a:xfrm>
            <a:off x="7155180" y="3962398"/>
            <a:ext cx="3462527" cy="286207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22499" y="729741"/>
            <a:ext cx="10795000" cy="627736"/>
          </a:xfrm>
          <a:prstGeom prst="rect">
            <a:avLst/>
          </a:prstGeom>
        </p:spPr>
        <p:txBody>
          <a:bodyPr vert="horz" wrap="square" lIns="0" tIns="12065" rIns="0" bIns="0" rtlCol="0">
            <a:spAutoFit/>
          </a:bodyPr>
          <a:lstStyle/>
          <a:p>
            <a:pPr marL="24765">
              <a:spcBef>
                <a:spcPts val="95"/>
              </a:spcBef>
            </a:pPr>
            <a:r>
              <a:rPr spc="-125" dirty="0"/>
              <a:t>High-</a:t>
            </a:r>
            <a:r>
              <a:rPr spc="-105" dirty="0"/>
              <a:t>level</a:t>
            </a:r>
            <a:r>
              <a:rPr spc="-135" dirty="0"/>
              <a:t> </a:t>
            </a:r>
            <a:r>
              <a:rPr spc="-80" dirty="0"/>
              <a:t>architecture</a:t>
            </a:r>
          </a:p>
        </p:txBody>
      </p:sp>
      <p:grpSp>
        <p:nvGrpSpPr>
          <p:cNvPr id="3" name="object 3"/>
          <p:cNvGrpSpPr/>
          <p:nvPr/>
        </p:nvGrpSpPr>
        <p:grpSpPr>
          <a:xfrm>
            <a:off x="2194178" y="1759838"/>
            <a:ext cx="2186305" cy="1540510"/>
            <a:chOff x="670177" y="1759838"/>
            <a:chExt cx="2186305" cy="1540510"/>
          </a:xfrm>
        </p:grpSpPr>
        <p:sp>
          <p:nvSpPr>
            <p:cNvPr id="4" name="object 4"/>
            <p:cNvSpPr/>
            <p:nvPr/>
          </p:nvSpPr>
          <p:spPr>
            <a:xfrm>
              <a:off x="683512" y="1773173"/>
              <a:ext cx="2159635" cy="1513840"/>
            </a:xfrm>
            <a:custGeom>
              <a:avLst/>
              <a:gdLst/>
              <a:ahLst/>
              <a:cxnLst/>
              <a:rect l="l" t="t" r="r" b="b"/>
              <a:pathLst>
                <a:path w="2159635" h="1513839">
                  <a:moveTo>
                    <a:pt x="2159508" y="0"/>
                  </a:moveTo>
                  <a:lnTo>
                    <a:pt x="0" y="0"/>
                  </a:lnTo>
                  <a:lnTo>
                    <a:pt x="0" y="1513332"/>
                  </a:lnTo>
                  <a:lnTo>
                    <a:pt x="2159508" y="1513332"/>
                  </a:lnTo>
                  <a:lnTo>
                    <a:pt x="2159508" y="0"/>
                  </a:lnTo>
                  <a:close/>
                </a:path>
              </a:pathLst>
            </a:custGeom>
            <a:solidFill>
              <a:srgbClr val="4F80BC"/>
            </a:solidFill>
          </p:spPr>
          <p:txBody>
            <a:bodyPr wrap="square" lIns="0" tIns="0" rIns="0" bIns="0" rtlCol="0"/>
            <a:lstStyle/>
            <a:p>
              <a:endParaRPr/>
            </a:p>
          </p:txBody>
        </p:sp>
        <p:sp>
          <p:nvSpPr>
            <p:cNvPr id="5" name="object 5"/>
            <p:cNvSpPr/>
            <p:nvPr/>
          </p:nvSpPr>
          <p:spPr>
            <a:xfrm>
              <a:off x="683512" y="1773173"/>
              <a:ext cx="2159635" cy="1513840"/>
            </a:xfrm>
            <a:custGeom>
              <a:avLst/>
              <a:gdLst/>
              <a:ahLst/>
              <a:cxnLst/>
              <a:rect l="l" t="t" r="r" b="b"/>
              <a:pathLst>
                <a:path w="2159635" h="1513839">
                  <a:moveTo>
                    <a:pt x="0" y="1513332"/>
                  </a:moveTo>
                  <a:lnTo>
                    <a:pt x="2159508" y="1513332"/>
                  </a:lnTo>
                  <a:lnTo>
                    <a:pt x="2159508" y="0"/>
                  </a:lnTo>
                  <a:lnTo>
                    <a:pt x="0" y="0"/>
                  </a:lnTo>
                  <a:lnTo>
                    <a:pt x="0" y="1513332"/>
                  </a:lnTo>
                  <a:close/>
                </a:path>
              </a:pathLst>
            </a:custGeom>
            <a:ln w="26424">
              <a:solidFill>
                <a:srgbClr val="385D89"/>
              </a:solidFill>
            </a:ln>
          </p:spPr>
          <p:txBody>
            <a:bodyPr wrap="square" lIns="0" tIns="0" rIns="0" bIns="0" rtlCol="0"/>
            <a:lstStyle/>
            <a:p>
              <a:endParaRPr/>
            </a:p>
          </p:txBody>
        </p:sp>
      </p:grpSp>
      <p:sp>
        <p:nvSpPr>
          <p:cNvPr id="6" name="object 6"/>
          <p:cNvSpPr txBox="1"/>
          <p:nvPr/>
        </p:nvSpPr>
        <p:spPr>
          <a:xfrm>
            <a:off x="3032886" y="2373629"/>
            <a:ext cx="508000" cy="299720"/>
          </a:xfrm>
          <a:prstGeom prst="rect">
            <a:avLst/>
          </a:prstGeom>
        </p:spPr>
        <p:txBody>
          <a:bodyPr vert="horz" wrap="square" lIns="0" tIns="12700" rIns="0" bIns="0" rtlCol="0">
            <a:spAutoFit/>
          </a:bodyPr>
          <a:lstStyle/>
          <a:p>
            <a:pPr marL="12700">
              <a:spcBef>
                <a:spcPts val="100"/>
              </a:spcBef>
            </a:pPr>
            <a:r>
              <a:rPr spc="-25" dirty="0">
                <a:solidFill>
                  <a:srgbClr val="FFFFFF"/>
                </a:solidFill>
                <a:latin typeface="Arial"/>
                <a:cs typeface="Arial"/>
              </a:rPr>
              <a:t>CPU</a:t>
            </a:r>
            <a:endParaRPr>
              <a:latin typeface="Arial"/>
              <a:cs typeface="Arial"/>
            </a:endParaRPr>
          </a:p>
        </p:txBody>
      </p:sp>
      <p:grpSp>
        <p:nvGrpSpPr>
          <p:cNvPr id="7" name="object 7"/>
          <p:cNvGrpSpPr/>
          <p:nvPr/>
        </p:nvGrpSpPr>
        <p:grpSpPr>
          <a:xfrm>
            <a:off x="2194178" y="3824860"/>
            <a:ext cx="2186305" cy="2858770"/>
            <a:chOff x="670177" y="3824860"/>
            <a:chExt cx="2186305" cy="2858770"/>
          </a:xfrm>
        </p:grpSpPr>
        <p:sp>
          <p:nvSpPr>
            <p:cNvPr id="8" name="object 8"/>
            <p:cNvSpPr/>
            <p:nvPr/>
          </p:nvSpPr>
          <p:spPr>
            <a:xfrm>
              <a:off x="683512" y="3838195"/>
              <a:ext cx="2159635" cy="2832100"/>
            </a:xfrm>
            <a:custGeom>
              <a:avLst/>
              <a:gdLst/>
              <a:ahLst/>
              <a:cxnLst/>
              <a:rect l="l" t="t" r="r" b="b"/>
              <a:pathLst>
                <a:path w="2159635" h="2832100">
                  <a:moveTo>
                    <a:pt x="2159508" y="0"/>
                  </a:moveTo>
                  <a:lnTo>
                    <a:pt x="0" y="0"/>
                  </a:lnTo>
                  <a:lnTo>
                    <a:pt x="0" y="2831592"/>
                  </a:lnTo>
                  <a:lnTo>
                    <a:pt x="2159508" y="2831592"/>
                  </a:lnTo>
                  <a:lnTo>
                    <a:pt x="2159508" y="0"/>
                  </a:lnTo>
                  <a:close/>
                </a:path>
              </a:pathLst>
            </a:custGeom>
            <a:solidFill>
              <a:srgbClr val="4F80BC"/>
            </a:solidFill>
          </p:spPr>
          <p:txBody>
            <a:bodyPr wrap="square" lIns="0" tIns="0" rIns="0" bIns="0" rtlCol="0"/>
            <a:lstStyle/>
            <a:p>
              <a:endParaRPr/>
            </a:p>
          </p:txBody>
        </p:sp>
        <p:sp>
          <p:nvSpPr>
            <p:cNvPr id="9" name="object 9"/>
            <p:cNvSpPr/>
            <p:nvPr/>
          </p:nvSpPr>
          <p:spPr>
            <a:xfrm>
              <a:off x="683512" y="3838195"/>
              <a:ext cx="2159635" cy="2832100"/>
            </a:xfrm>
            <a:custGeom>
              <a:avLst/>
              <a:gdLst/>
              <a:ahLst/>
              <a:cxnLst/>
              <a:rect l="l" t="t" r="r" b="b"/>
              <a:pathLst>
                <a:path w="2159635" h="2832100">
                  <a:moveTo>
                    <a:pt x="0" y="2831592"/>
                  </a:moveTo>
                  <a:lnTo>
                    <a:pt x="2159508" y="2831592"/>
                  </a:lnTo>
                  <a:lnTo>
                    <a:pt x="2159508" y="0"/>
                  </a:lnTo>
                  <a:lnTo>
                    <a:pt x="0" y="0"/>
                  </a:lnTo>
                  <a:lnTo>
                    <a:pt x="0" y="2831592"/>
                  </a:lnTo>
                  <a:close/>
                </a:path>
              </a:pathLst>
            </a:custGeom>
            <a:ln w="26424">
              <a:solidFill>
                <a:srgbClr val="385D89"/>
              </a:solidFill>
            </a:ln>
          </p:spPr>
          <p:txBody>
            <a:bodyPr wrap="square" lIns="0" tIns="0" rIns="0" bIns="0" rtlCol="0"/>
            <a:lstStyle/>
            <a:p>
              <a:endParaRPr/>
            </a:p>
          </p:txBody>
        </p:sp>
      </p:grpSp>
      <p:sp>
        <p:nvSpPr>
          <p:cNvPr id="10" name="object 10"/>
          <p:cNvSpPr txBox="1"/>
          <p:nvPr/>
        </p:nvSpPr>
        <p:spPr>
          <a:xfrm>
            <a:off x="2596996" y="5098796"/>
            <a:ext cx="1383030" cy="299720"/>
          </a:xfrm>
          <a:prstGeom prst="rect">
            <a:avLst/>
          </a:prstGeom>
        </p:spPr>
        <p:txBody>
          <a:bodyPr vert="horz" wrap="square" lIns="0" tIns="12700" rIns="0" bIns="0" rtlCol="0">
            <a:spAutoFit/>
          </a:bodyPr>
          <a:lstStyle/>
          <a:p>
            <a:pPr marL="12700">
              <a:spcBef>
                <a:spcPts val="100"/>
              </a:spcBef>
            </a:pPr>
            <a:r>
              <a:rPr dirty="0">
                <a:solidFill>
                  <a:srgbClr val="FFFFFF"/>
                </a:solidFill>
                <a:latin typeface="Arial"/>
                <a:cs typeface="Arial"/>
              </a:rPr>
              <a:t>Host</a:t>
            </a:r>
            <a:r>
              <a:rPr spc="-15" dirty="0">
                <a:solidFill>
                  <a:srgbClr val="FFFFFF"/>
                </a:solidFill>
                <a:latin typeface="Arial"/>
                <a:cs typeface="Arial"/>
              </a:rPr>
              <a:t> </a:t>
            </a:r>
            <a:r>
              <a:rPr spc="-10" dirty="0">
                <a:solidFill>
                  <a:srgbClr val="FFFFFF"/>
                </a:solidFill>
                <a:latin typeface="Arial"/>
                <a:cs typeface="Arial"/>
              </a:rPr>
              <a:t>memory</a:t>
            </a:r>
            <a:endParaRPr>
              <a:latin typeface="Arial"/>
              <a:cs typeface="Arial"/>
            </a:endParaRPr>
          </a:p>
        </p:txBody>
      </p:sp>
      <p:grpSp>
        <p:nvGrpSpPr>
          <p:cNvPr id="11" name="object 11"/>
          <p:cNvGrpSpPr/>
          <p:nvPr/>
        </p:nvGrpSpPr>
        <p:grpSpPr>
          <a:xfrm>
            <a:off x="5671947" y="1759838"/>
            <a:ext cx="4552950" cy="4923790"/>
            <a:chOff x="4147947" y="1759838"/>
            <a:chExt cx="4552950" cy="4923790"/>
          </a:xfrm>
        </p:grpSpPr>
        <p:sp>
          <p:nvSpPr>
            <p:cNvPr id="12" name="object 12"/>
            <p:cNvSpPr/>
            <p:nvPr/>
          </p:nvSpPr>
          <p:spPr>
            <a:xfrm>
              <a:off x="4161282" y="1773173"/>
              <a:ext cx="4526280" cy="3385185"/>
            </a:xfrm>
            <a:custGeom>
              <a:avLst/>
              <a:gdLst/>
              <a:ahLst/>
              <a:cxnLst/>
              <a:rect l="l" t="t" r="r" b="b"/>
              <a:pathLst>
                <a:path w="4526280" h="3385185">
                  <a:moveTo>
                    <a:pt x="4526280" y="0"/>
                  </a:moveTo>
                  <a:lnTo>
                    <a:pt x="0" y="0"/>
                  </a:lnTo>
                  <a:lnTo>
                    <a:pt x="0" y="3384804"/>
                  </a:lnTo>
                  <a:lnTo>
                    <a:pt x="4526280" y="3384804"/>
                  </a:lnTo>
                  <a:lnTo>
                    <a:pt x="4526280" y="0"/>
                  </a:lnTo>
                  <a:close/>
                </a:path>
              </a:pathLst>
            </a:custGeom>
            <a:solidFill>
              <a:srgbClr val="9ABA59"/>
            </a:solidFill>
          </p:spPr>
          <p:txBody>
            <a:bodyPr wrap="square" lIns="0" tIns="0" rIns="0" bIns="0" rtlCol="0"/>
            <a:lstStyle/>
            <a:p>
              <a:endParaRPr/>
            </a:p>
          </p:txBody>
        </p:sp>
        <p:sp>
          <p:nvSpPr>
            <p:cNvPr id="13" name="object 13"/>
            <p:cNvSpPr/>
            <p:nvPr/>
          </p:nvSpPr>
          <p:spPr>
            <a:xfrm>
              <a:off x="4161282" y="1773173"/>
              <a:ext cx="4526280" cy="3385185"/>
            </a:xfrm>
            <a:custGeom>
              <a:avLst/>
              <a:gdLst/>
              <a:ahLst/>
              <a:cxnLst/>
              <a:rect l="l" t="t" r="r" b="b"/>
              <a:pathLst>
                <a:path w="4526280" h="3385185">
                  <a:moveTo>
                    <a:pt x="0" y="3384804"/>
                  </a:moveTo>
                  <a:lnTo>
                    <a:pt x="4526280" y="3384804"/>
                  </a:lnTo>
                  <a:lnTo>
                    <a:pt x="4526280" y="0"/>
                  </a:lnTo>
                  <a:lnTo>
                    <a:pt x="0" y="0"/>
                  </a:lnTo>
                  <a:lnTo>
                    <a:pt x="0" y="3384804"/>
                  </a:lnTo>
                  <a:close/>
                </a:path>
              </a:pathLst>
            </a:custGeom>
            <a:ln w="26424">
              <a:solidFill>
                <a:srgbClr val="70883F"/>
              </a:solidFill>
            </a:ln>
          </p:spPr>
          <p:txBody>
            <a:bodyPr wrap="square" lIns="0" tIns="0" rIns="0" bIns="0" rtlCol="0"/>
            <a:lstStyle/>
            <a:p>
              <a:endParaRPr/>
            </a:p>
          </p:txBody>
        </p:sp>
        <p:sp>
          <p:nvSpPr>
            <p:cNvPr id="14" name="object 14"/>
            <p:cNvSpPr/>
            <p:nvPr/>
          </p:nvSpPr>
          <p:spPr>
            <a:xfrm>
              <a:off x="4161282" y="5679187"/>
              <a:ext cx="4526280" cy="990600"/>
            </a:xfrm>
            <a:custGeom>
              <a:avLst/>
              <a:gdLst/>
              <a:ahLst/>
              <a:cxnLst/>
              <a:rect l="l" t="t" r="r" b="b"/>
              <a:pathLst>
                <a:path w="4526280" h="990600">
                  <a:moveTo>
                    <a:pt x="4526280" y="0"/>
                  </a:moveTo>
                  <a:lnTo>
                    <a:pt x="0" y="0"/>
                  </a:lnTo>
                  <a:lnTo>
                    <a:pt x="0" y="990600"/>
                  </a:lnTo>
                  <a:lnTo>
                    <a:pt x="4526280" y="990600"/>
                  </a:lnTo>
                  <a:lnTo>
                    <a:pt x="4526280" y="0"/>
                  </a:lnTo>
                  <a:close/>
                </a:path>
              </a:pathLst>
            </a:custGeom>
            <a:solidFill>
              <a:srgbClr val="9ABA59"/>
            </a:solidFill>
          </p:spPr>
          <p:txBody>
            <a:bodyPr wrap="square" lIns="0" tIns="0" rIns="0" bIns="0" rtlCol="0"/>
            <a:lstStyle/>
            <a:p>
              <a:endParaRPr/>
            </a:p>
          </p:txBody>
        </p:sp>
        <p:sp>
          <p:nvSpPr>
            <p:cNvPr id="15" name="object 15"/>
            <p:cNvSpPr/>
            <p:nvPr/>
          </p:nvSpPr>
          <p:spPr>
            <a:xfrm>
              <a:off x="4161282" y="5679187"/>
              <a:ext cx="4526280" cy="990600"/>
            </a:xfrm>
            <a:custGeom>
              <a:avLst/>
              <a:gdLst/>
              <a:ahLst/>
              <a:cxnLst/>
              <a:rect l="l" t="t" r="r" b="b"/>
              <a:pathLst>
                <a:path w="4526280" h="990600">
                  <a:moveTo>
                    <a:pt x="0" y="990600"/>
                  </a:moveTo>
                  <a:lnTo>
                    <a:pt x="4526280" y="990600"/>
                  </a:lnTo>
                  <a:lnTo>
                    <a:pt x="4526280" y="0"/>
                  </a:lnTo>
                  <a:lnTo>
                    <a:pt x="0" y="0"/>
                  </a:lnTo>
                  <a:lnTo>
                    <a:pt x="0" y="990600"/>
                  </a:lnTo>
                  <a:close/>
                </a:path>
              </a:pathLst>
            </a:custGeom>
            <a:ln w="26424">
              <a:solidFill>
                <a:srgbClr val="70883F"/>
              </a:solidFill>
            </a:ln>
          </p:spPr>
          <p:txBody>
            <a:bodyPr wrap="square" lIns="0" tIns="0" rIns="0" bIns="0" rtlCol="0"/>
            <a:lstStyle/>
            <a:p>
              <a:endParaRPr/>
            </a:p>
          </p:txBody>
        </p:sp>
      </p:grpSp>
      <p:sp>
        <p:nvSpPr>
          <p:cNvPr id="16" name="object 16"/>
          <p:cNvSpPr txBox="1"/>
          <p:nvPr/>
        </p:nvSpPr>
        <p:spPr>
          <a:xfrm>
            <a:off x="7143370" y="6018990"/>
            <a:ext cx="1612265" cy="300355"/>
          </a:xfrm>
          <a:prstGeom prst="rect">
            <a:avLst/>
          </a:prstGeom>
        </p:spPr>
        <p:txBody>
          <a:bodyPr vert="horz" wrap="square" lIns="0" tIns="12700" rIns="0" bIns="0" rtlCol="0">
            <a:spAutoFit/>
          </a:bodyPr>
          <a:lstStyle/>
          <a:p>
            <a:pPr marL="12700">
              <a:spcBef>
                <a:spcPts val="100"/>
              </a:spcBef>
            </a:pPr>
            <a:r>
              <a:rPr dirty="0">
                <a:solidFill>
                  <a:srgbClr val="FFFFFF"/>
                </a:solidFill>
                <a:latin typeface="Arial"/>
                <a:cs typeface="Arial"/>
              </a:rPr>
              <a:t>Device</a:t>
            </a:r>
            <a:r>
              <a:rPr spc="-20" dirty="0">
                <a:solidFill>
                  <a:srgbClr val="FFFFFF"/>
                </a:solidFill>
                <a:latin typeface="Arial"/>
                <a:cs typeface="Arial"/>
              </a:rPr>
              <a:t> </a:t>
            </a:r>
            <a:r>
              <a:rPr spc="-10" dirty="0">
                <a:solidFill>
                  <a:srgbClr val="FFFFFF"/>
                </a:solidFill>
                <a:latin typeface="Arial"/>
                <a:cs typeface="Arial"/>
              </a:rPr>
              <a:t>memory</a:t>
            </a:r>
            <a:endParaRPr>
              <a:latin typeface="Arial"/>
              <a:cs typeface="Arial"/>
            </a:endParaRPr>
          </a:p>
        </p:txBody>
      </p:sp>
      <p:grpSp>
        <p:nvGrpSpPr>
          <p:cNvPr id="17" name="object 17"/>
          <p:cNvGrpSpPr/>
          <p:nvPr/>
        </p:nvGrpSpPr>
        <p:grpSpPr>
          <a:xfrm>
            <a:off x="3021834" y="3192521"/>
            <a:ext cx="531495" cy="819150"/>
            <a:chOff x="1497833" y="3192521"/>
            <a:chExt cx="531495" cy="819150"/>
          </a:xfrm>
        </p:grpSpPr>
        <p:sp>
          <p:nvSpPr>
            <p:cNvPr id="18" name="object 18"/>
            <p:cNvSpPr/>
            <p:nvPr/>
          </p:nvSpPr>
          <p:spPr>
            <a:xfrm>
              <a:off x="1511046" y="3205733"/>
              <a:ext cx="504825" cy="792480"/>
            </a:xfrm>
            <a:custGeom>
              <a:avLst/>
              <a:gdLst/>
              <a:ahLst/>
              <a:cxnLst/>
              <a:rect l="l" t="t" r="r" b="b"/>
              <a:pathLst>
                <a:path w="504825" h="792479">
                  <a:moveTo>
                    <a:pt x="252222" y="0"/>
                  </a:moveTo>
                  <a:lnTo>
                    <a:pt x="0" y="252222"/>
                  </a:lnTo>
                  <a:lnTo>
                    <a:pt x="126111" y="252222"/>
                  </a:lnTo>
                  <a:lnTo>
                    <a:pt x="126111" y="540258"/>
                  </a:lnTo>
                  <a:lnTo>
                    <a:pt x="0" y="540258"/>
                  </a:lnTo>
                  <a:lnTo>
                    <a:pt x="252222" y="792480"/>
                  </a:lnTo>
                  <a:lnTo>
                    <a:pt x="504444" y="540258"/>
                  </a:lnTo>
                  <a:lnTo>
                    <a:pt x="378333" y="540258"/>
                  </a:lnTo>
                  <a:lnTo>
                    <a:pt x="378333" y="252222"/>
                  </a:lnTo>
                  <a:lnTo>
                    <a:pt x="504444" y="252222"/>
                  </a:lnTo>
                  <a:lnTo>
                    <a:pt x="252222" y="0"/>
                  </a:lnTo>
                  <a:close/>
                </a:path>
              </a:pathLst>
            </a:custGeom>
            <a:solidFill>
              <a:srgbClr val="4F80BC"/>
            </a:solidFill>
          </p:spPr>
          <p:txBody>
            <a:bodyPr wrap="square" lIns="0" tIns="0" rIns="0" bIns="0" rtlCol="0"/>
            <a:lstStyle/>
            <a:p>
              <a:endParaRPr/>
            </a:p>
          </p:txBody>
        </p:sp>
        <p:sp>
          <p:nvSpPr>
            <p:cNvPr id="19" name="object 19"/>
            <p:cNvSpPr/>
            <p:nvPr/>
          </p:nvSpPr>
          <p:spPr>
            <a:xfrm>
              <a:off x="1511046" y="3205733"/>
              <a:ext cx="504825" cy="792480"/>
            </a:xfrm>
            <a:custGeom>
              <a:avLst/>
              <a:gdLst/>
              <a:ahLst/>
              <a:cxnLst/>
              <a:rect l="l" t="t" r="r" b="b"/>
              <a:pathLst>
                <a:path w="504825" h="792479">
                  <a:moveTo>
                    <a:pt x="0" y="252222"/>
                  </a:moveTo>
                  <a:lnTo>
                    <a:pt x="252222" y="0"/>
                  </a:lnTo>
                  <a:lnTo>
                    <a:pt x="504444" y="252222"/>
                  </a:lnTo>
                  <a:lnTo>
                    <a:pt x="378333" y="252222"/>
                  </a:lnTo>
                  <a:lnTo>
                    <a:pt x="378333" y="540258"/>
                  </a:lnTo>
                  <a:lnTo>
                    <a:pt x="504444" y="540258"/>
                  </a:lnTo>
                  <a:lnTo>
                    <a:pt x="252222" y="792480"/>
                  </a:lnTo>
                  <a:lnTo>
                    <a:pt x="0" y="540258"/>
                  </a:lnTo>
                  <a:lnTo>
                    <a:pt x="126111" y="540258"/>
                  </a:lnTo>
                  <a:lnTo>
                    <a:pt x="126111" y="252222"/>
                  </a:lnTo>
                  <a:lnTo>
                    <a:pt x="0" y="252222"/>
                  </a:lnTo>
                  <a:close/>
                </a:path>
              </a:pathLst>
            </a:custGeom>
            <a:ln w="26424">
              <a:solidFill>
                <a:srgbClr val="385D89"/>
              </a:solidFill>
            </a:ln>
          </p:spPr>
          <p:txBody>
            <a:bodyPr wrap="square" lIns="0" tIns="0" rIns="0" bIns="0" rtlCol="0"/>
            <a:lstStyle/>
            <a:p>
              <a:endParaRPr/>
            </a:p>
          </p:txBody>
        </p:sp>
      </p:grpSp>
      <p:grpSp>
        <p:nvGrpSpPr>
          <p:cNvPr id="20" name="object 20"/>
          <p:cNvGrpSpPr/>
          <p:nvPr/>
        </p:nvGrpSpPr>
        <p:grpSpPr>
          <a:xfrm>
            <a:off x="4446774" y="5902195"/>
            <a:ext cx="1158875" cy="546735"/>
            <a:chOff x="2922773" y="5902194"/>
            <a:chExt cx="1158875" cy="546735"/>
          </a:xfrm>
        </p:grpSpPr>
        <p:sp>
          <p:nvSpPr>
            <p:cNvPr id="21" name="object 21"/>
            <p:cNvSpPr/>
            <p:nvPr/>
          </p:nvSpPr>
          <p:spPr>
            <a:xfrm>
              <a:off x="2935985" y="5915407"/>
              <a:ext cx="1132840" cy="520065"/>
            </a:xfrm>
            <a:custGeom>
              <a:avLst/>
              <a:gdLst/>
              <a:ahLst/>
              <a:cxnLst/>
              <a:rect l="l" t="t" r="r" b="b"/>
              <a:pathLst>
                <a:path w="1132839" h="520064">
                  <a:moveTo>
                    <a:pt x="872490" y="0"/>
                  </a:moveTo>
                  <a:lnTo>
                    <a:pt x="872490" y="129922"/>
                  </a:lnTo>
                  <a:lnTo>
                    <a:pt x="259842" y="129922"/>
                  </a:lnTo>
                  <a:lnTo>
                    <a:pt x="259842" y="0"/>
                  </a:lnTo>
                  <a:lnTo>
                    <a:pt x="0" y="259838"/>
                  </a:lnTo>
                  <a:lnTo>
                    <a:pt x="259842" y="519682"/>
                  </a:lnTo>
                  <a:lnTo>
                    <a:pt x="259842" y="389760"/>
                  </a:lnTo>
                  <a:lnTo>
                    <a:pt x="872490" y="389760"/>
                  </a:lnTo>
                  <a:lnTo>
                    <a:pt x="872490" y="519682"/>
                  </a:lnTo>
                  <a:lnTo>
                    <a:pt x="1132332" y="259838"/>
                  </a:lnTo>
                  <a:lnTo>
                    <a:pt x="872490" y="0"/>
                  </a:lnTo>
                  <a:close/>
                </a:path>
              </a:pathLst>
            </a:custGeom>
            <a:solidFill>
              <a:srgbClr val="C0504D"/>
            </a:solidFill>
          </p:spPr>
          <p:txBody>
            <a:bodyPr wrap="square" lIns="0" tIns="0" rIns="0" bIns="0" rtlCol="0"/>
            <a:lstStyle/>
            <a:p>
              <a:endParaRPr/>
            </a:p>
          </p:txBody>
        </p:sp>
        <p:sp>
          <p:nvSpPr>
            <p:cNvPr id="22" name="object 22"/>
            <p:cNvSpPr/>
            <p:nvPr/>
          </p:nvSpPr>
          <p:spPr>
            <a:xfrm>
              <a:off x="2935985" y="5915407"/>
              <a:ext cx="1132840" cy="520065"/>
            </a:xfrm>
            <a:custGeom>
              <a:avLst/>
              <a:gdLst/>
              <a:ahLst/>
              <a:cxnLst/>
              <a:rect l="l" t="t" r="r" b="b"/>
              <a:pathLst>
                <a:path w="1132839" h="520064">
                  <a:moveTo>
                    <a:pt x="0" y="259838"/>
                  </a:moveTo>
                  <a:lnTo>
                    <a:pt x="259842" y="0"/>
                  </a:lnTo>
                  <a:lnTo>
                    <a:pt x="259842" y="129922"/>
                  </a:lnTo>
                  <a:lnTo>
                    <a:pt x="872490" y="129922"/>
                  </a:lnTo>
                  <a:lnTo>
                    <a:pt x="872490" y="0"/>
                  </a:lnTo>
                  <a:lnTo>
                    <a:pt x="1132332" y="259838"/>
                  </a:lnTo>
                  <a:lnTo>
                    <a:pt x="872490" y="519682"/>
                  </a:lnTo>
                  <a:lnTo>
                    <a:pt x="872490" y="389760"/>
                  </a:lnTo>
                  <a:lnTo>
                    <a:pt x="259842" y="389760"/>
                  </a:lnTo>
                  <a:lnTo>
                    <a:pt x="259842" y="519682"/>
                  </a:lnTo>
                  <a:lnTo>
                    <a:pt x="0" y="259838"/>
                  </a:lnTo>
                  <a:close/>
                </a:path>
              </a:pathLst>
            </a:custGeom>
            <a:ln w="26424">
              <a:solidFill>
                <a:srgbClr val="8B3836"/>
              </a:solidFill>
            </a:ln>
          </p:spPr>
          <p:txBody>
            <a:bodyPr wrap="square" lIns="0" tIns="0" rIns="0" bIns="0" rtlCol="0"/>
            <a:lstStyle/>
            <a:p>
              <a:endParaRPr/>
            </a:p>
          </p:txBody>
        </p:sp>
      </p:grpSp>
      <p:sp>
        <p:nvSpPr>
          <p:cNvPr id="23" name="object 23"/>
          <p:cNvSpPr txBox="1"/>
          <p:nvPr/>
        </p:nvSpPr>
        <p:spPr>
          <a:xfrm>
            <a:off x="4790694" y="6018990"/>
            <a:ext cx="471170" cy="300355"/>
          </a:xfrm>
          <a:prstGeom prst="rect">
            <a:avLst/>
          </a:prstGeom>
        </p:spPr>
        <p:txBody>
          <a:bodyPr vert="horz" wrap="square" lIns="0" tIns="12700" rIns="0" bIns="0" rtlCol="0">
            <a:spAutoFit/>
          </a:bodyPr>
          <a:lstStyle/>
          <a:p>
            <a:pPr marL="12700">
              <a:spcBef>
                <a:spcPts val="100"/>
              </a:spcBef>
            </a:pPr>
            <a:r>
              <a:rPr spc="-25" dirty="0">
                <a:solidFill>
                  <a:srgbClr val="FFFFFF"/>
                </a:solidFill>
                <a:latin typeface="Arial"/>
                <a:cs typeface="Arial"/>
              </a:rPr>
              <a:t>dma</a:t>
            </a:r>
            <a:endParaRPr>
              <a:latin typeface="Arial"/>
              <a:cs typeface="Arial"/>
            </a:endParaRPr>
          </a:p>
        </p:txBody>
      </p:sp>
      <p:grpSp>
        <p:nvGrpSpPr>
          <p:cNvPr id="24" name="object 24"/>
          <p:cNvGrpSpPr/>
          <p:nvPr/>
        </p:nvGrpSpPr>
        <p:grpSpPr>
          <a:xfrm>
            <a:off x="4457442" y="2192777"/>
            <a:ext cx="1158875" cy="674370"/>
            <a:chOff x="2933441" y="2192777"/>
            <a:chExt cx="1158875" cy="674370"/>
          </a:xfrm>
        </p:grpSpPr>
        <p:sp>
          <p:nvSpPr>
            <p:cNvPr id="25" name="object 25"/>
            <p:cNvSpPr/>
            <p:nvPr/>
          </p:nvSpPr>
          <p:spPr>
            <a:xfrm>
              <a:off x="2946654" y="2205989"/>
              <a:ext cx="1132840" cy="647700"/>
            </a:xfrm>
            <a:custGeom>
              <a:avLst/>
              <a:gdLst/>
              <a:ahLst/>
              <a:cxnLst/>
              <a:rect l="l" t="t" r="r" b="b"/>
              <a:pathLst>
                <a:path w="1132839" h="647700">
                  <a:moveTo>
                    <a:pt x="808482" y="0"/>
                  </a:moveTo>
                  <a:lnTo>
                    <a:pt x="808482" y="161925"/>
                  </a:lnTo>
                  <a:lnTo>
                    <a:pt x="0" y="161925"/>
                  </a:lnTo>
                  <a:lnTo>
                    <a:pt x="0" y="485775"/>
                  </a:lnTo>
                  <a:lnTo>
                    <a:pt x="808482" y="485775"/>
                  </a:lnTo>
                  <a:lnTo>
                    <a:pt x="808482" y="647700"/>
                  </a:lnTo>
                  <a:lnTo>
                    <a:pt x="1132332" y="323850"/>
                  </a:lnTo>
                  <a:lnTo>
                    <a:pt x="808482" y="0"/>
                  </a:lnTo>
                  <a:close/>
                </a:path>
              </a:pathLst>
            </a:custGeom>
            <a:solidFill>
              <a:srgbClr val="C0504D"/>
            </a:solidFill>
          </p:spPr>
          <p:txBody>
            <a:bodyPr wrap="square" lIns="0" tIns="0" rIns="0" bIns="0" rtlCol="0"/>
            <a:lstStyle/>
            <a:p>
              <a:endParaRPr/>
            </a:p>
          </p:txBody>
        </p:sp>
        <p:sp>
          <p:nvSpPr>
            <p:cNvPr id="26" name="object 26"/>
            <p:cNvSpPr/>
            <p:nvPr/>
          </p:nvSpPr>
          <p:spPr>
            <a:xfrm>
              <a:off x="2946654" y="2205989"/>
              <a:ext cx="1132840" cy="647700"/>
            </a:xfrm>
            <a:custGeom>
              <a:avLst/>
              <a:gdLst/>
              <a:ahLst/>
              <a:cxnLst/>
              <a:rect l="l" t="t" r="r" b="b"/>
              <a:pathLst>
                <a:path w="1132839" h="647700">
                  <a:moveTo>
                    <a:pt x="0" y="161925"/>
                  </a:moveTo>
                  <a:lnTo>
                    <a:pt x="808482" y="161925"/>
                  </a:lnTo>
                  <a:lnTo>
                    <a:pt x="808482" y="0"/>
                  </a:lnTo>
                  <a:lnTo>
                    <a:pt x="1132332" y="323850"/>
                  </a:lnTo>
                  <a:lnTo>
                    <a:pt x="808482" y="647700"/>
                  </a:lnTo>
                  <a:lnTo>
                    <a:pt x="808482" y="485775"/>
                  </a:lnTo>
                  <a:lnTo>
                    <a:pt x="0" y="485775"/>
                  </a:lnTo>
                  <a:lnTo>
                    <a:pt x="0" y="161925"/>
                  </a:lnTo>
                  <a:close/>
                </a:path>
              </a:pathLst>
            </a:custGeom>
            <a:ln w="26424">
              <a:solidFill>
                <a:srgbClr val="8B3836"/>
              </a:solidFill>
            </a:ln>
          </p:spPr>
          <p:txBody>
            <a:bodyPr wrap="square" lIns="0" tIns="0" rIns="0" bIns="0" rtlCol="0"/>
            <a:lstStyle/>
            <a:p>
              <a:endParaRPr/>
            </a:p>
          </p:txBody>
        </p:sp>
      </p:grpSp>
      <p:sp>
        <p:nvSpPr>
          <p:cNvPr id="27" name="object 27"/>
          <p:cNvSpPr txBox="1"/>
          <p:nvPr/>
        </p:nvSpPr>
        <p:spPr>
          <a:xfrm>
            <a:off x="4601337" y="2373629"/>
            <a:ext cx="710565" cy="299720"/>
          </a:xfrm>
          <a:prstGeom prst="rect">
            <a:avLst/>
          </a:prstGeom>
        </p:spPr>
        <p:txBody>
          <a:bodyPr vert="horz" wrap="square" lIns="0" tIns="12700" rIns="0" bIns="0" rtlCol="0">
            <a:spAutoFit/>
          </a:bodyPr>
          <a:lstStyle/>
          <a:p>
            <a:pPr marL="12700">
              <a:spcBef>
                <a:spcPts val="100"/>
              </a:spcBef>
            </a:pPr>
            <a:r>
              <a:rPr spc="-10" dirty="0">
                <a:solidFill>
                  <a:srgbClr val="FFFFFF"/>
                </a:solidFill>
                <a:latin typeface="Arial"/>
                <a:cs typeface="Arial"/>
              </a:rPr>
              <a:t>control</a:t>
            </a:r>
            <a:endParaRPr>
              <a:latin typeface="Arial"/>
              <a:cs typeface="Arial"/>
            </a:endParaRPr>
          </a:p>
        </p:txBody>
      </p:sp>
      <p:grpSp>
        <p:nvGrpSpPr>
          <p:cNvPr id="28" name="object 28"/>
          <p:cNvGrpSpPr/>
          <p:nvPr/>
        </p:nvGrpSpPr>
        <p:grpSpPr>
          <a:xfrm>
            <a:off x="7647051" y="2833128"/>
            <a:ext cx="2541270" cy="2992120"/>
            <a:chOff x="6123051" y="2833128"/>
            <a:chExt cx="2541270" cy="2992120"/>
          </a:xfrm>
        </p:grpSpPr>
        <p:sp>
          <p:nvSpPr>
            <p:cNvPr id="29" name="object 29"/>
            <p:cNvSpPr/>
            <p:nvPr/>
          </p:nvSpPr>
          <p:spPr>
            <a:xfrm>
              <a:off x="6136386" y="5025389"/>
              <a:ext cx="576580" cy="786765"/>
            </a:xfrm>
            <a:custGeom>
              <a:avLst/>
              <a:gdLst/>
              <a:ahLst/>
              <a:cxnLst/>
              <a:rect l="l" t="t" r="r" b="b"/>
              <a:pathLst>
                <a:path w="576579" h="786764">
                  <a:moveTo>
                    <a:pt x="288036" y="0"/>
                  </a:moveTo>
                  <a:lnTo>
                    <a:pt x="0" y="288036"/>
                  </a:lnTo>
                  <a:lnTo>
                    <a:pt x="144018" y="288036"/>
                  </a:lnTo>
                  <a:lnTo>
                    <a:pt x="144018" y="498348"/>
                  </a:lnTo>
                  <a:lnTo>
                    <a:pt x="0" y="498348"/>
                  </a:lnTo>
                  <a:lnTo>
                    <a:pt x="288036" y="786382"/>
                  </a:lnTo>
                  <a:lnTo>
                    <a:pt x="576072" y="498348"/>
                  </a:lnTo>
                  <a:lnTo>
                    <a:pt x="432054" y="498348"/>
                  </a:lnTo>
                  <a:lnTo>
                    <a:pt x="432054" y="288036"/>
                  </a:lnTo>
                  <a:lnTo>
                    <a:pt x="576072" y="288036"/>
                  </a:lnTo>
                  <a:lnTo>
                    <a:pt x="288036" y="0"/>
                  </a:lnTo>
                  <a:close/>
                </a:path>
              </a:pathLst>
            </a:custGeom>
            <a:solidFill>
              <a:srgbClr val="9ABA59"/>
            </a:solidFill>
          </p:spPr>
          <p:txBody>
            <a:bodyPr wrap="square" lIns="0" tIns="0" rIns="0" bIns="0" rtlCol="0"/>
            <a:lstStyle/>
            <a:p>
              <a:endParaRPr/>
            </a:p>
          </p:txBody>
        </p:sp>
        <p:sp>
          <p:nvSpPr>
            <p:cNvPr id="30" name="object 30"/>
            <p:cNvSpPr/>
            <p:nvPr/>
          </p:nvSpPr>
          <p:spPr>
            <a:xfrm>
              <a:off x="6136386" y="5025389"/>
              <a:ext cx="576580" cy="786765"/>
            </a:xfrm>
            <a:custGeom>
              <a:avLst/>
              <a:gdLst/>
              <a:ahLst/>
              <a:cxnLst/>
              <a:rect l="l" t="t" r="r" b="b"/>
              <a:pathLst>
                <a:path w="576579" h="786764">
                  <a:moveTo>
                    <a:pt x="0" y="288036"/>
                  </a:moveTo>
                  <a:lnTo>
                    <a:pt x="288036" y="0"/>
                  </a:lnTo>
                  <a:lnTo>
                    <a:pt x="576072" y="288036"/>
                  </a:lnTo>
                  <a:lnTo>
                    <a:pt x="432054" y="288036"/>
                  </a:lnTo>
                  <a:lnTo>
                    <a:pt x="432054" y="498348"/>
                  </a:lnTo>
                  <a:lnTo>
                    <a:pt x="576072" y="498348"/>
                  </a:lnTo>
                  <a:lnTo>
                    <a:pt x="288036" y="786382"/>
                  </a:lnTo>
                  <a:lnTo>
                    <a:pt x="0" y="498348"/>
                  </a:lnTo>
                  <a:lnTo>
                    <a:pt x="144018" y="498348"/>
                  </a:lnTo>
                  <a:lnTo>
                    <a:pt x="144018" y="288036"/>
                  </a:lnTo>
                  <a:lnTo>
                    <a:pt x="0" y="288036"/>
                  </a:lnTo>
                  <a:close/>
                </a:path>
              </a:pathLst>
            </a:custGeom>
            <a:ln w="26424">
              <a:solidFill>
                <a:srgbClr val="70883F"/>
              </a:solidFill>
            </a:ln>
          </p:spPr>
          <p:txBody>
            <a:bodyPr wrap="square" lIns="0" tIns="0" rIns="0" bIns="0" rtlCol="0"/>
            <a:lstStyle/>
            <a:p>
              <a:endParaRPr/>
            </a:p>
          </p:txBody>
        </p:sp>
        <p:pic>
          <p:nvPicPr>
            <p:cNvPr id="31" name="object 31"/>
            <p:cNvPicPr/>
            <p:nvPr/>
          </p:nvPicPr>
          <p:blipFill>
            <a:blip r:embed="rId2" cstate="print"/>
            <a:stretch>
              <a:fillRect/>
            </a:stretch>
          </p:blipFill>
          <p:spPr>
            <a:xfrm>
              <a:off x="7647431" y="2851403"/>
              <a:ext cx="1016520" cy="1490472"/>
            </a:xfrm>
            <a:prstGeom prst="rect">
              <a:avLst/>
            </a:prstGeom>
          </p:spPr>
        </p:pic>
        <p:pic>
          <p:nvPicPr>
            <p:cNvPr id="32" name="object 32"/>
            <p:cNvPicPr/>
            <p:nvPr/>
          </p:nvPicPr>
          <p:blipFill>
            <a:blip r:embed="rId3" cstate="print"/>
            <a:stretch>
              <a:fillRect/>
            </a:stretch>
          </p:blipFill>
          <p:spPr>
            <a:xfrm>
              <a:off x="7808976" y="2833128"/>
              <a:ext cx="691883" cy="554723"/>
            </a:xfrm>
            <a:prstGeom prst="rect">
              <a:avLst/>
            </a:prstGeom>
          </p:spPr>
        </p:pic>
        <p:sp>
          <p:nvSpPr>
            <p:cNvPr id="33" name="object 33"/>
            <p:cNvSpPr/>
            <p:nvPr/>
          </p:nvSpPr>
          <p:spPr>
            <a:xfrm>
              <a:off x="7673340" y="2877311"/>
              <a:ext cx="932815" cy="1407160"/>
            </a:xfrm>
            <a:custGeom>
              <a:avLst/>
              <a:gdLst/>
              <a:ahLst/>
              <a:cxnLst/>
              <a:rect l="l" t="t" r="r" b="b"/>
              <a:pathLst>
                <a:path w="932815" h="1407160">
                  <a:moveTo>
                    <a:pt x="0" y="1406652"/>
                  </a:moveTo>
                  <a:lnTo>
                    <a:pt x="932685" y="1406652"/>
                  </a:lnTo>
                  <a:lnTo>
                    <a:pt x="932685" y="0"/>
                  </a:lnTo>
                  <a:lnTo>
                    <a:pt x="0" y="0"/>
                  </a:lnTo>
                  <a:lnTo>
                    <a:pt x="0" y="1406652"/>
                  </a:lnTo>
                  <a:close/>
                </a:path>
              </a:pathLst>
            </a:custGeom>
            <a:ln w="9525">
              <a:solidFill>
                <a:srgbClr val="000000"/>
              </a:solidFill>
            </a:ln>
          </p:spPr>
          <p:txBody>
            <a:bodyPr wrap="square" lIns="0" tIns="0" rIns="0" bIns="0" rtlCol="0"/>
            <a:lstStyle/>
            <a:p>
              <a:endParaRPr/>
            </a:p>
          </p:txBody>
        </p:sp>
      </p:grpSp>
      <p:sp>
        <p:nvSpPr>
          <p:cNvPr id="34" name="object 34"/>
          <p:cNvSpPr txBox="1"/>
          <p:nvPr/>
        </p:nvSpPr>
        <p:spPr>
          <a:xfrm>
            <a:off x="9480295" y="2905759"/>
            <a:ext cx="368300" cy="299720"/>
          </a:xfrm>
          <a:prstGeom prst="rect">
            <a:avLst/>
          </a:prstGeom>
        </p:spPr>
        <p:txBody>
          <a:bodyPr vert="horz" wrap="square" lIns="0" tIns="12700" rIns="0" bIns="0" rtlCol="0">
            <a:spAutoFit/>
          </a:bodyPr>
          <a:lstStyle/>
          <a:p>
            <a:pPr marL="12700">
              <a:spcBef>
                <a:spcPts val="100"/>
              </a:spcBef>
            </a:pPr>
            <a:r>
              <a:rPr spc="-25" dirty="0">
                <a:latin typeface="Arial"/>
                <a:cs typeface="Arial"/>
              </a:rPr>
              <a:t>SM</a:t>
            </a:r>
            <a:endParaRPr>
              <a:latin typeface="Arial"/>
              <a:cs typeface="Arial"/>
            </a:endParaRPr>
          </a:p>
        </p:txBody>
      </p:sp>
      <p:grpSp>
        <p:nvGrpSpPr>
          <p:cNvPr id="35" name="object 35"/>
          <p:cNvGrpSpPr/>
          <p:nvPr/>
        </p:nvGrpSpPr>
        <p:grpSpPr>
          <a:xfrm>
            <a:off x="9218677" y="3854208"/>
            <a:ext cx="922019" cy="554990"/>
            <a:chOff x="7694676" y="3854208"/>
            <a:chExt cx="922019" cy="554990"/>
          </a:xfrm>
        </p:grpSpPr>
        <p:pic>
          <p:nvPicPr>
            <p:cNvPr id="36" name="object 36"/>
            <p:cNvPicPr/>
            <p:nvPr/>
          </p:nvPicPr>
          <p:blipFill>
            <a:blip r:embed="rId4" cstate="print"/>
            <a:stretch>
              <a:fillRect/>
            </a:stretch>
          </p:blipFill>
          <p:spPr>
            <a:xfrm>
              <a:off x="7694676" y="3896817"/>
              <a:ext cx="922007" cy="402386"/>
            </a:xfrm>
            <a:prstGeom prst="rect">
              <a:avLst/>
            </a:prstGeom>
          </p:spPr>
        </p:pic>
        <p:pic>
          <p:nvPicPr>
            <p:cNvPr id="37" name="object 37"/>
            <p:cNvPicPr/>
            <p:nvPr/>
          </p:nvPicPr>
          <p:blipFill>
            <a:blip r:embed="rId5" cstate="print"/>
            <a:stretch>
              <a:fillRect/>
            </a:stretch>
          </p:blipFill>
          <p:spPr>
            <a:xfrm>
              <a:off x="7854696" y="3854208"/>
              <a:ext cx="601954" cy="554723"/>
            </a:xfrm>
            <a:prstGeom prst="rect">
              <a:avLst/>
            </a:prstGeom>
          </p:spPr>
        </p:pic>
        <p:sp>
          <p:nvSpPr>
            <p:cNvPr id="38" name="object 38"/>
            <p:cNvSpPr/>
            <p:nvPr/>
          </p:nvSpPr>
          <p:spPr>
            <a:xfrm>
              <a:off x="7720584" y="3922774"/>
              <a:ext cx="838200" cy="318770"/>
            </a:xfrm>
            <a:custGeom>
              <a:avLst/>
              <a:gdLst/>
              <a:ahLst/>
              <a:cxnLst/>
              <a:rect l="l" t="t" r="r" b="b"/>
              <a:pathLst>
                <a:path w="838200" h="318770">
                  <a:moveTo>
                    <a:pt x="0" y="318517"/>
                  </a:moveTo>
                  <a:lnTo>
                    <a:pt x="838200" y="318517"/>
                  </a:lnTo>
                  <a:lnTo>
                    <a:pt x="838200" y="0"/>
                  </a:lnTo>
                  <a:lnTo>
                    <a:pt x="0" y="0"/>
                  </a:lnTo>
                  <a:lnTo>
                    <a:pt x="0" y="318517"/>
                  </a:lnTo>
                  <a:close/>
                </a:path>
              </a:pathLst>
            </a:custGeom>
            <a:ln w="9525">
              <a:solidFill>
                <a:srgbClr val="000000"/>
              </a:solidFill>
            </a:ln>
          </p:spPr>
          <p:txBody>
            <a:bodyPr wrap="square" lIns="0" tIns="0" rIns="0" bIns="0" rtlCol="0"/>
            <a:lstStyle/>
            <a:p>
              <a:endParaRPr/>
            </a:p>
          </p:txBody>
        </p:sp>
      </p:grpSp>
      <p:sp>
        <p:nvSpPr>
          <p:cNvPr id="39" name="object 39"/>
          <p:cNvSpPr txBox="1"/>
          <p:nvPr/>
        </p:nvSpPr>
        <p:spPr>
          <a:xfrm>
            <a:off x="9525762" y="3926536"/>
            <a:ext cx="278765" cy="300355"/>
          </a:xfrm>
          <a:prstGeom prst="rect">
            <a:avLst/>
          </a:prstGeom>
        </p:spPr>
        <p:txBody>
          <a:bodyPr vert="horz" wrap="square" lIns="0" tIns="12700" rIns="0" bIns="0" rtlCol="0">
            <a:spAutoFit/>
          </a:bodyPr>
          <a:lstStyle/>
          <a:p>
            <a:pPr marL="12700">
              <a:spcBef>
                <a:spcPts val="100"/>
              </a:spcBef>
            </a:pPr>
            <a:r>
              <a:rPr spc="-25" dirty="0">
                <a:latin typeface="Arial"/>
                <a:cs typeface="Arial"/>
              </a:rPr>
              <a:t>L1</a:t>
            </a:r>
            <a:endParaRPr>
              <a:latin typeface="Arial"/>
              <a:cs typeface="Arial"/>
            </a:endParaRPr>
          </a:p>
        </p:txBody>
      </p:sp>
      <p:grpSp>
        <p:nvGrpSpPr>
          <p:cNvPr id="40" name="object 40"/>
          <p:cNvGrpSpPr/>
          <p:nvPr/>
        </p:nvGrpSpPr>
        <p:grpSpPr>
          <a:xfrm>
            <a:off x="5853685" y="4524768"/>
            <a:ext cx="4261485" cy="554990"/>
            <a:chOff x="4329684" y="4524768"/>
            <a:chExt cx="4261485" cy="554990"/>
          </a:xfrm>
        </p:grpSpPr>
        <p:pic>
          <p:nvPicPr>
            <p:cNvPr id="41" name="object 41"/>
            <p:cNvPicPr/>
            <p:nvPr/>
          </p:nvPicPr>
          <p:blipFill>
            <a:blip r:embed="rId6" cstate="print"/>
            <a:stretch>
              <a:fillRect/>
            </a:stretch>
          </p:blipFill>
          <p:spPr>
            <a:xfrm>
              <a:off x="4329684" y="4526305"/>
              <a:ext cx="4261104" cy="483082"/>
            </a:xfrm>
            <a:prstGeom prst="rect">
              <a:avLst/>
            </a:prstGeom>
          </p:spPr>
        </p:pic>
        <p:pic>
          <p:nvPicPr>
            <p:cNvPr id="42" name="object 42"/>
            <p:cNvPicPr/>
            <p:nvPr/>
          </p:nvPicPr>
          <p:blipFill>
            <a:blip r:embed="rId7" cstate="print"/>
            <a:stretch>
              <a:fillRect/>
            </a:stretch>
          </p:blipFill>
          <p:spPr>
            <a:xfrm>
              <a:off x="5821680" y="4524768"/>
              <a:ext cx="1274064" cy="554723"/>
            </a:xfrm>
            <a:prstGeom prst="rect">
              <a:avLst/>
            </a:prstGeom>
          </p:spPr>
        </p:pic>
        <p:sp>
          <p:nvSpPr>
            <p:cNvPr id="43" name="object 43"/>
            <p:cNvSpPr/>
            <p:nvPr/>
          </p:nvSpPr>
          <p:spPr>
            <a:xfrm>
              <a:off x="4355592" y="4552185"/>
              <a:ext cx="4177665" cy="399415"/>
            </a:xfrm>
            <a:custGeom>
              <a:avLst/>
              <a:gdLst/>
              <a:ahLst/>
              <a:cxnLst/>
              <a:rect l="l" t="t" r="r" b="b"/>
              <a:pathLst>
                <a:path w="4177665" h="399414">
                  <a:moveTo>
                    <a:pt x="0" y="399290"/>
                  </a:moveTo>
                  <a:lnTo>
                    <a:pt x="4177284" y="399290"/>
                  </a:lnTo>
                  <a:lnTo>
                    <a:pt x="4177284" y="0"/>
                  </a:lnTo>
                  <a:lnTo>
                    <a:pt x="0" y="0"/>
                  </a:lnTo>
                  <a:lnTo>
                    <a:pt x="0" y="399290"/>
                  </a:lnTo>
                  <a:close/>
                </a:path>
              </a:pathLst>
            </a:custGeom>
            <a:ln w="9525">
              <a:solidFill>
                <a:srgbClr val="000000"/>
              </a:solidFill>
            </a:ln>
          </p:spPr>
          <p:txBody>
            <a:bodyPr wrap="square" lIns="0" tIns="0" rIns="0" bIns="0" rtlCol="0"/>
            <a:lstStyle/>
            <a:p>
              <a:endParaRPr/>
            </a:p>
          </p:txBody>
        </p:sp>
      </p:grpSp>
      <p:sp>
        <p:nvSpPr>
          <p:cNvPr id="44" name="object 44"/>
          <p:cNvSpPr txBox="1"/>
          <p:nvPr/>
        </p:nvSpPr>
        <p:spPr>
          <a:xfrm>
            <a:off x="5884354" y="4596765"/>
            <a:ext cx="4168140" cy="299720"/>
          </a:xfrm>
          <a:prstGeom prst="rect">
            <a:avLst/>
          </a:prstGeom>
        </p:spPr>
        <p:txBody>
          <a:bodyPr vert="horz" wrap="square" lIns="0" tIns="12700" rIns="0" bIns="0" rtlCol="0">
            <a:spAutoFit/>
          </a:bodyPr>
          <a:lstStyle/>
          <a:p>
            <a:pPr marL="1905" algn="ctr">
              <a:spcBef>
                <a:spcPts val="100"/>
              </a:spcBef>
            </a:pPr>
            <a:r>
              <a:rPr dirty="0">
                <a:latin typeface="Arial"/>
                <a:cs typeface="Arial"/>
              </a:rPr>
              <a:t>L2</a:t>
            </a:r>
            <a:r>
              <a:rPr spc="-10" dirty="0">
                <a:latin typeface="Arial"/>
                <a:cs typeface="Arial"/>
              </a:rPr>
              <a:t> </a:t>
            </a:r>
            <a:r>
              <a:rPr spc="-20" dirty="0">
                <a:latin typeface="Arial"/>
                <a:cs typeface="Arial"/>
              </a:rPr>
              <a:t>cache</a:t>
            </a:r>
            <a:endParaRPr>
              <a:latin typeface="Arial"/>
              <a:cs typeface="Arial"/>
            </a:endParaRPr>
          </a:p>
        </p:txBody>
      </p:sp>
      <p:sp>
        <p:nvSpPr>
          <p:cNvPr id="45" name="object 45"/>
          <p:cNvSpPr/>
          <p:nvPr/>
        </p:nvSpPr>
        <p:spPr>
          <a:xfrm>
            <a:off x="7735824" y="3325366"/>
            <a:ext cx="416559" cy="368935"/>
          </a:xfrm>
          <a:custGeom>
            <a:avLst/>
            <a:gdLst/>
            <a:ahLst/>
            <a:cxnLst/>
            <a:rect l="l" t="t" r="r" b="b"/>
            <a:pathLst>
              <a:path w="416559" h="368935">
                <a:moveTo>
                  <a:pt x="0" y="368810"/>
                </a:moveTo>
                <a:lnTo>
                  <a:pt x="416054" y="368810"/>
                </a:lnTo>
                <a:lnTo>
                  <a:pt x="416054" y="0"/>
                </a:lnTo>
                <a:lnTo>
                  <a:pt x="0" y="0"/>
                </a:lnTo>
                <a:lnTo>
                  <a:pt x="0" y="368810"/>
                </a:lnTo>
                <a:close/>
              </a:path>
            </a:pathLst>
          </a:custGeom>
          <a:ln w="9525">
            <a:solidFill>
              <a:srgbClr val="000000"/>
            </a:solidFill>
          </a:ln>
        </p:spPr>
        <p:txBody>
          <a:bodyPr wrap="square" lIns="0" tIns="0" rIns="0" bIns="0" rtlCol="0"/>
          <a:lstStyle/>
          <a:p>
            <a:endParaRPr/>
          </a:p>
        </p:txBody>
      </p:sp>
      <p:sp>
        <p:nvSpPr>
          <p:cNvPr id="46" name="object 46"/>
          <p:cNvSpPr txBox="1"/>
          <p:nvPr/>
        </p:nvSpPr>
        <p:spPr>
          <a:xfrm>
            <a:off x="7815453" y="3352927"/>
            <a:ext cx="254000" cy="299720"/>
          </a:xfrm>
          <a:prstGeom prst="rect">
            <a:avLst/>
          </a:prstGeom>
        </p:spPr>
        <p:txBody>
          <a:bodyPr vert="horz" wrap="square" lIns="0" tIns="12700" rIns="0" bIns="0" rtlCol="0">
            <a:spAutoFit/>
          </a:bodyPr>
          <a:lstStyle/>
          <a:p>
            <a:pPr marL="12700">
              <a:spcBef>
                <a:spcPts val="100"/>
              </a:spcBef>
            </a:pPr>
            <a:r>
              <a:rPr spc="-50" dirty="0">
                <a:latin typeface="Arial"/>
                <a:cs typeface="Arial"/>
              </a:rPr>
              <a:t>…</a:t>
            </a:r>
            <a:endParaRPr>
              <a:latin typeface="Arial"/>
              <a:cs typeface="Arial"/>
            </a:endParaRPr>
          </a:p>
        </p:txBody>
      </p:sp>
      <p:grpSp>
        <p:nvGrpSpPr>
          <p:cNvPr id="47" name="object 47"/>
          <p:cNvGrpSpPr/>
          <p:nvPr/>
        </p:nvGrpSpPr>
        <p:grpSpPr>
          <a:xfrm>
            <a:off x="8162543" y="2827033"/>
            <a:ext cx="1811020" cy="1725295"/>
            <a:chOff x="6638543" y="2827032"/>
            <a:chExt cx="1811020" cy="1725295"/>
          </a:xfrm>
        </p:grpSpPr>
        <p:sp>
          <p:nvSpPr>
            <p:cNvPr id="48" name="object 48"/>
            <p:cNvSpPr/>
            <p:nvPr/>
          </p:nvSpPr>
          <p:spPr>
            <a:xfrm>
              <a:off x="7991855" y="4290059"/>
              <a:ext cx="295910" cy="257175"/>
            </a:xfrm>
            <a:custGeom>
              <a:avLst/>
              <a:gdLst/>
              <a:ahLst/>
              <a:cxnLst/>
              <a:rect l="l" t="t" r="r" b="b"/>
              <a:pathLst>
                <a:path w="295909" h="257175">
                  <a:moveTo>
                    <a:pt x="295656" y="0"/>
                  </a:moveTo>
                  <a:lnTo>
                    <a:pt x="295656" y="257175"/>
                  </a:lnTo>
                </a:path>
                <a:path w="295909" h="257175">
                  <a:moveTo>
                    <a:pt x="268224" y="0"/>
                  </a:moveTo>
                  <a:lnTo>
                    <a:pt x="268224" y="257175"/>
                  </a:lnTo>
                </a:path>
                <a:path w="295909" h="257175">
                  <a:moveTo>
                    <a:pt x="240792" y="0"/>
                  </a:moveTo>
                  <a:lnTo>
                    <a:pt x="240792" y="257175"/>
                  </a:lnTo>
                </a:path>
                <a:path w="295909" h="257175">
                  <a:moveTo>
                    <a:pt x="214884" y="0"/>
                  </a:moveTo>
                  <a:lnTo>
                    <a:pt x="214884" y="257175"/>
                  </a:lnTo>
                </a:path>
                <a:path w="295909" h="257175">
                  <a:moveTo>
                    <a:pt x="187452" y="0"/>
                  </a:moveTo>
                  <a:lnTo>
                    <a:pt x="187452" y="257175"/>
                  </a:lnTo>
                </a:path>
                <a:path w="295909" h="257175">
                  <a:moveTo>
                    <a:pt x="160020" y="0"/>
                  </a:moveTo>
                  <a:lnTo>
                    <a:pt x="160020" y="257175"/>
                  </a:lnTo>
                </a:path>
                <a:path w="295909" h="257175">
                  <a:moveTo>
                    <a:pt x="134112" y="0"/>
                  </a:moveTo>
                  <a:lnTo>
                    <a:pt x="134112" y="257175"/>
                  </a:lnTo>
                </a:path>
                <a:path w="295909" h="257175">
                  <a:moveTo>
                    <a:pt x="106680" y="0"/>
                  </a:moveTo>
                  <a:lnTo>
                    <a:pt x="106680" y="257175"/>
                  </a:lnTo>
                </a:path>
                <a:path w="295909" h="257175">
                  <a:moveTo>
                    <a:pt x="80772" y="0"/>
                  </a:moveTo>
                  <a:lnTo>
                    <a:pt x="80772" y="257175"/>
                  </a:lnTo>
                </a:path>
                <a:path w="295909" h="257175">
                  <a:moveTo>
                    <a:pt x="54864" y="0"/>
                  </a:moveTo>
                  <a:lnTo>
                    <a:pt x="54864" y="257175"/>
                  </a:lnTo>
                </a:path>
                <a:path w="295909" h="257175">
                  <a:moveTo>
                    <a:pt x="27432" y="0"/>
                  </a:moveTo>
                  <a:lnTo>
                    <a:pt x="27432" y="257175"/>
                  </a:lnTo>
                </a:path>
                <a:path w="295909" h="257175">
                  <a:moveTo>
                    <a:pt x="0" y="0"/>
                  </a:moveTo>
                  <a:lnTo>
                    <a:pt x="0" y="257175"/>
                  </a:lnTo>
                </a:path>
              </a:pathLst>
            </a:custGeom>
            <a:ln w="9525">
              <a:solidFill>
                <a:srgbClr val="000000"/>
              </a:solidFill>
            </a:ln>
          </p:spPr>
          <p:txBody>
            <a:bodyPr wrap="square" lIns="0" tIns="0" rIns="0" bIns="0" rtlCol="0"/>
            <a:lstStyle/>
            <a:p>
              <a:endParaRPr/>
            </a:p>
          </p:txBody>
        </p:sp>
        <p:pic>
          <p:nvPicPr>
            <p:cNvPr id="49" name="object 49"/>
            <p:cNvPicPr/>
            <p:nvPr/>
          </p:nvPicPr>
          <p:blipFill>
            <a:blip r:embed="rId8" cstate="print"/>
            <a:stretch>
              <a:fillRect/>
            </a:stretch>
          </p:blipFill>
          <p:spPr>
            <a:xfrm>
              <a:off x="7857743" y="3208019"/>
              <a:ext cx="297179" cy="297179"/>
            </a:xfrm>
            <a:prstGeom prst="rect">
              <a:avLst/>
            </a:prstGeom>
          </p:spPr>
        </p:pic>
        <p:sp>
          <p:nvSpPr>
            <p:cNvPr id="50" name="object 50"/>
            <p:cNvSpPr/>
            <p:nvPr/>
          </p:nvSpPr>
          <p:spPr>
            <a:xfrm>
              <a:off x="7883651" y="3233927"/>
              <a:ext cx="213360" cy="213360"/>
            </a:xfrm>
            <a:custGeom>
              <a:avLst/>
              <a:gdLst/>
              <a:ahLst/>
              <a:cxnLst/>
              <a:rect l="l" t="t" r="r" b="b"/>
              <a:pathLst>
                <a:path w="213359" h="213360">
                  <a:moveTo>
                    <a:pt x="0" y="213360"/>
                  </a:moveTo>
                  <a:lnTo>
                    <a:pt x="213360" y="213360"/>
                  </a:lnTo>
                  <a:lnTo>
                    <a:pt x="213360" y="0"/>
                  </a:lnTo>
                  <a:lnTo>
                    <a:pt x="0" y="0"/>
                  </a:lnTo>
                  <a:lnTo>
                    <a:pt x="0" y="213360"/>
                  </a:lnTo>
                  <a:close/>
                </a:path>
              </a:pathLst>
            </a:custGeom>
            <a:ln w="9525">
              <a:solidFill>
                <a:srgbClr val="000000"/>
              </a:solidFill>
            </a:ln>
          </p:spPr>
          <p:txBody>
            <a:bodyPr wrap="square" lIns="0" tIns="0" rIns="0" bIns="0" rtlCol="0"/>
            <a:lstStyle/>
            <a:p>
              <a:endParaRPr/>
            </a:p>
          </p:txBody>
        </p:sp>
        <p:pic>
          <p:nvPicPr>
            <p:cNvPr id="51" name="object 51"/>
            <p:cNvPicPr/>
            <p:nvPr/>
          </p:nvPicPr>
          <p:blipFill>
            <a:blip r:embed="rId9" cstate="print"/>
            <a:stretch>
              <a:fillRect/>
            </a:stretch>
          </p:blipFill>
          <p:spPr>
            <a:xfrm>
              <a:off x="8153399" y="3208019"/>
              <a:ext cx="295681" cy="297179"/>
            </a:xfrm>
            <a:prstGeom prst="rect">
              <a:avLst/>
            </a:prstGeom>
          </p:spPr>
        </p:pic>
        <p:sp>
          <p:nvSpPr>
            <p:cNvPr id="52" name="object 52"/>
            <p:cNvSpPr/>
            <p:nvPr/>
          </p:nvSpPr>
          <p:spPr>
            <a:xfrm>
              <a:off x="8179307" y="3233927"/>
              <a:ext cx="212090" cy="213360"/>
            </a:xfrm>
            <a:custGeom>
              <a:avLst/>
              <a:gdLst/>
              <a:ahLst/>
              <a:cxnLst/>
              <a:rect l="l" t="t" r="r" b="b"/>
              <a:pathLst>
                <a:path w="212090" h="213360">
                  <a:moveTo>
                    <a:pt x="0" y="213360"/>
                  </a:moveTo>
                  <a:lnTo>
                    <a:pt x="211837" y="213360"/>
                  </a:lnTo>
                  <a:lnTo>
                    <a:pt x="211837" y="0"/>
                  </a:lnTo>
                  <a:lnTo>
                    <a:pt x="0" y="0"/>
                  </a:lnTo>
                  <a:lnTo>
                    <a:pt x="0" y="213360"/>
                  </a:lnTo>
                  <a:close/>
                </a:path>
              </a:pathLst>
            </a:custGeom>
            <a:ln w="9525">
              <a:solidFill>
                <a:srgbClr val="000000"/>
              </a:solidFill>
            </a:ln>
          </p:spPr>
          <p:txBody>
            <a:bodyPr wrap="square" lIns="0" tIns="0" rIns="0" bIns="0" rtlCol="0"/>
            <a:lstStyle/>
            <a:p>
              <a:endParaRPr/>
            </a:p>
          </p:txBody>
        </p:sp>
        <p:pic>
          <p:nvPicPr>
            <p:cNvPr id="53" name="object 53"/>
            <p:cNvPicPr/>
            <p:nvPr/>
          </p:nvPicPr>
          <p:blipFill>
            <a:blip r:embed="rId8" cstate="print"/>
            <a:stretch>
              <a:fillRect/>
            </a:stretch>
          </p:blipFill>
          <p:spPr>
            <a:xfrm>
              <a:off x="7856219" y="3502151"/>
              <a:ext cx="297179" cy="297179"/>
            </a:xfrm>
            <a:prstGeom prst="rect">
              <a:avLst/>
            </a:prstGeom>
          </p:spPr>
        </p:pic>
        <p:sp>
          <p:nvSpPr>
            <p:cNvPr id="54" name="object 54"/>
            <p:cNvSpPr/>
            <p:nvPr/>
          </p:nvSpPr>
          <p:spPr>
            <a:xfrm>
              <a:off x="7882127" y="3528059"/>
              <a:ext cx="213360" cy="213360"/>
            </a:xfrm>
            <a:custGeom>
              <a:avLst/>
              <a:gdLst/>
              <a:ahLst/>
              <a:cxnLst/>
              <a:rect l="l" t="t" r="r" b="b"/>
              <a:pathLst>
                <a:path w="213359" h="213360">
                  <a:moveTo>
                    <a:pt x="0" y="213360"/>
                  </a:moveTo>
                  <a:lnTo>
                    <a:pt x="213354" y="213360"/>
                  </a:lnTo>
                  <a:lnTo>
                    <a:pt x="213354" y="0"/>
                  </a:lnTo>
                  <a:lnTo>
                    <a:pt x="0" y="0"/>
                  </a:lnTo>
                  <a:lnTo>
                    <a:pt x="0" y="213360"/>
                  </a:lnTo>
                  <a:close/>
                </a:path>
              </a:pathLst>
            </a:custGeom>
            <a:ln w="9525">
              <a:solidFill>
                <a:srgbClr val="000000"/>
              </a:solidFill>
            </a:ln>
          </p:spPr>
          <p:txBody>
            <a:bodyPr wrap="square" lIns="0" tIns="0" rIns="0" bIns="0" rtlCol="0"/>
            <a:lstStyle/>
            <a:p>
              <a:endParaRPr/>
            </a:p>
          </p:txBody>
        </p:sp>
        <p:pic>
          <p:nvPicPr>
            <p:cNvPr id="55" name="object 55"/>
            <p:cNvPicPr/>
            <p:nvPr/>
          </p:nvPicPr>
          <p:blipFill>
            <a:blip r:embed="rId9" cstate="print"/>
            <a:stretch>
              <a:fillRect/>
            </a:stretch>
          </p:blipFill>
          <p:spPr>
            <a:xfrm>
              <a:off x="8151875" y="3502151"/>
              <a:ext cx="295681" cy="297179"/>
            </a:xfrm>
            <a:prstGeom prst="rect">
              <a:avLst/>
            </a:prstGeom>
          </p:spPr>
        </p:pic>
        <p:sp>
          <p:nvSpPr>
            <p:cNvPr id="56" name="object 56"/>
            <p:cNvSpPr/>
            <p:nvPr/>
          </p:nvSpPr>
          <p:spPr>
            <a:xfrm>
              <a:off x="8177783" y="3528059"/>
              <a:ext cx="212090" cy="213360"/>
            </a:xfrm>
            <a:custGeom>
              <a:avLst/>
              <a:gdLst/>
              <a:ahLst/>
              <a:cxnLst/>
              <a:rect l="l" t="t" r="r" b="b"/>
              <a:pathLst>
                <a:path w="212090" h="213360">
                  <a:moveTo>
                    <a:pt x="0" y="213360"/>
                  </a:moveTo>
                  <a:lnTo>
                    <a:pt x="211837" y="213360"/>
                  </a:lnTo>
                  <a:lnTo>
                    <a:pt x="211837" y="0"/>
                  </a:lnTo>
                  <a:lnTo>
                    <a:pt x="0" y="0"/>
                  </a:lnTo>
                  <a:lnTo>
                    <a:pt x="0" y="213360"/>
                  </a:lnTo>
                  <a:close/>
                </a:path>
              </a:pathLst>
            </a:custGeom>
            <a:ln w="9525">
              <a:solidFill>
                <a:srgbClr val="000000"/>
              </a:solidFill>
            </a:ln>
          </p:spPr>
          <p:txBody>
            <a:bodyPr wrap="square" lIns="0" tIns="0" rIns="0" bIns="0" rtlCol="0"/>
            <a:lstStyle/>
            <a:p>
              <a:endParaRPr/>
            </a:p>
          </p:txBody>
        </p:sp>
        <p:pic>
          <p:nvPicPr>
            <p:cNvPr id="57" name="object 57"/>
            <p:cNvPicPr/>
            <p:nvPr/>
          </p:nvPicPr>
          <p:blipFill>
            <a:blip r:embed="rId2" cstate="print"/>
            <a:stretch>
              <a:fillRect/>
            </a:stretch>
          </p:blipFill>
          <p:spPr>
            <a:xfrm>
              <a:off x="6638543" y="2845307"/>
              <a:ext cx="1018044" cy="1490472"/>
            </a:xfrm>
            <a:prstGeom prst="rect">
              <a:avLst/>
            </a:prstGeom>
          </p:spPr>
        </p:pic>
        <p:pic>
          <p:nvPicPr>
            <p:cNvPr id="58" name="object 58"/>
            <p:cNvPicPr/>
            <p:nvPr/>
          </p:nvPicPr>
          <p:blipFill>
            <a:blip r:embed="rId10" cstate="print"/>
            <a:stretch>
              <a:fillRect/>
            </a:stretch>
          </p:blipFill>
          <p:spPr>
            <a:xfrm>
              <a:off x="6800087" y="2827032"/>
              <a:ext cx="691883" cy="554723"/>
            </a:xfrm>
            <a:prstGeom prst="rect">
              <a:avLst/>
            </a:prstGeom>
          </p:spPr>
        </p:pic>
        <p:sp>
          <p:nvSpPr>
            <p:cNvPr id="59" name="object 59"/>
            <p:cNvSpPr/>
            <p:nvPr/>
          </p:nvSpPr>
          <p:spPr>
            <a:xfrm>
              <a:off x="6664451" y="2871215"/>
              <a:ext cx="934719" cy="1407160"/>
            </a:xfrm>
            <a:custGeom>
              <a:avLst/>
              <a:gdLst/>
              <a:ahLst/>
              <a:cxnLst/>
              <a:rect l="l" t="t" r="r" b="b"/>
              <a:pathLst>
                <a:path w="934720" h="1407160">
                  <a:moveTo>
                    <a:pt x="0" y="1406652"/>
                  </a:moveTo>
                  <a:lnTo>
                    <a:pt x="934209" y="1406652"/>
                  </a:lnTo>
                  <a:lnTo>
                    <a:pt x="934209" y="0"/>
                  </a:lnTo>
                  <a:lnTo>
                    <a:pt x="0" y="0"/>
                  </a:lnTo>
                  <a:lnTo>
                    <a:pt x="0" y="1406652"/>
                  </a:lnTo>
                  <a:close/>
                </a:path>
              </a:pathLst>
            </a:custGeom>
            <a:ln w="9525">
              <a:solidFill>
                <a:srgbClr val="000000"/>
              </a:solidFill>
            </a:ln>
          </p:spPr>
          <p:txBody>
            <a:bodyPr wrap="square" lIns="0" tIns="0" rIns="0" bIns="0" rtlCol="0"/>
            <a:lstStyle/>
            <a:p>
              <a:endParaRPr/>
            </a:p>
          </p:txBody>
        </p:sp>
      </p:grpSp>
      <p:sp>
        <p:nvSpPr>
          <p:cNvPr id="60" name="object 60"/>
          <p:cNvSpPr txBox="1"/>
          <p:nvPr/>
        </p:nvSpPr>
        <p:spPr>
          <a:xfrm>
            <a:off x="8472043" y="2899028"/>
            <a:ext cx="368300" cy="299720"/>
          </a:xfrm>
          <a:prstGeom prst="rect">
            <a:avLst/>
          </a:prstGeom>
        </p:spPr>
        <p:txBody>
          <a:bodyPr vert="horz" wrap="square" lIns="0" tIns="12700" rIns="0" bIns="0" rtlCol="0">
            <a:spAutoFit/>
          </a:bodyPr>
          <a:lstStyle/>
          <a:p>
            <a:pPr marL="12700">
              <a:spcBef>
                <a:spcPts val="100"/>
              </a:spcBef>
            </a:pPr>
            <a:r>
              <a:rPr spc="-25" dirty="0">
                <a:latin typeface="Arial"/>
                <a:cs typeface="Arial"/>
              </a:rPr>
              <a:t>SM</a:t>
            </a:r>
            <a:endParaRPr>
              <a:latin typeface="Arial"/>
              <a:cs typeface="Arial"/>
            </a:endParaRPr>
          </a:p>
        </p:txBody>
      </p:sp>
      <p:grpSp>
        <p:nvGrpSpPr>
          <p:cNvPr id="61" name="object 61"/>
          <p:cNvGrpSpPr/>
          <p:nvPr/>
        </p:nvGrpSpPr>
        <p:grpSpPr>
          <a:xfrm>
            <a:off x="8209789" y="3848112"/>
            <a:ext cx="923925" cy="554990"/>
            <a:chOff x="6685788" y="3848112"/>
            <a:chExt cx="923925" cy="554990"/>
          </a:xfrm>
        </p:grpSpPr>
        <p:pic>
          <p:nvPicPr>
            <p:cNvPr id="62" name="object 62"/>
            <p:cNvPicPr/>
            <p:nvPr/>
          </p:nvPicPr>
          <p:blipFill>
            <a:blip r:embed="rId11" cstate="print"/>
            <a:stretch>
              <a:fillRect/>
            </a:stretch>
          </p:blipFill>
          <p:spPr>
            <a:xfrm>
              <a:off x="6685788" y="3889209"/>
              <a:ext cx="923569" cy="403898"/>
            </a:xfrm>
            <a:prstGeom prst="rect">
              <a:avLst/>
            </a:prstGeom>
          </p:spPr>
        </p:pic>
        <p:pic>
          <p:nvPicPr>
            <p:cNvPr id="63" name="object 63"/>
            <p:cNvPicPr/>
            <p:nvPr/>
          </p:nvPicPr>
          <p:blipFill>
            <a:blip r:embed="rId12" cstate="print"/>
            <a:stretch>
              <a:fillRect/>
            </a:stretch>
          </p:blipFill>
          <p:spPr>
            <a:xfrm>
              <a:off x="6845808" y="3848112"/>
              <a:ext cx="601954" cy="554723"/>
            </a:xfrm>
            <a:prstGeom prst="rect">
              <a:avLst/>
            </a:prstGeom>
          </p:spPr>
        </p:pic>
        <p:sp>
          <p:nvSpPr>
            <p:cNvPr id="64" name="object 64"/>
            <p:cNvSpPr/>
            <p:nvPr/>
          </p:nvSpPr>
          <p:spPr>
            <a:xfrm>
              <a:off x="6711696" y="3915156"/>
              <a:ext cx="840105" cy="320040"/>
            </a:xfrm>
            <a:custGeom>
              <a:avLst/>
              <a:gdLst/>
              <a:ahLst/>
              <a:cxnLst/>
              <a:rect l="l" t="t" r="r" b="b"/>
              <a:pathLst>
                <a:path w="840104" h="320039">
                  <a:moveTo>
                    <a:pt x="0" y="320040"/>
                  </a:moveTo>
                  <a:lnTo>
                    <a:pt x="839722" y="320040"/>
                  </a:lnTo>
                  <a:lnTo>
                    <a:pt x="839722" y="0"/>
                  </a:lnTo>
                  <a:lnTo>
                    <a:pt x="0" y="0"/>
                  </a:lnTo>
                  <a:lnTo>
                    <a:pt x="0" y="320040"/>
                  </a:lnTo>
                  <a:close/>
                </a:path>
              </a:pathLst>
            </a:custGeom>
            <a:ln w="9525">
              <a:solidFill>
                <a:srgbClr val="000000"/>
              </a:solidFill>
            </a:ln>
          </p:spPr>
          <p:txBody>
            <a:bodyPr wrap="square" lIns="0" tIns="0" rIns="0" bIns="0" rtlCol="0"/>
            <a:lstStyle/>
            <a:p>
              <a:endParaRPr/>
            </a:p>
          </p:txBody>
        </p:sp>
      </p:grpSp>
      <p:sp>
        <p:nvSpPr>
          <p:cNvPr id="65" name="object 65"/>
          <p:cNvSpPr txBox="1"/>
          <p:nvPr/>
        </p:nvSpPr>
        <p:spPr>
          <a:xfrm>
            <a:off x="8517382" y="3919805"/>
            <a:ext cx="278765" cy="300355"/>
          </a:xfrm>
          <a:prstGeom prst="rect">
            <a:avLst/>
          </a:prstGeom>
        </p:spPr>
        <p:txBody>
          <a:bodyPr vert="horz" wrap="square" lIns="0" tIns="12700" rIns="0" bIns="0" rtlCol="0">
            <a:spAutoFit/>
          </a:bodyPr>
          <a:lstStyle/>
          <a:p>
            <a:pPr marL="12700">
              <a:spcBef>
                <a:spcPts val="100"/>
              </a:spcBef>
            </a:pPr>
            <a:r>
              <a:rPr spc="-25" dirty="0">
                <a:latin typeface="Arial"/>
                <a:cs typeface="Arial"/>
              </a:rPr>
              <a:t>L1</a:t>
            </a:r>
            <a:endParaRPr>
              <a:latin typeface="Arial"/>
              <a:cs typeface="Arial"/>
            </a:endParaRPr>
          </a:p>
        </p:txBody>
      </p:sp>
      <p:grpSp>
        <p:nvGrpSpPr>
          <p:cNvPr id="66" name="object 66"/>
          <p:cNvGrpSpPr/>
          <p:nvPr/>
        </p:nvGrpSpPr>
        <p:grpSpPr>
          <a:xfrm>
            <a:off x="6728459" y="2828557"/>
            <a:ext cx="2239010" cy="1716405"/>
            <a:chOff x="5204459" y="2828556"/>
            <a:chExt cx="2239010" cy="1716405"/>
          </a:xfrm>
        </p:grpSpPr>
        <p:sp>
          <p:nvSpPr>
            <p:cNvPr id="67" name="object 67"/>
            <p:cNvSpPr/>
            <p:nvPr/>
          </p:nvSpPr>
          <p:spPr>
            <a:xfrm>
              <a:off x="6984491" y="4282439"/>
              <a:ext cx="294640" cy="257175"/>
            </a:xfrm>
            <a:custGeom>
              <a:avLst/>
              <a:gdLst/>
              <a:ahLst/>
              <a:cxnLst/>
              <a:rect l="l" t="t" r="r" b="b"/>
              <a:pathLst>
                <a:path w="294640" h="257175">
                  <a:moveTo>
                    <a:pt x="294132" y="0"/>
                  </a:moveTo>
                  <a:lnTo>
                    <a:pt x="294132" y="257175"/>
                  </a:lnTo>
                </a:path>
                <a:path w="294640" h="257175">
                  <a:moveTo>
                    <a:pt x="266700" y="0"/>
                  </a:moveTo>
                  <a:lnTo>
                    <a:pt x="266700" y="257175"/>
                  </a:lnTo>
                </a:path>
                <a:path w="294640" h="257175">
                  <a:moveTo>
                    <a:pt x="240792" y="0"/>
                  </a:moveTo>
                  <a:lnTo>
                    <a:pt x="240792" y="257175"/>
                  </a:lnTo>
                </a:path>
                <a:path w="294640" h="257175">
                  <a:moveTo>
                    <a:pt x="213360" y="0"/>
                  </a:moveTo>
                  <a:lnTo>
                    <a:pt x="213360" y="257175"/>
                  </a:lnTo>
                </a:path>
                <a:path w="294640" h="257175">
                  <a:moveTo>
                    <a:pt x="185928" y="0"/>
                  </a:moveTo>
                  <a:lnTo>
                    <a:pt x="185928" y="257175"/>
                  </a:lnTo>
                </a:path>
                <a:path w="294640" h="257175">
                  <a:moveTo>
                    <a:pt x="160020" y="0"/>
                  </a:moveTo>
                  <a:lnTo>
                    <a:pt x="160020" y="257175"/>
                  </a:lnTo>
                </a:path>
                <a:path w="294640" h="257175">
                  <a:moveTo>
                    <a:pt x="134112" y="0"/>
                  </a:moveTo>
                  <a:lnTo>
                    <a:pt x="134112" y="257175"/>
                  </a:lnTo>
                </a:path>
                <a:path w="294640" h="257175">
                  <a:moveTo>
                    <a:pt x="106680" y="0"/>
                  </a:moveTo>
                  <a:lnTo>
                    <a:pt x="106680" y="257175"/>
                  </a:lnTo>
                </a:path>
                <a:path w="294640" h="257175">
                  <a:moveTo>
                    <a:pt x="80772" y="0"/>
                  </a:moveTo>
                  <a:lnTo>
                    <a:pt x="80772" y="257175"/>
                  </a:lnTo>
                </a:path>
                <a:path w="294640" h="257175">
                  <a:moveTo>
                    <a:pt x="53340" y="0"/>
                  </a:moveTo>
                  <a:lnTo>
                    <a:pt x="53340" y="257175"/>
                  </a:lnTo>
                </a:path>
                <a:path w="294640" h="257175">
                  <a:moveTo>
                    <a:pt x="25908" y="0"/>
                  </a:moveTo>
                  <a:lnTo>
                    <a:pt x="25908" y="257175"/>
                  </a:lnTo>
                </a:path>
                <a:path w="294640" h="257175">
                  <a:moveTo>
                    <a:pt x="0" y="0"/>
                  </a:moveTo>
                  <a:lnTo>
                    <a:pt x="0" y="257175"/>
                  </a:lnTo>
                </a:path>
              </a:pathLst>
            </a:custGeom>
            <a:ln w="9525">
              <a:solidFill>
                <a:srgbClr val="000000"/>
              </a:solidFill>
            </a:ln>
          </p:spPr>
          <p:txBody>
            <a:bodyPr wrap="square" lIns="0" tIns="0" rIns="0" bIns="0" rtlCol="0"/>
            <a:lstStyle/>
            <a:p>
              <a:endParaRPr/>
            </a:p>
          </p:txBody>
        </p:sp>
        <p:pic>
          <p:nvPicPr>
            <p:cNvPr id="68" name="object 68"/>
            <p:cNvPicPr/>
            <p:nvPr/>
          </p:nvPicPr>
          <p:blipFill>
            <a:blip r:embed="rId9" cstate="print"/>
            <a:stretch>
              <a:fillRect/>
            </a:stretch>
          </p:blipFill>
          <p:spPr>
            <a:xfrm>
              <a:off x="6851903" y="3201923"/>
              <a:ext cx="295681" cy="297179"/>
            </a:xfrm>
            <a:prstGeom prst="rect">
              <a:avLst/>
            </a:prstGeom>
          </p:spPr>
        </p:pic>
        <p:sp>
          <p:nvSpPr>
            <p:cNvPr id="69" name="object 69"/>
            <p:cNvSpPr/>
            <p:nvPr/>
          </p:nvSpPr>
          <p:spPr>
            <a:xfrm>
              <a:off x="6877811" y="3227831"/>
              <a:ext cx="212090" cy="213360"/>
            </a:xfrm>
            <a:custGeom>
              <a:avLst/>
              <a:gdLst/>
              <a:ahLst/>
              <a:cxnLst/>
              <a:rect l="l" t="t" r="r" b="b"/>
              <a:pathLst>
                <a:path w="212090" h="213360">
                  <a:moveTo>
                    <a:pt x="0" y="213360"/>
                  </a:moveTo>
                  <a:lnTo>
                    <a:pt x="211832" y="213360"/>
                  </a:lnTo>
                  <a:lnTo>
                    <a:pt x="211832" y="0"/>
                  </a:lnTo>
                  <a:lnTo>
                    <a:pt x="0" y="0"/>
                  </a:lnTo>
                  <a:lnTo>
                    <a:pt x="0" y="213360"/>
                  </a:lnTo>
                  <a:close/>
                </a:path>
              </a:pathLst>
            </a:custGeom>
            <a:ln w="9525">
              <a:solidFill>
                <a:srgbClr val="000000"/>
              </a:solidFill>
            </a:ln>
          </p:spPr>
          <p:txBody>
            <a:bodyPr wrap="square" lIns="0" tIns="0" rIns="0" bIns="0" rtlCol="0"/>
            <a:lstStyle/>
            <a:p>
              <a:endParaRPr/>
            </a:p>
          </p:txBody>
        </p:sp>
        <p:pic>
          <p:nvPicPr>
            <p:cNvPr id="70" name="object 70"/>
            <p:cNvPicPr/>
            <p:nvPr/>
          </p:nvPicPr>
          <p:blipFill>
            <a:blip r:embed="rId8" cstate="print"/>
            <a:stretch>
              <a:fillRect/>
            </a:stretch>
          </p:blipFill>
          <p:spPr>
            <a:xfrm>
              <a:off x="7146035" y="3201923"/>
              <a:ext cx="297179" cy="297179"/>
            </a:xfrm>
            <a:prstGeom prst="rect">
              <a:avLst/>
            </a:prstGeom>
          </p:spPr>
        </p:pic>
        <p:sp>
          <p:nvSpPr>
            <p:cNvPr id="71" name="object 71"/>
            <p:cNvSpPr/>
            <p:nvPr/>
          </p:nvSpPr>
          <p:spPr>
            <a:xfrm>
              <a:off x="7171944" y="3227831"/>
              <a:ext cx="213360" cy="213360"/>
            </a:xfrm>
            <a:custGeom>
              <a:avLst/>
              <a:gdLst/>
              <a:ahLst/>
              <a:cxnLst/>
              <a:rect l="l" t="t" r="r" b="b"/>
              <a:pathLst>
                <a:path w="213359" h="213360">
                  <a:moveTo>
                    <a:pt x="0" y="213360"/>
                  </a:moveTo>
                  <a:lnTo>
                    <a:pt x="213360" y="213360"/>
                  </a:lnTo>
                  <a:lnTo>
                    <a:pt x="213360" y="0"/>
                  </a:lnTo>
                  <a:lnTo>
                    <a:pt x="0" y="0"/>
                  </a:lnTo>
                  <a:lnTo>
                    <a:pt x="0" y="213360"/>
                  </a:lnTo>
                  <a:close/>
                </a:path>
              </a:pathLst>
            </a:custGeom>
            <a:ln w="9525">
              <a:solidFill>
                <a:srgbClr val="000000"/>
              </a:solidFill>
            </a:ln>
          </p:spPr>
          <p:txBody>
            <a:bodyPr wrap="square" lIns="0" tIns="0" rIns="0" bIns="0" rtlCol="0"/>
            <a:lstStyle/>
            <a:p>
              <a:endParaRPr/>
            </a:p>
          </p:txBody>
        </p:sp>
        <p:pic>
          <p:nvPicPr>
            <p:cNvPr id="72" name="object 72"/>
            <p:cNvPicPr/>
            <p:nvPr/>
          </p:nvPicPr>
          <p:blipFill>
            <a:blip r:embed="rId9" cstate="print"/>
            <a:stretch>
              <a:fillRect/>
            </a:stretch>
          </p:blipFill>
          <p:spPr>
            <a:xfrm>
              <a:off x="6850379" y="3494531"/>
              <a:ext cx="295681" cy="297180"/>
            </a:xfrm>
            <a:prstGeom prst="rect">
              <a:avLst/>
            </a:prstGeom>
          </p:spPr>
        </p:pic>
        <p:sp>
          <p:nvSpPr>
            <p:cNvPr id="73" name="object 73"/>
            <p:cNvSpPr/>
            <p:nvPr/>
          </p:nvSpPr>
          <p:spPr>
            <a:xfrm>
              <a:off x="6876288" y="3520439"/>
              <a:ext cx="212090" cy="213360"/>
            </a:xfrm>
            <a:custGeom>
              <a:avLst/>
              <a:gdLst/>
              <a:ahLst/>
              <a:cxnLst/>
              <a:rect l="l" t="t" r="r" b="b"/>
              <a:pathLst>
                <a:path w="212090" h="213360">
                  <a:moveTo>
                    <a:pt x="0" y="213360"/>
                  </a:moveTo>
                  <a:lnTo>
                    <a:pt x="211837" y="213360"/>
                  </a:lnTo>
                  <a:lnTo>
                    <a:pt x="211837" y="0"/>
                  </a:lnTo>
                  <a:lnTo>
                    <a:pt x="0" y="0"/>
                  </a:lnTo>
                  <a:lnTo>
                    <a:pt x="0" y="213360"/>
                  </a:lnTo>
                  <a:close/>
                </a:path>
              </a:pathLst>
            </a:custGeom>
            <a:ln w="9525">
              <a:solidFill>
                <a:srgbClr val="000000"/>
              </a:solidFill>
            </a:ln>
          </p:spPr>
          <p:txBody>
            <a:bodyPr wrap="square" lIns="0" tIns="0" rIns="0" bIns="0" rtlCol="0"/>
            <a:lstStyle/>
            <a:p>
              <a:endParaRPr/>
            </a:p>
          </p:txBody>
        </p:sp>
        <p:pic>
          <p:nvPicPr>
            <p:cNvPr id="74" name="object 74"/>
            <p:cNvPicPr/>
            <p:nvPr/>
          </p:nvPicPr>
          <p:blipFill>
            <a:blip r:embed="rId9" cstate="print"/>
            <a:stretch>
              <a:fillRect/>
            </a:stretch>
          </p:blipFill>
          <p:spPr>
            <a:xfrm>
              <a:off x="7146035" y="3494531"/>
              <a:ext cx="295681" cy="297180"/>
            </a:xfrm>
            <a:prstGeom prst="rect">
              <a:avLst/>
            </a:prstGeom>
          </p:spPr>
        </p:pic>
        <p:sp>
          <p:nvSpPr>
            <p:cNvPr id="75" name="object 75"/>
            <p:cNvSpPr/>
            <p:nvPr/>
          </p:nvSpPr>
          <p:spPr>
            <a:xfrm>
              <a:off x="7171944" y="3520439"/>
              <a:ext cx="212090" cy="213360"/>
            </a:xfrm>
            <a:custGeom>
              <a:avLst/>
              <a:gdLst/>
              <a:ahLst/>
              <a:cxnLst/>
              <a:rect l="l" t="t" r="r" b="b"/>
              <a:pathLst>
                <a:path w="212090" h="213360">
                  <a:moveTo>
                    <a:pt x="0" y="213360"/>
                  </a:moveTo>
                  <a:lnTo>
                    <a:pt x="211837" y="213360"/>
                  </a:lnTo>
                  <a:lnTo>
                    <a:pt x="211837" y="0"/>
                  </a:lnTo>
                  <a:lnTo>
                    <a:pt x="0" y="0"/>
                  </a:lnTo>
                  <a:lnTo>
                    <a:pt x="0" y="213360"/>
                  </a:lnTo>
                  <a:close/>
                </a:path>
              </a:pathLst>
            </a:custGeom>
            <a:ln w="9525">
              <a:solidFill>
                <a:srgbClr val="000000"/>
              </a:solidFill>
            </a:ln>
          </p:spPr>
          <p:txBody>
            <a:bodyPr wrap="square" lIns="0" tIns="0" rIns="0" bIns="0" rtlCol="0"/>
            <a:lstStyle/>
            <a:p>
              <a:endParaRPr/>
            </a:p>
          </p:txBody>
        </p:sp>
        <p:pic>
          <p:nvPicPr>
            <p:cNvPr id="76" name="object 76"/>
            <p:cNvPicPr/>
            <p:nvPr/>
          </p:nvPicPr>
          <p:blipFill>
            <a:blip r:embed="rId13" cstate="print"/>
            <a:stretch>
              <a:fillRect/>
            </a:stretch>
          </p:blipFill>
          <p:spPr>
            <a:xfrm>
              <a:off x="5204459" y="2846831"/>
              <a:ext cx="1016520" cy="1488948"/>
            </a:xfrm>
            <a:prstGeom prst="rect">
              <a:avLst/>
            </a:prstGeom>
          </p:spPr>
        </p:pic>
        <p:pic>
          <p:nvPicPr>
            <p:cNvPr id="77" name="object 77"/>
            <p:cNvPicPr/>
            <p:nvPr/>
          </p:nvPicPr>
          <p:blipFill>
            <a:blip r:embed="rId14" cstate="print"/>
            <a:stretch>
              <a:fillRect/>
            </a:stretch>
          </p:blipFill>
          <p:spPr>
            <a:xfrm>
              <a:off x="5366003" y="2828556"/>
              <a:ext cx="691883" cy="554723"/>
            </a:xfrm>
            <a:prstGeom prst="rect">
              <a:avLst/>
            </a:prstGeom>
          </p:spPr>
        </p:pic>
        <p:sp>
          <p:nvSpPr>
            <p:cNvPr id="78" name="object 78"/>
            <p:cNvSpPr/>
            <p:nvPr/>
          </p:nvSpPr>
          <p:spPr>
            <a:xfrm>
              <a:off x="5230367" y="2872739"/>
              <a:ext cx="932815" cy="1405255"/>
            </a:xfrm>
            <a:custGeom>
              <a:avLst/>
              <a:gdLst/>
              <a:ahLst/>
              <a:cxnLst/>
              <a:rect l="l" t="t" r="r" b="b"/>
              <a:pathLst>
                <a:path w="932814" h="1405254">
                  <a:moveTo>
                    <a:pt x="0" y="1405128"/>
                  </a:moveTo>
                  <a:lnTo>
                    <a:pt x="932690" y="1405128"/>
                  </a:lnTo>
                  <a:lnTo>
                    <a:pt x="932690" y="0"/>
                  </a:lnTo>
                  <a:lnTo>
                    <a:pt x="0" y="0"/>
                  </a:lnTo>
                  <a:lnTo>
                    <a:pt x="0" y="1405128"/>
                  </a:lnTo>
                  <a:close/>
                </a:path>
              </a:pathLst>
            </a:custGeom>
            <a:ln w="9525">
              <a:solidFill>
                <a:srgbClr val="000000"/>
              </a:solidFill>
            </a:ln>
          </p:spPr>
          <p:txBody>
            <a:bodyPr wrap="square" lIns="0" tIns="0" rIns="0" bIns="0" rtlCol="0"/>
            <a:lstStyle/>
            <a:p>
              <a:endParaRPr/>
            </a:p>
          </p:txBody>
        </p:sp>
      </p:grpSp>
      <p:sp>
        <p:nvSpPr>
          <p:cNvPr id="79" name="object 79"/>
          <p:cNvSpPr txBox="1"/>
          <p:nvPr/>
        </p:nvSpPr>
        <p:spPr>
          <a:xfrm>
            <a:off x="7036689" y="2899917"/>
            <a:ext cx="368300" cy="299720"/>
          </a:xfrm>
          <a:prstGeom prst="rect">
            <a:avLst/>
          </a:prstGeom>
        </p:spPr>
        <p:txBody>
          <a:bodyPr vert="horz" wrap="square" lIns="0" tIns="12700" rIns="0" bIns="0" rtlCol="0">
            <a:spAutoFit/>
          </a:bodyPr>
          <a:lstStyle/>
          <a:p>
            <a:pPr marL="12700">
              <a:spcBef>
                <a:spcPts val="100"/>
              </a:spcBef>
            </a:pPr>
            <a:r>
              <a:rPr spc="-25" dirty="0">
                <a:latin typeface="Arial"/>
                <a:cs typeface="Arial"/>
              </a:rPr>
              <a:t>SM</a:t>
            </a:r>
            <a:endParaRPr>
              <a:latin typeface="Arial"/>
              <a:cs typeface="Arial"/>
            </a:endParaRPr>
          </a:p>
        </p:txBody>
      </p:sp>
      <p:grpSp>
        <p:nvGrpSpPr>
          <p:cNvPr id="80" name="object 80"/>
          <p:cNvGrpSpPr/>
          <p:nvPr/>
        </p:nvGrpSpPr>
        <p:grpSpPr>
          <a:xfrm>
            <a:off x="6774180" y="3849636"/>
            <a:ext cx="923925" cy="554990"/>
            <a:chOff x="5250179" y="3849636"/>
            <a:chExt cx="923925" cy="554990"/>
          </a:xfrm>
        </p:grpSpPr>
        <p:pic>
          <p:nvPicPr>
            <p:cNvPr id="81" name="object 81"/>
            <p:cNvPicPr/>
            <p:nvPr/>
          </p:nvPicPr>
          <p:blipFill>
            <a:blip r:embed="rId11" cstate="print"/>
            <a:stretch>
              <a:fillRect/>
            </a:stretch>
          </p:blipFill>
          <p:spPr>
            <a:xfrm>
              <a:off x="5250179" y="3890733"/>
              <a:ext cx="923569" cy="403898"/>
            </a:xfrm>
            <a:prstGeom prst="rect">
              <a:avLst/>
            </a:prstGeom>
          </p:spPr>
        </p:pic>
        <p:pic>
          <p:nvPicPr>
            <p:cNvPr id="82" name="object 82"/>
            <p:cNvPicPr/>
            <p:nvPr/>
          </p:nvPicPr>
          <p:blipFill>
            <a:blip r:embed="rId15" cstate="print"/>
            <a:stretch>
              <a:fillRect/>
            </a:stretch>
          </p:blipFill>
          <p:spPr>
            <a:xfrm>
              <a:off x="5410199" y="3849636"/>
              <a:ext cx="601954" cy="554723"/>
            </a:xfrm>
            <a:prstGeom prst="rect">
              <a:avLst/>
            </a:prstGeom>
          </p:spPr>
        </p:pic>
        <p:sp>
          <p:nvSpPr>
            <p:cNvPr id="83" name="object 83"/>
            <p:cNvSpPr/>
            <p:nvPr/>
          </p:nvSpPr>
          <p:spPr>
            <a:xfrm>
              <a:off x="5276088" y="3916679"/>
              <a:ext cx="840105" cy="320040"/>
            </a:xfrm>
            <a:custGeom>
              <a:avLst/>
              <a:gdLst/>
              <a:ahLst/>
              <a:cxnLst/>
              <a:rect l="l" t="t" r="r" b="b"/>
              <a:pathLst>
                <a:path w="840104" h="320039">
                  <a:moveTo>
                    <a:pt x="0" y="320040"/>
                  </a:moveTo>
                  <a:lnTo>
                    <a:pt x="839727" y="320040"/>
                  </a:lnTo>
                  <a:lnTo>
                    <a:pt x="839727" y="0"/>
                  </a:lnTo>
                  <a:lnTo>
                    <a:pt x="0" y="0"/>
                  </a:lnTo>
                  <a:lnTo>
                    <a:pt x="0" y="320040"/>
                  </a:lnTo>
                  <a:close/>
                </a:path>
              </a:pathLst>
            </a:custGeom>
            <a:ln w="9525">
              <a:solidFill>
                <a:srgbClr val="000000"/>
              </a:solidFill>
            </a:ln>
          </p:spPr>
          <p:txBody>
            <a:bodyPr wrap="square" lIns="0" tIns="0" rIns="0" bIns="0" rtlCol="0"/>
            <a:lstStyle/>
            <a:p>
              <a:endParaRPr/>
            </a:p>
          </p:txBody>
        </p:sp>
      </p:grpSp>
      <p:sp>
        <p:nvSpPr>
          <p:cNvPr id="84" name="object 84"/>
          <p:cNvSpPr txBox="1"/>
          <p:nvPr/>
        </p:nvSpPr>
        <p:spPr>
          <a:xfrm>
            <a:off x="7081773" y="3921379"/>
            <a:ext cx="279400" cy="299720"/>
          </a:xfrm>
          <a:prstGeom prst="rect">
            <a:avLst/>
          </a:prstGeom>
        </p:spPr>
        <p:txBody>
          <a:bodyPr vert="horz" wrap="square" lIns="0" tIns="12700" rIns="0" bIns="0" rtlCol="0">
            <a:spAutoFit/>
          </a:bodyPr>
          <a:lstStyle/>
          <a:p>
            <a:pPr marL="12700">
              <a:spcBef>
                <a:spcPts val="100"/>
              </a:spcBef>
            </a:pPr>
            <a:r>
              <a:rPr spc="-25" dirty="0">
                <a:latin typeface="Arial"/>
                <a:cs typeface="Arial"/>
              </a:rPr>
              <a:t>L1</a:t>
            </a:r>
            <a:endParaRPr>
              <a:latin typeface="Arial"/>
              <a:cs typeface="Arial"/>
            </a:endParaRPr>
          </a:p>
        </p:txBody>
      </p:sp>
      <p:grpSp>
        <p:nvGrpSpPr>
          <p:cNvPr id="85" name="object 85"/>
          <p:cNvGrpSpPr/>
          <p:nvPr/>
        </p:nvGrpSpPr>
        <p:grpSpPr>
          <a:xfrm>
            <a:off x="5719571" y="2820937"/>
            <a:ext cx="1811020" cy="1725295"/>
            <a:chOff x="4195571" y="2820936"/>
            <a:chExt cx="1811020" cy="1725295"/>
          </a:xfrm>
        </p:grpSpPr>
        <p:sp>
          <p:nvSpPr>
            <p:cNvPr id="86" name="object 86"/>
            <p:cNvSpPr/>
            <p:nvPr/>
          </p:nvSpPr>
          <p:spPr>
            <a:xfrm>
              <a:off x="5548883" y="4283963"/>
              <a:ext cx="294640" cy="257175"/>
            </a:xfrm>
            <a:custGeom>
              <a:avLst/>
              <a:gdLst/>
              <a:ahLst/>
              <a:cxnLst/>
              <a:rect l="l" t="t" r="r" b="b"/>
              <a:pathLst>
                <a:path w="294639" h="257175">
                  <a:moveTo>
                    <a:pt x="294132" y="0"/>
                  </a:moveTo>
                  <a:lnTo>
                    <a:pt x="294132" y="257175"/>
                  </a:lnTo>
                </a:path>
                <a:path w="294639" h="257175">
                  <a:moveTo>
                    <a:pt x="268224" y="0"/>
                  </a:moveTo>
                  <a:lnTo>
                    <a:pt x="268224" y="257175"/>
                  </a:lnTo>
                </a:path>
                <a:path w="294639" h="257175">
                  <a:moveTo>
                    <a:pt x="240792" y="0"/>
                  </a:moveTo>
                  <a:lnTo>
                    <a:pt x="240792" y="257175"/>
                  </a:lnTo>
                </a:path>
                <a:path w="294639" h="257175">
                  <a:moveTo>
                    <a:pt x="214884" y="0"/>
                  </a:moveTo>
                  <a:lnTo>
                    <a:pt x="214884" y="257175"/>
                  </a:lnTo>
                </a:path>
                <a:path w="294639" h="257175">
                  <a:moveTo>
                    <a:pt x="187452" y="0"/>
                  </a:moveTo>
                  <a:lnTo>
                    <a:pt x="187452" y="257175"/>
                  </a:lnTo>
                </a:path>
                <a:path w="294639" h="257175">
                  <a:moveTo>
                    <a:pt x="160020" y="0"/>
                  </a:moveTo>
                  <a:lnTo>
                    <a:pt x="160020" y="257175"/>
                  </a:lnTo>
                </a:path>
                <a:path w="294639" h="257175">
                  <a:moveTo>
                    <a:pt x="134112" y="0"/>
                  </a:moveTo>
                  <a:lnTo>
                    <a:pt x="134112" y="257175"/>
                  </a:lnTo>
                </a:path>
                <a:path w="294639" h="257175">
                  <a:moveTo>
                    <a:pt x="106680" y="0"/>
                  </a:moveTo>
                  <a:lnTo>
                    <a:pt x="106680" y="257175"/>
                  </a:lnTo>
                </a:path>
                <a:path w="294639" h="257175">
                  <a:moveTo>
                    <a:pt x="80772" y="0"/>
                  </a:moveTo>
                  <a:lnTo>
                    <a:pt x="80772" y="257175"/>
                  </a:lnTo>
                </a:path>
                <a:path w="294639" h="257175">
                  <a:moveTo>
                    <a:pt x="53340" y="0"/>
                  </a:moveTo>
                  <a:lnTo>
                    <a:pt x="53340" y="257175"/>
                  </a:lnTo>
                </a:path>
                <a:path w="294639" h="257175">
                  <a:moveTo>
                    <a:pt x="27432" y="0"/>
                  </a:moveTo>
                  <a:lnTo>
                    <a:pt x="27432" y="257175"/>
                  </a:lnTo>
                </a:path>
                <a:path w="294639" h="257175">
                  <a:moveTo>
                    <a:pt x="0" y="0"/>
                  </a:moveTo>
                  <a:lnTo>
                    <a:pt x="0" y="257175"/>
                  </a:lnTo>
                </a:path>
              </a:pathLst>
            </a:custGeom>
            <a:ln w="9525">
              <a:solidFill>
                <a:srgbClr val="000000"/>
              </a:solidFill>
            </a:ln>
          </p:spPr>
          <p:txBody>
            <a:bodyPr wrap="square" lIns="0" tIns="0" rIns="0" bIns="0" rtlCol="0"/>
            <a:lstStyle/>
            <a:p>
              <a:endParaRPr/>
            </a:p>
          </p:txBody>
        </p:sp>
        <p:pic>
          <p:nvPicPr>
            <p:cNvPr id="87" name="object 87"/>
            <p:cNvPicPr/>
            <p:nvPr/>
          </p:nvPicPr>
          <p:blipFill>
            <a:blip r:embed="rId8" cstate="print"/>
            <a:stretch>
              <a:fillRect/>
            </a:stretch>
          </p:blipFill>
          <p:spPr>
            <a:xfrm>
              <a:off x="5414771" y="3203448"/>
              <a:ext cx="297179" cy="297179"/>
            </a:xfrm>
            <a:prstGeom prst="rect">
              <a:avLst/>
            </a:prstGeom>
          </p:spPr>
        </p:pic>
        <p:sp>
          <p:nvSpPr>
            <p:cNvPr id="88" name="object 88"/>
            <p:cNvSpPr/>
            <p:nvPr/>
          </p:nvSpPr>
          <p:spPr>
            <a:xfrm>
              <a:off x="5440679" y="3229355"/>
              <a:ext cx="213360" cy="213360"/>
            </a:xfrm>
            <a:custGeom>
              <a:avLst/>
              <a:gdLst/>
              <a:ahLst/>
              <a:cxnLst/>
              <a:rect l="l" t="t" r="r" b="b"/>
              <a:pathLst>
                <a:path w="213360" h="213360">
                  <a:moveTo>
                    <a:pt x="0" y="213360"/>
                  </a:moveTo>
                  <a:lnTo>
                    <a:pt x="213360" y="213360"/>
                  </a:lnTo>
                  <a:lnTo>
                    <a:pt x="213360" y="0"/>
                  </a:lnTo>
                  <a:lnTo>
                    <a:pt x="0" y="0"/>
                  </a:lnTo>
                  <a:lnTo>
                    <a:pt x="0" y="213360"/>
                  </a:lnTo>
                  <a:close/>
                </a:path>
              </a:pathLst>
            </a:custGeom>
            <a:ln w="9525">
              <a:solidFill>
                <a:srgbClr val="000000"/>
              </a:solidFill>
            </a:ln>
          </p:spPr>
          <p:txBody>
            <a:bodyPr wrap="square" lIns="0" tIns="0" rIns="0" bIns="0" rtlCol="0"/>
            <a:lstStyle/>
            <a:p>
              <a:endParaRPr/>
            </a:p>
          </p:txBody>
        </p:sp>
        <p:pic>
          <p:nvPicPr>
            <p:cNvPr id="89" name="object 89"/>
            <p:cNvPicPr/>
            <p:nvPr/>
          </p:nvPicPr>
          <p:blipFill>
            <a:blip r:embed="rId9" cstate="print"/>
            <a:stretch>
              <a:fillRect/>
            </a:stretch>
          </p:blipFill>
          <p:spPr>
            <a:xfrm>
              <a:off x="5710427" y="3203448"/>
              <a:ext cx="295681" cy="297179"/>
            </a:xfrm>
            <a:prstGeom prst="rect">
              <a:avLst/>
            </a:prstGeom>
          </p:spPr>
        </p:pic>
        <p:sp>
          <p:nvSpPr>
            <p:cNvPr id="90" name="object 90"/>
            <p:cNvSpPr/>
            <p:nvPr/>
          </p:nvSpPr>
          <p:spPr>
            <a:xfrm>
              <a:off x="5736335" y="3229355"/>
              <a:ext cx="212090" cy="213360"/>
            </a:xfrm>
            <a:custGeom>
              <a:avLst/>
              <a:gdLst/>
              <a:ahLst/>
              <a:cxnLst/>
              <a:rect l="l" t="t" r="r" b="b"/>
              <a:pathLst>
                <a:path w="212089" h="213360">
                  <a:moveTo>
                    <a:pt x="0" y="213360"/>
                  </a:moveTo>
                  <a:lnTo>
                    <a:pt x="211837" y="213360"/>
                  </a:lnTo>
                  <a:lnTo>
                    <a:pt x="211837" y="0"/>
                  </a:lnTo>
                  <a:lnTo>
                    <a:pt x="0" y="0"/>
                  </a:lnTo>
                  <a:lnTo>
                    <a:pt x="0" y="213360"/>
                  </a:lnTo>
                  <a:close/>
                </a:path>
              </a:pathLst>
            </a:custGeom>
            <a:ln w="9525">
              <a:solidFill>
                <a:srgbClr val="000000"/>
              </a:solidFill>
            </a:ln>
          </p:spPr>
          <p:txBody>
            <a:bodyPr wrap="square" lIns="0" tIns="0" rIns="0" bIns="0" rtlCol="0"/>
            <a:lstStyle/>
            <a:p>
              <a:endParaRPr/>
            </a:p>
          </p:txBody>
        </p:sp>
        <p:pic>
          <p:nvPicPr>
            <p:cNvPr id="91" name="object 91"/>
            <p:cNvPicPr/>
            <p:nvPr/>
          </p:nvPicPr>
          <p:blipFill>
            <a:blip r:embed="rId8" cstate="print"/>
            <a:stretch>
              <a:fillRect/>
            </a:stretch>
          </p:blipFill>
          <p:spPr>
            <a:xfrm>
              <a:off x="5413247" y="3496056"/>
              <a:ext cx="297179" cy="297179"/>
            </a:xfrm>
            <a:prstGeom prst="rect">
              <a:avLst/>
            </a:prstGeom>
          </p:spPr>
        </p:pic>
        <p:sp>
          <p:nvSpPr>
            <p:cNvPr id="92" name="object 92"/>
            <p:cNvSpPr/>
            <p:nvPr/>
          </p:nvSpPr>
          <p:spPr>
            <a:xfrm>
              <a:off x="5439155" y="3521963"/>
              <a:ext cx="213360" cy="213360"/>
            </a:xfrm>
            <a:custGeom>
              <a:avLst/>
              <a:gdLst/>
              <a:ahLst/>
              <a:cxnLst/>
              <a:rect l="l" t="t" r="r" b="b"/>
              <a:pathLst>
                <a:path w="213360" h="213360">
                  <a:moveTo>
                    <a:pt x="0" y="213360"/>
                  </a:moveTo>
                  <a:lnTo>
                    <a:pt x="213360" y="213360"/>
                  </a:lnTo>
                  <a:lnTo>
                    <a:pt x="213360" y="0"/>
                  </a:lnTo>
                  <a:lnTo>
                    <a:pt x="0" y="0"/>
                  </a:lnTo>
                  <a:lnTo>
                    <a:pt x="0" y="213360"/>
                  </a:lnTo>
                  <a:close/>
                </a:path>
              </a:pathLst>
            </a:custGeom>
            <a:ln w="9525">
              <a:solidFill>
                <a:srgbClr val="000000"/>
              </a:solidFill>
            </a:ln>
          </p:spPr>
          <p:txBody>
            <a:bodyPr wrap="square" lIns="0" tIns="0" rIns="0" bIns="0" rtlCol="0"/>
            <a:lstStyle/>
            <a:p>
              <a:endParaRPr/>
            </a:p>
          </p:txBody>
        </p:sp>
        <p:pic>
          <p:nvPicPr>
            <p:cNvPr id="93" name="object 93"/>
            <p:cNvPicPr/>
            <p:nvPr/>
          </p:nvPicPr>
          <p:blipFill>
            <a:blip r:embed="rId9" cstate="print"/>
            <a:stretch>
              <a:fillRect/>
            </a:stretch>
          </p:blipFill>
          <p:spPr>
            <a:xfrm>
              <a:off x="5708903" y="3496056"/>
              <a:ext cx="295681" cy="297179"/>
            </a:xfrm>
            <a:prstGeom prst="rect">
              <a:avLst/>
            </a:prstGeom>
          </p:spPr>
        </p:pic>
        <p:sp>
          <p:nvSpPr>
            <p:cNvPr id="94" name="object 94"/>
            <p:cNvSpPr/>
            <p:nvPr/>
          </p:nvSpPr>
          <p:spPr>
            <a:xfrm>
              <a:off x="5734811" y="3521963"/>
              <a:ext cx="212090" cy="213360"/>
            </a:xfrm>
            <a:custGeom>
              <a:avLst/>
              <a:gdLst/>
              <a:ahLst/>
              <a:cxnLst/>
              <a:rect l="l" t="t" r="r" b="b"/>
              <a:pathLst>
                <a:path w="212089" h="213360">
                  <a:moveTo>
                    <a:pt x="0" y="213360"/>
                  </a:moveTo>
                  <a:lnTo>
                    <a:pt x="211832" y="213360"/>
                  </a:lnTo>
                  <a:lnTo>
                    <a:pt x="211832" y="0"/>
                  </a:lnTo>
                  <a:lnTo>
                    <a:pt x="0" y="0"/>
                  </a:lnTo>
                  <a:lnTo>
                    <a:pt x="0" y="213360"/>
                  </a:lnTo>
                  <a:close/>
                </a:path>
              </a:pathLst>
            </a:custGeom>
            <a:ln w="9525">
              <a:solidFill>
                <a:srgbClr val="000000"/>
              </a:solidFill>
            </a:ln>
          </p:spPr>
          <p:txBody>
            <a:bodyPr wrap="square" lIns="0" tIns="0" rIns="0" bIns="0" rtlCol="0"/>
            <a:lstStyle/>
            <a:p>
              <a:endParaRPr/>
            </a:p>
          </p:txBody>
        </p:sp>
        <p:pic>
          <p:nvPicPr>
            <p:cNvPr id="95" name="object 95"/>
            <p:cNvPicPr/>
            <p:nvPr/>
          </p:nvPicPr>
          <p:blipFill>
            <a:blip r:embed="rId2" cstate="print"/>
            <a:stretch>
              <a:fillRect/>
            </a:stretch>
          </p:blipFill>
          <p:spPr>
            <a:xfrm>
              <a:off x="4195571" y="2839212"/>
              <a:ext cx="1016520" cy="1490471"/>
            </a:xfrm>
            <a:prstGeom prst="rect">
              <a:avLst/>
            </a:prstGeom>
          </p:spPr>
        </p:pic>
        <p:pic>
          <p:nvPicPr>
            <p:cNvPr id="96" name="object 96"/>
            <p:cNvPicPr/>
            <p:nvPr/>
          </p:nvPicPr>
          <p:blipFill>
            <a:blip r:embed="rId16" cstate="print"/>
            <a:stretch>
              <a:fillRect/>
            </a:stretch>
          </p:blipFill>
          <p:spPr>
            <a:xfrm>
              <a:off x="4357115" y="2820936"/>
              <a:ext cx="691883" cy="554723"/>
            </a:xfrm>
            <a:prstGeom prst="rect">
              <a:avLst/>
            </a:prstGeom>
          </p:spPr>
        </p:pic>
        <p:sp>
          <p:nvSpPr>
            <p:cNvPr id="97" name="object 97"/>
            <p:cNvSpPr/>
            <p:nvPr/>
          </p:nvSpPr>
          <p:spPr>
            <a:xfrm>
              <a:off x="4221479" y="2865119"/>
              <a:ext cx="932815" cy="1407160"/>
            </a:xfrm>
            <a:custGeom>
              <a:avLst/>
              <a:gdLst/>
              <a:ahLst/>
              <a:cxnLst/>
              <a:rect l="l" t="t" r="r" b="b"/>
              <a:pathLst>
                <a:path w="932814" h="1407160">
                  <a:moveTo>
                    <a:pt x="0" y="1406652"/>
                  </a:moveTo>
                  <a:lnTo>
                    <a:pt x="932685" y="1406652"/>
                  </a:lnTo>
                  <a:lnTo>
                    <a:pt x="932685" y="0"/>
                  </a:lnTo>
                  <a:lnTo>
                    <a:pt x="0" y="0"/>
                  </a:lnTo>
                  <a:lnTo>
                    <a:pt x="0" y="1406652"/>
                  </a:lnTo>
                  <a:close/>
                </a:path>
              </a:pathLst>
            </a:custGeom>
            <a:ln w="9525">
              <a:solidFill>
                <a:srgbClr val="000000"/>
              </a:solidFill>
            </a:ln>
          </p:spPr>
          <p:txBody>
            <a:bodyPr wrap="square" lIns="0" tIns="0" rIns="0" bIns="0" rtlCol="0"/>
            <a:lstStyle/>
            <a:p>
              <a:endParaRPr/>
            </a:p>
          </p:txBody>
        </p:sp>
      </p:grpSp>
      <p:sp>
        <p:nvSpPr>
          <p:cNvPr id="98" name="object 98"/>
          <p:cNvSpPr txBox="1"/>
          <p:nvPr/>
        </p:nvSpPr>
        <p:spPr>
          <a:xfrm>
            <a:off x="6028435" y="2893314"/>
            <a:ext cx="368300" cy="299720"/>
          </a:xfrm>
          <a:prstGeom prst="rect">
            <a:avLst/>
          </a:prstGeom>
        </p:spPr>
        <p:txBody>
          <a:bodyPr vert="horz" wrap="square" lIns="0" tIns="12700" rIns="0" bIns="0" rtlCol="0">
            <a:spAutoFit/>
          </a:bodyPr>
          <a:lstStyle/>
          <a:p>
            <a:pPr marL="12700">
              <a:spcBef>
                <a:spcPts val="100"/>
              </a:spcBef>
            </a:pPr>
            <a:r>
              <a:rPr spc="-25" dirty="0">
                <a:latin typeface="Arial"/>
                <a:cs typeface="Arial"/>
              </a:rPr>
              <a:t>SM</a:t>
            </a:r>
            <a:endParaRPr>
              <a:latin typeface="Arial"/>
              <a:cs typeface="Arial"/>
            </a:endParaRPr>
          </a:p>
        </p:txBody>
      </p:sp>
      <p:grpSp>
        <p:nvGrpSpPr>
          <p:cNvPr id="99" name="object 99"/>
          <p:cNvGrpSpPr/>
          <p:nvPr/>
        </p:nvGrpSpPr>
        <p:grpSpPr>
          <a:xfrm>
            <a:off x="5766816" y="3842016"/>
            <a:ext cx="923925" cy="554990"/>
            <a:chOff x="4242815" y="3842016"/>
            <a:chExt cx="923925" cy="554990"/>
          </a:xfrm>
        </p:grpSpPr>
        <p:pic>
          <p:nvPicPr>
            <p:cNvPr id="100" name="object 100"/>
            <p:cNvPicPr/>
            <p:nvPr/>
          </p:nvPicPr>
          <p:blipFill>
            <a:blip r:embed="rId11" cstate="print"/>
            <a:stretch>
              <a:fillRect/>
            </a:stretch>
          </p:blipFill>
          <p:spPr>
            <a:xfrm>
              <a:off x="4242815" y="3883113"/>
              <a:ext cx="923569" cy="403898"/>
            </a:xfrm>
            <a:prstGeom prst="rect">
              <a:avLst/>
            </a:prstGeom>
          </p:spPr>
        </p:pic>
        <p:pic>
          <p:nvPicPr>
            <p:cNvPr id="101" name="object 101"/>
            <p:cNvPicPr/>
            <p:nvPr/>
          </p:nvPicPr>
          <p:blipFill>
            <a:blip r:embed="rId17" cstate="print"/>
            <a:stretch>
              <a:fillRect/>
            </a:stretch>
          </p:blipFill>
          <p:spPr>
            <a:xfrm>
              <a:off x="4402835" y="3842016"/>
              <a:ext cx="601954" cy="554723"/>
            </a:xfrm>
            <a:prstGeom prst="rect">
              <a:avLst/>
            </a:prstGeom>
          </p:spPr>
        </p:pic>
        <p:sp>
          <p:nvSpPr>
            <p:cNvPr id="102" name="object 102"/>
            <p:cNvSpPr/>
            <p:nvPr/>
          </p:nvSpPr>
          <p:spPr>
            <a:xfrm>
              <a:off x="4268723" y="3909059"/>
              <a:ext cx="840105" cy="320040"/>
            </a:xfrm>
            <a:custGeom>
              <a:avLst/>
              <a:gdLst/>
              <a:ahLst/>
              <a:cxnLst/>
              <a:rect l="l" t="t" r="r" b="b"/>
              <a:pathLst>
                <a:path w="840104" h="320039">
                  <a:moveTo>
                    <a:pt x="0" y="320040"/>
                  </a:moveTo>
                  <a:lnTo>
                    <a:pt x="839722" y="320040"/>
                  </a:lnTo>
                  <a:lnTo>
                    <a:pt x="839722" y="0"/>
                  </a:lnTo>
                  <a:lnTo>
                    <a:pt x="0" y="0"/>
                  </a:lnTo>
                  <a:lnTo>
                    <a:pt x="0" y="320040"/>
                  </a:lnTo>
                  <a:close/>
                </a:path>
              </a:pathLst>
            </a:custGeom>
            <a:ln w="9525">
              <a:solidFill>
                <a:srgbClr val="000000"/>
              </a:solidFill>
            </a:ln>
          </p:spPr>
          <p:txBody>
            <a:bodyPr wrap="square" lIns="0" tIns="0" rIns="0" bIns="0" rtlCol="0"/>
            <a:lstStyle/>
            <a:p>
              <a:endParaRPr/>
            </a:p>
          </p:txBody>
        </p:sp>
      </p:grpSp>
      <p:sp>
        <p:nvSpPr>
          <p:cNvPr id="103" name="object 103"/>
          <p:cNvSpPr txBox="1"/>
          <p:nvPr/>
        </p:nvSpPr>
        <p:spPr>
          <a:xfrm>
            <a:off x="6073903" y="3914647"/>
            <a:ext cx="278765" cy="299720"/>
          </a:xfrm>
          <a:prstGeom prst="rect">
            <a:avLst/>
          </a:prstGeom>
        </p:spPr>
        <p:txBody>
          <a:bodyPr vert="horz" wrap="square" lIns="0" tIns="12700" rIns="0" bIns="0" rtlCol="0">
            <a:spAutoFit/>
          </a:bodyPr>
          <a:lstStyle/>
          <a:p>
            <a:pPr marL="12700">
              <a:spcBef>
                <a:spcPts val="100"/>
              </a:spcBef>
            </a:pPr>
            <a:r>
              <a:rPr spc="-25" dirty="0">
                <a:latin typeface="Arial"/>
                <a:cs typeface="Arial"/>
              </a:rPr>
              <a:t>L1</a:t>
            </a:r>
            <a:endParaRPr>
              <a:latin typeface="Arial"/>
              <a:cs typeface="Arial"/>
            </a:endParaRPr>
          </a:p>
        </p:txBody>
      </p:sp>
      <p:grpSp>
        <p:nvGrpSpPr>
          <p:cNvPr id="104" name="object 104"/>
          <p:cNvGrpSpPr/>
          <p:nvPr/>
        </p:nvGrpSpPr>
        <p:grpSpPr>
          <a:xfrm>
            <a:off x="5931408" y="3195828"/>
            <a:ext cx="593090" cy="1339215"/>
            <a:chOff x="4407408" y="3195827"/>
            <a:chExt cx="593090" cy="1339215"/>
          </a:xfrm>
        </p:grpSpPr>
        <p:sp>
          <p:nvSpPr>
            <p:cNvPr id="105" name="object 105"/>
            <p:cNvSpPr/>
            <p:nvPr/>
          </p:nvSpPr>
          <p:spPr>
            <a:xfrm>
              <a:off x="4541520" y="4277867"/>
              <a:ext cx="294640" cy="257175"/>
            </a:xfrm>
            <a:custGeom>
              <a:avLst/>
              <a:gdLst/>
              <a:ahLst/>
              <a:cxnLst/>
              <a:rect l="l" t="t" r="r" b="b"/>
              <a:pathLst>
                <a:path w="294639" h="257175">
                  <a:moveTo>
                    <a:pt x="294132" y="0"/>
                  </a:moveTo>
                  <a:lnTo>
                    <a:pt x="294132" y="257175"/>
                  </a:lnTo>
                </a:path>
                <a:path w="294639" h="257175">
                  <a:moveTo>
                    <a:pt x="266700" y="0"/>
                  </a:moveTo>
                  <a:lnTo>
                    <a:pt x="266700" y="257175"/>
                  </a:lnTo>
                </a:path>
                <a:path w="294639" h="257175">
                  <a:moveTo>
                    <a:pt x="240792" y="0"/>
                  </a:moveTo>
                  <a:lnTo>
                    <a:pt x="240792" y="257175"/>
                  </a:lnTo>
                </a:path>
                <a:path w="294639" h="257175">
                  <a:moveTo>
                    <a:pt x="213360" y="0"/>
                  </a:moveTo>
                  <a:lnTo>
                    <a:pt x="213360" y="257175"/>
                  </a:lnTo>
                </a:path>
                <a:path w="294639" h="257175">
                  <a:moveTo>
                    <a:pt x="185928" y="0"/>
                  </a:moveTo>
                  <a:lnTo>
                    <a:pt x="185928" y="257175"/>
                  </a:lnTo>
                </a:path>
                <a:path w="294639" h="257175">
                  <a:moveTo>
                    <a:pt x="160020" y="0"/>
                  </a:moveTo>
                  <a:lnTo>
                    <a:pt x="160020" y="257175"/>
                  </a:lnTo>
                </a:path>
                <a:path w="294639" h="257175">
                  <a:moveTo>
                    <a:pt x="134112" y="0"/>
                  </a:moveTo>
                  <a:lnTo>
                    <a:pt x="134112" y="257175"/>
                  </a:lnTo>
                </a:path>
                <a:path w="294639" h="257175">
                  <a:moveTo>
                    <a:pt x="106680" y="0"/>
                  </a:moveTo>
                  <a:lnTo>
                    <a:pt x="106680" y="257175"/>
                  </a:lnTo>
                </a:path>
                <a:path w="294639" h="257175">
                  <a:moveTo>
                    <a:pt x="80772" y="0"/>
                  </a:moveTo>
                  <a:lnTo>
                    <a:pt x="80772" y="257175"/>
                  </a:lnTo>
                </a:path>
                <a:path w="294639" h="257175">
                  <a:moveTo>
                    <a:pt x="53340" y="0"/>
                  </a:moveTo>
                  <a:lnTo>
                    <a:pt x="53340" y="257175"/>
                  </a:lnTo>
                </a:path>
                <a:path w="294639" h="257175">
                  <a:moveTo>
                    <a:pt x="25908" y="0"/>
                  </a:moveTo>
                  <a:lnTo>
                    <a:pt x="25908" y="257175"/>
                  </a:lnTo>
                </a:path>
                <a:path w="294639" h="257175">
                  <a:moveTo>
                    <a:pt x="0" y="0"/>
                  </a:moveTo>
                  <a:lnTo>
                    <a:pt x="0" y="257175"/>
                  </a:lnTo>
                </a:path>
              </a:pathLst>
            </a:custGeom>
            <a:ln w="9525">
              <a:solidFill>
                <a:srgbClr val="000000"/>
              </a:solidFill>
            </a:ln>
          </p:spPr>
          <p:txBody>
            <a:bodyPr wrap="square" lIns="0" tIns="0" rIns="0" bIns="0" rtlCol="0"/>
            <a:lstStyle/>
            <a:p>
              <a:endParaRPr/>
            </a:p>
          </p:txBody>
        </p:sp>
        <p:pic>
          <p:nvPicPr>
            <p:cNvPr id="106" name="object 106"/>
            <p:cNvPicPr/>
            <p:nvPr/>
          </p:nvPicPr>
          <p:blipFill>
            <a:blip r:embed="rId9" cstate="print"/>
            <a:stretch>
              <a:fillRect/>
            </a:stretch>
          </p:blipFill>
          <p:spPr>
            <a:xfrm>
              <a:off x="4408932" y="3195827"/>
              <a:ext cx="295681" cy="297179"/>
            </a:xfrm>
            <a:prstGeom prst="rect">
              <a:avLst/>
            </a:prstGeom>
          </p:spPr>
        </p:pic>
        <p:sp>
          <p:nvSpPr>
            <p:cNvPr id="107" name="object 107"/>
            <p:cNvSpPr/>
            <p:nvPr/>
          </p:nvSpPr>
          <p:spPr>
            <a:xfrm>
              <a:off x="4434840" y="3221735"/>
              <a:ext cx="212090" cy="213360"/>
            </a:xfrm>
            <a:custGeom>
              <a:avLst/>
              <a:gdLst/>
              <a:ahLst/>
              <a:cxnLst/>
              <a:rect l="l" t="t" r="r" b="b"/>
              <a:pathLst>
                <a:path w="212089" h="213360">
                  <a:moveTo>
                    <a:pt x="0" y="213360"/>
                  </a:moveTo>
                  <a:lnTo>
                    <a:pt x="211837" y="213360"/>
                  </a:lnTo>
                  <a:lnTo>
                    <a:pt x="211837" y="0"/>
                  </a:lnTo>
                  <a:lnTo>
                    <a:pt x="0" y="0"/>
                  </a:lnTo>
                  <a:lnTo>
                    <a:pt x="0" y="213360"/>
                  </a:lnTo>
                  <a:close/>
                </a:path>
              </a:pathLst>
            </a:custGeom>
            <a:ln w="9525">
              <a:solidFill>
                <a:srgbClr val="000000"/>
              </a:solidFill>
            </a:ln>
          </p:spPr>
          <p:txBody>
            <a:bodyPr wrap="square" lIns="0" tIns="0" rIns="0" bIns="0" rtlCol="0"/>
            <a:lstStyle/>
            <a:p>
              <a:endParaRPr/>
            </a:p>
          </p:txBody>
        </p:sp>
        <p:pic>
          <p:nvPicPr>
            <p:cNvPr id="108" name="object 108"/>
            <p:cNvPicPr/>
            <p:nvPr/>
          </p:nvPicPr>
          <p:blipFill>
            <a:blip r:embed="rId8" cstate="print"/>
            <a:stretch>
              <a:fillRect/>
            </a:stretch>
          </p:blipFill>
          <p:spPr>
            <a:xfrm>
              <a:off x="4703064" y="3195827"/>
              <a:ext cx="297179" cy="297179"/>
            </a:xfrm>
            <a:prstGeom prst="rect">
              <a:avLst/>
            </a:prstGeom>
          </p:spPr>
        </p:pic>
        <p:sp>
          <p:nvSpPr>
            <p:cNvPr id="109" name="object 109"/>
            <p:cNvSpPr/>
            <p:nvPr/>
          </p:nvSpPr>
          <p:spPr>
            <a:xfrm>
              <a:off x="4728972" y="3221735"/>
              <a:ext cx="213360" cy="213360"/>
            </a:xfrm>
            <a:custGeom>
              <a:avLst/>
              <a:gdLst/>
              <a:ahLst/>
              <a:cxnLst/>
              <a:rect l="l" t="t" r="r" b="b"/>
              <a:pathLst>
                <a:path w="213360" h="213360">
                  <a:moveTo>
                    <a:pt x="0" y="213360"/>
                  </a:moveTo>
                  <a:lnTo>
                    <a:pt x="213360" y="213360"/>
                  </a:lnTo>
                  <a:lnTo>
                    <a:pt x="213360" y="0"/>
                  </a:lnTo>
                  <a:lnTo>
                    <a:pt x="0" y="0"/>
                  </a:lnTo>
                  <a:lnTo>
                    <a:pt x="0" y="213360"/>
                  </a:lnTo>
                  <a:close/>
                </a:path>
              </a:pathLst>
            </a:custGeom>
            <a:ln w="9525">
              <a:solidFill>
                <a:srgbClr val="000000"/>
              </a:solidFill>
            </a:ln>
          </p:spPr>
          <p:txBody>
            <a:bodyPr wrap="square" lIns="0" tIns="0" rIns="0" bIns="0" rtlCol="0"/>
            <a:lstStyle/>
            <a:p>
              <a:endParaRPr/>
            </a:p>
          </p:txBody>
        </p:sp>
        <p:pic>
          <p:nvPicPr>
            <p:cNvPr id="110" name="object 110"/>
            <p:cNvPicPr/>
            <p:nvPr/>
          </p:nvPicPr>
          <p:blipFill>
            <a:blip r:embed="rId18" cstate="print"/>
            <a:stretch>
              <a:fillRect/>
            </a:stretch>
          </p:blipFill>
          <p:spPr>
            <a:xfrm>
              <a:off x="4407408" y="3489934"/>
              <a:ext cx="295681" cy="295681"/>
            </a:xfrm>
            <a:prstGeom prst="rect">
              <a:avLst/>
            </a:prstGeom>
          </p:spPr>
        </p:pic>
        <p:sp>
          <p:nvSpPr>
            <p:cNvPr id="111" name="object 111"/>
            <p:cNvSpPr/>
            <p:nvPr/>
          </p:nvSpPr>
          <p:spPr>
            <a:xfrm>
              <a:off x="4433316" y="3515866"/>
              <a:ext cx="212090" cy="212090"/>
            </a:xfrm>
            <a:custGeom>
              <a:avLst/>
              <a:gdLst/>
              <a:ahLst/>
              <a:cxnLst/>
              <a:rect l="l" t="t" r="r" b="b"/>
              <a:pathLst>
                <a:path w="212089" h="212089">
                  <a:moveTo>
                    <a:pt x="0" y="211837"/>
                  </a:moveTo>
                  <a:lnTo>
                    <a:pt x="211837" y="211837"/>
                  </a:lnTo>
                  <a:lnTo>
                    <a:pt x="211837" y="0"/>
                  </a:lnTo>
                  <a:lnTo>
                    <a:pt x="0" y="0"/>
                  </a:lnTo>
                  <a:lnTo>
                    <a:pt x="0" y="211837"/>
                  </a:lnTo>
                  <a:close/>
                </a:path>
              </a:pathLst>
            </a:custGeom>
            <a:ln w="9525">
              <a:solidFill>
                <a:srgbClr val="000000"/>
              </a:solidFill>
            </a:ln>
          </p:spPr>
          <p:txBody>
            <a:bodyPr wrap="square" lIns="0" tIns="0" rIns="0" bIns="0" rtlCol="0"/>
            <a:lstStyle/>
            <a:p>
              <a:endParaRPr/>
            </a:p>
          </p:txBody>
        </p:sp>
        <p:pic>
          <p:nvPicPr>
            <p:cNvPr id="112" name="object 112"/>
            <p:cNvPicPr/>
            <p:nvPr/>
          </p:nvPicPr>
          <p:blipFill>
            <a:blip r:embed="rId19" cstate="print"/>
            <a:stretch>
              <a:fillRect/>
            </a:stretch>
          </p:blipFill>
          <p:spPr>
            <a:xfrm>
              <a:off x="4701540" y="3489934"/>
              <a:ext cx="297179" cy="295681"/>
            </a:xfrm>
            <a:prstGeom prst="rect">
              <a:avLst/>
            </a:prstGeom>
          </p:spPr>
        </p:pic>
        <p:sp>
          <p:nvSpPr>
            <p:cNvPr id="113" name="object 113"/>
            <p:cNvSpPr/>
            <p:nvPr/>
          </p:nvSpPr>
          <p:spPr>
            <a:xfrm>
              <a:off x="4727448" y="3515866"/>
              <a:ext cx="213360" cy="212090"/>
            </a:xfrm>
            <a:custGeom>
              <a:avLst/>
              <a:gdLst/>
              <a:ahLst/>
              <a:cxnLst/>
              <a:rect l="l" t="t" r="r" b="b"/>
              <a:pathLst>
                <a:path w="213360" h="212089">
                  <a:moveTo>
                    <a:pt x="0" y="211837"/>
                  </a:moveTo>
                  <a:lnTo>
                    <a:pt x="213360" y="211837"/>
                  </a:lnTo>
                  <a:lnTo>
                    <a:pt x="213360" y="0"/>
                  </a:lnTo>
                  <a:lnTo>
                    <a:pt x="0" y="0"/>
                  </a:lnTo>
                  <a:lnTo>
                    <a:pt x="0" y="211837"/>
                  </a:lnTo>
                  <a:close/>
                </a:path>
              </a:pathLst>
            </a:custGeom>
            <a:ln w="9525">
              <a:solidFill>
                <a:srgbClr val="000000"/>
              </a:solidFill>
            </a:ln>
          </p:spPr>
          <p:txBody>
            <a:bodyPr wrap="square" lIns="0" tIns="0" rIns="0" bIns="0" rtlCol="0"/>
            <a:lstStyle/>
            <a:p>
              <a:endParaRPr/>
            </a:p>
          </p:txBody>
        </p:sp>
      </p:grpSp>
      <p:sp>
        <p:nvSpPr>
          <p:cNvPr id="114" name="object 114"/>
          <p:cNvSpPr txBox="1"/>
          <p:nvPr/>
        </p:nvSpPr>
        <p:spPr>
          <a:xfrm>
            <a:off x="7037578" y="1377519"/>
            <a:ext cx="3178810" cy="300355"/>
          </a:xfrm>
          <a:prstGeom prst="rect">
            <a:avLst/>
          </a:prstGeom>
        </p:spPr>
        <p:txBody>
          <a:bodyPr vert="horz" wrap="square" lIns="0" tIns="12700" rIns="0" bIns="0" rtlCol="0">
            <a:spAutoFit/>
          </a:bodyPr>
          <a:lstStyle/>
          <a:p>
            <a:pPr marL="12700">
              <a:spcBef>
                <a:spcPts val="100"/>
              </a:spcBef>
            </a:pPr>
            <a:r>
              <a:rPr dirty="0">
                <a:latin typeface="Arial"/>
                <a:cs typeface="Arial"/>
              </a:rPr>
              <a:t>SM</a:t>
            </a:r>
            <a:r>
              <a:rPr spc="-15" dirty="0">
                <a:latin typeface="Arial"/>
                <a:cs typeface="Arial"/>
              </a:rPr>
              <a:t> </a:t>
            </a:r>
            <a:r>
              <a:rPr dirty="0">
                <a:latin typeface="Arial"/>
                <a:cs typeface="Arial"/>
              </a:rPr>
              <a:t>=</a:t>
            </a:r>
            <a:r>
              <a:rPr spc="-20" dirty="0">
                <a:latin typeface="Arial"/>
                <a:cs typeface="Arial"/>
              </a:rPr>
              <a:t> </a:t>
            </a:r>
            <a:r>
              <a:rPr dirty="0">
                <a:latin typeface="Arial"/>
                <a:cs typeface="Arial"/>
              </a:rPr>
              <a:t>streaming</a:t>
            </a:r>
            <a:r>
              <a:rPr spc="-5" dirty="0">
                <a:latin typeface="Arial"/>
                <a:cs typeface="Arial"/>
              </a:rPr>
              <a:t> </a:t>
            </a:r>
            <a:r>
              <a:rPr spc="-10" dirty="0">
                <a:latin typeface="Arial"/>
                <a:cs typeface="Arial"/>
              </a:rPr>
              <a:t>multiprocessor</a:t>
            </a:r>
            <a:endParaRPr>
              <a:latin typeface="Arial"/>
              <a:cs typeface="Arial"/>
            </a:endParaRPr>
          </a:p>
        </p:txBody>
      </p:sp>
      <p:sp>
        <p:nvSpPr>
          <p:cNvPr id="115" name="object 115"/>
          <p:cNvSpPr txBox="1"/>
          <p:nvPr/>
        </p:nvSpPr>
        <p:spPr>
          <a:xfrm>
            <a:off x="7708519" y="2116328"/>
            <a:ext cx="521334" cy="299720"/>
          </a:xfrm>
          <a:prstGeom prst="rect">
            <a:avLst/>
          </a:prstGeom>
        </p:spPr>
        <p:txBody>
          <a:bodyPr vert="horz" wrap="square" lIns="0" tIns="12700" rIns="0" bIns="0" rtlCol="0">
            <a:spAutoFit/>
          </a:bodyPr>
          <a:lstStyle/>
          <a:p>
            <a:pPr marL="12700">
              <a:spcBef>
                <a:spcPts val="100"/>
              </a:spcBef>
            </a:pPr>
            <a:r>
              <a:rPr spc="-25" dirty="0">
                <a:solidFill>
                  <a:srgbClr val="FFFFFF"/>
                </a:solidFill>
                <a:latin typeface="Arial"/>
                <a:cs typeface="Arial"/>
              </a:rPr>
              <a:t>GPU</a:t>
            </a:r>
            <a:endParaRPr>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F5DEF-7D63-EFD1-7D06-07FBF1EBBA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97A0BC-AFC3-28B5-40F7-1EABB8F7EA97}"/>
              </a:ext>
            </a:extLst>
          </p:cNvPr>
          <p:cNvSpPr>
            <a:spLocks noGrp="1"/>
          </p:cNvSpPr>
          <p:nvPr>
            <p:ph type="title"/>
          </p:nvPr>
        </p:nvSpPr>
        <p:spPr/>
        <p:txBody>
          <a:bodyPr/>
          <a:lstStyle/>
          <a:p>
            <a:r>
              <a:rPr lang="en-GB" spc="-105" dirty="0"/>
              <a:t>CUDA</a:t>
            </a:r>
            <a:r>
              <a:rPr lang="en-GB" spc="-385" dirty="0"/>
              <a:t> </a:t>
            </a:r>
            <a:r>
              <a:rPr lang="en-GB" spc="-114" dirty="0"/>
              <a:t>program :  RECIPE!</a:t>
            </a:r>
            <a:endParaRPr lang="en-NL" dirty="0"/>
          </a:p>
        </p:txBody>
      </p:sp>
      <p:sp>
        <p:nvSpPr>
          <p:cNvPr id="5" name="TextBox 4">
            <a:extLst>
              <a:ext uri="{FF2B5EF4-FFF2-40B4-BE49-F238E27FC236}">
                <a16:creationId xmlns:a16="http://schemas.microsoft.com/office/drawing/2014/main" id="{6069A41B-EB6D-E89D-5BC7-51B99D22EE8A}"/>
              </a:ext>
            </a:extLst>
          </p:cNvPr>
          <p:cNvSpPr txBox="1"/>
          <p:nvPr/>
        </p:nvSpPr>
        <p:spPr>
          <a:xfrm>
            <a:off x="714588" y="2074783"/>
            <a:ext cx="9953412" cy="4216539"/>
          </a:xfrm>
          <a:prstGeom prst="rect">
            <a:avLst/>
          </a:prstGeom>
          <a:noFill/>
        </p:spPr>
        <p:txBody>
          <a:bodyPr wrap="square">
            <a:spAutoFit/>
          </a:bodyPr>
          <a:lstStyle/>
          <a:p>
            <a:pPr rtl="0" fontAlgn="base">
              <a:spcBef>
                <a:spcPts val="600"/>
              </a:spcBef>
              <a:buFont typeface="+mj-lt"/>
              <a:buAutoNum type="arabicPeriod"/>
            </a:pPr>
            <a:r>
              <a:rPr lang="en-GB" sz="2400" b="0" i="0" u="none" strike="noStrike" dirty="0">
                <a:solidFill>
                  <a:srgbClr val="595959"/>
                </a:solidFill>
                <a:effectLst/>
                <a:latin typeface="Arial" panose="020B0604020202020204" pitchFamily="34" charset="0"/>
                <a:cs typeface="Arial" panose="020B0604020202020204" pitchFamily="34" charset="0"/>
              </a:rPr>
              <a:t>Identify the </a:t>
            </a:r>
            <a:r>
              <a:rPr lang="en-GB" sz="2400" b="1" i="0" u="none" strike="noStrike" dirty="0">
                <a:solidFill>
                  <a:srgbClr val="0089CF"/>
                </a:solidFill>
                <a:effectLst/>
                <a:latin typeface="Arial" panose="020B0604020202020204" pitchFamily="34" charset="0"/>
                <a:cs typeface="Arial" panose="020B0604020202020204" pitchFamily="34" charset="0"/>
              </a:rPr>
              <a:t>function(s) to offload</a:t>
            </a:r>
            <a:endParaRPr lang="en-GB" sz="2000" b="0" i="0" u="none" strike="noStrike" dirty="0">
              <a:solidFill>
                <a:srgbClr val="0089CF"/>
              </a:solidFill>
              <a:effectLst/>
              <a:latin typeface="Arial" panose="020B0604020202020204" pitchFamily="34" charset="0"/>
              <a:cs typeface="Arial" panose="020B0604020202020204" pitchFamily="34" charset="0"/>
            </a:endParaRPr>
          </a:p>
          <a:p>
            <a:pPr rtl="0" fontAlgn="base">
              <a:spcBef>
                <a:spcPts val="600"/>
              </a:spcBef>
              <a:buFont typeface="+mj-lt"/>
              <a:buAutoNum type="arabicPeriod"/>
            </a:pPr>
            <a:r>
              <a:rPr lang="en-GB" sz="2400" b="0" i="0" u="none" strike="noStrike" dirty="0">
                <a:solidFill>
                  <a:srgbClr val="595959"/>
                </a:solidFill>
                <a:effectLst/>
                <a:latin typeface="Arial" panose="020B0604020202020204" pitchFamily="34" charset="0"/>
                <a:cs typeface="Arial" panose="020B0604020202020204" pitchFamily="34" charset="0"/>
              </a:rPr>
              <a:t>Determine </a:t>
            </a:r>
            <a:r>
              <a:rPr lang="en-GB" sz="2400" b="1" i="0" u="none" strike="noStrike" dirty="0">
                <a:solidFill>
                  <a:srgbClr val="0089CF"/>
                </a:solidFill>
                <a:effectLst/>
                <a:latin typeface="Arial" panose="020B0604020202020204" pitchFamily="34" charset="0"/>
                <a:cs typeface="Arial" panose="020B0604020202020204" pitchFamily="34" charset="0"/>
              </a:rPr>
              <a:t>mapping of operations and data to threads</a:t>
            </a:r>
            <a:endParaRPr lang="en-GB" sz="2000" b="0" i="0" u="none" strike="noStrike" dirty="0">
              <a:solidFill>
                <a:srgbClr val="0089CF"/>
              </a:solidFill>
              <a:effectLst/>
              <a:latin typeface="Arial" panose="020B0604020202020204" pitchFamily="34" charset="0"/>
              <a:cs typeface="Arial" panose="020B0604020202020204" pitchFamily="34" charset="0"/>
            </a:endParaRPr>
          </a:p>
          <a:p>
            <a:pPr rtl="0" fontAlgn="base">
              <a:spcBef>
                <a:spcPts val="600"/>
              </a:spcBef>
              <a:buFont typeface="+mj-lt"/>
              <a:buAutoNum type="arabicPeriod"/>
            </a:pPr>
            <a:r>
              <a:rPr lang="en-GB" sz="2400" b="0" i="0" u="none" strike="noStrike" dirty="0">
                <a:solidFill>
                  <a:srgbClr val="595959"/>
                </a:solidFill>
                <a:effectLst/>
                <a:latin typeface="Arial" panose="020B0604020202020204" pitchFamily="34" charset="0"/>
                <a:cs typeface="Arial" panose="020B0604020202020204" pitchFamily="34" charset="0"/>
              </a:rPr>
              <a:t>Write Kernel(s) and device functions</a:t>
            </a:r>
            <a:endParaRPr lang="en-GB" sz="2000" b="0" i="0" u="none" strike="noStrike" dirty="0">
              <a:solidFill>
                <a:srgbClr val="0089CF"/>
              </a:solidFill>
              <a:effectLst/>
              <a:latin typeface="Arial" panose="020B0604020202020204" pitchFamily="34" charset="0"/>
              <a:cs typeface="Arial" panose="020B0604020202020204" pitchFamily="34" charset="0"/>
            </a:endParaRPr>
          </a:p>
          <a:p>
            <a:pPr marL="742950" lvl="1" indent="-285750" rtl="0" fontAlgn="base">
              <a:buFont typeface="+mj-lt"/>
              <a:buAutoNum type="arabicPeriod"/>
            </a:pPr>
            <a:r>
              <a:rPr lang="en-GB" sz="2000" b="0" i="0" u="none" strike="noStrike" dirty="0">
                <a:solidFill>
                  <a:srgbClr val="595959"/>
                </a:solidFill>
                <a:effectLst/>
                <a:latin typeface="Arial" panose="020B0604020202020204" pitchFamily="34" charset="0"/>
                <a:cs typeface="Arial" panose="020B0604020202020204" pitchFamily="34" charset="0"/>
              </a:rPr>
              <a:t>Kernel: Sequential code, written per-thread</a:t>
            </a:r>
            <a:endParaRPr lang="en-GB" sz="2800" b="0" i="0" u="none" strike="noStrike" dirty="0">
              <a:solidFill>
                <a:srgbClr val="0089CF"/>
              </a:solidFill>
              <a:effectLst/>
              <a:latin typeface="Arial" panose="020B0604020202020204" pitchFamily="34" charset="0"/>
              <a:cs typeface="Arial" panose="020B0604020202020204" pitchFamily="34" charset="0"/>
            </a:endParaRPr>
          </a:p>
          <a:p>
            <a:pPr rtl="0" fontAlgn="base">
              <a:spcBef>
                <a:spcPts val="600"/>
              </a:spcBef>
              <a:buFont typeface="+mj-lt"/>
              <a:buAutoNum type="arabicPeriod"/>
            </a:pPr>
            <a:r>
              <a:rPr lang="en-GB" sz="2400" b="0" i="0" u="none" strike="noStrike" dirty="0">
                <a:solidFill>
                  <a:srgbClr val="595959"/>
                </a:solidFill>
                <a:effectLst/>
                <a:latin typeface="Arial" panose="020B0604020202020204" pitchFamily="34" charset="0"/>
                <a:cs typeface="Arial" panose="020B0604020202020204" pitchFamily="34" charset="0"/>
              </a:rPr>
              <a:t>Determine the</a:t>
            </a:r>
            <a:r>
              <a:rPr lang="en-GB" sz="2400" b="0" i="0" u="none" strike="noStrike" dirty="0">
                <a:solidFill>
                  <a:srgbClr val="0089CF"/>
                </a:solidFill>
                <a:effectLst/>
                <a:latin typeface="Arial" panose="020B0604020202020204" pitchFamily="34" charset="0"/>
                <a:cs typeface="Arial" panose="020B0604020202020204" pitchFamily="34" charset="0"/>
              </a:rPr>
              <a:t> </a:t>
            </a:r>
            <a:r>
              <a:rPr lang="en-GB" sz="2400" b="1" i="0" u="none" strike="noStrike" dirty="0">
                <a:solidFill>
                  <a:srgbClr val="0089CF"/>
                </a:solidFill>
                <a:effectLst/>
                <a:latin typeface="Arial" panose="020B0604020202020204" pitchFamily="34" charset="0"/>
                <a:cs typeface="Arial" panose="020B0604020202020204" pitchFamily="34" charset="0"/>
              </a:rPr>
              <a:t>block geometry</a:t>
            </a:r>
            <a:endParaRPr lang="en-GB" sz="2000" b="0" i="0" u="none" strike="noStrike" dirty="0">
              <a:solidFill>
                <a:srgbClr val="0089CF"/>
              </a:solidFill>
              <a:effectLst/>
              <a:latin typeface="Arial" panose="020B0604020202020204" pitchFamily="34" charset="0"/>
              <a:cs typeface="Arial" panose="020B0604020202020204" pitchFamily="34" charset="0"/>
            </a:endParaRPr>
          </a:p>
          <a:p>
            <a:pPr marL="742950" lvl="1" indent="-285750" rtl="0" fontAlgn="base">
              <a:buFont typeface="+mj-lt"/>
              <a:buAutoNum type="arabicPeriod"/>
            </a:pPr>
            <a:r>
              <a:rPr lang="en-GB" sz="2000" b="0" i="0" u="none" strike="noStrike" dirty="0">
                <a:solidFill>
                  <a:srgbClr val="595959"/>
                </a:solidFill>
                <a:effectLst/>
                <a:latin typeface="Arial" panose="020B0604020202020204" pitchFamily="34" charset="0"/>
                <a:cs typeface="Arial" panose="020B0604020202020204" pitchFamily="34" charset="0"/>
              </a:rPr>
              <a:t>How many threads per block, how many blocks</a:t>
            </a:r>
          </a:p>
          <a:p>
            <a:pPr marL="457200" lvl="1" rtl="0" fontAlgn="base"/>
            <a:endParaRPr lang="en-GB" sz="2800" b="0" i="0" u="none" strike="noStrike" dirty="0">
              <a:solidFill>
                <a:srgbClr val="0089CF"/>
              </a:solidFill>
              <a:effectLst/>
              <a:latin typeface="Arial" panose="020B0604020202020204" pitchFamily="34" charset="0"/>
              <a:cs typeface="Arial" panose="020B0604020202020204" pitchFamily="34" charset="0"/>
            </a:endParaRPr>
          </a:p>
          <a:p>
            <a:pPr rtl="0" fontAlgn="base">
              <a:spcBef>
                <a:spcPts val="600"/>
              </a:spcBef>
              <a:buFont typeface="+mj-lt"/>
              <a:buAutoNum type="arabicPeriod"/>
            </a:pPr>
            <a:r>
              <a:rPr lang="en-GB" sz="2400" b="0" i="0" u="none" strike="noStrike" dirty="0">
                <a:solidFill>
                  <a:srgbClr val="595959"/>
                </a:solidFill>
                <a:effectLst/>
                <a:latin typeface="Arial" panose="020B0604020202020204" pitchFamily="34" charset="0"/>
                <a:cs typeface="Arial" panose="020B0604020202020204" pitchFamily="34" charset="0"/>
              </a:rPr>
              <a:t>(re)Write host code:</a:t>
            </a:r>
            <a:endParaRPr lang="en-GB" sz="2000" b="0" i="0" u="none" strike="noStrike" dirty="0">
              <a:solidFill>
                <a:srgbClr val="0089CF"/>
              </a:solidFill>
              <a:effectLst/>
              <a:latin typeface="Arial" panose="020B0604020202020204" pitchFamily="34" charset="0"/>
              <a:cs typeface="Arial" panose="020B0604020202020204" pitchFamily="34" charset="0"/>
            </a:endParaRPr>
          </a:p>
          <a:p>
            <a:pPr marL="742950" lvl="1" indent="-285750" rtl="0" fontAlgn="base">
              <a:buFont typeface="+mj-lt"/>
              <a:buAutoNum type="arabicPeriod"/>
            </a:pPr>
            <a:r>
              <a:rPr lang="en-GB" sz="2000" b="0" i="0" u="none" strike="noStrike" dirty="0">
                <a:solidFill>
                  <a:srgbClr val="595959"/>
                </a:solidFill>
                <a:effectLst/>
                <a:latin typeface="Arial" panose="020B0604020202020204" pitchFamily="34" charset="0"/>
                <a:cs typeface="Arial" panose="020B0604020202020204" pitchFamily="34" charset="0"/>
              </a:rPr>
              <a:t>Device memory initialization and copy to device (H2D)</a:t>
            </a:r>
            <a:endParaRPr lang="en-GB" sz="2800" b="0" i="0" u="none" strike="noStrike" dirty="0">
              <a:solidFill>
                <a:srgbClr val="0089CF"/>
              </a:solidFill>
              <a:effectLst/>
              <a:latin typeface="Arial" panose="020B0604020202020204" pitchFamily="34" charset="0"/>
              <a:cs typeface="Arial" panose="020B0604020202020204" pitchFamily="34" charset="0"/>
            </a:endParaRPr>
          </a:p>
          <a:p>
            <a:pPr marL="742950" lvl="1" indent="-285750" rtl="0" fontAlgn="base">
              <a:buFont typeface="+mj-lt"/>
              <a:buAutoNum type="arabicPeriod"/>
            </a:pPr>
            <a:r>
              <a:rPr lang="en-GB" sz="2000" b="0" i="0" u="none" strike="noStrike" dirty="0">
                <a:solidFill>
                  <a:srgbClr val="595959"/>
                </a:solidFill>
                <a:effectLst/>
                <a:latin typeface="Arial" panose="020B0604020202020204" pitchFamily="34" charset="0"/>
                <a:cs typeface="Arial" panose="020B0604020202020204" pitchFamily="34" charset="0"/>
              </a:rPr>
              <a:t>Kernel(s) launch(es)</a:t>
            </a:r>
            <a:endParaRPr lang="en-GB" sz="2800" b="0" i="0" u="none" strike="noStrike" dirty="0">
              <a:solidFill>
                <a:srgbClr val="0089CF"/>
              </a:solidFill>
              <a:effectLst/>
              <a:latin typeface="Arial" panose="020B0604020202020204" pitchFamily="34" charset="0"/>
              <a:cs typeface="Arial" panose="020B0604020202020204" pitchFamily="34" charset="0"/>
            </a:endParaRPr>
          </a:p>
          <a:p>
            <a:pPr marL="742950" lvl="1" indent="-285750" rtl="0" fontAlgn="base">
              <a:buFont typeface="+mj-lt"/>
              <a:buAutoNum type="arabicPeriod"/>
            </a:pPr>
            <a:r>
              <a:rPr lang="en-GB" sz="2000" b="0" i="0" u="none" strike="noStrike" dirty="0">
                <a:solidFill>
                  <a:srgbClr val="595959"/>
                </a:solidFill>
                <a:effectLst/>
                <a:latin typeface="Arial" panose="020B0604020202020204" pitchFamily="34" charset="0"/>
                <a:cs typeface="Arial" panose="020B0604020202020204" pitchFamily="34" charset="0"/>
              </a:rPr>
              <a:t>Copy results back to host (D2H)</a:t>
            </a:r>
            <a:endParaRPr lang="en-GB" sz="2800" b="0" i="0" u="none" strike="noStrike" dirty="0">
              <a:solidFill>
                <a:srgbClr val="0089CF"/>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59992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190233" y="4076699"/>
            <a:ext cx="4468367" cy="2738627"/>
          </a:xfrm>
          <a:prstGeom prst="rect">
            <a:avLst/>
          </a:prstGeom>
        </p:spPr>
      </p:pic>
      <p:sp>
        <p:nvSpPr>
          <p:cNvPr id="3" name="object 3"/>
          <p:cNvSpPr txBox="1">
            <a:spLocks noGrp="1"/>
          </p:cNvSpPr>
          <p:nvPr>
            <p:ph type="title"/>
          </p:nvPr>
        </p:nvSpPr>
        <p:spPr>
          <a:xfrm>
            <a:off x="659544" y="664250"/>
            <a:ext cx="3136900" cy="635000"/>
          </a:xfrm>
          <a:prstGeom prst="rect">
            <a:avLst/>
          </a:prstGeom>
        </p:spPr>
        <p:txBody>
          <a:bodyPr vert="horz" wrap="square" lIns="0" tIns="12065" rIns="0" bIns="0" rtlCol="0">
            <a:spAutoFit/>
          </a:bodyPr>
          <a:lstStyle/>
          <a:p>
            <a:pPr marL="12700">
              <a:spcBef>
                <a:spcPts val="95"/>
              </a:spcBef>
            </a:pPr>
            <a:r>
              <a:rPr spc="-105" dirty="0"/>
              <a:t>Execution</a:t>
            </a:r>
            <a:r>
              <a:rPr spc="-215" dirty="0"/>
              <a:t> </a:t>
            </a:r>
            <a:r>
              <a:rPr spc="-25" dirty="0"/>
              <a:t>flow</a:t>
            </a:r>
          </a:p>
        </p:txBody>
      </p:sp>
      <p:sp>
        <p:nvSpPr>
          <p:cNvPr id="4" name="object 4"/>
          <p:cNvSpPr txBox="1"/>
          <p:nvPr/>
        </p:nvSpPr>
        <p:spPr>
          <a:xfrm>
            <a:off x="1676400" y="1564645"/>
            <a:ext cx="5812672" cy="1164421"/>
          </a:xfrm>
          <a:prstGeom prst="rect">
            <a:avLst/>
          </a:prstGeom>
        </p:spPr>
        <p:txBody>
          <a:bodyPr vert="horz" wrap="square" lIns="0" tIns="86360" rIns="0" bIns="0" rtlCol="0">
            <a:spAutoFit/>
          </a:bodyPr>
          <a:lstStyle/>
          <a:p>
            <a:pPr marL="469900" indent="-457200">
              <a:spcBef>
                <a:spcPts val="680"/>
              </a:spcBef>
              <a:buClr>
                <a:srgbClr val="4F80BC"/>
              </a:buClr>
              <a:buSzPct val="85416"/>
              <a:buAutoNum type="arabicPeriod"/>
              <a:tabLst>
                <a:tab pos="469900" algn="l"/>
              </a:tabLst>
            </a:pPr>
            <a:r>
              <a:rPr sz="2000" dirty="0">
                <a:latin typeface="Menlo" panose="020B0609030804020204" pitchFamily="49" charset="0"/>
                <a:ea typeface="Menlo" panose="020B0609030804020204" pitchFamily="49" charset="0"/>
                <a:cs typeface="Menlo" panose="020B0609030804020204" pitchFamily="49" charset="0"/>
              </a:rPr>
              <a:t>H:</a:t>
            </a:r>
            <a:r>
              <a:rPr sz="2000" spc="-10" dirty="0">
                <a:latin typeface="Menlo" panose="020B0609030804020204" pitchFamily="49" charset="0"/>
                <a:ea typeface="Menlo" panose="020B0609030804020204" pitchFamily="49" charset="0"/>
                <a:cs typeface="Menlo" panose="020B0609030804020204" pitchFamily="49" charset="0"/>
              </a:rPr>
              <a:t> </a:t>
            </a:r>
            <a:r>
              <a:rPr sz="2000" dirty="0">
                <a:latin typeface="Menlo" panose="020B0609030804020204" pitchFamily="49" charset="0"/>
                <a:ea typeface="Menlo" panose="020B0609030804020204" pitchFamily="49" charset="0"/>
                <a:cs typeface="Menlo" panose="020B0609030804020204" pitchFamily="49" charset="0"/>
              </a:rPr>
              <a:t>GPU</a:t>
            </a:r>
            <a:r>
              <a:rPr sz="2000" spc="-10" dirty="0">
                <a:latin typeface="Menlo" panose="020B0609030804020204" pitchFamily="49" charset="0"/>
                <a:ea typeface="Menlo" panose="020B0609030804020204" pitchFamily="49" charset="0"/>
                <a:cs typeface="Menlo" panose="020B0609030804020204" pitchFamily="49" charset="0"/>
              </a:rPr>
              <a:t> </a:t>
            </a:r>
            <a:r>
              <a:rPr sz="2000" dirty="0">
                <a:latin typeface="Menlo" panose="020B0609030804020204" pitchFamily="49" charset="0"/>
                <a:ea typeface="Menlo" panose="020B0609030804020204" pitchFamily="49" charset="0"/>
                <a:cs typeface="Menlo" panose="020B0609030804020204" pitchFamily="49" charset="0"/>
              </a:rPr>
              <a:t>memory </a:t>
            </a:r>
            <a:r>
              <a:rPr sz="2000" spc="-10" dirty="0">
                <a:latin typeface="Menlo" panose="020B0609030804020204" pitchFamily="49" charset="0"/>
                <a:ea typeface="Menlo" panose="020B0609030804020204" pitchFamily="49" charset="0"/>
                <a:cs typeface="Menlo" panose="020B0609030804020204" pitchFamily="49" charset="0"/>
              </a:rPr>
              <a:t>allocation</a:t>
            </a:r>
            <a:endParaRPr sz="2000" dirty="0">
              <a:latin typeface="Menlo" panose="020B0609030804020204" pitchFamily="49" charset="0"/>
              <a:ea typeface="Menlo" panose="020B0609030804020204" pitchFamily="49" charset="0"/>
              <a:cs typeface="Menlo" panose="020B0609030804020204" pitchFamily="49" charset="0"/>
            </a:endParaRPr>
          </a:p>
          <a:p>
            <a:pPr marL="469900" indent="-457200">
              <a:spcBef>
                <a:spcPts val="580"/>
              </a:spcBef>
              <a:buClr>
                <a:srgbClr val="4F80BC"/>
              </a:buClr>
              <a:buSzPct val="85416"/>
              <a:buAutoNum type="arabicPeriod"/>
              <a:tabLst>
                <a:tab pos="469900" algn="l"/>
              </a:tabLst>
            </a:pPr>
            <a:r>
              <a:rPr sz="2000" dirty="0">
                <a:latin typeface="Menlo" panose="020B0609030804020204" pitchFamily="49" charset="0"/>
                <a:ea typeface="Menlo" panose="020B0609030804020204" pitchFamily="49" charset="0"/>
                <a:cs typeface="Menlo" panose="020B0609030804020204" pitchFamily="49" charset="0"/>
              </a:rPr>
              <a:t>H:</a:t>
            </a:r>
            <a:r>
              <a:rPr sz="2000" spc="-95" dirty="0">
                <a:latin typeface="Menlo" panose="020B0609030804020204" pitchFamily="49" charset="0"/>
                <a:ea typeface="Menlo" panose="020B0609030804020204" pitchFamily="49" charset="0"/>
                <a:cs typeface="Menlo" panose="020B0609030804020204" pitchFamily="49" charset="0"/>
              </a:rPr>
              <a:t> </a:t>
            </a:r>
            <a:r>
              <a:rPr sz="2000" spc="-10" dirty="0">
                <a:latin typeface="Menlo" panose="020B0609030804020204" pitchFamily="49" charset="0"/>
                <a:ea typeface="Menlo" panose="020B0609030804020204" pitchFamily="49" charset="0"/>
                <a:cs typeface="Menlo" panose="020B0609030804020204" pitchFamily="49" charset="0"/>
              </a:rPr>
              <a:t>Transfer</a:t>
            </a:r>
            <a:r>
              <a:rPr sz="2000" spc="-65" dirty="0">
                <a:latin typeface="Menlo" panose="020B0609030804020204" pitchFamily="49" charset="0"/>
                <a:ea typeface="Menlo" panose="020B0609030804020204" pitchFamily="49" charset="0"/>
                <a:cs typeface="Menlo" panose="020B0609030804020204" pitchFamily="49" charset="0"/>
              </a:rPr>
              <a:t> </a:t>
            </a:r>
            <a:r>
              <a:rPr sz="2000" dirty="0">
                <a:latin typeface="Menlo" panose="020B0609030804020204" pitchFamily="49" charset="0"/>
                <a:ea typeface="Menlo" panose="020B0609030804020204" pitchFamily="49" charset="0"/>
                <a:cs typeface="Menlo" panose="020B0609030804020204" pitchFamily="49" charset="0"/>
              </a:rPr>
              <a:t>data</a:t>
            </a:r>
            <a:r>
              <a:rPr sz="2000" spc="-50" dirty="0">
                <a:latin typeface="Menlo" panose="020B0609030804020204" pitchFamily="49" charset="0"/>
                <a:ea typeface="Menlo" panose="020B0609030804020204" pitchFamily="49" charset="0"/>
                <a:cs typeface="Menlo" panose="020B0609030804020204" pitchFamily="49" charset="0"/>
              </a:rPr>
              <a:t> </a:t>
            </a:r>
            <a:r>
              <a:rPr sz="2000" spc="-10" dirty="0">
                <a:latin typeface="Menlo" panose="020B0609030804020204" pitchFamily="49" charset="0"/>
                <a:ea typeface="Menlo" panose="020B0609030804020204" pitchFamily="49" charset="0"/>
                <a:cs typeface="Menlo" panose="020B0609030804020204" pitchFamily="49" charset="0"/>
              </a:rPr>
              <a:t>CPU→GPU</a:t>
            </a:r>
            <a:endParaRPr sz="2000" dirty="0">
              <a:latin typeface="Menlo" panose="020B0609030804020204" pitchFamily="49" charset="0"/>
              <a:ea typeface="Menlo" panose="020B0609030804020204" pitchFamily="49" charset="0"/>
              <a:cs typeface="Menlo" panose="020B0609030804020204" pitchFamily="49" charset="0"/>
            </a:endParaRPr>
          </a:p>
          <a:p>
            <a:pPr marL="469900" indent="-457200">
              <a:spcBef>
                <a:spcPts val="575"/>
              </a:spcBef>
              <a:buClr>
                <a:srgbClr val="4F80BC"/>
              </a:buClr>
              <a:buSzPct val="85416"/>
              <a:buAutoNum type="arabicPeriod"/>
              <a:tabLst>
                <a:tab pos="469900" algn="l"/>
              </a:tabLst>
            </a:pPr>
            <a:r>
              <a:rPr sz="2000" dirty="0">
                <a:latin typeface="Menlo" panose="020B0609030804020204" pitchFamily="49" charset="0"/>
                <a:ea typeface="Menlo" panose="020B0609030804020204" pitchFamily="49" charset="0"/>
                <a:cs typeface="Menlo" panose="020B0609030804020204" pitchFamily="49" charset="0"/>
              </a:rPr>
              <a:t>H:</a:t>
            </a:r>
            <a:r>
              <a:rPr sz="2000" spc="-55" dirty="0">
                <a:latin typeface="Menlo" panose="020B0609030804020204" pitchFamily="49" charset="0"/>
                <a:ea typeface="Menlo" panose="020B0609030804020204" pitchFamily="49" charset="0"/>
                <a:cs typeface="Menlo" panose="020B0609030804020204" pitchFamily="49" charset="0"/>
              </a:rPr>
              <a:t> </a:t>
            </a:r>
            <a:r>
              <a:rPr sz="2000" dirty="0">
                <a:latin typeface="Menlo" panose="020B0609030804020204" pitchFamily="49" charset="0"/>
                <a:ea typeface="Menlo" panose="020B0609030804020204" pitchFamily="49" charset="0"/>
                <a:cs typeface="Menlo" panose="020B0609030804020204" pitchFamily="49" charset="0"/>
              </a:rPr>
              <a:t>CPU</a:t>
            </a:r>
            <a:r>
              <a:rPr sz="2000" spc="-35" dirty="0">
                <a:latin typeface="Menlo" panose="020B0609030804020204" pitchFamily="49" charset="0"/>
                <a:ea typeface="Menlo" panose="020B0609030804020204" pitchFamily="49" charset="0"/>
                <a:cs typeface="Menlo" panose="020B0609030804020204" pitchFamily="49" charset="0"/>
              </a:rPr>
              <a:t> </a:t>
            </a:r>
            <a:r>
              <a:rPr sz="2000" dirty="0">
                <a:latin typeface="Menlo" panose="020B0609030804020204" pitchFamily="49" charset="0"/>
                <a:ea typeface="Menlo" panose="020B0609030804020204" pitchFamily="49" charset="0"/>
                <a:cs typeface="Menlo" panose="020B0609030804020204" pitchFamily="49" charset="0"/>
              </a:rPr>
              <a:t>launches</a:t>
            </a:r>
            <a:r>
              <a:rPr sz="2000" spc="-5" dirty="0">
                <a:latin typeface="Menlo" panose="020B0609030804020204" pitchFamily="49" charset="0"/>
                <a:ea typeface="Menlo" panose="020B0609030804020204" pitchFamily="49" charset="0"/>
                <a:cs typeface="Menlo" panose="020B0609030804020204" pitchFamily="49" charset="0"/>
              </a:rPr>
              <a:t> </a:t>
            </a:r>
            <a:r>
              <a:rPr sz="2000" dirty="0">
                <a:latin typeface="Menlo" panose="020B0609030804020204" pitchFamily="49" charset="0"/>
                <a:ea typeface="Menlo" panose="020B0609030804020204" pitchFamily="49" charset="0"/>
                <a:cs typeface="Menlo" panose="020B0609030804020204" pitchFamily="49" charset="0"/>
              </a:rPr>
              <a:t>GPU</a:t>
            </a:r>
            <a:r>
              <a:rPr sz="2000" spc="-60" dirty="0">
                <a:latin typeface="Menlo" panose="020B0609030804020204" pitchFamily="49" charset="0"/>
                <a:ea typeface="Menlo" panose="020B0609030804020204" pitchFamily="49" charset="0"/>
                <a:cs typeface="Menlo" panose="020B0609030804020204" pitchFamily="49" charset="0"/>
              </a:rPr>
              <a:t> </a:t>
            </a:r>
            <a:r>
              <a:rPr sz="2000" spc="-10" dirty="0">
                <a:latin typeface="Menlo" panose="020B0609030804020204" pitchFamily="49" charset="0"/>
                <a:ea typeface="Menlo" panose="020B0609030804020204" pitchFamily="49" charset="0"/>
                <a:cs typeface="Menlo" panose="020B0609030804020204" pitchFamily="49" charset="0"/>
              </a:rPr>
              <a:t>kernel</a:t>
            </a:r>
            <a:endParaRPr sz="2000" dirty="0">
              <a:latin typeface="Menlo" panose="020B0609030804020204" pitchFamily="49" charset="0"/>
              <a:ea typeface="Menlo" panose="020B0609030804020204" pitchFamily="49" charset="0"/>
              <a:cs typeface="Menlo" panose="020B0609030804020204" pitchFamily="49" charset="0"/>
            </a:endParaRPr>
          </a:p>
        </p:txBody>
      </p:sp>
      <p:sp>
        <p:nvSpPr>
          <p:cNvPr id="5" name="object 5"/>
          <p:cNvSpPr txBox="1"/>
          <p:nvPr/>
        </p:nvSpPr>
        <p:spPr>
          <a:xfrm>
            <a:off x="1676399" y="3252606"/>
            <a:ext cx="315421" cy="319318"/>
          </a:xfrm>
          <a:prstGeom prst="rect">
            <a:avLst/>
          </a:prstGeom>
        </p:spPr>
        <p:txBody>
          <a:bodyPr vert="horz" wrap="square" lIns="0" tIns="11430" rIns="0" bIns="0" rtlCol="0">
            <a:spAutoFit/>
          </a:bodyPr>
          <a:lstStyle/>
          <a:p>
            <a:pPr marL="12700">
              <a:spcBef>
                <a:spcPts val="90"/>
              </a:spcBef>
            </a:pPr>
            <a:r>
              <a:rPr sz="2000" spc="-25" dirty="0">
                <a:solidFill>
                  <a:srgbClr val="4F80BC"/>
                </a:solidFill>
                <a:latin typeface="Menlo" panose="020B0609030804020204" pitchFamily="49" charset="0"/>
                <a:ea typeface="Menlo" panose="020B0609030804020204" pitchFamily="49" charset="0"/>
                <a:cs typeface="Menlo" panose="020B0609030804020204" pitchFamily="49" charset="0"/>
              </a:rPr>
              <a:t>4.</a:t>
            </a:r>
            <a:endParaRPr sz="2000">
              <a:latin typeface="Menlo" panose="020B0609030804020204" pitchFamily="49" charset="0"/>
              <a:ea typeface="Menlo" panose="020B0609030804020204" pitchFamily="49" charset="0"/>
              <a:cs typeface="Menlo" panose="020B0609030804020204" pitchFamily="49" charset="0"/>
            </a:endParaRPr>
          </a:p>
        </p:txBody>
      </p:sp>
      <p:sp>
        <p:nvSpPr>
          <p:cNvPr id="6" name="object 6"/>
          <p:cNvSpPr txBox="1"/>
          <p:nvPr/>
        </p:nvSpPr>
        <p:spPr>
          <a:xfrm>
            <a:off x="2146300" y="3252477"/>
            <a:ext cx="4254500" cy="312393"/>
          </a:xfrm>
          <a:prstGeom prst="rect">
            <a:avLst/>
          </a:prstGeom>
          <a:solidFill>
            <a:srgbClr val="FFFF00"/>
          </a:solidFill>
        </p:spPr>
        <p:txBody>
          <a:bodyPr vert="horz" wrap="square" lIns="0" tIns="0" rIns="0" bIns="0" rtlCol="0">
            <a:spAutoFit/>
          </a:bodyPr>
          <a:lstStyle/>
          <a:p>
            <a:pPr>
              <a:lnSpc>
                <a:spcPts val="2620"/>
              </a:lnSpc>
            </a:pPr>
            <a:r>
              <a:rPr sz="2000" dirty="0">
                <a:latin typeface="Menlo" panose="020B0609030804020204" pitchFamily="49" charset="0"/>
                <a:ea typeface="Menlo" panose="020B0609030804020204" pitchFamily="49" charset="0"/>
                <a:cs typeface="Menlo" panose="020B0609030804020204" pitchFamily="49" charset="0"/>
              </a:rPr>
              <a:t>D:</a:t>
            </a:r>
            <a:r>
              <a:rPr sz="2000" spc="-35" dirty="0">
                <a:latin typeface="Menlo" panose="020B0609030804020204" pitchFamily="49" charset="0"/>
                <a:ea typeface="Menlo" panose="020B0609030804020204" pitchFamily="49" charset="0"/>
                <a:cs typeface="Menlo" panose="020B0609030804020204" pitchFamily="49" charset="0"/>
              </a:rPr>
              <a:t> </a:t>
            </a:r>
            <a:r>
              <a:rPr sz="2000" dirty="0">
                <a:latin typeface="Menlo" panose="020B0609030804020204" pitchFamily="49" charset="0"/>
                <a:ea typeface="Menlo" panose="020B0609030804020204" pitchFamily="49" charset="0"/>
                <a:cs typeface="Menlo" panose="020B0609030804020204" pitchFamily="49" charset="0"/>
              </a:rPr>
              <a:t>GPU</a:t>
            </a:r>
            <a:r>
              <a:rPr sz="2000" spc="-20" dirty="0">
                <a:latin typeface="Menlo" panose="020B0609030804020204" pitchFamily="49" charset="0"/>
                <a:ea typeface="Menlo" panose="020B0609030804020204" pitchFamily="49" charset="0"/>
                <a:cs typeface="Menlo" panose="020B0609030804020204" pitchFamily="49" charset="0"/>
              </a:rPr>
              <a:t> </a:t>
            </a:r>
            <a:r>
              <a:rPr sz="2000" dirty="0">
                <a:latin typeface="Menlo" panose="020B0609030804020204" pitchFamily="49" charset="0"/>
                <a:ea typeface="Menlo" panose="020B0609030804020204" pitchFamily="49" charset="0"/>
                <a:cs typeface="Menlo" panose="020B0609030804020204" pitchFamily="49" charset="0"/>
              </a:rPr>
              <a:t>kernel</a:t>
            </a:r>
            <a:r>
              <a:rPr sz="2000" spc="-20" dirty="0">
                <a:latin typeface="Menlo" panose="020B0609030804020204" pitchFamily="49" charset="0"/>
                <a:ea typeface="Menlo" panose="020B0609030804020204" pitchFamily="49" charset="0"/>
                <a:cs typeface="Menlo" panose="020B0609030804020204" pitchFamily="49" charset="0"/>
              </a:rPr>
              <a:t> </a:t>
            </a:r>
            <a:r>
              <a:rPr sz="2000" spc="-10" dirty="0">
                <a:latin typeface="Menlo" panose="020B0609030804020204" pitchFamily="49" charset="0"/>
                <a:ea typeface="Menlo" panose="020B0609030804020204" pitchFamily="49" charset="0"/>
                <a:cs typeface="Menlo" panose="020B0609030804020204" pitchFamily="49" charset="0"/>
              </a:rPr>
              <a:t>executes</a:t>
            </a:r>
            <a:endParaRPr lang="en-US" sz="2000" spc="-10" dirty="0">
              <a:latin typeface="Menlo" panose="020B0609030804020204" pitchFamily="49" charset="0"/>
              <a:ea typeface="Menlo" panose="020B0609030804020204" pitchFamily="49" charset="0"/>
              <a:cs typeface="Menlo" panose="020B0609030804020204" pitchFamily="49" charset="0"/>
            </a:endParaRPr>
          </a:p>
        </p:txBody>
      </p:sp>
      <p:sp>
        <p:nvSpPr>
          <p:cNvPr id="7" name="object 7"/>
          <p:cNvSpPr txBox="1"/>
          <p:nvPr/>
        </p:nvSpPr>
        <p:spPr>
          <a:xfrm>
            <a:off x="1676399" y="3839210"/>
            <a:ext cx="5652901" cy="779059"/>
          </a:xfrm>
          <a:prstGeom prst="rect">
            <a:avLst/>
          </a:prstGeom>
        </p:spPr>
        <p:txBody>
          <a:bodyPr vert="horz" wrap="square" lIns="0" tIns="85725" rIns="0" bIns="0" rtlCol="0">
            <a:spAutoFit/>
          </a:bodyPr>
          <a:lstStyle/>
          <a:p>
            <a:pPr marL="469900" indent="-457200">
              <a:spcBef>
                <a:spcPts val="675"/>
              </a:spcBef>
              <a:buClr>
                <a:srgbClr val="4F80BC"/>
              </a:buClr>
              <a:buSzPct val="85416"/>
              <a:buAutoNum type="arabicPeriod" startAt="5"/>
              <a:tabLst>
                <a:tab pos="469900" algn="l"/>
              </a:tabLst>
            </a:pPr>
            <a:r>
              <a:rPr sz="2000" dirty="0">
                <a:latin typeface="Menlo" panose="020B0609030804020204" pitchFamily="49" charset="0"/>
                <a:ea typeface="Menlo" panose="020B0609030804020204" pitchFamily="49" charset="0"/>
                <a:cs typeface="Menlo" panose="020B0609030804020204" pitchFamily="49" charset="0"/>
              </a:rPr>
              <a:t>H:</a:t>
            </a:r>
            <a:r>
              <a:rPr sz="2000" spc="-95" dirty="0">
                <a:latin typeface="Menlo" panose="020B0609030804020204" pitchFamily="49" charset="0"/>
                <a:ea typeface="Menlo" panose="020B0609030804020204" pitchFamily="49" charset="0"/>
                <a:cs typeface="Menlo" panose="020B0609030804020204" pitchFamily="49" charset="0"/>
              </a:rPr>
              <a:t> </a:t>
            </a:r>
            <a:r>
              <a:rPr sz="2000" spc="-10" dirty="0">
                <a:latin typeface="Menlo" panose="020B0609030804020204" pitchFamily="49" charset="0"/>
                <a:ea typeface="Menlo" panose="020B0609030804020204" pitchFamily="49" charset="0"/>
                <a:cs typeface="Menlo" panose="020B0609030804020204" pitchFamily="49" charset="0"/>
              </a:rPr>
              <a:t>Transfer</a:t>
            </a:r>
            <a:r>
              <a:rPr sz="2000" spc="-65" dirty="0">
                <a:latin typeface="Menlo" panose="020B0609030804020204" pitchFamily="49" charset="0"/>
                <a:ea typeface="Menlo" panose="020B0609030804020204" pitchFamily="49" charset="0"/>
                <a:cs typeface="Menlo" panose="020B0609030804020204" pitchFamily="49" charset="0"/>
              </a:rPr>
              <a:t> </a:t>
            </a:r>
            <a:r>
              <a:rPr sz="2000" dirty="0">
                <a:latin typeface="Menlo" panose="020B0609030804020204" pitchFamily="49" charset="0"/>
                <a:ea typeface="Menlo" panose="020B0609030804020204" pitchFamily="49" charset="0"/>
                <a:cs typeface="Menlo" panose="020B0609030804020204" pitchFamily="49" charset="0"/>
              </a:rPr>
              <a:t>data</a:t>
            </a:r>
            <a:r>
              <a:rPr sz="2000" spc="-50" dirty="0">
                <a:latin typeface="Menlo" panose="020B0609030804020204" pitchFamily="49" charset="0"/>
                <a:ea typeface="Menlo" panose="020B0609030804020204" pitchFamily="49" charset="0"/>
                <a:cs typeface="Menlo" panose="020B0609030804020204" pitchFamily="49" charset="0"/>
              </a:rPr>
              <a:t> </a:t>
            </a:r>
            <a:r>
              <a:rPr sz="2000" spc="-10" dirty="0">
                <a:latin typeface="Menlo" panose="020B0609030804020204" pitchFamily="49" charset="0"/>
                <a:ea typeface="Menlo" panose="020B0609030804020204" pitchFamily="49" charset="0"/>
                <a:cs typeface="Menlo" panose="020B0609030804020204" pitchFamily="49" charset="0"/>
              </a:rPr>
              <a:t>GPU→CPU</a:t>
            </a:r>
            <a:endParaRPr sz="2000" dirty="0">
              <a:latin typeface="Menlo" panose="020B0609030804020204" pitchFamily="49" charset="0"/>
              <a:ea typeface="Menlo" panose="020B0609030804020204" pitchFamily="49" charset="0"/>
              <a:cs typeface="Menlo" panose="020B0609030804020204" pitchFamily="49" charset="0"/>
            </a:endParaRPr>
          </a:p>
          <a:p>
            <a:pPr marL="469900" indent="-457200">
              <a:spcBef>
                <a:spcPts val="575"/>
              </a:spcBef>
              <a:buClr>
                <a:srgbClr val="4F80BC"/>
              </a:buClr>
              <a:buSzPct val="85416"/>
              <a:buAutoNum type="arabicPeriod" startAt="5"/>
              <a:tabLst>
                <a:tab pos="469900" algn="l"/>
              </a:tabLst>
            </a:pPr>
            <a:r>
              <a:rPr sz="2000" dirty="0">
                <a:latin typeface="Menlo" panose="020B0609030804020204" pitchFamily="49" charset="0"/>
                <a:ea typeface="Menlo" panose="020B0609030804020204" pitchFamily="49" charset="0"/>
                <a:cs typeface="Menlo" panose="020B0609030804020204" pitchFamily="49" charset="0"/>
              </a:rPr>
              <a:t>H:</a:t>
            </a:r>
            <a:r>
              <a:rPr sz="2000" spc="-40" dirty="0">
                <a:latin typeface="Menlo" panose="020B0609030804020204" pitchFamily="49" charset="0"/>
                <a:ea typeface="Menlo" panose="020B0609030804020204" pitchFamily="49" charset="0"/>
                <a:cs typeface="Menlo" panose="020B0609030804020204" pitchFamily="49" charset="0"/>
              </a:rPr>
              <a:t> </a:t>
            </a:r>
            <a:r>
              <a:rPr sz="2000" dirty="0">
                <a:latin typeface="Menlo" panose="020B0609030804020204" pitchFamily="49" charset="0"/>
                <a:ea typeface="Menlo" panose="020B0609030804020204" pitchFamily="49" charset="0"/>
                <a:cs typeface="Menlo" panose="020B0609030804020204" pitchFamily="49" charset="0"/>
              </a:rPr>
              <a:t>GPU</a:t>
            </a:r>
            <a:r>
              <a:rPr sz="2000" spc="-30" dirty="0">
                <a:latin typeface="Menlo" panose="020B0609030804020204" pitchFamily="49" charset="0"/>
                <a:ea typeface="Menlo" panose="020B0609030804020204" pitchFamily="49" charset="0"/>
                <a:cs typeface="Menlo" panose="020B0609030804020204" pitchFamily="49" charset="0"/>
              </a:rPr>
              <a:t> </a:t>
            </a:r>
            <a:r>
              <a:rPr sz="2000" dirty="0">
                <a:latin typeface="Menlo" panose="020B0609030804020204" pitchFamily="49" charset="0"/>
                <a:ea typeface="Menlo" panose="020B0609030804020204" pitchFamily="49" charset="0"/>
                <a:cs typeface="Menlo" panose="020B0609030804020204" pitchFamily="49" charset="0"/>
              </a:rPr>
              <a:t>memory</a:t>
            </a:r>
            <a:r>
              <a:rPr sz="2000" spc="-30" dirty="0">
                <a:latin typeface="Menlo" panose="020B0609030804020204" pitchFamily="49" charset="0"/>
                <a:ea typeface="Menlo" panose="020B0609030804020204" pitchFamily="49" charset="0"/>
                <a:cs typeface="Menlo" panose="020B0609030804020204" pitchFamily="49" charset="0"/>
              </a:rPr>
              <a:t> </a:t>
            </a:r>
            <a:r>
              <a:rPr sz="2000" spc="-10" dirty="0">
                <a:latin typeface="Menlo" panose="020B0609030804020204" pitchFamily="49" charset="0"/>
                <a:ea typeface="Menlo" panose="020B0609030804020204" pitchFamily="49" charset="0"/>
                <a:cs typeface="Menlo" panose="020B0609030804020204" pitchFamily="49" charset="0"/>
              </a:rPr>
              <a:t>releas</a:t>
            </a:r>
            <a:r>
              <a:rPr lang="en-US" sz="2000" spc="-10" dirty="0">
                <a:latin typeface="Menlo" panose="020B0609030804020204" pitchFamily="49" charset="0"/>
                <a:ea typeface="Menlo" panose="020B0609030804020204" pitchFamily="49" charset="0"/>
                <a:cs typeface="Menlo" panose="020B0609030804020204" pitchFamily="49" charset="0"/>
              </a:rPr>
              <a:t>e</a:t>
            </a:r>
            <a:endParaRPr sz="2000" dirty="0">
              <a:latin typeface="Menlo" panose="020B0609030804020204" pitchFamily="49" charset="0"/>
              <a:ea typeface="Menlo" panose="020B0609030804020204" pitchFamily="49" charset="0"/>
              <a:cs typeface="Menlo" panose="020B0609030804020204" pitchFamily="49" charset="0"/>
            </a:endParaRPr>
          </a:p>
        </p:txBody>
      </p:sp>
      <p:grpSp>
        <p:nvGrpSpPr>
          <p:cNvPr id="8" name="object 8"/>
          <p:cNvGrpSpPr/>
          <p:nvPr/>
        </p:nvGrpSpPr>
        <p:grpSpPr>
          <a:xfrm>
            <a:off x="7621143" y="4784977"/>
            <a:ext cx="712470" cy="673100"/>
            <a:chOff x="4990719" y="4784977"/>
            <a:chExt cx="712470" cy="673100"/>
          </a:xfrm>
        </p:grpSpPr>
        <p:sp>
          <p:nvSpPr>
            <p:cNvPr id="9" name="object 9"/>
            <p:cNvSpPr/>
            <p:nvPr/>
          </p:nvSpPr>
          <p:spPr>
            <a:xfrm>
              <a:off x="5004054" y="4798312"/>
              <a:ext cx="685800" cy="646430"/>
            </a:xfrm>
            <a:custGeom>
              <a:avLst/>
              <a:gdLst/>
              <a:ahLst/>
              <a:cxnLst/>
              <a:rect l="l" t="t" r="r" b="b"/>
              <a:pathLst>
                <a:path w="685800" h="646429">
                  <a:moveTo>
                    <a:pt x="685800" y="0"/>
                  </a:moveTo>
                  <a:lnTo>
                    <a:pt x="0" y="0"/>
                  </a:lnTo>
                  <a:lnTo>
                    <a:pt x="0" y="646177"/>
                  </a:lnTo>
                  <a:lnTo>
                    <a:pt x="685800" y="646177"/>
                  </a:lnTo>
                  <a:lnTo>
                    <a:pt x="685800" y="0"/>
                  </a:lnTo>
                  <a:close/>
                </a:path>
              </a:pathLst>
            </a:custGeom>
            <a:solidFill>
              <a:srgbClr val="FFFFFF"/>
            </a:solidFill>
          </p:spPr>
          <p:txBody>
            <a:bodyPr wrap="square" lIns="0" tIns="0" rIns="0" bIns="0" rtlCol="0"/>
            <a:lstStyle/>
            <a:p>
              <a:endParaRPr/>
            </a:p>
          </p:txBody>
        </p:sp>
        <p:sp>
          <p:nvSpPr>
            <p:cNvPr id="10" name="object 10"/>
            <p:cNvSpPr/>
            <p:nvPr/>
          </p:nvSpPr>
          <p:spPr>
            <a:xfrm>
              <a:off x="5004054" y="4798312"/>
              <a:ext cx="685800" cy="646430"/>
            </a:xfrm>
            <a:custGeom>
              <a:avLst/>
              <a:gdLst/>
              <a:ahLst/>
              <a:cxnLst/>
              <a:rect l="l" t="t" r="r" b="b"/>
              <a:pathLst>
                <a:path w="685800" h="646429">
                  <a:moveTo>
                    <a:pt x="0" y="646177"/>
                  </a:moveTo>
                  <a:lnTo>
                    <a:pt x="685800" y="646177"/>
                  </a:lnTo>
                  <a:lnTo>
                    <a:pt x="685800" y="0"/>
                  </a:lnTo>
                  <a:lnTo>
                    <a:pt x="0" y="0"/>
                  </a:lnTo>
                  <a:lnTo>
                    <a:pt x="0" y="646177"/>
                  </a:lnTo>
                  <a:close/>
                </a:path>
              </a:pathLst>
            </a:custGeom>
            <a:ln w="26424">
              <a:solidFill>
                <a:srgbClr val="4F80BC"/>
              </a:solidFill>
            </a:ln>
          </p:spPr>
          <p:txBody>
            <a:bodyPr wrap="square" lIns="0" tIns="0" rIns="0" bIns="0" rtlCol="0"/>
            <a:lstStyle/>
            <a:p>
              <a:endParaRPr/>
            </a:p>
          </p:txBody>
        </p:sp>
      </p:grpSp>
      <p:sp>
        <p:nvSpPr>
          <p:cNvPr id="11" name="object 11"/>
          <p:cNvSpPr txBox="1"/>
          <p:nvPr/>
        </p:nvSpPr>
        <p:spPr>
          <a:xfrm>
            <a:off x="7713979" y="4825111"/>
            <a:ext cx="521334" cy="574675"/>
          </a:xfrm>
          <a:prstGeom prst="rect">
            <a:avLst/>
          </a:prstGeom>
        </p:spPr>
        <p:txBody>
          <a:bodyPr vert="horz" wrap="square" lIns="0" tIns="12700" rIns="0" bIns="0" rtlCol="0">
            <a:spAutoFit/>
          </a:bodyPr>
          <a:lstStyle/>
          <a:p>
            <a:pPr marL="12700">
              <a:spcBef>
                <a:spcPts val="100"/>
              </a:spcBef>
            </a:pPr>
            <a:r>
              <a:rPr spc="-20" dirty="0">
                <a:latin typeface="Arial"/>
                <a:cs typeface="Arial"/>
              </a:rPr>
              <a:t>Host</a:t>
            </a:r>
            <a:endParaRPr dirty="0">
              <a:latin typeface="Arial"/>
              <a:cs typeface="Arial"/>
            </a:endParaRPr>
          </a:p>
          <a:p>
            <a:pPr marL="12700"/>
            <a:r>
              <a:rPr spc="-20" dirty="0">
                <a:latin typeface="Arial"/>
                <a:cs typeface="Arial"/>
              </a:rPr>
              <a:t>code</a:t>
            </a:r>
            <a:endParaRPr dirty="0">
              <a:latin typeface="Arial"/>
              <a:cs typeface="Arial"/>
            </a:endParaRPr>
          </a:p>
        </p:txBody>
      </p:sp>
      <p:grpSp>
        <p:nvGrpSpPr>
          <p:cNvPr id="12" name="object 12"/>
          <p:cNvGrpSpPr/>
          <p:nvPr/>
        </p:nvGrpSpPr>
        <p:grpSpPr>
          <a:xfrm>
            <a:off x="7279766" y="5112639"/>
            <a:ext cx="432434" cy="415290"/>
            <a:chOff x="4649342" y="5112639"/>
            <a:chExt cx="432434" cy="415290"/>
          </a:xfrm>
        </p:grpSpPr>
        <p:sp>
          <p:nvSpPr>
            <p:cNvPr id="13" name="object 13"/>
            <p:cNvSpPr/>
            <p:nvPr/>
          </p:nvSpPr>
          <p:spPr>
            <a:xfrm>
              <a:off x="4662677" y="5125974"/>
              <a:ext cx="405765" cy="388620"/>
            </a:xfrm>
            <a:custGeom>
              <a:avLst/>
              <a:gdLst/>
              <a:ahLst/>
              <a:cxnLst/>
              <a:rect l="l" t="t" r="r" b="b"/>
              <a:pathLst>
                <a:path w="405764" h="388620">
                  <a:moveTo>
                    <a:pt x="202692" y="0"/>
                  </a:moveTo>
                  <a:lnTo>
                    <a:pt x="156234" y="5131"/>
                  </a:lnTo>
                  <a:lnTo>
                    <a:pt x="113577" y="19749"/>
                  </a:lnTo>
                  <a:lnTo>
                    <a:pt x="75942" y="42687"/>
                  </a:lnTo>
                  <a:lnTo>
                    <a:pt x="44547" y="72778"/>
                  </a:lnTo>
                  <a:lnTo>
                    <a:pt x="20611" y="108857"/>
                  </a:lnTo>
                  <a:lnTo>
                    <a:pt x="5356" y="149756"/>
                  </a:lnTo>
                  <a:lnTo>
                    <a:pt x="0" y="194310"/>
                  </a:lnTo>
                  <a:lnTo>
                    <a:pt x="5356" y="238863"/>
                  </a:lnTo>
                  <a:lnTo>
                    <a:pt x="20611" y="279762"/>
                  </a:lnTo>
                  <a:lnTo>
                    <a:pt x="44547" y="315841"/>
                  </a:lnTo>
                  <a:lnTo>
                    <a:pt x="75942" y="345932"/>
                  </a:lnTo>
                  <a:lnTo>
                    <a:pt x="113577" y="368870"/>
                  </a:lnTo>
                  <a:lnTo>
                    <a:pt x="156234" y="383488"/>
                  </a:lnTo>
                  <a:lnTo>
                    <a:pt x="202692" y="388620"/>
                  </a:lnTo>
                  <a:lnTo>
                    <a:pt x="249149" y="383488"/>
                  </a:lnTo>
                  <a:lnTo>
                    <a:pt x="291806" y="368870"/>
                  </a:lnTo>
                  <a:lnTo>
                    <a:pt x="329441" y="345932"/>
                  </a:lnTo>
                  <a:lnTo>
                    <a:pt x="360836" y="315841"/>
                  </a:lnTo>
                  <a:lnTo>
                    <a:pt x="384772" y="279762"/>
                  </a:lnTo>
                  <a:lnTo>
                    <a:pt x="400027" y="238863"/>
                  </a:lnTo>
                  <a:lnTo>
                    <a:pt x="405384" y="194310"/>
                  </a:lnTo>
                  <a:lnTo>
                    <a:pt x="400027" y="149756"/>
                  </a:lnTo>
                  <a:lnTo>
                    <a:pt x="384772" y="108857"/>
                  </a:lnTo>
                  <a:lnTo>
                    <a:pt x="360836" y="72778"/>
                  </a:lnTo>
                  <a:lnTo>
                    <a:pt x="329441" y="42687"/>
                  </a:lnTo>
                  <a:lnTo>
                    <a:pt x="291806" y="19749"/>
                  </a:lnTo>
                  <a:lnTo>
                    <a:pt x="249149" y="5131"/>
                  </a:lnTo>
                  <a:lnTo>
                    <a:pt x="202692" y="0"/>
                  </a:lnTo>
                  <a:close/>
                </a:path>
              </a:pathLst>
            </a:custGeom>
            <a:solidFill>
              <a:srgbClr val="4F80BC"/>
            </a:solidFill>
          </p:spPr>
          <p:txBody>
            <a:bodyPr wrap="square" lIns="0" tIns="0" rIns="0" bIns="0" rtlCol="0"/>
            <a:lstStyle/>
            <a:p>
              <a:endParaRPr/>
            </a:p>
          </p:txBody>
        </p:sp>
        <p:sp>
          <p:nvSpPr>
            <p:cNvPr id="14" name="object 14"/>
            <p:cNvSpPr/>
            <p:nvPr/>
          </p:nvSpPr>
          <p:spPr>
            <a:xfrm>
              <a:off x="4662677" y="5125974"/>
              <a:ext cx="405765" cy="388620"/>
            </a:xfrm>
            <a:custGeom>
              <a:avLst/>
              <a:gdLst/>
              <a:ahLst/>
              <a:cxnLst/>
              <a:rect l="l" t="t" r="r" b="b"/>
              <a:pathLst>
                <a:path w="405764" h="388620">
                  <a:moveTo>
                    <a:pt x="0" y="194310"/>
                  </a:moveTo>
                  <a:lnTo>
                    <a:pt x="5356" y="149756"/>
                  </a:lnTo>
                  <a:lnTo>
                    <a:pt x="20611" y="108857"/>
                  </a:lnTo>
                  <a:lnTo>
                    <a:pt x="44547" y="72778"/>
                  </a:lnTo>
                  <a:lnTo>
                    <a:pt x="75942" y="42687"/>
                  </a:lnTo>
                  <a:lnTo>
                    <a:pt x="113577" y="19749"/>
                  </a:lnTo>
                  <a:lnTo>
                    <a:pt x="156234" y="5131"/>
                  </a:lnTo>
                  <a:lnTo>
                    <a:pt x="202692" y="0"/>
                  </a:lnTo>
                  <a:lnTo>
                    <a:pt x="249149" y="5131"/>
                  </a:lnTo>
                  <a:lnTo>
                    <a:pt x="291806" y="19749"/>
                  </a:lnTo>
                  <a:lnTo>
                    <a:pt x="329441" y="42687"/>
                  </a:lnTo>
                  <a:lnTo>
                    <a:pt x="360836" y="72778"/>
                  </a:lnTo>
                  <a:lnTo>
                    <a:pt x="384772" y="108857"/>
                  </a:lnTo>
                  <a:lnTo>
                    <a:pt x="400027" y="149756"/>
                  </a:lnTo>
                  <a:lnTo>
                    <a:pt x="405384" y="194310"/>
                  </a:lnTo>
                  <a:lnTo>
                    <a:pt x="400027" y="238863"/>
                  </a:lnTo>
                  <a:lnTo>
                    <a:pt x="384772" y="279762"/>
                  </a:lnTo>
                  <a:lnTo>
                    <a:pt x="360836" y="315841"/>
                  </a:lnTo>
                  <a:lnTo>
                    <a:pt x="329441" y="345932"/>
                  </a:lnTo>
                  <a:lnTo>
                    <a:pt x="291806" y="368870"/>
                  </a:lnTo>
                  <a:lnTo>
                    <a:pt x="249149" y="383488"/>
                  </a:lnTo>
                  <a:lnTo>
                    <a:pt x="202692" y="388620"/>
                  </a:lnTo>
                  <a:lnTo>
                    <a:pt x="156234" y="383488"/>
                  </a:lnTo>
                  <a:lnTo>
                    <a:pt x="113577" y="368870"/>
                  </a:lnTo>
                  <a:lnTo>
                    <a:pt x="75942" y="345932"/>
                  </a:lnTo>
                  <a:lnTo>
                    <a:pt x="44547" y="315841"/>
                  </a:lnTo>
                  <a:lnTo>
                    <a:pt x="20611" y="279762"/>
                  </a:lnTo>
                  <a:lnTo>
                    <a:pt x="5356" y="238863"/>
                  </a:lnTo>
                  <a:lnTo>
                    <a:pt x="0" y="194310"/>
                  </a:lnTo>
                  <a:close/>
                </a:path>
              </a:pathLst>
            </a:custGeom>
            <a:ln w="26424">
              <a:solidFill>
                <a:srgbClr val="385D89"/>
              </a:solidFill>
            </a:ln>
          </p:spPr>
          <p:txBody>
            <a:bodyPr wrap="square" lIns="0" tIns="0" rIns="0" bIns="0" rtlCol="0"/>
            <a:lstStyle/>
            <a:p>
              <a:endParaRPr/>
            </a:p>
          </p:txBody>
        </p:sp>
      </p:grpSp>
      <p:sp>
        <p:nvSpPr>
          <p:cNvPr id="15" name="object 15"/>
          <p:cNvSpPr txBox="1"/>
          <p:nvPr/>
        </p:nvSpPr>
        <p:spPr>
          <a:xfrm>
            <a:off x="7419848" y="5165216"/>
            <a:ext cx="153035" cy="299720"/>
          </a:xfrm>
          <a:prstGeom prst="rect">
            <a:avLst/>
          </a:prstGeom>
        </p:spPr>
        <p:txBody>
          <a:bodyPr vert="horz" wrap="square" lIns="0" tIns="12700" rIns="0" bIns="0" rtlCol="0">
            <a:spAutoFit/>
          </a:bodyPr>
          <a:lstStyle/>
          <a:p>
            <a:pPr marL="12700">
              <a:spcBef>
                <a:spcPts val="100"/>
              </a:spcBef>
            </a:pPr>
            <a:r>
              <a:rPr spc="-50" dirty="0">
                <a:solidFill>
                  <a:srgbClr val="FFFFFF"/>
                </a:solidFill>
                <a:latin typeface="Arial"/>
                <a:cs typeface="Arial"/>
              </a:rPr>
              <a:t>1</a:t>
            </a:r>
            <a:endParaRPr>
              <a:latin typeface="Arial"/>
              <a:cs typeface="Arial"/>
            </a:endParaRPr>
          </a:p>
        </p:txBody>
      </p:sp>
      <p:grpSp>
        <p:nvGrpSpPr>
          <p:cNvPr id="16" name="object 16"/>
          <p:cNvGrpSpPr/>
          <p:nvPr/>
        </p:nvGrpSpPr>
        <p:grpSpPr>
          <a:xfrm>
            <a:off x="8413622" y="5810632"/>
            <a:ext cx="432434" cy="415290"/>
            <a:chOff x="5783198" y="5810632"/>
            <a:chExt cx="432434" cy="415290"/>
          </a:xfrm>
        </p:grpSpPr>
        <p:sp>
          <p:nvSpPr>
            <p:cNvPr id="17" name="object 17"/>
            <p:cNvSpPr/>
            <p:nvPr/>
          </p:nvSpPr>
          <p:spPr>
            <a:xfrm>
              <a:off x="5796533" y="5823967"/>
              <a:ext cx="405765" cy="388620"/>
            </a:xfrm>
            <a:custGeom>
              <a:avLst/>
              <a:gdLst/>
              <a:ahLst/>
              <a:cxnLst/>
              <a:rect l="l" t="t" r="r" b="b"/>
              <a:pathLst>
                <a:path w="405764" h="388620">
                  <a:moveTo>
                    <a:pt x="202692" y="0"/>
                  </a:moveTo>
                  <a:lnTo>
                    <a:pt x="156234" y="5131"/>
                  </a:lnTo>
                  <a:lnTo>
                    <a:pt x="113577" y="19749"/>
                  </a:lnTo>
                  <a:lnTo>
                    <a:pt x="75942" y="42687"/>
                  </a:lnTo>
                  <a:lnTo>
                    <a:pt x="44547" y="72778"/>
                  </a:lnTo>
                  <a:lnTo>
                    <a:pt x="20611" y="108857"/>
                  </a:lnTo>
                  <a:lnTo>
                    <a:pt x="5356" y="149756"/>
                  </a:lnTo>
                  <a:lnTo>
                    <a:pt x="0" y="194310"/>
                  </a:lnTo>
                  <a:lnTo>
                    <a:pt x="5356" y="238863"/>
                  </a:lnTo>
                  <a:lnTo>
                    <a:pt x="20611" y="279762"/>
                  </a:lnTo>
                  <a:lnTo>
                    <a:pt x="44547" y="315841"/>
                  </a:lnTo>
                  <a:lnTo>
                    <a:pt x="75942" y="345932"/>
                  </a:lnTo>
                  <a:lnTo>
                    <a:pt x="113577" y="368870"/>
                  </a:lnTo>
                  <a:lnTo>
                    <a:pt x="156234" y="383488"/>
                  </a:lnTo>
                  <a:lnTo>
                    <a:pt x="202692" y="388620"/>
                  </a:lnTo>
                  <a:lnTo>
                    <a:pt x="249149" y="383488"/>
                  </a:lnTo>
                  <a:lnTo>
                    <a:pt x="291806" y="368870"/>
                  </a:lnTo>
                  <a:lnTo>
                    <a:pt x="329441" y="345932"/>
                  </a:lnTo>
                  <a:lnTo>
                    <a:pt x="360836" y="315841"/>
                  </a:lnTo>
                  <a:lnTo>
                    <a:pt x="384772" y="279762"/>
                  </a:lnTo>
                  <a:lnTo>
                    <a:pt x="400027" y="238863"/>
                  </a:lnTo>
                  <a:lnTo>
                    <a:pt x="405384" y="194310"/>
                  </a:lnTo>
                  <a:lnTo>
                    <a:pt x="400027" y="149756"/>
                  </a:lnTo>
                  <a:lnTo>
                    <a:pt x="384772" y="108857"/>
                  </a:lnTo>
                  <a:lnTo>
                    <a:pt x="360836" y="72778"/>
                  </a:lnTo>
                  <a:lnTo>
                    <a:pt x="329441" y="42687"/>
                  </a:lnTo>
                  <a:lnTo>
                    <a:pt x="291806" y="19749"/>
                  </a:lnTo>
                  <a:lnTo>
                    <a:pt x="249149" y="5131"/>
                  </a:lnTo>
                  <a:lnTo>
                    <a:pt x="202692" y="0"/>
                  </a:lnTo>
                  <a:close/>
                </a:path>
              </a:pathLst>
            </a:custGeom>
            <a:solidFill>
              <a:srgbClr val="4F80BC"/>
            </a:solidFill>
          </p:spPr>
          <p:txBody>
            <a:bodyPr wrap="square" lIns="0" tIns="0" rIns="0" bIns="0" rtlCol="0"/>
            <a:lstStyle/>
            <a:p>
              <a:endParaRPr/>
            </a:p>
          </p:txBody>
        </p:sp>
        <p:sp>
          <p:nvSpPr>
            <p:cNvPr id="18" name="object 18"/>
            <p:cNvSpPr/>
            <p:nvPr/>
          </p:nvSpPr>
          <p:spPr>
            <a:xfrm>
              <a:off x="5796533" y="5823967"/>
              <a:ext cx="405765" cy="388620"/>
            </a:xfrm>
            <a:custGeom>
              <a:avLst/>
              <a:gdLst/>
              <a:ahLst/>
              <a:cxnLst/>
              <a:rect l="l" t="t" r="r" b="b"/>
              <a:pathLst>
                <a:path w="405764" h="388620">
                  <a:moveTo>
                    <a:pt x="0" y="194310"/>
                  </a:moveTo>
                  <a:lnTo>
                    <a:pt x="5356" y="149756"/>
                  </a:lnTo>
                  <a:lnTo>
                    <a:pt x="20611" y="108857"/>
                  </a:lnTo>
                  <a:lnTo>
                    <a:pt x="44547" y="72778"/>
                  </a:lnTo>
                  <a:lnTo>
                    <a:pt x="75942" y="42687"/>
                  </a:lnTo>
                  <a:lnTo>
                    <a:pt x="113577" y="19749"/>
                  </a:lnTo>
                  <a:lnTo>
                    <a:pt x="156234" y="5131"/>
                  </a:lnTo>
                  <a:lnTo>
                    <a:pt x="202692" y="0"/>
                  </a:lnTo>
                  <a:lnTo>
                    <a:pt x="249149" y="5131"/>
                  </a:lnTo>
                  <a:lnTo>
                    <a:pt x="291806" y="19749"/>
                  </a:lnTo>
                  <a:lnTo>
                    <a:pt x="329441" y="42687"/>
                  </a:lnTo>
                  <a:lnTo>
                    <a:pt x="360836" y="72778"/>
                  </a:lnTo>
                  <a:lnTo>
                    <a:pt x="384772" y="108857"/>
                  </a:lnTo>
                  <a:lnTo>
                    <a:pt x="400027" y="149756"/>
                  </a:lnTo>
                  <a:lnTo>
                    <a:pt x="405384" y="194310"/>
                  </a:lnTo>
                  <a:lnTo>
                    <a:pt x="400027" y="238863"/>
                  </a:lnTo>
                  <a:lnTo>
                    <a:pt x="384772" y="279762"/>
                  </a:lnTo>
                  <a:lnTo>
                    <a:pt x="360836" y="315841"/>
                  </a:lnTo>
                  <a:lnTo>
                    <a:pt x="329441" y="345932"/>
                  </a:lnTo>
                  <a:lnTo>
                    <a:pt x="291806" y="368870"/>
                  </a:lnTo>
                  <a:lnTo>
                    <a:pt x="249149" y="383488"/>
                  </a:lnTo>
                  <a:lnTo>
                    <a:pt x="202692" y="388620"/>
                  </a:lnTo>
                  <a:lnTo>
                    <a:pt x="156234" y="383488"/>
                  </a:lnTo>
                  <a:lnTo>
                    <a:pt x="113577" y="368870"/>
                  </a:lnTo>
                  <a:lnTo>
                    <a:pt x="75942" y="345932"/>
                  </a:lnTo>
                  <a:lnTo>
                    <a:pt x="44547" y="315841"/>
                  </a:lnTo>
                  <a:lnTo>
                    <a:pt x="20611" y="279762"/>
                  </a:lnTo>
                  <a:lnTo>
                    <a:pt x="5356" y="238863"/>
                  </a:lnTo>
                  <a:lnTo>
                    <a:pt x="0" y="194310"/>
                  </a:lnTo>
                  <a:close/>
                </a:path>
              </a:pathLst>
            </a:custGeom>
            <a:ln w="26424">
              <a:solidFill>
                <a:srgbClr val="385D89"/>
              </a:solidFill>
            </a:ln>
          </p:spPr>
          <p:txBody>
            <a:bodyPr wrap="square" lIns="0" tIns="0" rIns="0" bIns="0" rtlCol="0"/>
            <a:lstStyle/>
            <a:p>
              <a:endParaRPr/>
            </a:p>
          </p:txBody>
        </p:sp>
      </p:grpSp>
      <p:sp>
        <p:nvSpPr>
          <p:cNvPr id="19" name="object 19"/>
          <p:cNvSpPr txBox="1"/>
          <p:nvPr/>
        </p:nvSpPr>
        <p:spPr>
          <a:xfrm>
            <a:off x="8553451" y="5862929"/>
            <a:ext cx="153035" cy="299720"/>
          </a:xfrm>
          <a:prstGeom prst="rect">
            <a:avLst/>
          </a:prstGeom>
        </p:spPr>
        <p:txBody>
          <a:bodyPr vert="horz" wrap="square" lIns="0" tIns="12700" rIns="0" bIns="0" rtlCol="0">
            <a:spAutoFit/>
          </a:bodyPr>
          <a:lstStyle/>
          <a:p>
            <a:pPr marL="12700">
              <a:spcBef>
                <a:spcPts val="100"/>
              </a:spcBef>
            </a:pPr>
            <a:r>
              <a:rPr spc="-50" dirty="0">
                <a:solidFill>
                  <a:srgbClr val="FFFFFF"/>
                </a:solidFill>
                <a:latin typeface="Arial"/>
                <a:cs typeface="Arial"/>
              </a:rPr>
              <a:t>2</a:t>
            </a:r>
            <a:endParaRPr>
              <a:latin typeface="Arial"/>
              <a:cs typeface="Arial"/>
            </a:endParaRPr>
          </a:p>
        </p:txBody>
      </p:sp>
      <p:grpSp>
        <p:nvGrpSpPr>
          <p:cNvPr id="20" name="object 20"/>
          <p:cNvGrpSpPr/>
          <p:nvPr/>
        </p:nvGrpSpPr>
        <p:grpSpPr>
          <a:xfrm>
            <a:off x="8569071" y="3841622"/>
            <a:ext cx="430530" cy="415290"/>
            <a:chOff x="5938647" y="3841622"/>
            <a:chExt cx="430530" cy="415290"/>
          </a:xfrm>
        </p:grpSpPr>
        <p:sp>
          <p:nvSpPr>
            <p:cNvPr id="21" name="object 21"/>
            <p:cNvSpPr/>
            <p:nvPr/>
          </p:nvSpPr>
          <p:spPr>
            <a:xfrm>
              <a:off x="5951982" y="3854957"/>
              <a:ext cx="403860" cy="388620"/>
            </a:xfrm>
            <a:custGeom>
              <a:avLst/>
              <a:gdLst/>
              <a:ahLst/>
              <a:cxnLst/>
              <a:rect l="l" t="t" r="r" b="b"/>
              <a:pathLst>
                <a:path w="403860" h="388620">
                  <a:moveTo>
                    <a:pt x="201930" y="0"/>
                  </a:moveTo>
                  <a:lnTo>
                    <a:pt x="155634" y="5131"/>
                  </a:lnTo>
                  <a:lnTo>
                    <a:pt x="113133" y="19749"/>
                  </a:lnTo>
                  <a:lnTo>
                    <a:pt x="75640" y="42687"/>
                  </a:lnTo>
                  <a:lnTo>
                    <a:pt x="44367" y="72778"/>
                  </a:lnTo>
                  <a:lnTo>
                    <a:pt x="20527" y="108857"/>
                  </a:lnTo>
                  <a:lnTo>
                    <a:pt x="5334" y="149756"/>
                  </a:lnTo>
                  <a:lnTo>
                    <a:pt x="0" y="194310"/>
                  </a:lnTo>
                  <a:lnTo>
                    <a:pt x="5334" y="238863"/>
                  </a:lnTo>
                  <a:lnTo>
                    <a:pt x="20527" y="279762"/>
                  </a:lnTo>
                  <a:lnTo>
                    <a:pt x="44367" y="315841"/>
                  </a:lnTo>
                  <a:lnTo>
                    <a:pt x="75640" y="345932"/>
                  </a:lnTo>
                  <a:lnTo>
                    <a:pt x="113133" y="368870"/>
                  </a:lnTo>
                  <a:lnTo>
                    <a:pt x="155634" y="383488"/>
                  </a:lnTo>
                  <a:lnTo>
                    <a:pt x="201930" y="388620"/>
                  </a:lnTo>
                  <a:lnTo>
                    <a:pt x="248225" y="383488"/>
                  </a:lnTo>
                  <a:lnTo>
                    <a:pt x="290726" y="368870"/>
                  </a:lnTo>
                  <a:lnTo>
                    <a:pt x="328219" y="345932"/>
                  </a:lnTo>
                  <a:lnTo>
                    <a:pt x="359492" y="315841"/>
                  </a:lnTo>
                  <a:lnTo>
                    <a:pt x="383332" y="279762"/>
                  </a:lnTo>
                  <a:lnTo>
                    <a:pt x="398526" y="238863"/>
                  </a:lnTo>
                  <a:lnTo>
                    <a:pt x="403860" y="194310"/>
                  </a:lnTo>
                  <a:lnTo>
                    <a:pt x="398526" y="149756"/>
                  </a:lnTo>
                  <a:lnTo>
                    <a:pt x="383332" y="108857"/>
                  </a:lnTo>
                  <a:lnTo>
                    <a:pt x="359492" y="72778"/>
                  </a:lnTo>
                  <a:lnTo>
                    <a:pt x="328219" y="42687"/>
                  </a:lnTo>
                  <a:lnTo>
                    <a:pt x="290726" y="19749"/>
                  </a:lnTo>
                  <a:lnTo>
                    <a:pt x="248225" y="5131"/>
                  </a:lnTo>
                  <a:lnTo>
                    <a:pt x="201930" y="0"/>
                  </a:lnTo>
                  <a:close/>
                </a:path>
              </a:pathLst>
            </a:custGeom>
            <a:solidFill>
              <a:srgbClr val="4F80BC"/>
            </a:solidFill>
          </p:spPr>
          <p:txBody>
            <a:bodyPr wrap="square" lIns="0" tIns="0" rIns="0" bIns="0" rtlCol="0"/>
            <a:lstStyle/>
            <a:p>
              <a:endParaRPr/>
            </a:p>
          </p:txBody>
        </p:sp>
        <p:sp>
          <p:nvSpPr>
            <p:cNvPr id="22" name="object 22"/>
            <p:cNvSpPr/>
            <p:nvPr/>
          </p:nvSpPr>
          <p:spPr>
            <a:xfrm>
              <a:off x="5951982" y="3854957"/>
              <a:ext cx="403860" cy="388620"/>
            </a:xfrm>
            <a:custGeom>
              <a:avLst/>
              <a:gdLst/>
              <a:ahLst/>
              <a:cxnLst/>
              <a:rect l="l" t="t" r="r" b="b"/>
              <a:pathLst>
                <a:path w="403860" h="388620">
                  <a:moveTo>
                    <a:pt x="0" y="194310"/>
                  </a:moveTo>
                  <a:lnTo>
                    <a:pt x="5334" y="149756"/>
                  </a:lnTo>
                  <a:lnTo>
                    <a:pt x="20527" y="108857"/>
                  </a:lnTo>
                  <a:lnTo>
                    <a:pt x="44367" y="72778"/>
                  </a:lnTo>
                  <a:lnTo>
                    <a:pt x="75640" y="42687"/>
                  </a:lnTo>
                  <a:lnTo>
                    <a:pt x="113133" y="19749"/>
                  </a:lnTo>
                  <a:lnTo>
                    <a:pt x="155634" y="5131"/>
                  </a:lnTo>
                  <a:lnTo>
                    <a:pt x="201930" y="0"/>
                  </a:lnTo>
                  <a:lnTo>
                    <a:pt x="248225" y="5131"/>
                  </a:lnTo>
                  <a:lnTo>
                    <a:pt x="290726" y="19749"/>
                  </a:lnTo>
                  <a:lnTo>
                    <a:pt x="328219" y="42687"/>
                  </a:lnTo>
                  <a:lnTo>
                    <a:pt x="359492" y="72778"/>
                  </a:lnTo>
                  <a:lnTo>
                    <a:pt x="383332" y="108857"/>
                  </a:lnTo>
                  <a:lnTo>
                    <a:pt x="398526" y="149756"/>
                  </a:lnTo>
                  <a:lnTo>
                    <a:pt x="403860" y="194310"/>
                  </a:lnTo>
                  <a:lnTo>
                    <a:pt x="398526" y="238863"/>
                  </a:lnTo>
                  <a:lnTo>
                    <a:pt x="383332" y="279762"/>
                  </a:lnTo>
                  <a:lnTo>
                    <a:pt x="359492" y="315841"/>
                  </a:lnTo>
                  <a:lnTo>
                    <a:pt x="328219" y="345932"/>
                  </a:lnTo>
                  <a:lnTo>
                    <a:pt x="290726" y="368870"/>
                  </a:lnTo>
                  <a:lnTo>
                    <a:pt x="248225" y="383488"/>
                  </a:lnTo>
                  <a:lnTo>
                    <a:pt x="201930" y="388620"/>
                  </a:lnTo>
                  <a:lnTo>
                    <a:pt x="155634" y="383488"/>
                  </a:lnTo>
                  <a:lnTo>
                    <a:pt x="113133" y="368870"/>
                  </a:lnTo>
                  <a:lnTo>
                    <a:pt x="75640" y="345932"/>
                  </a:lnTo>
                  <a:lnTo>
                    <a:pt x="44367" y="315841"/>
                  </a:lnTo>
                  <a:lnTo>
                    <a:pt x="20527" y="279762"/>
                  </a:lnTo>
                  <a:lnTo>
                    <a:pt x="5334" y="238863"/>
                  </a:lnTo>
                  <a:lnTo>
                    <a:pt x="0" y="194310"/>
                  </a:lnTo>
                  <a:close/>
                </a:path>
              </a:pathLst>
            </a:custGeom>
            <a:ln w="26424">
              <a:solidFill>
                <a:srgbClr val="385D89"/>
              </a:solidFill>
            </a:ln>
          </p:spPr>
          <p:txBody>
            <a:bodyPr wrap="square" lIns="0" tIns="0" rIns="0" bIns="0" rtlCol="0"/>
            <a:lstStyle/>
            <a:p>
              <a:endParaRPr/>
            </a:p>
          </p:txBody>
        </p:sp>
      </p:grpSp>
      <p:sp>
        <p:nvSpPr>
          <p:cNvPr id="23" name="object 23"/>
          <p:cNvSpPr txBox="1"/>
          <p:nvPr/>
        </p:nvSpPr>
        <p:spPr>
          <a:xfrm>
            <a:off x="8707883" y="3893946"/>
            <a:ext cx="153035" cy="299720"/>
          </a:xfrm>
          <a:prstGeom prst="rect">
            <a:avLst/>
          </a:prstGeom>
        </p:spPr>
        <p:txBody>
          <a:bodyPr vert="horz" wrap="square" lIns="0" tIns="12700" rIns="0" bIns="0" rtlCol="0">
            <a:spAutoFit/>
          </a:bodyPr>
          <a:lstStyle/>
          <a:p>
            <a:pPr marL="12700">
              <a:spcBef>
                <a:spcPts val="100"/>
              </a:spcBef>
            </a:pPr>
            <a:r>
              <a:rPr spc="-50" dirty="0">
                <a:solidFill>
                  <a:srgbClr val="FFFFFF"/>
                </a:solidFill>
                <a:latin typeface="Arial"/>
                <a:cs typeface="Arial"/>
              </a:rPr>
              <a:t>3</a:t>
            </a:r>
            <a:endParaRPr>
              <a:latin typeface="Arial"/>
              <a:cs typeface="Arial"/>
            </a:endParaRPr>
          </a:p>
        </p:txBody>
      </p:sp>
      <p:grpSp>
        <p:nvGrpSpPr>
          <p:cNvPr id="24" name="object 24"/>
          <p:cNvGrpSpPr/>
          <p:nvPr/>
        </p:nvGrpSpPr>
        <p:grpSpPr>
          <a:xfrm>
            <a:off x="8701659" y="5967600"/>
            <a:ext cx="432434" cy="415290"/>
            <a:chOff x="6071235" y="5967600"/>
            <a:chExt cx="432434" cy="415290"/>
          </a:xfrm>
        </p:grpSpPr>
        <p:sp>
          <p:nvSpPr>
            <p:cNvPr id="25" name="object 25"/>
            <p:cNvSpPr/>
            <p:nvPr/>
          </p:nvSpPr>
          <p:spPr>
            <a:xfrm>
              <a:off x="6084570" y="5980935"/>
              <a:ext cx="405765" cy="388620"/>
            </a:xfrm>
            <a:custGeom>
              <a:avLst/>
              <a:gdLst/>
              <a:ahLst/>
              <a:cxnLst/>
              <a:rect l="l" t="t" r="r" b="b"/>
              <a:pathLst>
                <a:path w="405764" h="388620">
                  <a:moveTo>
                    <a:pt x="202692" y="0"/>
                  </a:moveTo>
                  <a:lnTo>
                    <a:pt x="156234" y="5131"/>
                  </a:lnTo>
                  <a:lnTo>
                    <a:pt x="113577" y="19749"/>
                  </a:lnTo>
                  <a:lnTo>
                    <a:pt x="75942" y="42687"/>
                  </a:lnTo>
                  <a:lnTo>
                    <a:pt x="44547" y="72778"/>
                  </a:lnTo>
                  <a:lnTo>
                    <a:pt x="20611" y="108857"/>
                  </a:lnTo>
                  <a:lnTo>
                    <a:pt x="5356" y="149756"/>
                  </a:lnTo>
                  <a:lnTo>
                    <a:pt x="0" y="194310"/>
                  </a:lnTo>
                  <a:lnTo>
                    <a:pt x="5356" y="238863"/>
                  </a:lnTo>
                  <a:lnTo>
                    <a:pt x="20611" y="279762"/>
                  </a:lnTo>
                  <a:lnTo>
                    <a:pt x="44547" y="315841"/>
                  </a:lnTo>
                  <a:lnTo>
                    <a:pt x="75942" y="345932"/>
                  </a:lnTo>
                  <a:lnTo>
                    <a:pt x="113577" y="368870"/>
                  </a:lnTo>
                  <a:lnTo>
                    <a:pt x="156234" y="383488"/>
                  </a:lnTo>
                  <a:lnTo>
                    <a:pt x="202692" y="388620"/>
                  </a:lnTo>
                  <a:lnTo>
                    <a:pt x="249149" y="383488"/>
                  </a:lnTo>
                  <a:lnTo>
                    <a:pt x="291806" y="368870"/>
                  </a:lnTo>
                  <a:lnTo>
                    <a:pt x="329441" y="345932"/>
                  </a:lnTo>
                  <a:lnTo>
                    <a:pt x="360836" y="315841"/>
                  </a:lnTo>
                  <a:lnTo>
                    <a:pt x="384772" y="279762"/>
                  </a:lnTo>
                  <a:lnTo>
                    <a:pt x="400027" y="238863"/>
                  </a:lnTo>
                  <a:lnTo>
                    <a:pt x="405384" y="194310"/>
                  </a:lnTo>
                  <a:lnTo>
                    <a:pt x="400027" y="149756"/>
                  </a:lnTo>
                  <a:lnTo>
                    <a:pt x="384772" y="108857"/>
                  </a:lnTo>
                  <a:lnTo>
                    <a:pt x="360836" y="72778"/>
                  </a:lnTo>
                  <a:lnTo>
                    <a:pt x="329441" y="42687"/>
                  </a:lnTo>
                  <a:lnTo>
                    <a:pt x="291806" y="19749"/>
                  </a:lnTo>
                  <a:lnTo>
                    <a:pt x="249149" y="5131"/>
                  </a:lnTo>
                  <a:lnTo>
                    <a:pt x="202692" y="0"/>
                  </a:lnTo>
                  <a:close/>
                </a:path>
              </a:pathLst>
            </a:custGeom>
            <a:solidFill>
              <a:srgbClr val="4F80BC"/>
            </a:solidFill>
          </p:spPr>
          <p:txBody>
            <a:bodyPr wrap="square" lIns="0" tIns="0" rIns="0" bIns="0" rtlCol="0"/>
            <a:lstStyle/>
            <a:p>
              <a:endParaRPr/>
            </a:p>
          </p:txBody>
        </p:sp>
        <p:sp>
          <p:nvSpPr>
            <p:cNvPr id="26" name="object 26"/>
            <p:cNvSpPr/>
            <p:nvPr/>
          </p:nvSpPr>
          <p:spPr>
            <a:xfrm>
              <a:off x="6084570" y="5980935"/>
              <a:ext cx="405765" cy="388620"/>
            </a:xfrm>
            <a:custGeom>
              <a:avLst/>
              <a:gdLst/>
              <a:ahLst/>
              <a:cxnLst/>
              <a:rect l="l" t="t" r="r" b="b"/>
              <a:pathLst>
                <a:path w="405764" h="388620">
                  <a:moveTo>
                    <a:pt x="0" y="194310"/>
                  </a:moveTo>
                  <a:lnTo>
                    <a:pt x="5356" y="149756"/>
                  </a:lnTo>
                  <a:lnTo>
                    <a:pt x="20611" y="108857"/>
                  </a:lnTo>
                  <a:lnTo>
                    <a:pt x="44547" y="72778"/>
                  </a:lnTo>
                  <a:lnTo>
                    <a:pt x="75942" y="42687"/>
                  </a:lnTo>
                  <a:lnTo>
                    <a:pt x="113577" y="19749"/>
                  </a:lnTo>
                  <a:lnTo>
                    <a:pt x="156234" y="5131"/>
                  </a:lnTo>
                  <a:lnTo>
                    <a:pt x="202692" y="0"/>
                  </a:lnTo>
                  <a:lnTo>
                    <a:pt x="249149" y="5131"/>
                  </a:lnTo>
                  <a:lnTo>
                    <a:pt x="291806" y="19749"/>
                  </a:lnTo>
                  <a:lnTo>
                    <a:pt x="329441" y="42687"/>
                  </a:lnTo>
                  <a:lnTo>
                    <a:pt x="360836" y="72778"/>
                  </a:lnTo>
                  <a:lnTo>
                    <a:pt x="384772" y="108857"/>
                  </a:lnTo>
                  <a:lnTo>
                    <a:pt x="400027" y="149756"/>
                  </a:lnTo>
                  <a:lnTo>
                    <a:pt x="405384" y="194310"/>
                  </a:lnTo>
                  <a:lnTo>
                    <a:pt x="400027" y="238863"/>
                  </a:lnTo>
                  <a:lnTo>
                    <a:pt x="384772" y="279762"/>
                  </a:lnTo>
                  <a:lnTo>
                    <a:pt x="360836" y="315841"/>
                  </a:lnTo>
                  <a:lnTo>
                    <a:pt x="329441" y="345932"/>
                  </a:lnTo>
                  <a:lnTo>
                    <a:pt x="291806" y="368870"/>
                  </a:lnTo>
                  <a:lnTo>
                    <a:pt x="249149" y="383488"/>
                  </a:lnTo>
                  <a:lnTo>
                    <a:pt x="202692" y="388620"/>
                  </a:lnTo>
                  <a:lnTo>
                    <a:pt x="156234" y="383488"/>
                  </a:lnTo>
                  <a:lnTo>
                    <a:pt x="113577" y="368870"/>
                  </a:lnTo>
                  <a:lnTo>
                    <a:pt x="75942" y="345932"/>
                  </a:lnTo>
                  <a:lnTo>
                    <a:pt x="44547" y="315841"/>
                  </a:lnTo>
                  <a:lnTo>
                    <a:pt x="20611" y="279762"/>
                  </a:lnTo>
                  <a:lnTo>
                    <a:pt x="5356" y="238863"/>
                  </a:lnTo>
                  <a:lnTo>
                    <a:pt x="0" y="194310"/>
                  </a:lnTo>
                  <a:close/>
                </a:path>
              </a:pathLst>
            </a:custGeom>
            <a:ln w="26424">
              <a:solidFill>
                <a:srgbClr val="385D89"/>
              </a:solidFill>
            </a:ln>
          </p:spPr>
          <p:txBody>
            <a:bodyPr wrap="square" lIns="0" tIns="0" rIns="0" bIns="0" rtlCol="0"/>
            <a:lstStyle/>
            <a:p>
              <a:endParaRPr/>
            </a:p>
          </p:txBody>
        </p:sp>
      </p:grpSp>
      <p:sp>
        <p:nvSpPr>
          <p:cNvPr id="27" name="object 27"/>
          <p:cNvSpPr txBox="1"/>
          <p:nvPr/>
        </p:nvSpPr>
        <p:spPr>
          <a:xfrm>
            <a:off x="8841740" y="6020510"/>
            <a:ext cx="153035" cy="299720"/>
          </a:xfrm>
          <a:prstGeom prst="rect">
            <a:avLst/>
          </a:prstGeom>
        </p:spPr>
        <p:txBody>
          <a:bodyPr vert="horz" wrap="square" lIns="0" tIns="12700" rIns="0" bIns="0" rtlCol="0">
            <a:spAutoFit/>
          </a:bodyPr>
          <a:lstStyle/>
          <a:p>
            <a:pPr marL="12700">
              <a:spcBef>
                <a:spcPts val="100"/>
              </a:spcBef>
            </a:pPr>
            <a:r>
              <a:rPr spc="-50" dirty="0">
                <a:solidFill>
                  <a:srgbClr val="FFFFFF"/>
                </a:solidFill>
                <a:latin typeface="Arial"/>
                <a:cs typeface="Arial"/>
              </a:rPr>
              <a:t>5</a:t>
            </a:r>
            <a:endParaRPr>
              <a:latin typeface="Arial"/>
              <a:cs typeface="Arial"/>
            </a:endParaRPr>
          </a:p>
        </p:txBody>
      </p:sp>
      <p:grpSp>
        <p:nvGrpSpPr>
          <p:cNvPr id="28" name="object 28"/>
          <p:cNvGrpSpPr/>
          <p:nvPr/>
        </p:nvGrpSpPr>
        <p:grpSpPr>
          <a:xfrm>
            <a:off x="10699622" y="4896230"/>
            <a:ext cx="432434" cy="415290"/>
            <a:chOff x="8069198" y="4896230"/>
            <a:chExt cx="432434" cy="415290"/>
          </a:xfrm>
        </p:grpSpPr>
        <p:sp>
          <p:nvSpPr>
            <p:cNvPr id="29" name="object 29"/>
            <p:cNvSpPr/>
            <p:nvPr/>
          </p:nvSpPr>
          <p:spPr>
            <a:xfrm>
              <a:off x="8082533" y="4909565"/>
              <a:ext cx="405765" cy="388620"/>
            </a:xfrm>
            <a:custGeom>
              <a:avLst/>
              <a:gdLst/>
              <a:ahLst/>
              <a:cxnLst/>
              <a:rect l="l" t="t" r="r" b="b"/>
              <a:pathLst>
                <a:path w="405765" h="388620">
                  <a:moveTo>
                    <a:pt x="202692" y="0"/>
                  </a:moveTo>
                  <a:lnTo>
                    <a:pt x="156234" y="5131"/>
                  </a:lnTo>
                  <a:lnTo>
                    <a:pt x="113577" y="19749"/>
                  </a:lnTo>
                  <a:lnTo>
                    <a:pt x="75942" y="42687"/>
                  </a:lnTo>
                  <a:lnTo>
                    <a:pt x="44547" y="72778"/>
                  </a:lnTo>
                  <a:lnTo>
                    <a:pt x="20611" y="108857"/>
                  </a:lnTo>
                  <a:lnTo>
                    <a:pt x="5356" y="149756"/>
                  </a:lnTo>
                  <a:lnTo>
                    <a:pt x="0" y="194310"/>
                  </a:lnTo>
                  <a:lnTo>
                    <a:pt x="5356" y="238863"/>
                  </a:lnTo>
                  <a:lnTo>
                    <a:pt x="20611" y="279762"/>
                  </a:lnTo>
                  <a:lnTo>
                    <a:pt x="44547" y="315841"/>
                  </a:lnTo>
                  <a:lnTo>
                    <a:pt x="75942" y="345932"/>
                  </a:lnTo>
                  <a:lnTo>
                    <a:pt x="113577" y="368870"/>
                  </a:lnTo>
                  <a:lnTo>
                    <a:pt x="156234" y="383488"/>
                  </a:lnTo>
                  <a:lnTo>
                    <a:pt x="202692" y="388620"/>
                  </a:lnTo>
                  <a:lnTo>
                    <a:pt x="249149" y="383488"/>
                  </a:lnTo>
                  <a:lnTo>
                    <a:pt x="291806" y="368870"/>
                  </a:lnTo>
                  <a:lnTo>
                    <a:pt x="329441" y="345932"/>
                  </a:lnTo>
                  <a:lnTo>
                    <a:pt x="360836" y="315841"/>
                  </a:lnTo>
                  <a:lnTo>
                    <a:pt x="384772" y="279762"/>
                  </a:lnTo>
                  <a:lnTo>
                    <a:pt x="400027" y="238863"/>
                  </a:lnTo>
                  <a:lnTo>
                    <a:pt x="405384" y="194310"/>
                  </a:lnTo>
                  <a:lnTo>
                    <a:pt x="400027" y="149756"/>
                  </a:lnTo>
                  <a:lnTo>
                    <a:pt x="384772" y="108857"/>
                  </a:lnTo>
                  <a:lnTo>
                    <a:pt x="360836" y="72778"/>
                  </a:lnTo>
                  <a:lnTo>
                    <a:pt x="329441" y="42687"/>
                  </a:lnTo>
                  <a:lnTo>
                    <a:pt x="291806" y="19749"/>
                  </a:lnTo>
                  <a:lnTo>
                    <a:pt x="249149" y="5131"/>
                  </a:lnTo>
                  <a:lnTo>
                    <a:pt x="202692" y="0"/>
                  </a:lnTo>
                  <a:close/>
                </a:path>
              </a:pathLst>
            </a:custGeom>
            <a:solidFill>
              <a:srgbClr val="4F80BC"/>
            </a:solidFill>
          </p:spPr>
          <p:txBody>
            <a:bodyPr wrap="square" lIns="0" tIns="0" rIns="0" bIns="0" rtlCol="0"/>
            <a:lstStyle/>
            <a:p>
              <a:endParaRPr/>
            </a:p>
          </p:txBody>
        </p:sp>
        <p:sp>
          <p:nvSpPr>
            <p:cNvPr id="30" name="object 30"/>
            <p:cNvSpPr/>
            <p:nvPr/>
          </p:nvSpPr>
          <p:spPr>
            <a:xfrm>
              <a:off x="8082533" y="4909565"/>
              <a:ext cx="405765" cy="388620"/>
            </a:xfrm>
            <a:custGeom>
              <a:avLst/>
              <a:gdLst/>
              <a:ahLst/>
              <a:cxnLst/>
              <a:rect l="l" t="t" r="r" b="b"/>
              <a:pathLst>
                <a:path w="405765" h="388620">
                  <a:moveTo>
                    <a:pt x="0" y="194310"/>
                  </a:moveTo>
                  <a:lnTo>
                    <a:pt x="5356" y="149756"/>
                  </a:lnTo>
                  <a:lnTo>
                    <a:pt x="20611" y="108857"/>
                  </a:lnTo>
                  <a:lnTo>
                    <a:pt x="44547" y="72778"/>
                  </a:lnTo>
                  <a:lnTo>
                    <a:pt x="75942" y="42687"/>
                  </a:lnTo>
                  <a:lnTo>
                    <a:pt x="113577" y="19749"/>
                  </a:lnTo>
                  <a:lnTo>
                    <a:pt x="156234" y="5131"/>
                  </a:lnTo>
                  <a:lnTo>
                    <a:pt x="202692" y="0"/>
                  </a:lnTo>
                  <a:lnTo>
                    <a:pt x="249149" y="5131"/>
                  </a:lnTo>
                  <a:lnTo>
                    <a:pt x="291806" y="19749"/>
                  </a:lnTo>
                  <a:lnTo>
                    <a:pt x="329441" y="42687"/>
                  </a:lnTo>
                  <a:lnTo>
                    <a:pt x="360836" y="72778"/>
                  </a:lnTo>
                  <a:lnTo>
                    <a:pt x="384772" y="108857"/>
                  </a:lnTo>
                  <a:lnTo>
                    <a:pt x="400027" y="149756"/>
                  </a:lnTo>
                  <a:lnTo>
                    <a:pt x="405384" y="194310"/>
                  </a:lnTo>
                  <a:lnTo>
                    <a:pt x="400027" y="238863"/>
                  </a:lnTo>
                  <a:lnTo>
                    <a:pt x="384772" y="279762"/>
                  </a:lnTo>
                  <a:lnTo>
                    <a:pt x="360836" y="315841"/>
                  </a:lnTo>
                  <a:lnTo>
                    <a:pt x="329441" y="345932"/>
                  </a:lnTo>
                  <a:lnTo>
                    <a:pt x="291806" y="368870"/>
                  </a:lnTo>
                  <a:lnTo>
                    <a:pt x="249149" y="383488"/>
                  </a:lnTo>
                  <a:lnTo>
                    <a:pt x="202692" y="388620"/>
                  </a:lnTo>
                  <a:lnTo>
                    <a:pt x="156234" y="383488"/>
                  </a:lnTo>
                  <a:lnTo>
                    <a:pt x="113577" y="368870"/>
                  </a:lnTo>
                  <a:lnTo>
                    <a:pt x="75942" y="345932"/>
                  </a:lnTo>
                  <a:lnTo>
                    <a:pt x="44547" y="315841"/>
                  </a:lnTo>
                  <a:lnTo>
                    <a:pt x="20611" y="279762"/>
                  </a:lnTo>
                  <a:lnTo>
                    <a:pt x="5356" y="238863"/>
                  </a:lnTo>
                  <a:lnTo>
                    <a:pt x="0" y="194310"/>
                  </a:lnTo>
                  <a:close/>
                </a:path>
              </a:pathLst>
            </a:custGeom>
            <a:ln w="26424">
              <a:solidFill>
                <a:srgbClr val="385D89"/>
              </a:solidFill>
            </a:ln>
          </p:spPr>
          <p:txBody>
            <a:bodyPr wrap="square" lIns="0" tIns="0" rIns="0" bIns="0" rtlCol="0"/>
            <a:lstStyle/>
            <a:p>
              <a:endParaRPr/>
            </a:p>
          </p:txBody>
        </p:sp>
      </p:grpSp>
      <p:sp>
        <p:nvSpPr>
          <p:cNvPr id="31" name="object 31"/>
          <p:cNvSpPr txBox="1"/>
          <p:nvPr/>
        </p:nvSpPr>
        <p:spPr>
          <a:xfrm>
            <a:off x="10840340" y="4948173"/>
            <a:ext cx="153035" cy="299720"/>
          </a:xfrm>
          <a:prstGeom prst="rect">
            <a:avLst/>
          </a:prstGeom>
        </p:spPr>
        <p:txBody>
          <a:bodyPr vert="horz" wrap="square" lIns="0" tIns="12700" rIns="0" bIns="0" rtlCol="0">
            <a:spAutoFit/>
          </a:bodyPr>
          <a:lstStyle/>
          <a:p>
            <a:pPr marL="12700">
              <a:spcBef>
                <a:spcPts val="100"/>
              </a:spcBef>
            </a:pPr>
            <a:r>
              <a:rPr spc="-50" dirty="0">
                <a:solidFill>
                  <a:srgbClr val="FFFFFF"/>
                </a:solidFill>
                <a:latin typeface="Arial"/>
                <a:cs typeface="Arial"/>
              </a:rPr>
              <a:t>4</a:t>
            </a:r>
            <a:endParaRPr>
              <a:latin typeface="Arial"/>
              <a:cs typeface="Arial"/>
            </a:endParaRPr>
          </a:p>
        </p:txBody>
      </p:sp>
      <p:sp>
        <p:nvSpPr>
          <p:cNvPr id="32" name="object 32"/>
          <p:cNvSpPr txBox="1"/>
          <p:nvPr/>
        </p:nvSpPr>
        <p:spPr>
          <a:xfrm>
            <a:off x="9544051" y="4165852"/>
            <a:ext cx="1945005" cy="316753"/>
          </a:xfrm>
          <a:prstGeom prst="rect">
            <a:avLst/>
          </a:prstGeom>
          <a:solidFill>
            <a:srgbClr val="FFFFFF"/>
          </a:solidFill>
          <a:ln w="26424">
            <a:solidFill>
              <a:srgbClr val="007F00"/>
            </a:solidFill>
          </a:ln>
        </p:spPr>
        <p:txBody>
          <a:bodyPr vert="horz" wrap="square" lIns="0" tIns="39370" rIns="0" bIns="0" rtlCol="0">
            <a:spAutoFit/>
          </a:bodyPr>
          <a:lstStyle/>
          <a:p>
            <a:pPr marL="344170">
              <a:spcBef>
                <a:spcPts val="310"/>
              </a:spcBef>
            </a:pPr>
            <a:r>
              <a:rPr dirty="0">
                <a:latin typeface="Arial"/>
                <a:cs typeface="Arial"/>
              </a:rPr>
              <a:t>Device</a:t>
            </a:r>
            <a:r>
              <a:rPr spc="-15" dirty="0">
                <a:latin typeface="Arial"/>
                <a:cs typeface="Arial"/>
              </a:rPr>
              <a:t> </a:t>
            </a:r>
            <a:r>
              <a:rPr spc="-20" dirty="0">
                <a:latin typeface="Arial"/>
                <a:cs typeface="Arial"/>
              </a:rPr>
              <a:t>code</a:t>
            </a:r>
            <a:endParaRPr>
              <a:latin typeface="Arial"/>
              <a:cs typeface="Arial"/>
            </a:endParaRPr>
          </a:p>
        </p:txBody>
      </p:sp>
      <p:grpSp>
        <p:nvGrpSpPr>
          <p:cNvPr id="33" name="object 33"/>
          <p:cNvGrpSpPr/>
          <p:nvPr/>
        </p:nvGrpSpPr>
        <p:grpSpPr>
          <a:xfrm>
            <a:off x="7482581" y="5387081"/>
            <a:ext cx="432434" cy="415290"/>
            <a:chOff x="4852157" y="5387081"/>
            <a:chExt cx="432434" cy="415290"/>
          </a:xfrm>
        </p:grpSpPr>
        <p:sp>
          <p:nvSpPr>
            <p:cNvPr id="34" name="object 34"/>
            <p:cNvSpPr/>
            <p:nvPr/>
          </p:nvSpPr>
          <p:spPr>
            <a:xfrm>
              <a:off x="4865370" y="5400294"/>
              <a:ext cx="405765" cy="388620"/>
            </a:xfrm>
            <a:custGeom>
              <a:avLst/>
              <a:gdLst/>
              <a:ahLst/>
              <a:cxnLst/>
              <a:rect l="l" t="t" r="r" b="b"/>
              <a:pathLst>
                <a:path w="405764" h="388620">
                  <a:moveTo>
                    <a:pt x="202692" y="0"/>
                  </a:moveTo>
                  <a:lnTo>
                    <a:pt x="156234" y="5131"/>
                  </a:lnTo>
                  <a:lnTo>
                    <a:pt x="113577" y="19749"/>
                  </a:lnTo>
                  <a:lnTo>
                    <a:pt x="75942" y="42687"/>
                  </a:lnTo>
                  <a:lnTo>
                    <a:pt x="44547" y="72778"/>
                  </a:lnTo>
                  <a:lnTo>
                    <a:pt x="20611" y="108856"/>
                  </a:lnTo>
                  <a:lnTo>
                    <a:pt x="5356" y="149755"/>
                  </a:lnTo>
                  <a:lnTo>
                    <a:pt x="0" y="194308"/>
                  </a:lnTo>
                  <a:lnTo>
                    <a:pt x="5356" y="238862"/>
                  </a:lnTo>
                  <a:lnTo>
                    <a:pt x="20611" y="279761"/>
                  </a:lnTo>
                  <a:lnTo>
                    <a:pt x="44547" y="315839"/>
                  </a:lnTo>
                  <a:lnTo>
                    <a:pt x="75942" y="345931"/>
                  </a:lnTo>
                  <a:lnTo>
                    <a:pt x="113577" y="368868"/>
                  </a:lnTo>
                  <a:lnTo>
                    <a:pt x="156234" y="383486"/>
                  </a:lnTo>
                  <a:lnTo>
                    <a:pt x="202692" y="388618"/>
                  </a:lnTo>
                  <a:lnTo>
                    <a:pt x="249149" y="383486"/>
                  </a:lnTo>
                  <a:lnTo>
                    <a:pt x="291806" y="368868"/>
                  </a:lnTo>
                  <a:lnTo>
                    <a:pt x="329441" y="345931"/>
                  </a:lnTo>
                  <a:lnTo>
                    <a:pt x="360836" y="315839"/>
                  </a:lnTo>
                  <a:lnTo>
                    <a:pt x="384772" y="279761"/>
                  </a:lnTo>
                  <a:lnTo>
                    <a:pt x="400027" y="238862"/>
                  </a:lnTo>
                  <a:lnTo>
                    <a:pt x="405384" y="194308"/>
                  </a:lnTo>
                  <a:lnTo>
                    <a:pt x="400027" y="149755"/>
                  </a:lnTo>
                  <a:lnTo>
                    <a:pt x="384772" y="108856"/>
                  </a:lnTo>
                  <a:lnTo>
                    <a:pt x="360836" y="72778"/>
                  </a:lnTo>
                  <a:lnTo>
                    <a:pt x="329441" y="42687"/>
                  </a:lnTo>
                  <a:lnTo>
                    <a:pt x="291806" y="19749"/>
                  </a:lnTo>
                  <a:lnTo>
                    <a:pt x="249149" y="5131"/>
                  </a:lnTo>
                  <a:lnTo>
                    <a:pt x="202692" y="0"/>
                  </a:lnTo>
                  <a:close/>
                </a:path>
              </a:pathLst>
            </a:custGeom>
            <a:solidFill>
              <a:srgbClr val="4F80BC"/>
            </a:solidFill>
          </p:spPr>
          <p:txBody>
            <a:bodyPr wrap="square" lIns="0" tIns="0" rIns="0" bIns="0" rtlCol="0"/>
            <a:lstStyle/>
            <a:p>
              <a:endParaRPr/>
            </a:p>
          </p:txBody>
        </p:sp>
        <p:sp>
          <p:nvSpPr>
            <p:cNvPr id="35" name="object 35"/>
            <p:cNvSpPr/>
            <p:nvPr/>
          </p:nvSpPr>
          <p:spPr>
            <a:xfrm>
              <a:off x="4865370" y="5400294"/>
              <a:ext cx="405765" cy="388620"/>
            </a:xfrm>
            <a:custGeom>
              <a:avLst/>
              <a:gdLst/>
              <a:ahLst/>
              <a:cxnLst/>
              <a:rect l="l" t="t" r="r" b="b"/>
              <a:pathLst>
                <a:path w="405764" h="388620">
                  <a:moveTo>
                    <a:pt x="0" y="194308"/>
                  </a:moveTo>
                  <a:lnTo>
                    <a:pt x="5356" y="149755"/>
                  </a:lnTo>
                  <a:lnTo>
                    <a:pt x="20611" y="108856"/>
                  </a:lnTo>
                  <a:lnTo>
                    <a:pt x="44547" y="72778"/>
                  </a:lnTo>
                  <a:lnTo>
                    <a:pt x="75942" y="42687"/>
                  </a:lnTo>
                  <a:lnTo>
                    <a:pt x="113577" y="19749"/>
                  </a:lnTo>
                  <a:lnTo>
                    <a:pt x="156234" y="5131"/>
                  </a:lnTo>
                  <a:lnTo>
                    <a:pt x="202692" y="0"/>
                  </a:lnTo>
                  <a:lnTo>
                    <a:pt x="249149" y="5131"/>
                  </a:lnTo>
                  <a:lnTo>
                    <a:pt x="291806" y="19749"/>
                  </a:lnTo>
                  <a:lnTo>
                    <a:pt x="329441" y="42687"/>
                  </a:lnTo>
                  <a:lnTo>
                    <a:pt x="360836" y="72778"/>
                  </a:lnTo>
                  <a:lnTo>
                    <a:pt x="384772" y="108856"/>
                  </a:lnTo>
                  <a:lnTo>
                    <a:pt x="400027" y="149755"/>
                  </a:lnTo>
                  <a:lnTo>
                    <a:pt x="405384" y="194308"/>
                  </a:lnTo>
                  <a:lnTo>
                    <a:pt x="400027" y="238862"/>
                  </a:lnTo>
                  <a:lnTo>
                    <a:pt x="384772" y="279761"/>
                  </a:lnTo>
                  <a:lnTo>
                    <a:pt x="360836" y="315839"/>
                  </a:lnTo>
                  <a:lnTo>
                    <a:pt x="329441" y="345931"/>
                  </a:lnTo>
                  <a:lnTo>
                    <a:pt x="291806" y="368868"/>
                  </a:lnTo>
                  <a:lnTo>
                    <a:pt x="249149" y="383486"/>
                  </a:lnTo>
                  <a:lnTo>
                    <a:pt x="202692" y="388618"/>
                  </a:lnTo>
                  <a:lnTo>
                    <a:pt x="156234" y="383486"/>
                  </a:lnTo>
                  <a:lnTo>
                    <a:pt x="113577" y="368868"/>
                  </a:lnTo>
                  <a:lnTo>
                    <a:pt x="75942" y="345931"/>
                  </a:lnTo>
                  <a:lnTo>
                    <a:pt x="44547" y="315839"/>
                  </a:lnTo>
                  <a:lnTo>
                    <a:pt x="20611" y="279761"/>
                  </a:lnTo>
                  <a:lnTo>
                    <a:pt x="5356" y="238862"/>
                  </a:lnTo>
                  <a:lnTo>
                    <a:pt x="0" y="194308"/>
                  </a:lnTo>
                  <a:close/>
                </a:path>
              </a:pathLst>
            </a:custGeom>
            <a:ln w="26424">
              <a:solidFill>
                <a:srgbClr val="385D89"/>
              </a:solidFill>
            </a:ln>
          </p:spPr>
          <p:txBody>
            <a:bodyPr wrap="square" lIns="0" tIns="0" rIns="0" bIns="0" rtlCol="0"/>
            <a:lstStyle/>
            <a:p>
              <a:endParaRPr/>
            </a:p>
          </p:txBody>
        </p:sp>
      </p:grpSp>
      <p:sp>
        <p:nvSpPr>
          <p:cNvPr id="36" name="object 36"/>
          <p:cNvSpPr txBox="1"/>
          <p:nvPr/>
        </p:nvSpPr>
        <p:spPr>
          <a:xfrm>
            <a:off x="7622286" y="5439563"/>
            <a:ext cx="153035" cy="299720"/>
          </a:xfrm>
          <a:prstGeom prst="rect">
            <a:avLst/>
          </a:prstGeom>
        </p:spPr>
        <p:txBody>
          <a:bodyPr vert="horz" wrap="square" lIns="0" tIns="12700" rIns="0" bIns="0" rtlCol="0">
            <a:spAutoFit/>
          </a:bodyPr>
          <a:lstStyle/>
          <a:p>
            <a:pPr marL="12700">
              <a:spcBef>
                <a:spcPts val="100"/>
              </a:spcBef>
            </a:pPr>
            <a:r>
              <a:rPr spc="-50" dirty="0">
                <a:solidFill>
                  <a:srgbClr val="FFFFFF"/>
                </a:solidFill>
                <a:latin typeface="Arial"/>
                <a:cs typeface="Arial"/>
              </a:rPr>
              <a:t>6</a:t>
            </a:r>
            <a:endParaRPr>
              <a:latin typeface="Arial"/>
              <a:cs typeface="Arial"/>
            </a:endParaRPr>
          </a:p>
        </p:txBody>
      </p:sp>
      <p:sp>
        <p:nvSpPr>
          <p:cNvPr id="37" name="object 37"/>
          <p:cNvSpPr txBox="1"/>
          <p:nvPr/>
        </p:nvSpPr>
        <p:spPr>
          <a:xfrm>
            <a:off x="2919780" y="5474002"/>
            <a:ext cx="1148080" cy="574040"/>
          </a:xfrm>
          <a:prstGeom prst="rect">
            <a:avLst/>
          </a:prstGeom>
        </p:spPr>
        <p:txBody>
          <a:bodyPr vert="horz" wrap="square" lIns="0" tIns="12700" rIns="0" bIns="0" rtlCol="0">
            <a:spAutoFit/>
          </a:bodyPr>
          <a:lstStyle/>
          <a:p>
            <a:pPr marL="12700" marR="5080">
              <a:spcBef>
                <a:spcPts val="100"/>
              </a:spcBef>
            </a:pPr>
            <a:r>
              <a:rPr dirty="0">
                <a:latin typeface="Arial"/>
                <a:cs typeface="Arial"/>
              </a:rPr>
              <a:t>H</a:t>
            </a:r>
            <a:r>
              <a:rPr spc="-10" dirty="0">
                <a:latin typeface="Arial"/>
                <a:cs typeface="Arial"/>
              </a:rPr>
              <a:t> </a:t>
            </a:r>
            <a:r>
              <a:rPr dirty="0">
                <a:latin typeface="Arial"/>
                <a:cs typeface="Arial"/>
              </a:rPr>
              <a:t>=</a:t>
            </a:r>
            <a:r>
              <a:rPr spc="-5" dirty="0">
                <a:latin typeface="Arial"/>
                <a:cs typeface="Arial"/>
              </a:rPr>
              <a:t> </a:t>
            </a:r>
            <a:r>
              <a:rPr spc="-20" dirty="0">
                <a:latin typeface="Arial"/>
                <a:cs typeface="Arial"/>
              </a:rPr>
              <a:t>Host</a:t>
            </a:r>
            <a:r>
              <a:rPr spc="500" dirty="0">
                <a:latin typeface="Arial"/>
                <a:cs typeface="Arial"/>
              </a:rPr>
              <a:t> </a:t>
            </a:r>
            <a:r>
              <a:rPr dirty="0">
                <a:latin typeface="Arial"/>
                <a:cs typeface="Arial"/>
              </a:rPr>
              <a:t>D</a:t>
            </a:r>
            <a:r>
              <a:rPr spc="-10" dirty="0">
                <a:latin typeface="Arial"/>
                <a:cs typeface="Arial"/>
              </a:rPr>
              <a:t> </a:t>
            </a:r>
            <a:r>
              <a:rPr dirty="0">
                <a:latin typeface="Arial"/>
                <a:cs typeface="Arial"/>
              </a:rPr>
              <a:t>=</a:t>
            </a:r>
            <a:r>
              <a:rPr spc="-5" dirty="0">
                <a:latin typeface="Arial"/>
                <a:cs typeface="Arial"/>
              </a:rPr>
              <a:t> </a:t>
            </a:r>
            <a:r>
              <a:rPr spc="-10" dirty="0">
                <a:latin typeface="Arial"/>
                <a:cs typeface="Arial"/>
              </a:rPr>
              <a:t>Device</a:t>
            </a:r>
            <a:endParaRPr>
              <a:latin typeface="Arial"/>
              <a:cs typeface="Arial"/>
            </a:endParaRPr>
          </a:p>
        </p:txBody>
      </p:sp>
      <p:sp>
        <p:nvSpPr>
          <p:cNvPr id="38" name="object 38"/>
          <p:cNvSpPr txBox="1"/>
          <p:nvPr/>
        </p:nvSpPr>
        <p:spPr>
          <a:xfrm>
            <a:off x="2919780" y="6296658"/>
            <a:ext cx="3945890" cy="300355"/>
          </a:xfrm>
          <a:prstGeom prst="rect">
            <a:avLst/>
          </a:prstGeom>
        </p:spPr>
        <p:txBody>
          <a:bodyPr vert="horz" wrap="square" lIns="0" tIns="12700" rIns="0" bIns="0" rtlCol="0">
            <a:spAutoFit/>
          </a:bodyPr>
          <a:lstStyle/>
          <a:p>
            <a:pPr marL="12700">
              <a:spcBef>
                <a:spcPts val="100"/>
              </a:spcBef>
            </a:pPr>
            <a:r>
              <a:rPr dirty="0">
                <a:latin typeface="Arial"/>
                <a:cs typeface="Arial"/>
              </a:rPr>
              <a:t>Numbers</a:t>
            </a:r>
            <a:r>
              <a:rPr spc="-20" dirty="0">
                <a:latin typeface="Arial"/>
                <a:cs typeface="Arial"/>
              </a:rPr>
              <a:t> </a:t>
            </a:r>
            <a:r>
              <a:rPr dirty="0">
                <a:latin typeface="Arial"/>
                <a:cs typeface="Arial"/>
              </a:rPr>
              <a:t>on</a:t>
            </a:r>
            <a:r>
              <a:rPr spc="-30" dirty="0">
                <a:latin typeface="Arial"/>
                <a:cs typeface="Arial"/>
              </a:rPr>
              <a:t> </a:t>
            </a:r>
            <a:r>
              <a:rPr dirty="0">
                <a:latin typeface="Arial"/>
                <a:cs typeface="Arial"/>
              </a:rPr>
              <a:t>following</a:t>
            </a:r>
            <a:r>
              <a:rPr spc="15" dirty="0">
                <a:latin typeface="Arial"/>
                <a:cs typeface="Arial"/>
              </a:rPr>
              <a:t> </a:t>
            </a:r>
            <a:r>
              <a:rPr dirty="0">
                <a:latin typeface="Arial"/>
                <a:cs typeface="Arial"/>
              </a:rPr>
              <a:t>slides</a:t>
            </a:r>
            <a:r>
              <a:rPr spc="-15" dirty="0">
                <a:latin typeface="Arial"/>
                <a:cs typeface="Arial"/>
              </a:rPr>
              <a:t> </a:t>
            </a:r>
            <a:r>
              <a:rPr dirty="0">
                <a:latin typeface="Arial"/>
                <a:cs typeface="Arial"/>
              </a:rPr>
              <a:t>refer</a:t>
            </a:r>
            <a:r>
              <a:rPr spc="-25" dirty="0">
                <a:latin typeface="Arial"/>
                <a:cs typeface="Arial"/>
              </a:rPr>
              <a:t> </a:t>
            </a:r>
            <a:r>
              <a:rPr dirty="0">
                <a:latin typeface="Arial"/>
                <a:cs typeface="Arial"/>
              </a:rPr>
              <a:t>to</a:t>
            </a:r>
            <a:r>
              <a:rPr spc="-20" dirty="0">
                <a:latin typeface="Arial"/>
                <a:cs typeface="Arial"/>
              </a:rPr>
              <a:t> </a:t>
            </a:r>
            <a:r>
              <a:rPr spc="-50" dirty="0">
                <a:latin typeface="Wingdings"/>
                <a:cs typeface="Wingdings"/>
              </a:rPr>
              <a:t></a:t>
            </a:r>
            <a:endParaRPr>
              <a:latin typeface="Wingdings"/>
              <a:cs typeface="Wingdings"/>
            </a:endParaRPr>
          </a:p>
        </p:txBody>
      </p:sp>
    </p:spTree>
    <p:extLst>
      <p:ext uri="{BB962C8B-B14F-4D97-AF65-F5344CB8AC3E}">
        <p14:creationId xmlns:p14="http://schemas.microsoft.com/office/powerpoint/2010/main" val="736685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30"/>
          <p:cNvSpPr txBox="1">
            <a:spLocks noGrp="1"/>
          </p:cNvSpPr>
          <p:nvPr>
            <p:ph type="ctrTitle"/>
          </p:nvPr>
        </p:nvSpPr>
        <p:spPr>
          <a:xfrm>
            <a:off x="415611" y="1907630"/>
            <a:ext cx="11360800" cy="1169537"/>
          </a:xfrm>
          <a:prstGeom prst="rect">
            <a:avLst/>
          </a:prstGeom>
        </p:spPr>
        <p:txBody>
          <a:bodyPr spcFirstLastPara="1" wrap="square" lIns="365767" tIns="91433" rIns="0" bIns="91433" anchor="b" anchorCtr="0">
            <a:spAutoFit/>
          </a:bodyPr>
          <a:lstStyle/>
          <a:p>
            <a:r>
              <a:rPr lang="en-GB" sz="6400" dirty="0"/>
              <a:t>More on Complex Geometries</a:t>
            </a:r>
            <a:endParaRPr sz="6400" dirty="0"/>
          </a:p>
        </p:txBody>
      </p:sp>
      <p:sp>
        <p:nvSpPr>
          <p:cNvPr id="576" name="Google Shape;576;p30"/>
          <p:cNvSpPr txBox="1">
            <a:spLocks noGrp="1"/>
          </p:cNvSpPr>
          <p:nvPr>
            <p:ph type="sldNum" idx="12"/>
          </p:nvPr>
        </p:nvSpPr>
        <p:spPr>
          <a:xfrm>
            <a:off x="11296611" y="6217623"/>
            <a:ext cx="731600" cy="524800"/>
          </a:xfrm>
          <a:prstGeom prst="rect">
            <a:avLst/>
          </a:prstGeom>
        </p:spPr>
        <p:txBody>
          <a:bodyPr spcFirstLastPara="1" wrap="square" lIns="0" tIns="0" rIns="0" bIns="0" anchor="ctr" anchorCtr="0">
            <a:noAutofit/>
          </a:bodyPr>
          <a:lstStyle/>
          <a:p>
            <a:fld id="{00000000-1234-1234-1234-123412341234}" type="slidenum">
              <a:rPr lang="en-GB"/>
              <a:pPr/>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31"/>
          <p:cNvSpPr txBox="1">
            <a:spLocks noGrp="1"/>
          </p:cNvSpPr>
          <p:nvPr>
            <p:ph type="title"/>
          </p:nvPr>
        </p:nvSpPr>
        <p:spPr>
          <a:xfrm>
            <a:off x="435243" y="303334"/>
            <a:ext cx="10650400" cy="709600"/>
          </a:xfrm>
          <a:prstGeom prst="rect">
            <a:avLst/>
          </a:prstGeom>
          <a:noFill/>
        </p:spPr>
        <p:txBody>
          <a:bodyPr spcFirstLastPara="1" wrap="square" lIns="91433" tIns="91433" rIns="91433" bIns="91433" anchor="b" anchorCtr="0">
            <a:noAutofit/>
          </a:bodyPr>
          <a:lstStyle/>
          <a:p>
            <a:pPr rtl="0"/>
            <a:r>
              <a:rPr lang="en-GB" dirty="0"/>
              <a:t>kind of Geometries</a:t>
            </a:r>
            <a:endParaRPr dirty="0"/>
          </a:p>
        </p:txBody>
      </p:sp>
      <p:sp>
        <p:nvSpPr>
          <p:cNvPr id="582" name="Google Shape;582;p31"/>
          <p:cNvSpPr txBox="1">
            <a:spLocks noGrp="1"/>
          </p:cNvSpPr>
          <p:nvPr>
            <p:ph type="body" idx="1"/>
          </p:nvPr>
        </p:nvSpPr>
        <p:spPr>
          <a:xfrm>
            <a:off x="418000" y="825567"/>
            <a:ext cx="11326400" cy="520000"/>
          </a:xfrm>
          <a:prstGeom prst="rect">
            <a:avLst/>
          </a:prstGeom>
        </p:spPr>
        <p:txBody>
          <a:bodyPr spcFirstLastPara="1" wrap="square" lIns="91433" tIns="91433" rIns="91433" bIns="91433" anchor="t" anchorCtr="0">
            <a:noAutofit/>
          </a:bodyPr>
          <a:lstStyle/>
          <a:p>
            <a:pPr marL="0" indent="0" rtl="0">
              <a:buNone/>
            </a:pPr>
            <a:r>
              <a:rPr lang="en-GB" sz="2267" dirty="0"/>
              <a:t>Images, matrices, … have a 2D or a 3D data organization.</a:t>
            </a:r>
            <a:r>
              <a:rPr lang="en-GB" sz="2267" b="1" dirty="0"/>
              <a:t> </a:t>
            </a:r>
            <a:endParaRPr sz="2267" b="1" dirty="0"/>
          </a:p>
        </p:txBody>
      </p:sp>
      <p:sp>
        <p:nvSpPr>
          <p:cNvPr id="583" name="Google Shape;583;p31"/>
          <p:cNvSpPr txBox="1">
            <a:spLocks noGrp="1"/>
          </p:cNvSpPr>
          <p:nvPr>
            <p:ph type="sldNum" idx="12"/>
          </p:nvPr>
        </p:nvSpPr>
        <p:spPr>
          <a:xfrm>
            <a:off x="11466783" y="5913927"/>
            <a:ext cx="731600" cy="418000"/>
          </a:xfrm>
          <a:prstGeom prst="rect">
            <a:avLst/>
          </a:prstGeom>
        </p:spPr>
        <p:txBody>
          <a:bodyPr spcFirstLastPara="1" wrap="square" lIns="91433" tIns="91433" rIns="91433" bIns="91433" anchor="t" anchorCtr="0">
            <a:noAutofit/>
          </a:bodyPr>
          <a:lstStyle/>
          <a:p>
            <a:pPr rtl="0"/>
            <a:fld id="{00000000-1234-1234-1234-123412341234}" type="slidenum">
              <a:rPr lang="en-GB"/>
              <a:pPr rtl="0"/>
              <a:t>8</a:t>
            </a:fld>
            <a:endParaRPr/>
          </a:p>
        </p:txBody>
      </p:sp>
      <p:sp>
        <p:nvSpPr>
          <p:cNvPr id="584" name="Google Shape;584;p31"/>
          <p:cNvSpPr txBox="1">
            <a:spLocks noGrp="1"/>
          </p:cNvSpPr>
          <p:nvPr>
            <p:ph type="body" idx="1"/>
          </p:nvPr>
        </p:nvSpPr>
        <p:spPr>
          <a:xfrm>
            <a:off x="418000" y="1231967"/>
            <a:ext cx="11326400" cy="520000"/>
          </a:xfrm>
          <a:prstGeom prst="rect">
            <a:avLst/>
          </a:prstGeom>
        </p:spPr>
        <p:txBody>
          <a:bodyPr spcFirstLastPara="1" wrap="square" lIns="91433" tIns="91433" rIns="91433" bIns="91433" anchor="t" anchorCtr="0">
            <a:noAutofit/>
          </a:bodyPr>
          <a:lstStyle/>
          <a:p>
            <a:pPr marL="0" indent="0" rtl="0">
              <a:buNone/>
            </a:pPr>
            <a:r>
              <a:rPr lang="en-GB" sz="2267" dirty="0"/>
              <a:t>To simplify the processing of multidimensional data, </a:t>
            </a:r>
            <a:r>
              <a:rPr lang="en-GB" sz="2267" b="1" dirty="0">
                <a:solidFill>
                  <a:schemeClr val="dk2"/>
                </a:solidFill>
              </a:rPr>
              <a:t>CUDA supports multidimensional grids and blocks</a:t>
            </a:r>
            <a:r>
              <a:rPr lang="en-GB" sz="2267" dirty="0"/>
              <a:t> (up to 3D)</a:t>
            </a:r>
            <a:endParaRPr sz="2267" b="1" dirty="0"/>
          </a:p>
        </p:txBody>
      </p:sp>
      <p:pic>
        <p:nvPicPr>
          <p:cNvPr id="585" name="Google Shape;585;p31"/>
          <p:cNvPicPr preferRelativeResize="0"/>
          <p:nvPr/>
        </p:nvPicPr>
        <p:blipFill>
          <a:blip r:embed="rId3">
            <a:alphaModFix/>
          </a:blip>
          <a:stretch>
            <a:fillRect/>
          </a:stretch>
        </p:blipFill>
        <p:spPr>
          <a:xfrm>
            <a:off x="2214167" y="3160034"/>
            <a:ext cx="2957100" cy="2957100"/>
          </a:xfrm>
          <a:prstGeom prst="rect">
            <a:avLst/>
          </a:prstGeom>
          <a:noFill/>
          <a:ln>
            <a:noFill/>
          </a:ln>
        </p:spPr>
      </p:pic>
      <p:grpSp>
        <p:nvGrpSpPr>
          <p:cNvPr id="586" name="Google Shape;586;p31"/>
          <p:cNvGrpSpPr/>
          <p:nvPr/>
        </p:nvGrpSpPr>
        <p:grpSpPr>
          <a:xfrm>
            <a:off x="1854218" y="2893234"/>
            <a:ext cx="3276033" cy="3171309"/>
            <a:chOff x="1390663" y="2169925"/>
            <a:chExt cx="2457025" cy="2378482"/>
          </a:xfrm>
        </p:grpSpPr>
        <p:grpSp>
          <p:nvGrpSpPr>
            <p:cNvPr id="587" name="Google Shape;587;p31"/>
            <p:cNvGrpSpPr/>
            <p:nvPr/>
          </p:nvGrpSpPr>
          <p:grpSpPr>
            <a:xfrm>
              <a:off x="1390663" y="2414300"/>
              <a:ext cx="222900" cy="2134107"/>
              <a:chOff x="1390663" y="2261900"/>
              <a:chExt cx="222900" cy="2134107"/>
            </a:xfrm>
          </p:grpSpPr>
          <p:sp>
            <p:nvSpPr>
              <p:cNvPr id="588" name="Google Shape;588;p31"/>
              <p:cNvSpPr txBox="1"/>
              <p:nvPr/>
            </p:nvSpPr>
            <p:spPr>
              <a:xfrm>
                <a:off x="1390663" y="2261900"/>
                <a:ext cx="222900" cy="200007"/>
              </a:xfrm>
              <a:prstGeom prst="rect">
                <a:avLst/>
              </a:prstGeom>
              <a:noFill/>
              <a:ln>
                <a:noFill/>
              </a:ln>
            </p:spPr>
            <p:txBody>
              <a:bodyPr spcFirstLastPara="1" wrap="square" lIns="0" tIns="0" rIns="0" bIns="0" anchor="t" anchorCtr="0">
                <a:spAutoFit/>
              </a:bodyPr>
              <a:lstStyle/>
              <a:p>
                <a:pPr algn="ctr" rtl="0"/>
                <a:r>
                  <a:rPr lang="en-GB" sz="1733">
                    <a:solidFill>
                      <a:srgbClr val="595959"/>
                    </a:solidFill>
                    <a:latin typeface="Lato"/>
                    <a:ea typeface="Lato"/>
                    <a:cs typeface="Lato"/>
                    <a:sym typeface="Lato"/>
                  </a:rPr>
                  <a:t>0</a:t>
                </a:r>
                <a:endParaRPr sz="1733">
                  <a:solidFill>
                    <a:srgbClr val="595959"/>
                  </a:solidFill>
                  <a:latin typeface="Lato"/>
                  <a:ea typeface="Lato"/>
                  <a:cs typeface="Lato"/>
                  <a:sym typeface="Lato"/>
                </a:endParaRPr>
              </a:p>
            </p:txBody>
          </p:sp>
          <p:sp>
            <p:nvSpPr>
              <p:cNvPr id="589" name="Google Shape;589;p31"/>
              <p:cNvSpPr txBox="1"/>
              <p:nvPr/>
            </p:nvSpPr>
            <p:spPr>
              <a:xfrm>
                <a:off x="1390663" y="2538200"/>
                <a:ext cx="222900" cy="200007"/>
              </a:xfrm>
              <a:prstGeom prst="rect">
                <a:avLst/>
              </a:prstGeom>
              <a:noFill/>
              <a:ln>
                <a:noFill/>
              </a:ln>
            </p:spPr>
            <p:txBody>
              <a:bodyPr spcFirstLastPara="1" wrap="square" lIns="0" tIns="0" rIns="0" bIns="0" anchor="t" anchorCtr="0">
                <a:spAutoFit/>
              </a:bodyPr>
              <a:lstStyle/>
              <a:p>
                <a:pPr algn="ctr" rtl="0"/>
                <a:r>
                  <a:rPr lang="en-GB" sz="1733">
                    <a:solidFill>
                      <a:srgbClr val="595959"/>
                    </a:solidFill>
                    <a:latin typeface="Lato"/>
                    <a:ea typeface="Lato"/>
                    <a:cs typeface="Lato"/>
                    <a:sym typeface="Lato"/>
                  </a:rPr>
                  <a:t>1</a:t>
                </a:r>
                <a:endParaRPr sz="1733">
                  <a:solidFill>
                    <a:srgbClr val="595959"/>
                  </a:solidFill>
                  <a:latin typeface="Lato"/>
                  <a:ea typeface="Lato"/>
                  <a:cs typeface="Lato"/>
                  <a:sym typeface="Lato"/>
                </a:endParaRPr>
              </a:p>
            </p:txBody>
          </p:sp>
          <p:sp>
            <p:nvSpPr>
              <p:cNvPr id="590" name="Google Shape;590;p31"/>
              <p:cNvSpPr txBox="1"/>
              <p:nvPr/>
            </p:nvSpPr>
            <p:spPr>
              <a:xfrm>
                <a:off x="1390663" y="2814500"/>
                <a:ext cx="222900" cy="200007"/>
              </a:xfrm>
              <a:prstGeom prst="rect">
                <a:avLst/>
              </a:prstGeom>
              <a:noFill/>
              <a:ln>
                <a:noFill/>
              </a:ln>
            </p:spPr>
            <p:txBody>
              <a:bodyPr spcFirstLastPara="1" wrap="square" lIns="0" tIns="0" rIns="0" bIns="0" anchor="t" anchorCtr="0">
                <a:spAutoFit/>
              </a:bodyPr>
              <a:lstStyle/>
              <a:p>
                <a:pPr algn="ctr" rtl="0"/>
                <a:r>
                  <a:rPr lang="en-GB" sz="1733">
                    <a:solidFill>
                      <a:srgbClr val="595959"/>
                    </a:solidFill>
                    <a:latin typeface="Lato"/>
                    <a:ea typeface="Lato"/>
                    <a:cs typeface="Lato"/>
                    <a:sym typeface="Lato"/>
                  </a:rPr>
                  <a:t>2</a:t>
                </a:r>
                <a:endParaRPr sz="1733">
                  <a:solidFill>
                    <a:srgbClr val="595959"/>
                  </a:solidFill>
                  <a:latin typeface="Lato"/>
                  <a:ea typeface="Lato"/>
                  <a:cs typeface="Lato"/>
                  <a:sym typeface="Lato"/>
                </a:endParaRPr>
              </a:p>
            </p:txBody>
          </p:sp>
          <p:sp>
            <p:nvSpPr>
              <p:cNvPr id="591" name="Google Shape;591;p31"/>
              <p:cNvSpPr txBox="1"/>
              <p:nvPr/>
            </p:nvSpPr>
            <p:spPr>
              <a:xfrm>
                <a:off x="1390663" y="3090800"/>
                <a:ext cx="222900" cy="200007"/>
              </a:xfrm>
              <a:prstGeom prst="rect">
                <a:avLst/>
              </a:prstGeom>
              <a:noFill/>
              <a:ln>
                <a:noFill/>
              </a:ln>
            </p:spPr>
            <p:txBody>
              <a:bodyPr spcFirstLastPara="1" wrap="square" lIns="0" tIns="0" rIns="0" bIns="0" anchor="t" anchorCtr="0">
                <a:spAutoFit/>
              </a:bodyPr>
              <a:lstStyle/>
              <a:p>
                <a:pPr algn="ctr" rtl="0"/>
                <a:r>
                  <a:rPr lang="en-GB" sz="1733">
                    <a:solidFill>
                      <a:srgbClr val="595959"/>
                    </a:solidFill>
                    <a:latin typeface="Lato"/>
                    <a:ea typeface="Lato"/>
                    <a:cs typeface="Lato"/>
                    <a:sym typeface="Lato"/>
                  </a:rPr>
                  <a:t>3</a:t>
                </a:r>
                <a:endParaRPr sz="1733">
                  <a:solidFill>
                    <a:srgbClr val="595959"/>
                  </a:solidFill>
                  <a:latin typeface="Lato"/>
                  <a:ea typeface="Lato"/>
                  <a:cs typeface="Lato"/>
                  <a:sym typeface="Lato"/>
                </a:endParaRPr>
              </a:p>
            </p:txBody>
          </p:sp>
          <p:sp>
            <p:nvSpPr>
              <p:cNvPr id="592" name="Google Shape;592;p31"/>
              <p:cNvSpPr txBox="1"/>
              <p:nvPr/>
            </p:nvSpPr>
            <p:spPr>
              <a:xfrm>
                <a:off x="1390663" y="3367100"/>
                <a:ext cx="222900" cy="200007"/>
              </a:xfrm>
              <a:prstGeom prst="rect">
                <a:avLst/>
              </a:prstGeom>
              <a:noFill/>
              <a:ln>
                <a:noFill/>
              </a:ln>
            </p:spPr>
            <p:txBody>
              <a:bodyPr spcFirstLastPara="1" wrap="square" lIns="0" tIns="0" rIns="0" bIns="0" anchor="t" anchorCtr="0">
                <a:spAutoFit/>
              </a:bodyPr>
              <a:lstStyle/>
              <a:p>
                <a:pPr algn="ctr" rtl="0"/>
                <a:r>
                  <a:rPr lang="en-GB" sz="1733">
                    <a:solidFill>
                      <a:srgbClr val="595959"/>
                    </a:solidFill>
                    <a:latin typeface="Lato"/>
                    <a:ea typeface="Lato"/>
                    <a:cs typeface="Lato"/>
                    <a:sym typeface="Lato"/>
                  </a:rPr>
                  <a:t>4</a:t>
                </a:r>
                <a:endParaRPr sz="1733">
                  <a:solidFill>
                    <a:srgbClr val="595959"/>
                  </a:solidFill>
                  <a:latin typeface="Lato"/>
                  <a:ea typeface="Lato"/>
                  <a:cs typeface="Lato"/>
                  <a:sym typeface="Lato"/>
                </a:endParaRPr>
              </a:p>
            </p:txBody>
          </p:sp>
          <p:sp>
            <p:nvSpPr>
              <p:cNvPr id="593" name="Google Shape;593;p31"/>
              <p:cNvSpPr txBox="1"/>
              <p:nvPr/>
            </p:nvSpPr>
            <p:spPr>
              <a:xfrm>
                <a:off x="1390663" y="3643400"/>
                <a:ext cx="222900" cy="200007"/>
              </a:xfrm>
              <a:prstGeom prst="rect">
                <a:avLst/>
              </a:prstGeom>
              <a:noFill/>
              <a:ln>
                <a:noFill/>
              </a:ln>
            </p:spPr>
            <p:txBody>
              <a:bodyPr spcFirstLastPara="1" wrap="square" lIns="0" tIns="0" rIns="0" bIns="0" anchor="t" anchorCtr="0">
                <a:spAutoFit/>
              </a:bodyPr>
              <a:lstStyle/>
              <a:p>
                <a:pPr algn="ctr" rtl="0"/>
                <a:r>
                  <a:rPr lang="en-GB" sz="1733">
                    <a:solidFill>
                      <a:srgbClr val="595959"/>
                    </a:solidFill>
                    <a:latin typeface="Lato"/>
                    <a:ea typeface="Lato"/>
                    <a:cs typeface="Lato"/>
                    <a:sym typeface="Lato"/>
                  </a:rPr>
                  <a:t>5</a:t>
                </a:r>
                <a:endParaRPr sz="1733">
                  <a:solidFill>
                    <a:srgbClr val="595959"/>
                  </a:solidFill>
                  <a:latin typeface="Lato"/>
                  <a:ea typeface="Lato"/>
                  <a:cs typeface="Lato"/>
                  <a:sym typeface="Lato"/>
                </a:endParaRPr>
              </a:p>
            </p:txBody>
          </p:sp>
          <p:sp>
            <p:nvSpPr>
              <p:cNvPr id="594" name="Google Shape;594;p31"/>
              <p:cNvSpPr txBox="1"/>
              <p:nvPr/>
            </p:nvSpPr>
            <p:spPr>
              <a:xfrm>
                <a:off x="1390663" y="3919700"/>
                <a:ext cx="222900" cy="200007"/>
              </a:xfrm>
              <a:prstGeom prst="rect">
                <a:avLst/>
              </a:prstGeom>
              <a:noFill/>
              <a:ln>
                <a:noFill/>
              </a:ln>
            </p:spPr>
            <p:txBody>
              <a:bodyPr spcFirstLastPara="1" wrap="square" lIns="0" tIns="0" rIns="0" bIns="0" anchor="t" anchorCtr="0">
                <a:spAutoFit/>
              </a:bodyPr>
              <a:lstStyle/>
              <a:p>
                <a:pPr algn="ctr" rtl="0"/>
                <a:r>
                  <a:rPr lang="en-GB" sz="1733">
                    <a:solidFill>
                      <a:srgbClr val="595959"/>
                    </a:solidFill>
                    <a:latin typeface="Lato"/>
                    <a:ea typeface="Lato"/>
                    <a:cs typeface="Lato"/>
                    <a:sym typeface="Lato"/>
                  </a:rPr>
                  <a:t>6</a:t>
                </a:r>
                <a:endParaRPr sz="1733">
                  <a:solidFill>
                    <a:srgbClr val="595959"/>
                  </a:solidFill>
                  <a:latin typeface="Lato"/>
                  <a:ea typeface="Lato"/>
                  <a:cs typeface="Lato"/>
                  <a:sym typeface="Lato"/>
                </a:endParaRPr>
              </a:p>
            </p:txBody>
          </p:sp>
          <p:sp>
            <p:nvSpPr>
              <p:cNvPr id="595" name="Google Shape;595;p31"/>
              <p:cNvSpPr txBox="1"/>
              <p:nvPr/>
            </p:nvSpPr>
            <p:spPr>
              <a:xfrm>
                <a:off x="1390663" y="4196000"/>
                <a:ext cx="222900" cy="200007"/>
              </a:xfrm>
              <a:prstGeom prst="rect">
                <a:avLst/>
              </a:prstGeom>
              <a:noFill/>
              <a:ln>
                <a:noFill/>
              </a:ln>
            </p:spPr>
            <p:txBody>
              <a:bodyPr spcFirstLastPara="1" wrap="square" lIns="0" tIns="0" rIns="0" bIns="0" anchor="t" anchorCtr="0">
                <a:spAutoFit/>
              </a:bodyPr>
              <a:lstStyle/>
              <a:p>
                <a:pPr algn="ctr" rtl="0"/>
                <a:r>
                  <a:rPr lang="en-GB" sz="1733">
                    <a:solidFill>
                      <a:srgbClr val="595959"/>
                    </a:solidFill>
                    <a:latin typeface="Lato"/>
                    <a:ea typeface="Lato"/>
                    <a:cs typeface="Lato"/>
                    <a:sym typeface="Lato"/>
                  </a:rPr>
                  <a:t>7</a:t>
                </a:r>
                <a:endParaRPr sz="1733">
                  <a:solidFill>
                    <a:srgbClr val="595959"/>
                  </a:solidFill>
                  <a:latin typeface="Lato"/>
                  <a:ea typeface="Lato"/>
                  <a:cs typeface="Lato"/>
                  <a:sym typeface="Lato"/>
                </a:endParaRPr>
              </a:p>
            </p:txBody>
          </p:sp>
        </p:grpSp>
        <p:grpSp>
          <p:nvGrpSpPr>
            <p:cNvPr id="596" name="Google Shape;596;p31"/>
            <p:cNvGrpSpPr/>
            <p:nvPr/>
          </p:nvGrpSpPr>
          <p:grpSpPr>
            <a:xfrm>
              <a:off x="1693438" y="2169925"/>
              <a:ext cx="2154250" cy="200007"/>
              <a:chOff x="1693438" y="2017525"/>
              <a:chExt cx="2154250" cy="200007"/>
            </a:xfrm>
          </p:grpSpPr>
          <p:sp>
            <p:nvSpPr>
              <p:cNvPr id="597" name="Google Shape;597;p31"/>
              <p:cNvSpPr txBox="1"/>
              <p:nvPr/>
            </p:nvSpPr>
            <p:spPr>
              <a:xfrm>
                <a:off x="1693438" y="2017525"/>
                <a:ext cx="222900" cy="200007"/>
              </a:xfrm>
              <a:prstGeom prst="rect">
                <a:avLst/>
              </a:prstGeom>
              <a:noFill/>
              <a:ln>
                <a:noFill/>
              </a:ln>
            </p:spPr>
            <p:txBody>
              <a:bodyPr spcFirstLastPara="1" wrap="square" lIns="0" tIns="0" rIns="0" bIns="0" anchor="t" anchorCtr="0">
                <a:spAutoFit/>
              </a:bodyPr>
              <a:lstStyle/>
              <a:p>
                <a:pPr algn="ctr" rtl="0"/>
                <a:r>
                  <a:rPr lang="en-GB" sz="1733">
                    <a:solidFill>
                      <a:srgbClr val="595959"/>
                    </a:solidFill>
                    <a:latin typeface="Lato"/>
                    <a:ea typeface="Lato"/>
                    <a:cs typeface="Lato"/>
                    <a:sym typeface="Lato"/>
                  </a:rPr>
                  <a:t>0</a:t>
                </a:r>
                <a:endParaRPr sz="1733">
                  <a:solidFill>
                    <a:srgbClr val="595959"/>
                  </a:solidFill>
                  <a:latin typeface="Lato"/>
                  <a:ea typeface="Lato"/>
                  <a:cs typeface="Lato"/>
                  <a:sym typeface="Lato"/>
                </a:endParaRPr>
              </a:p>
            </p:txBody>
          </p:sp>
          <p:sp>
            <p:nvSpPr>
              <p:cNvPr id="598" name="Google Shape;598;p31"/>
              <p:cNvSpPr txBox="1"/>
              <p:nvPr/>
            </p:nvSpPr>
            <p:spPr>
              <a:xfrm>
                <a:off x="1969345" y="2017525"/>
                <a:ext cx="222900" cy="200007"/>
              </a:xfrm>
              <a:prstGeom prst="rect">
                <a:avLst/>
              </a:prstGeom>
              <a:noFill/>
              <a:ln>
                <a:noFill/>
              </a:ln>
            </p:spPr>
            <p:txBody>
              <a:bodyPr spcFirstLastPara="1" wrap="square" lIns="0" tIns="0" rIns="0" bIns="0" anchor="t" anchorCtr="0">
                <a:spAutoFit/>
              </a:bodyPr>
              <a:lstStyle/>
              <a:p>
                <a:pPr algn="ctr" rtl="0"/>
                <a:r>
                  <a:rPr lang="en-GB" sz="1733">
                    <a:solidFill>
                      <a:srgbClr val="595959"/>
                    </a:solidFill>
                    <a:latin typeface="Lato"/>
                    <a:ea typeface="Lato"/>
                    <a:cs typeface="Lato"/>
                    <a:sym typeface="Lato"/>
                  </a:rPr>
                  <a:t>1</a:t>
                </a:r>
                <a:endParaRPr sz="1733">
                  <a:solidFill>
                    <a:srgbClr val="595959"/>
                  </a:solidFill>
                  <a:latin typeface="Lato"/>
                  <a:ea typeface="Lato"/>
                  <a:cs typeface="Lato"/>
                  <a:sym typeface="Lato"/>
                </a:endParaRPr>
              </a:p>
            </p:txBody>
          </p:sp>
          <p:sp>
            <p:nvSpPr>
              <p:cNvPr id="599" name="Google Shape;599;p31"/>
              <p:cNvSpPr txBox="1"/>
              <p:nvPr/>
            </p:nvSpPr>
            <p:spPr>
              <a:xfrm>
                <a:off x="2245252" y="2017525"/>
                <a:ext cx="222900" cy="200007"/>
              </a:xfrm>
              <a:prstGeom prst="rect">
                <a:avLst/>
              </a:prstGeom>
              <a:noFill/>
              <a:ln>
                <a:noFill/>
              </a:ln>
            </p:spPr>
            <p:txBody>
              <a:bodyPr spcFirstLastPara="1" wrap="square" lIns="0" tIns="0" rIns="0" bIns="0" anchor="t" anchorCtr="0">
                <a:spAutoFit/>
              </a:bodyPr>
              <a:lstStyle/>
              <a:p>
                <a:pPr algn="ctr" rtl="0"/>
                <a:r>
                  <a:rPr lang="en-GB" sz="1733">
                    <a:solidFill>
                      <a:srgbClr val="595959"/>
                    </a:solidFill>
                    <a:latin typeface="Lato"/>
                    <a:ea typeface="Lato"/>
                    <a:cs typeface="Lato"/>
                    <a:sym typeface="Lato"/>
                  </a:rPr>
                  <a:t>2</a:t>
                </a:r>
                <a:endParaRPr sz="1733">
                  <a:solidFill>
                    <a:srgbClr val="595959"/>
                  </a:solidFill>
                  <a:latin typeface="Lato"/>
                  <a:ea typeface="Lato"/>
                  <a:cs typeface="Lato"/>
                  <a:sym typeface="Lato"/>
                </a:endParaRPr>
              </a:p>
            </p:txBody>
          </p:sp>
          <p:sp>
            <p:nvSpPr>
              <p:cNvPr id="600" name="Google Shape;600;p31"/>
              <p:cNvSpPr txBox="1"/>
              <p:nvPr/>
            </p:nvSpPr>
            <p:spPr>
              <a:xfrm>
                <a:off x="2521159" y="2017525"/>
                <a:ext cx="222900" cy="200007"/>
              </a:xfrm>
              <a:prstGeom prst="rect">
                <a:avLst/>
              </a:prstGeom>
              <a:noFill/>
              <a:ln>
                <a:noFill/>
              </a:ln>
            </p:spPr>
            <p:txBody>
              <a:bodyPr spcFirstLastPara="1" wrap="square" lIns="0" tIns="0" rIns="0" bIns="0" anchor="t" anchorCtr="0">
                <a:spAutoFit/>
              </a:bodyPr>
              <a:lstStyle/>
              <a:p>
                <a:pPr algn="ctr" rtl="0"/>
                <a:r>
                  <a:rPr lang="en-GB" sz="1733">
                    <a:solidFill>
                      <a:srgbClr val="595959"/>
                    </a:solidFill>
                    <a:latin typeface="Lato"/>
                    <a:ea typeface="Lato"/>
                    <a:cs typeface="Lato"/>
                    <a:sym typeface="Lato"/>
                  </a:rPr>
                  <a:t>3</a:t>
                </a:r>
                <a:endParaRPr sz="1733">
                  <a:solidFill>
                    <a:srgbClr val="595959"/>
                  </a:solidFill>
                  <a:latin typeface="Lato"/>
                  <a:ea typeface="Lato"/>
                  <a:cs typeface="Lato"/>
                  <a:sym typeface="Lato"/>
                </a:endParaRPr>
              </a:p>
            </p:txBody>
          </p:sp>
          <p:sp>
            <p:nvSpPr>
              <p:cNvPr id="601" name="Google Shape;601;p31"/>
              <p:cNvSpPr txBox="1"/>
              <p:nvPr/>
            </p:nvSpPr>
            <p:spPr>
              <a:xfrm>
                <a:off x="2797066" y="2017525"/>
                <a:ext cx="222900" cy="200007"/>
              </a:xfrm>
              <a:prstGeom prst="rect">
                <a:avLst/>
              </a:prstGeom>
              <a:noFill/>
              <a:ln>
                <a:noFill/>
              </a:ln>
            </p:spPr>
            <p:txBody>
              <a:bodyPr spcFirstLastPara="1" wrap="square" lIns="0" tIns="0" rIns="0" bIns="0" anchor="t" anchorCtr="0">
                <a:spAutoFit/>
              </a:bodyPr>
              <a:lstStyle/>
              <a:p>
                <a:pPr algn="ctr" rtl="0"/>
                <a:r>
                  <a:rPr lang="en-GB" sz="1733">
                    <a:solidFill>
                      <a:srgbClr val="595959"/>
                    </a:solidFill>
                    <a:latin typeface="Lato"/>
                    <a:ea typeface="Lato"/>
                    <a:cs typeface="Lato"/>
                    <a:sym typeface="Lato"/>
                  </a:rPr>
                  <a:t>4</a:t>
                </a:r>
                <a:endParaRPr sz="1733">
                  <a:solidFill>
                    <a:srgbClr val="595959"/>
                  </a:solidFill>
                  <a:latin typeface="Lato"/>
                  <a:ea typeface="Lato"/>
                  <a:cs typeface="Lato"/>
                  <a:sym typeface="Lato"/>
                </a:endParaRPr>
              </a:p>
            </p:txBody>
          </p:sp>
          <p:sp>
            <p:nvSpPr>
              <p:cNvPr id="602" name="Google Shape;602;p31"/>
              <p:cNvSpPr txBox="1"/>
              <p:nvPr/>
            </p:nvSpPr>
            <p:spPr>
              <a:xfrm>
                <a:off x="3072974" y="2017525"/>
                <a:ext cx="222900" cy="200007"/>
              </a:xfrm>
              <a:prstGeom prst="rect">
                <a:avLst/>
              </a:prstGeom>
              <a:noFill/>
              <a:ln>
                <a:noFill/>
              </a:ln>
            </p:spPr>
            <p:txBody>
              <a:bodyPr spcFirstLastPara="1" wrap="square" lIns="0" tIns="0" rIns="0" bIns="0" anchor="t" anchorCtr="0">
                <a:spAutoFit/>
              </a:bodyPr>
              <a:lstStyle/>
              <a:p>
                <a:pPr algn="ctr" rtl="0"/>
                <a:r>
                  <a:rPr lang="en-GB" sz="1733">
                    <a:solidFill>
                      <a:srgbClr val="595959"/>
                    </a:solidFill>
                    <a:latin typeface="Lato"/>
                    <a:ea typeface="Lato"/>
                    <a:cs typeface="Lato"/>
                    <a:sym typeface="Lato"/>
                  </a:rPr>
                  <a:t>5</a:t>
                </a:r>
                <a:endParaRPr sz="1733">
                  <a:solidFill>
                    <a:srgbClr val="595959"/>
                  </a:solidFill>
                  <a:latin typeface="Lato"/>
                  <a:ea typeface="Lato"/>
                  <a:cs typeface="Lato"/>
                  <a:sym typeface="Lato"/>
                </a:endParaRPr>
              </a:p>
            </p:txBody>
          </p:sp>
          <p:sp>
            <p:nvSpPr>
              <p:cNvPr id="603" name="Google Shape;603;p31"/>
              <p:cNvSpPr txBox="1"/>
              <p:nvPr/>
            </p:nvSpPr>
            <p:spPr>
              <a:xfrm>
                <a:off x="3348881" y="2017525"/>
                <a:ext cx="222900" cy="200007"/>
              </a:xfrm>
              <a:prstGeom prst="rect">
                <a:avLst/>
              </a:prstGeom>
              <a:noFill/>
              <a:ln>
                <a:noFill/>
              </a:ln>
            </p:spPr>
            <p:txBody>
              <a:bodyPr spcFirstLastPara="1" wrap="square" lIns="0" tIns="0" rIns="0" bIns="0" anchor="t" anchorCtr="0">
                <a:spAutoFit/>
              </a:bodyPr>
              <a:lstStyle/>
              <a:p>
                <a:pPr algn="ctr" rtl="0"/>
                <a:r>
                  <a:rPr lang="en-GB" sz="1733">
                    <a:solidFill>
                      <a:srgbClr val="595959"/>
                    </a:solidFill>
                    <a:latin typeface="Lato"/>
                    <a:ea typeface="Lato"/>
                    <a:cs typeface="Lato"/>
                    <a:sym typeface="Lato"/>
                  </a:rPr>
                  <a:t>6</a:t>
                </a:r>
                <a:endParaRPr sz="1733">
                  <a:solidFill>
                    <a:srgbClr val="595959"/>
                  </a:solidFill>
                  <a:latin typeface="Lato"/>
                  <a:ea typeface="Lato"/>
                  <a:cs typeface="Lato"/>
                  <a:sym typeface="Lato"/>
                </a:endParaRPr>
              </a:p>
            </p:txBody>
          </p:sp>
          <p:sp>
            <p:nvSpPr>
              <p:cNvPr id="604" name="Google Shape;604;p31"/>
              <p:cNvSpPr txBox="1"/>
              <p:nvPr/>
            </p:nvSpPr>
            <p:spPr>
              <a:xfrm>
                <a:off x="3624788" y="2017525"/>
                <a:ext cx="222900" cy="200007"/>
              </a:xfrm>
              <a:prstGeom prst="rect">
                <a:avLst/>
              </a:prstGeom>
              <a:noFill/>
              <a:ln>
                <a:noFill/>
              </a:ln>
            </p:spPr>
            <p:txBody>
              <a:bodyPr spcFirstLastPara="1" wrap="square" lIns="0" tIns="0" rIns="0" bIns="0" anchor="t" anchorCtr="0">
                <a:spAutoFit/>
              </a:bodyPr>
              <a:lstStyle/>
              <a:p>
                <a:pPr algn="ctr" rtl="0"/>
                <a:r>
                  <a:rPr lang="en-GB" sz="1733">
                    <a:solidFill>
                      <a:srgbClr val="595959"/>
                    </a:solidFill>
                    <a:latin typeface="Lato"/>
                    <a:ea typeface="Lato"/>
                    <a:cs typeface="Lato"/>
                    <a:sym typeface="Lato"/>
                  </a:rPr>
                  <a:t>7</a:t>
                </a:r>
                <a:endParaRPr sz="1733">
                  <a:solidFill>
                    <a:srgbClr val="595959"/>
                  </a:solidFill>
                  <a:latin typeface="Lato"/>
                  <a:ea typeface="Lato"/>
                  <a:cs typeface="Lato"/>
                  <a:sym typeface="Lato"/>
                </a:endParaRPr>
              </a:p>
            </p:txBody>
          </p:sp>
        </p:grpSp>
      </p:grpSp>
      <p:sp>
        <p:nvSpPr>
          <p:cNvPr id="605" name="Google Shape;605;p31"/>
          <p:cNvSpPr txBox="1">
            <a:spLocks noGrp="1"/>
          </p:cNvSpPr>
          <p:nvPr>
            <p:ph type="body" idx="1"/>
          </p:nvPr>
        </p:nvSpPr>
        <p:spPr>
          <a:xfrm>
            <a:off x="418000" y="2146367"/>
            <a:ext cx="11326400" cy="520000"/>
          </a:xfrm>
          <a:prstGeom prst="rect">
            <a:avLst/>
          </a:prstGeom>
        </p:spPr>
        <p:txBody>
          <a:bodyPr spcFirstLastPara="1" wrap="square" lIns="91433" tIns="91433" rIns="91433" bIns="91433" anchor="t" anchorCtr="0">
            <a:noAutofit/>
          </a:bodyPr>
          <a:lstStyle/>
          <a:p>
            <a:pPr marL="0" indent="0" rtl="0">
              <a:buNone/>
            </a:pPr>
            <a:r>
              <a:rPr lang="en-GB" sz="2267"/>
              <a:t>For instance, consider an HxW image</a:t>
            </a:r>
            <a:endParaRPr sz="2267" b="1"/>
          </a:p>
        </p:txBody>
      </p:sp>
      <p:grpSp>
        <p:nvGrpSpPr>
          <p:cNvPr id="606" name="Google Shape;606;p31"/>
          <p:cNvGrpSpPr/>
          <p:nvPr/>
        </p:nvGrpSpPr>
        <p:grpSpPr>
          <a:xfrm>
            <a:off x="223433" y="3283234"/>
            <a:ext cx="3103067" cy="627767"/>
            <a:chOff x="167575" y="2462425"/>
            <a:chExt cx="2327300" cy="470825"/>
          </a:xfrm>
        </p:grpSpPr>
        <p:sp>
          <p:nvSpPr>
            <p:cNvPr id="607" name="Google Shape;607;p31"/>
            <p:cNvSpPr/>
            <p:nvPr/>
          </p:nvSpPr>
          <p:spPr>
            <a:xfrm>
              <a:off x="2213475" y="2651850"/>
              <a:ext cx="281400" cy="2814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608" name="Google Shape;608;p31"/>
            <p:cNvSpPr txBox="1"/>
            <p:nvPr/>
          </p:nvSpPr>
          <p:spPr>
            <a:xfrm>
              <a:off x="167575" y="2462425"/>
              <a:ext cx="1223100" cy="363600"/>
            </a:xfrm>
            <a:prstGeom prst="rect">
              <a:avLst/>
            </a:prstGeom>
            <a:noFill/>
            <a:ln>
              <a:noFill/>
            </a:ln>
          </p:spPr>
          <p:txBody>
            <a:bodyPr spcFirstLastPara="1" wrap="square" lIns="121900" tIns="121900" rIns="121900" bIns="121900" anchor="t" anchorCtr="0">
              <a:noAutofit/>
            </a:bodyPr>
            <a:lstStyle/>
            <a:p>
              <a:pPr algn="l" rtl="0"/>
              <a:r>
                <a:rPr lang="en-GB" sz="1600">
                  <a:solidFill>
                    <a:schemeClr val="accent3"/>
                  </a:solidFill>
                  <a:latin typeface="Roboto Mono"/>
                  <a:ea typeface="Roboto Mono"/>
                  <a:cs typeface="Roboto Mono"/>
                  <a:sym typeface="Roboto Mono"/>
                </a:rPr>
                <a:t>image[1][2]</a:t>
              </a:r>
              <a:endParaRPr sz="1600">
                <a:solidFill>
                  <a:schemeClr val="accent3"/>
                </a:solidFill>
                <a:latin typeface="Roboto Mono"/>
                <a:ea typeface="Roboto Mono"/>
                <a:cs typeface="Roboto Mono"/>
                <a:sym typeface="Roboto Mono"/>
              </a:endParaRPr>
            </a:p>
          </p:txBody>
        </p:sp>
        <p:cxnSp>
          <p:nvCxnSpPr>
            <p:cNvPr id="609" name="Google Shape;609;p31"/>
            <p:cNvCxnSpPr>
              <a:endCxn id="607" idx="1"/>
            </p:cNvCxnSpPr>
            <p:nvPr/>
          </p:nvCxnSpPr>
          <p:spPr>
            <a:xfrm>
              <a:off x="1358175" y="2673750"/>
              <a:ext cx="855300" cy="118800"/>
            </a:xfrm>
            <a:prstGeom prst="straightConnector1">
              <a:avLst/>
            </a:prstGeom>
            <a:noFill/>
            <a:ln w="9525" cap="flat" cmpd="sng">
              <a:solidFill>
                <a:schemeClr val="accent3"/>
              </a:solidFill>
              <a:prstDash val="solid"/>
              <a:round/>
              <a:headEnd type="none" w="med" len="med"/>
              <a:tailEnd type="none" w="med" len="med"/>
            </a:ln>
          </p:spPr>
        </p:cxnSp>
      </p:grpSp>
      <p:pic>
        <p:nvPicPr>
          <p:cNvPr id="610" name="Google Shape;610;p31"/>
          <p:cNvPicPr preferRelativeResize="0"/>
          <p:nvPr/>
        </p:nvPicPr>
        <p:blipFill>
          <a:blip r:embed="rId3">
            <a:alphaModFix/>
          </a:blip>
          <a:stretch>
            <a:fillRect/>
          </a:stretch>
        </p:blipFill>
        <p:spPr>
          <a:xfrm>
            <a:off x="8411767" y="3160034"/>
            <a:ext cx="2957100" cy="2957100"/>
          </a:xfrm>
          <a:prstGeom prst="rect">
            <a:avLst/>
          </a:prstGeom>
          <a:noFill/>
          <a:ln>
            <a:noFill/>
          </a:ln>
        </p:spPr>
      </p:pic>
      <p:grpSp>
        <p:nvGrpSpPr>
          <p:cNvPr id="611" name="Google Shape;611;p31"/>
          <p:cNvGrpSpPr/>
          <p:nvPr/>
        </p:nvGrpSpPr>
        <p:grpSpPr>
          <a:xfrm>
            <a:off x="5412633" y="3368534"/>
            <a:ext cx="2464400" cy="1136933"/>
            <a:chOff x="4059475" y="2526400"/>
            <a:chExt cx="1848300" cy="852700"/>
          </a:xfrm>
        </p:grpSpPr>
        <p:cxnSp>
          <p:nvCxnSpPr>
            <p:cNvPr id="612" name="Google Shape;612;p31"/>
            <p:cNvCxnSpPr/>
            <p:nvPr/>
          </p:nvCxnSpPr>
          <p:spPr>
            <a:xfrm>
              <a:off x="4490350" y="3379100"/>
              <a:ext cx="1122600" cy="0"/>
            </a:xfrm>
            <a:prstGeom prst="straightConnector1">
              <a:avLst/>
            </a:prstGeom>
            <a:noFill/>
            <a:ln w="19050" cap="flat" cmpd="sng">
              <a:solidFill>
                <a:schemeClr val="dk2"/>
              </a:solidFill>
              <a:prstDash val="solid"/>
              <a:round/>
              <a:headEnd type="none" w="med" len="med"/>
              <a:tailEnd type="triangle" w="med" len="med"/>
            </a:ln>
          </p:spPr>
        </p:cxnSp>
        <p:sp>
          <p:nvSpPr>
            <p:cNvPr id="613" name="Google Shape;613;p31"/>
            <p:cNvSpPr txBox="1"/>
            <p:nvPr/>
          </p:nvSpPr>
          <p:spPr>
            <a:xfrm>
              <a:off x="4059475" y="2526400"/>
              <a:ext cx="1848300" cy="554700"/>
            </a:xfrm>
            <a:prstGeom prst="rect">
              <a:avLst/>
            </a:prstGeom>
            <a:noFill/>
            <a:ln>
              <a:noFill/>
            </a:ln>
          </p:spPr>
          <p:txBody>
            <a:bodyPr spcFirstLastPara="1" wrap="square" lIns="121900" tIns="121900" rIns="121900" bIns="121900" anchor="t" anchorCtr="0">
              <a:noAutofit/>
            </a:bodyPr>
            <a:lstStyle/>
            <a:p>
              <a:pPr algn="ctr" rtl="0"/>
              <a:r>
                <a:rPr lang="en-GB" sz="2133">
                  <a:solidFill>
                    <a:srgbClr val="595959"/>
                  </a:solidFill>
                  <a:latin typeface="Lato"/>
                  <a:ea typeface="Lato"/>
                  <a:cs typeface="Lato"/>
                  <a:sym typeface="Lato"/>
                </a:rPr>
                <a:t>E.g., use  a grid of 2x2 blocks, each with 4x4 threads</a:t>
              </a:r>
              <a:endParaRPr sz="2133">
                <a:solidFill>
                  <a:srgbClr val="595959"/>
                </a:solidFill>
                <a:latin typeface="Lato"/>
                <a:ea typeface="Lato"/>
                <a:cs typeface="Lato"/>
                <a:sym typeface="Lato"/>
              </a:endParaRPr>
            </a:p>
          </p:txBody>
        </p:sp>
      </p:grpSp>
      <p:grpSp>
        <p:nvGrpSpPr>
          <p:cNvPr id="614" name="Google Shape;614;p31"/>
          <p:cNvGrpSpPr/>
          <p:nvPr/>
        </p:nvGrpSpPr>
        <p:grpSpPr>
          <a:xfrm>
            <a:off x="8027885" y="2732567"/>
            <a:ext cx="2008900" cy="1912117"/>
            <a:chOff x="6020913" y="2049425"/>
            <a:chExt cx="1506675" cy="1434088"/>
          </a:xfrm>
        </p:grpSpPr>
        <p:grpSp>
          <p:nvGrpSpPr>
            <p:cNvPr id="615" name="Google Shape;615;p31"/>
            <p:cNvGrpSpPr/>
            <p:nvPr/>
          </p:nvGrpSpPr>
          <p:grpSpPr>
            <a:xfrm>
              <a:off x="6316167" y="2373874"/>
              <a:ext cx="1094738" cy="1106575"/>
              <a:chOff x="6316167" y="2373874"/>
              <a:chExt cx="1094738" cy="1106575"/>
            </a:xfrm>
          </p:grpSpPr>
          <p:grpSp>
            <p:nvGrpSpPr>
              <p:cNvPr id="616" name="Google Shape;616;p31"/>
              <p:cNvGrpSpPr/>
              <p:nvPr/>
            </p:nvGrpSpPr>
            <p:grpSpPr>
              <a:xfrm>
                <a:off x="6316167" y="2373874"/>
                <a:ext cx="1094738" cy="273600"/>
                <a:chOff x="6316167" y="2373874"/>
                <a:chExt cx="1094738" cy="273600"/>
              </a:xfrm>
            </p:grpSpPr>
            <p:sp>
              <p:nvSpPr>
                <p:cNvPr id="617" name="Google Shape;617;p31"/>
                <p:cNvSpPr/>
                <p:nvPr/>
              </p:nvSpPr>
              <p:spPr>
                <a:xfrm>
                  <a:off x="6316167"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618" name="Google Shape;618;p31"/>
                <p:cNvSpPr/>
                <p:nvPr/>
              </p:nvSpPr>
              <p:spPr>
                <a:xfrm>
                  <a:off x="6589879"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619" name="Google Shape;619;p31"/>
                <p:cNvSpPr/>
                <p:nvPr/>
              </p:nvSpPr>
              <p:spPr>
                <a:xfrm>
                  <a:off x="6863592"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620" name="Google Shape;620;p31"/>
                <p:cNvSpPr/>
                <p:nvPr/>
              </p:nvSpPr>
              <p:spPr>
                <a:xfrm>
                  <a:off x="7137304"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621" name="Google Shape;621;p31"/>
                <p:cNvSpPr/>
                <p:nvPr/>
              </p:nvSpPr>
              <p:spPr>
                <a:xfrm flipH="1">
                  <a:off x="6410375"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622" name="Google Shape;622;p31"/>
                <p:cNvSpPr/>
                <p:nvPr/>
              </p:nvSpPr>
              <p:spPr>
                <a:xfrm flipH="1">
                  <a:off x="66840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623" name="Google Shape;623;p31"/>
                <p:cNvSpPr/>
                <p:nvPr/>
              </p:nvSpPr>
              <p:spPr>
                <a:xfrm flipH="1">
                  <a:off x="69577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624" name="Google Shape;624;p31"/>
                <p:cNvSpPr/>
                <p:nvPr/>
              </p:nvSpPr>
              <p:spPr>
                <a:xfrm flipH="1">
                  <a:off x="7231512"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grpSp>
          <p:grpSp>
            <p:nvGrpSpPr>
              <p:cNvPr id="625" name="Google Shape;625;p31"/>
              <p:cNvGrpSpPr/>
              <p:nvPr/>
            </p:nvGrpSpPr>
            <p:grpSpPr>
              <a:xfrm>
                <a:off x="6316167" y="2647474"/>
                <a:ext cx="1094738" cy="273600"/>
                <a:chOff x="6316167" y="2373874"/>
                <a:chExt cx="1094738" cy="273600"/>
              </a:xfrm>
            </p:grpSpPr>
            <p:sp>
              <p:nvSpPr>
                <p:cNvPr id="626" name="Google Shape;626;p31"/>
                <p:cNvSpPr/>
                <p:nvPr/>
              </p:nvSpPr>
              <p:spPr>
                <a:xfrm>
                  <a:off x="6316167"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627" name="Google Shape;627;p31"/>
                <p:cNvSpPr/>
                <p:nvPr/>
              </p:nvSpPr>
              <p:spPr>
                <a:xfrm>
                  <a:off x="6589879"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628" name="Google Shape;628;p31"/>
                <p:cNvSpPr/>
                <p:nvPr/>
              </p:nvSpPr>
              <p:spPr>
                <a:xfrm>
                  <a:off x="6863592"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629" name="Google Shape;629;p31"/>
                <p:cNvSpPr/>
                <p:nvPr/>
              </p:nvSpPr>
              <p:spPr>
                <a:xfrm>
                  <a:off x="7137304"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630" name="Google Shape;630;p31"/>
                <p:cNvSpPr/>
                <p:nvPr/>
              </p:nvSpPr>
              <p:spPr>
                <a:xfrm flipH="1">
                  <a:off x="6410375"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631" name="Google Shape;631;p31"/>
                <p:cNvSpPr/>
                <p:nvPr/>
              </p:nvSpPr>
              <p:spPr>
                <a:xfrm flipH="1">
                  <a:off x="66840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632" name="Google Shape;632;p31"/>
                <p:cNvSpPr/>
                <p:nvPr/>
              </p:nvSpPr>
              <p:spPr>
                <a:xfrm flipH="1">
                  <a:off x="69577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633" name="Google Shape;633;p31"/>
                <p:cNvSpPr/>
                <p:nvPr/>
              </p:nvSpPr>
              <p:spPr>
                <a:xfrm flipH="1">
                  <a:off x="7231512"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grpSp>
          <p:grpSp>
            <p:nvGrpSpPr>
              <p:cNvPr id="634" name="Google Shape;634;p31"/>
              <p:cNvGrpSpPr/>
              <p:nvPr/>
            </p:nvGrpSpPr>
            <p:grpSpPr>
              <a:xfrm>
                <a:off x="6316167" y="2933249"/>
                <a:ext cx="1094738" cy="273600"/>
                <a:chOff x="6316167" y="2373874"/>
                <a:chExt cx="1094738" cy="273600"/>
              </a:xfrm>
            </p:grpSpPr>
            <p:sp>
              <p:nvSpPr>
                <p:cNvPr id="635" name="Google Shape;635;p31"/>
                <p:cNvSpPr/>
                <p:nvPr/>
              </p:nvSpPr>
              <p:spPr>
                <a:xfrm>
                  <a:off x="6316167"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636" name="Google Shape;636;p31"/>
                <p:cNvSpPr/>
                <p:nvPr/>
              </p:nvSpPr>
              <p:spPr>
                <a:xfrm>
                  <a:off x="6589879"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637" name="Google Shape;637;p31"/>
                <p:cNvSpPr/>
                <p:nvPr/>
              </p:nvSpPr>
              <p:spPr>
                <a:xfrm>
                  <a:off x="6863592"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638" name="Google Shape;638;p31"/>
                <p:cNvSpPr/>
                <p:nvPr/>
              </p:nvSpPr>
              <p:spPr>
                <a:xfrm>
                  <a:off x="7137304"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639" name="Google Shape;639;p31"/>
                <p:cNvSpPr/>
                <p:nvPr/>
              </p:nvSpPr>
              <p:spPr>
                <a:xfrm flipH="1">
                  <a:off x="6410375"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640" name="Google Shape;640;p31"/>
                <p:cNvSpPr/>
                <p:nvPr/>
              </p:nvSpPr>
              <p:spPr>
                <a:xfrm flipH="1">
                  <a:off x="66840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641" name="Google Shape;641;p31"/>
                <p:cNvSpPr/>
                <p:nvPr/>
              </p:nvSpPr>
              <p:spPr>
                <a:xfrm flipH="1">
                  <a:off x="69577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642" name="Google Shape;642;p31"/>
                <p:cNvSpPr/>
                <p:nvPr/>
              </p:nvSpPr>
              <p:spPr>
                <a:xfrm flipH="1">
                  <a:off x="7231512"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grpSp>
          <p:grpSp>
            <p:nvGrpSpPr>
              <p:cNvPr id="643" name="Google Shape;643;p31"/>
              <p:cNvGrpSpPr/>
              <p:nvPr/>
            </p:nvGrpSpPr>
            <p:grpSpPr>
              <a:xfrm>
                <a:off x="6316167" y="3206849"/>
                <a:ext cx="1094738" cy="273600"/>
                <a:chOff x="6316167" y="2373874"/>
                <a:chExt cx="1094738" cy="273600"/>
              </a:xfrm>
            </p:grpSpPr>
            <p:sp>
              <p:nvSpPr>
                <p:cNvPr id="644" name="Google Shape;644;p31"/>
                <p:cNvSpPr/>
                <p:nvPr/>
              </p:nvSpPr>
              <p:spPr>
                <a:xfrm>
                  <a:off x="6316167"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645" name="Google Shape;645;p31"/>
                <p:cNvSpPr/>
                <p:nvPr/>
              </p:nvSpPr>
              <p:spPr>
                <a:xfrm>
                  <a:off x="6589879"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646" name="Google Shape;646;p31"/>
                <p:cNvSpPr/>
                <p:nvPr/>
              </p:nvSpPr>
              <p:spPr>
                <a:xfrm>
                  <a:off x="6863592"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647" name="Google Shape;647;p31"/>
                <p:cNvSpPr/>
                <p:nvPr/>
              </p:nvSpPr>
              <p:spPr>
                <a:xfrm>
                  <a:off x="7137304"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648" name="Google Shape;648;p31"/>
                <p:cNvSpPr/>
                <p:nvPr/>
              </p:nvSpPr>
              <p:spPr>
                <a:xfrm flipH="1">
                  <a:off x="6410375"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649" name="Google Shape;649;p31"/>
                <p:cNvSpPr/>
                <p:nvPr/>
              </p:nvSpPr>
              <p:spPr>
                <a:xfrm flipH="1">
                  <a:off x="66840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650" name="Google Shape;650;p31"/>
                <p:cNvSpPr/>
                <p:nvPr/>
              </p:nvSpPr>
              <p:spPr>
                <a:xfrm flipH="1">
                  <a:off x="69577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651" name="Google Shape;651;p31"/>
                <p:cNvSpPr/>
                <p:nvPr/>
              </p:nvSpPr>
              <p:spPr>
                <a:xfrm flipH="1">
                  <a:off x="7231512"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grpSp>
        </p:grpSp>
        <p:grpSp>
          <p:nvGrpSpPr>
            <p:cNvPr id="652" name="Google Shape;652;p31"/>
            <p:cNvGrpSpPr/>
            <p:nvPr/>
          </p:nvGrpSpPr>
          <p:grpSpPr>
            <a:xfrm>
              <a:off x="6311400" y="2049425"/>
              <a:ext cx="1216188" cy="220350"/>
              <a:chOff x="6311400" y="2049425"/>
              <a:chExt cx="1216188" cy="220350"/>
            </a:xfrm>
          </p:grpSpPr>
          <p:cxnSp>
            <p:nvCxnSpPr>
              <p:cNvPr id="653" name="Google Shape;653;p31"/>
              <p:cNvCxnSpPr/>
              <p:nvPr/>
            </p:nvCxnSpPr>
            <p:spPr>
              <a:xfrm>
                <a:off x="6311400" y="2269775"/>
                <a:ext cx="1071300" cy="0"/>
              </a:xfrm>
              <a:prstGeom prst="straightConnector1">
                <a:avLst/>
              </a:prstGeom>
              <a:noFill/>
              <a:ln w="9525" cap="flat" cmpd="sng">
                <a:solidFill>
                  <a:schemeClr val="accent3"/>
                </a:solidFill>
                <a:prstDash val="solid"/>
                <a:round/>
                <a:headEnd type="none" w="med" len="med"/>
                <a:tailEnd type="triangle" w="med" len="med"/>
              </a:ln>
            </p:spPr>
          </p:cxnSp>
          <p:sp>
            <p:nvSpPr>
              <p:cNvPr id="654" name="Google Shape;654;p31"/>
              <p:cNvSpPr txBox="1"/>
              <p:nvPr/>
            </p:nvSpPr>
            <p:spPr>
              <a:xfrm>
                <a:off x="7382688" y="2049425"/>
                <a:ext cx="144900" cy="170700"/>
              </a:xfrm>
              <a:prstGeom prst="rect">
                <a:avLst/>
              </a:prstGeom>
              <a:noFill/>
              <a:ln>
                <a:noFill/>
              </a:ln>
            </p:spPr>
            <p:txBody>
              <a:bodyPr spcFirstLastPara="1" wrap="square" lIns="0" tIns="0" rIns="0" bIns="0" anchor="t" anchorCtr="0">
                <a:noAutofit/>
              </a:bodyPr>
              <a:lstStyle/>
              <a:p>
                <a:pPr algn="l" rtl="0"/>
                <a:r>
                  <a:rPr lang="en-GB" sz="2133">
                    <a:solidFill>
                      <a:schemeClr val="accent3"/>
                    </a:solidFill>
                    <a:latin typeface="Lato"/>
                    <a:ea typeface="Lato"/>
                    <a:cs typeface="Lato"/>
                    <a:sym typeface="Lato"/>
                  </a:rPr>
                  <a:t>x</a:t>
                </a:r>
                <a:endParaRPr sz="2133">
                  <a:solidFill>
                    <a:schemeClr val="accent3"/>
                  </a:solidFill>
                  <a:latin typeface="Lato"/>
                  <a:ea typeface="Lato"/>
                  <a:cs typeface="Lato"/>
                  <a:sym typeface="Lato"/>
                </a:endParaRPr>
              </a:p>
            </p:txBody>
          </p:sp>
        </p:grpSp>
        <p:grpSp>
          <p:nvGrpSpPr>
            <p:cNvPr id="655" name="Google Shape;655;p31"/>
            <p:cNvGrpSpPr/>
            <p:nvPr/>
          </p:nvGrpSpPr>
          <p:grpSpPr>
            <a:xfrm>
              <a:off x="6020913" y="2370813"/>
              <a:ext cx="204688" cy="1112700"/>
              <a:chOff x="6020913" y="2370813"/>
              <a:chExt cx="204688" cy="1112700"/>
            </a:xfrm>
          </p:grpSpPr>
          <p:cxnSp>
            <p:nvCxnSpPr>
              <p:cNvPr id="656" name="Google Shape;656;p31"/>
              <p:cNvCxnSpPr/>
              <p:nvPr/>
            </p:nvCxnSpPr>
            <p:spPr>
              <a:xfrm>
                <a:off x="6225600" y="2370813"/>
                <a:ext cx="0" cy="1112700"/>
              </a:xfrm>
              <a:prstGeom prst="straightConnector1">
                <a:avLst/>
              </a:prstGeom>
              <a:noFill/>
              <a:ln w="9525" cap="flat" cmpd="sng">
                <a:solidFill>
                  <a:schemeClr val="accent3"/>
                </a:solidFill>
                <a:prstDash val="solid"/>
                <a:round/>
                <a:headEnd type="none" w="med" len="med"/>
                <a:tailEnd type="triangle" w="med" len="med"/>
              </a:ln>
            </p:spPr>
          </p:cxnSp>
          <p:sp>
            <p:nvSpPr>
              <p:cNvPr id="657" name="Google Shape;657;p31"/>
              <p:cNvSpPr txBox="1"/>
              <p:nvPr/>
            </p:nvSpPr>
            <p:spPr>
              <a:xfrm>
                <a:off x="6020913" y="3208400"/>
                <a:ext cx="144900" cy="170700"/>
              </a:xfrm>
              <a:prstGeom prst="rect">
                <a:avLst/>
              </a:prstGeom>
              <a:noFill/>
              <a:ln>
                <a:noFill/>
              </a:ln>
            </p:spPr>
            <p:txBody>
              <a:bodyPr spcFirstLastPara="1" wrap="square" lIns="0" tIns="0" rIns="0" bIns="0" anchor="t" anchorCtr="0">
                <a:noAutofit/>
              </a:bodyPr>
              <a:lstStyle/>
              <a:p>
                <a:pPr algn="l" rtl="0"/>
                <a:r>
                  <a:rPr lang="en-GB" sz="2133">
                    <a:solidFill>
                      <a:schemeClr val="accent3"/>
                    </a:solidFill>
                    <a:latin typeface="Lato"/>
                    <a:ea typeface="Lato"/>
                    <a:cs typeface="Lato"/>
                    <a:sym typeface="Lato"/>
                  </a:rPr>
                  <a:t>y</a:t>
                </a:r>
                <a:endParaRPr sz="2133">
                  <a:solidFill>
                    <a:schemeClr val="accent3"/>
                  </a:solidFill>
                  <a:latin typeface="Lato"/>
                  <a:ea typeface="Lato"/>
                  <a:cs typeface="Lato"/>
                  <a:sym typeface="Lato"/>
                </a:endParaRPr>
              </a:p>
            </p:txBody>
          </p:sp>
        </p:grpSp>
      </p:grpSp>
      <p:grpSp>
        <p:nvGrpSpPr>
          <p:cNvPr id="658" name="Google Shape;658;p31"/>
          <p:cNvGrpSpPr/>
          <p:nvPr/>
        </p:nvGrpSpPr>
        <p:grpSpPr>
          <a:xfrm>
            <a:off x="8422568" y="3160032"/>
            <a:ext cx="2946304" cy="2950867"/>
            <a:chOff x="6316926" y="2370024"/>
            <a:chExt cx="2209728" cy="2213150"/>
          </a:xfrm>
        </p:grpSpPr>
        <p:grpSp>
          <p:nvGrpSpPr>
            <p:cNvPr id="659" name="Google Shape;659;p31"/>
            <p:cNvGrpSpPr/>
            <p:nvPr/>
          </p:nvGrpSpPr>
          <p:grpSpPr>
            <a:xfrm>
              <a:off x="7431917" y="2370024"/>
              <a:ext cx="1094738" cy="1106575"/>
              <a:chOff x="6316167" y="2373874"/>
              <a:chExt cx="1094738" cy="1106575"/>
            </a:xfrm>
          </p:grpSpPr>
          <p:grpSp>
            <p:nvGrpSpPr>
              <p:cNvPr id="660" name="Google Shape;660;p31"/>
              <p:cNvGrpSpPr/>
              <p:nvPr/>
            </p:nvGrpSpPr>
            <p:grpSpPr>
              <a:xfrm>
                <a:off x="6316167" y="2373874"/>
                <a:ext cx="1094738" cy="273600"/>
                <a:chOff x="6316167" y="2373874"/>
                <a:chExt cx="1094738" cy="273600"/>
              </a:xfrm>
            </p:grpSpPr>
            <p:sp>
              <p:nvSpPr>
                <p:cNvPr id="661" name="Google Shape;661;p31"/>
                <p:cNvSpPr/>
                <p:nvPr/>
              </p:nvSpPr>
              <p:spPr>
                <a:xfrm>
                  <a:off x="6316167"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662" name="Google Shape;662;p31"/>
                <p:cNvSpPr/>
                <p:nvPr/>
              </p:nvSpPr>
              <p:spPr>
                <a:xfrm>
                  <a:off x="6589879"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663" name="Google Shape;663;p31"/>
                <p:cNvSpPr/>
                <p:nvPr/>
              </p:nvSpPr>
              <p:spPr>
                <a:xfrm>
                  <a:off x="6863592"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664" name="Google Shape;664;p31"/>
                <p:cNvSpPr/>
                <p:nvPr/>
              </p:nvSpPr>
              <p:spPr>
                <a:xfrm>
                  <a:off x="7137304"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665" name="Google Shape;665;p31"/>
                <p:cNvSpPr/>
                <p:nvPr/>
              </p:nvSpPr>
              <p:spPr>
                <a:xfrm flipH="1">
                  <a:off x="6410375"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666" name="Google Shape;666;p31"/>
                <p:cNvSpPr/>
                <p:nvPr/>
              </p:nvSpPr>
              <p:spPr>
                <a:xfrm flipH="1">
                  <a:off x="66840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667" name="Google Shape;667;p31"/>
                <p:cNvSpPr/>
                <p:nvPr/>
              </p:nvSpPr>
              <p:spPr>
                <a:xfrm flipH="1">
                  <a:off x="69577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668" name="Google Shape;668;p31"/>
                <p:cNvSpPr/>
                <p:nvPr/>
              </p:nvSpPr>
              <p:spPr>
                <a:xfrm flipH="1">
                  <a:off x="7231512"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grpSp>
          <p:grpSp>
            <p:nvGrpSpPr>
              <p:cNvPr id="669" name="Google Shape;669;p31"/>
              <p:cNvGrpSpPr/>
              <p:nvPr/>
            </p:nvGrpSpPr>
            <p:grpSpPr>
              <a:xfrm>
                <a:off x="6316167" y="2647474"/>
                <a:ext cx="1094738" cy="273600"/>
                <a:chOff x="6316167" y="2373874"/>
                <a:chExt cx="1094738" cy="273600"/>
              </a:xfrm>
            </p:grpSpPr>
            <p:sp>
              <p:nvSpPr>
                <p:cNvPr id="670" name="Google Shape;670;p31"/>
                <p:cNvSpPr/>
                <p:nvPr/>
              </p:nvSpPr>
              <p:spPr>
                <a:xfrm>
                  <a:off x="6316167"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671" name="Google Shape;671;p31"/>
                <p:cNvSpPr/>
                <p:nvPr/>
              </p:nvSpPr>
              <p:spPr>
                <a:xfrm>
                  <a:off x="6589879"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672" name="Google Shape;672;p31"/>
                <p:cNvSpPr/>
                <p:nvPr/>
              </p:nvSpPr>
              <p:spPr>
                <a:xfrm>
                  <a:off x="6863592"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673" name="Google Shape;673;p31"/>
                <p:cNvSpPr/>
                <p:nvPr/>
              </p:nvSpPr>
              <p:spPr>
                <a:xfrm>
                  <a:off x="7137304"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674" name="Google Shape;674;p31"/>
                <p:cNvSpPr/>
                <p:nvPr/>
              </p:nvSpPr>
              <p:spPr>
                <a:xfrm flipH="1">
                  <a:off x="6410375"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675" name="Google Shape;675;p31"/>
                <p:cNvSpPr/>
                <p:nvPr/>
              </p:nvSpPr>
              <p:spPr>
                <a:xfrm flipH="1">
                  <a:off x="66840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676" name="Google Shape;676;p31"/>
                <p:cNvSpPr/>
                <p:nvPr/>
              </p:nvSpPr>
              <p:spPr>
                <a:xfrm flipH="1">
                  <a:off x="69577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677" name="Google Shape;677;p31"/>
                <p:cNvSpPr/>
                <p:nvPr/>
              </p:nvSpPr>
              <p:spPr>
                <a:xfrm flipH="1">
                  <a:off x="7231512"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grpSp>
          <p:grpSp>
            <p:nvGrpSpPr>
              <p:cNvPr id="678" name="Google Shape;678;p31"/>
              <p:cNvGrpSpPr/>
              <p:nvPr/>
            </p:nvGrpSpPr>
            <p:grpSpPr>
              <a:xfrm>
                <a:off x="6316167" y="2933249"/>
                <a:ext cx="1094738" cy="273600"/>
                <a:chOff x="6316167" y="2373874"/>
                <a:chExt cx="1094738" cy="273600"/>
              </a:xfrm>
            </p:grpSpPr>
            <p:sp>
              <p:nvSpPr>
                <p:cNvPr id="679" name="Google Shape;679;p31"/>
                <p:cNvSpPr/>
                <p:nvPr/>
              </p:nvSpPr>
              <p:spPr>
                <a:xfrm>
                  <a:off x="6316167"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680" name="Google Shape;680;p31"/>
                <p:cNvSpPr/>
                <p:nvPr/>
              </p:nvSpPr>
              <p:spPr>
                <a:xfrm>
                  <a:off x="6589879"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681" name="Google Shape;681;p31"/>
                <p:cNvSpPr/>
                <p:nvPr/>
              </p:nvSpPr>
              <p:spPr>
                <a:xfrm>
                  <a:off x="6863592"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682" name="Google Shape;682;p31"/>
                <p:cNvSpPr/>
                <p:nvPr/>
              </p:nvSpPr>
              <p:spPr>
                <a:xfrm>
                  <a:off x="7137304"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683" name="Google Shape;683;p31"/>
                <p:cNvSpPr/>
                <p:nvPr/>
              </p:nvSpPr>
              <p:spPr>
                <a:xfrm flipH="1">
                  <a:off x="6410375"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684" name="Google Shape;684;p31"/>
                <p:cNvSpPr/>
                <p:nvPr/>
              </p:nvSpPr>
              <p:spPr>
                <a:xfrm flipH="1">
                  <a:off x="66840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685" name="Google Shape;685;p31"/>
                <p:cNvSpPr/>
                <p:nvPr/>
              </p:nvSpPr>
              <p:spPr>
                <a:xfrm flipH="1">
                  <a:off x="69577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686" name="Google Shape;686;p31"/>
                <p:cNvSpPr/>
                <p:nvPr/>
              </p:nvSpPr>
              <p:spPr>
                <a:xfrm flipH="1">
                  <a:off x="7231512"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grpSp>
          <p:grpSp>
            <p:nvGrpSpPr>
              <p:cNvPr id="687" name="Google Shape;687;p31"/>
              <p:cNvGrpSpPr/>
              <p:nvPr/>
            </p:nvGrpSpPr>
            <p:grpSpPr>
              <a:xfrm>
                <a:off x="6316167" y="3206849"/>
                <a:ext cx="1094738" cy="273600"/>
                <a:chOff x="6316167" y="2373874"/>
                <a:chExt cx="1094738" cy="273600"/>
              </a:xfrm>
            </p:grpSpPr>
            <p:sp>
              <p:nvSpPr>
                <p:cNvPr id="688" name="Google Shape;688;p31"/>
                <p:cNvSpPr/>
                <p:nvPr/>
              </p:nvSpPr>
              <p:spPr>
                <a:xfrm>
                  <a:off x="6316167"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689" name="Google Shape;689;p31"/>
                <p:cNvSpPr/>
                <p:nvPr/>
              </p:nvSpPr>
              <p:spPr>
                <a:xfrm>
                  <a:off x="6589879"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690" name="Google Shape;690;p31"/>
                <p:cNvSpPr/>
                <p:nvPr/>
              </p:nvSpPr>
              <p:spPr>
                <a:xfrm>
                  <a:off x="6863592"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691" name="Google Shape;691;p31"/>
                <p:cNvSpPr/>
                <p:nvPr/>
              </p:nvSpPr>
              <p:spPr>
                <a:xfrm>
                  <a:off x="7137304"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692" name="Google Shape;692;p31"/>
                <p:cNvSpPr/>
                <p:nvPr/>
              </p:nvSpPr>
              <p:spPr>
                <a:xfrm flipH="1">
                  <a:off x="6410375"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693" name="Google Shape;693;p31"/>
                <p:cNvSpPr/>
                <p:nvPr/>
              </p:nvSpPr>
              <p:spPr>
                <a:xfrm flipH="1">
                  <a:off x="66840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694" name="Google Shape;694;p31"/>
                <p:cNvSpPr/>
                <p:nvPr/>
              </p:nvSpPr>
              <p:spPr>
                <a:xfrm flipH="1">
                  <a:off x="69577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695" name="Google Shape;695;p31"/>
                <p:cNvSpPr/>
                <p:nvPr/>
              </p:nvSpPr>
              <p:spPr>
                <a:xfrm flipH="1">
                  <a:off x="7231512"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grpSp>
        </p:grpSp>
        <p:grpSp>
          <p:nvGrpSpPr>
            <p:cNvPr id="696" name="Google Shape;696;p31"/>
            <p:cNvGrpSpPr/>
            <p:nvPr/>
          </p:nvGrpSpPr>
          <p:grpSpPr>
            <a:xfrm>
              <a:off x="6316926" y="3476599"/>
              <a:ext cx="1094738" cy="1106575"/>
              <a:chOff x="6316167" y="2373874"/>
              <a:chExt cx="1094738" cy="1106575"/>
            </a:xfrm>
          </p:grpSpPr>
          <p:grpSp>
            <p:nvGrpSpPr>
              <p:cNvPr id="697" name="Google Shape;697;p31"/>
              <p:cNvGrpSpPr/>
              <p:nvPr/>
            </p:nvGrpSpPr>
            <p:grpSpPr>
              <a:xfrm>
                <a:off x="6316167" y="2373874"/>
                <a:ext cx="1094738" cy="273600"/>
                <a:chOff x="6316167" y="2373874"/>
                <a:chExt cx="1094738" cy="273600"/>
              </a:xfrm>
            </p:grpSpPr>
            <p:sp>
              <p:nvSpPr>
                <p:cNvPr id="698" name="Google Shape;698;p31"/>
                <p:cNvSpPr/>
                <p:nvPr/>
              </p:nvSpPr>
              <p:spPr>
                <a:xfrm>
                  <a:off x="6316167"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699" name="Google Shape;699;p31"/>
                <p:cNvSpPr/>
                <p:nvPr/>
              </p:nvSpPr>
              <p:spPr>
                <a:xfrm>
                  <a:off x="6589879"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700" name="Google Shape;700;p31"/>
                <p:cNvSpPr/>
                <p:nvPr/>
              </p:nvSpPr>
              <p:spPr>
                <a:xfrm>
                  <a:off x="6863592"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701" name="Google Shape;701;p31"/>
                <p:cNvSpPr/>
                <p:nvPr/>
              </p:nvSpPr>
              <p:spPr>
                <a:xfrm>
                  <a:off x="7137304"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702" name="Google Shape;702;p31"/>
                <p:cNvSpPr/>
                <p:nvPr/>
              </p:nvSpPr>
              <p:spPr>
                <a:xfrm flipH="1">
                  <a:off x="6410375"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703" name="Google Shape;703;p31"/>
                <p:cNvSpPr/>
                <p:nvPr/>
              </p:nvSpPr>
              <p:spPr>
                <a:xfrm flipH="1">
                  <a:off x="66840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704" name="Google Shape;704;p31"/>
                <p:cNvSpPr/>
                <p:nvPr/>
              </p:nvSpPr>
              <p:spPr>
                <a:xfrm flipH="1">
                  <a:off x="69577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705" name="Google Shape;705;p31"/>
                <p:cNvSpPr/>
                <p:nvPr/>
              </p:nvSpPr>
              <p:spPr>
                <a:xfrm flipH="1">
                  <a:off x="7231512"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grpSp>
          <p:grpSp>
            <p:nvGrpSpPr>
              <p:cNvPr id="706" name="Google Shape;706;p31"/>
              <p:cNvGrpSpPr/>
              <p:nvPr/>
            </p:nvGrpSpPr>
            <p:grpSpPr>
              <a:xfrm>
                <a:off x="6316167" y="2647474"/>
                <a:ext cx="1094738" cy="273600"/>
                <a:chOff x="6316167" y="2373874"/>
                <a:chExt cx="1094738" cy="273600"/>
              </a:xfrm>
            </p:grpSpPr>
            <p:sp>
              <p:nvSpPr>
                <p:cNvPr id="707" name="Google Shape;707;p31"/>
                <p:cNvSpPr/>
                <p:nvPr/>
              </p:nvSpPr>
              <p:spPr>
                <a:xfrm>
                  <a:off x="6316167"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708" name="Google Shape;708;p31"/>
                <p:cNvSpPr/>
                <p:nvPr/>
              </p:nvSpPr>
              <p:spPr>
                <a:xfrm>
                  <a:off x="6589879"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709" name="Google Shape;709;p31"/>
                <p:cNvSpPr/>
                <p:nvPr/>
              </p:nvSpPr>
              <p:spPr>
                <a:xfrm>
                  <a:off x="6863592"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710" name="Google Shape;710;p31"/>
                <p:cNvSpPr/>
                <p:nvPr/>
              </p:nvSpPr>
              <p:spPr>
                <a:xfrm>
                  <a:off x="7137304"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711" name="Google Shape;711;p31"/>
                <p:cNvSpPr/>
                <p:nvPr/>
              </p:nvSpPr>
              <p:spPr>
                <a:xfrm flipH="1">
                  <a:off x="6410375"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712" name="Google Shape;712;p31"/>
                <p:cNvSpPr/>
                <p:nvPr/>
              </p:nvSpPr>
              <p:spPr>
                <a:xfrm flipH="1">
                  <a:off x="66840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713" name="Google Shape;713;p31"/>
                <p:cNvSpPr/>
                <p:nvPr/>
              </p:nvSpPr>
              <p:spPr>
                <a:xfrm flipH="1">
                  <a:off x="69577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714" name="Google Shape;714;p31"/>
                <p:cNvSpPr/>
                <p:nvPr/>
              </p:nvSpPr>
              <p:spPr>
                <a:xfrm flipH="1">
                  <a:off x="7231512"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grpSp>
          <p:grpSp>
            <p:nvGrpSpPr>
              <p:cNvPr id="715" name="Google Shape;715;p31"/>
              <p:cNvGrpSpPr/>
              <p:nvPr/>
            </p:nvGrpSpPr>
            <p:grpSpPr>
              <a:xfrm>
                <a:off x="6316167" y="2933249"/>
                <a:ext cx="1094738" cy="273600"/>
                <a:chOff x="6316167" y="2373874"/>
                <a:chExt cx="1094738" cy="273600"/>
              </a:xfrm>
            </p:grpSpPr>
            <p:sp>
              <p:nvSpPr>
                <p:cNvPr id="716" name="Google Shape;716;p31"/>
                <p:cNvSpPr/>
                <p:nvPr/>
              </p:nvSpPr>
              <p:spPr>
                <a:xfrm>
                  <a:off x="6316167"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717" name="Google Shape;717;p31"/>
                <p:cNvSpPr/>
                <p:nvPr/>
              </p:nvSpPr>
              <p:spPr>
                <a:xfrm>
                  <a:off x="6589879"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718" name="Google Shape;718;p31"/>
                <p:cNvSpPr/>
                <p:nvPr/>
              </p:nvSpPr>
              <p:spPr>
                <a:xfrm>
                  <a:off x="6863592"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719" name="Google Shape;719;p31"/>
                <p:cNvSpPr/>
                <p:nvPr/>
              </p:nvSpPr>
              <p:spPr>
                <a:xfrm>
                  <a:off x="7137304"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720" name="Google Shape;720;p31"/>
                <p:cNvSpPr/>
                <p:nvPr/>
              </p:nvSpPr>
              <p:spPr>
                <a:xfrm flipH="1">
                  <a:off x="6410375"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721" name="Google Shape;721;p31"/>
                <p:cNvSpPr/>
                <p:nvPr/>
              </p:nvSpPr>
              <p:spPr>
                <a:xfrm flipH="1">
                  <a:off x="66840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722" name="Google Shape;722;p31"/>
                <p:cNvSpPr/>
                <p:nvPr/>
              </p:nvSpPr>
              <p:spPr>
                <a:xfrm flipH="1">
                  <a:off x="69577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723" name="Google Shape;723;p31"/>
                <p:cNvSpPr/>
                <p:nvPr/>
              </p:nvSpPr>
              <p:spPr>
                <a:xfrm flipH="1">
                  <a:off x="7231512"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grpSp>
          <p:grpSp>
            <p:nvGrpSpPr>
              <p:cNvPr id="724" name="Google Shape;724;p31"/>
              <p:cNvGrpSpPr/>
              <p:nvPr/>
            </p:nvGrpSpPr>
            <p:grpSpPr>
              <a:xfrm>
                <a:off x="6316167" y="3206849"/>
                <a:ext cx="1094738" cy="273600"/>
                <a:chOff x="6316167" y="2373874"/>
                <a:chExt cx="1094738" cy="273600"/>
              </a:xfrm>
            </p:grpSpPr>
            <p:sp>
              <p:nvSpPr>
                <p:cNvPr id="725" name="Google Shape;725;p31"/>
                <p:cNvSpPr/>
                <p:nvPr/>
              </p:nvSpPr>
              <p:spPr>
                <a:xfrm>
                  <a:off x="6316167"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726" name="Google Shape;726;p31"/>
                <p:cNvSpPr/>
                <p:nvPr/>
              </p:nvSpPr>
              <p:spPr>
                <a:xfrm>
                  <a:off x="6589879"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727" name="Google Shape;727;p31"/>
                <p:cNvSpPr/>
                <p:nvPr/>
              </p:nvSpPr>
              <p:spPr>
                <a:xfrm>
                  <a:off x="6863592"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728" name="Google Shape;728;p31"/>
                <p:cNvSpPr/>
                <p:nvPr/>
              </p:nvSpPr>
              <p:spPr>
                <a:xfrm>
                  <a:off x="7137304"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729" name="Google Shape;729;p31"/>
                <p:cNvSpPr/>
                <p:nvPr/>
              </p:nvSpPr>
              <p:spPr>
                <a:xfrm flipH="1">
                  <a:off x="6410375"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730" name="Google Shape;730;p31"/>
                <p:cNvSpPr/>
                <p:nvPr/>
              </p:nvSpPr>
              <p:spPr>
                <a:xfrm flipH="1">
                  <a:off x="66840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731" name="Google Shape;731;p31"/>
                <p:cNvSpPr/>
                <p:nvPr/>
              </p:nvSpPr>
              <p:spPr>
                <a:xfrm flipH="1">
                  <a:off x="69577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732" name="Google Shape;732;p31"/>
                <p:cNvSpPr/>
                <p:nvPr/>
              </p:nvSpPr>
              <p:spPr>
                <a:xfrm flipH="1">
                  <a:off x="7231512"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grpSp>
        </p:grpSp>
        <p:grpSp>
          <p:nvGrpSpPr>
            <p:cNvPr id="733" name="Google Shape;733;p31"/>
            <p:cNvGrpSpPr/>
            <p:nvPr/>
          </p:nvGrpSpPr>
          <p:grpSpPr>
            <a:xfrm>
              <a:off x="7431917" y="3476599"/>
              <a:ext cx="1094738" cy="1106575"/>
              <a:chOff x="6316167" y="2373874"/>
              <a:chExt cx="1094738" cy="1106575"/>
            </a:xfrm>
          </p:grpSpPr>
          <p:grpSp>
            <p:nvGrpSpPr>
              <p:cNvPr id="734" name="Google Shape;734;p31"/>
              <p:cNvGrpSpPr/>
              <p:nvPr/>
            </p:nvGrpSpPr>
            <p:grpSpPr>
              <a:xfrm>
                <a:off x="6316167" y="2373874"/>
                <a:ext cx="1094738" cy="273600"/>
                <a:chOff x="6316167" y="2373874"/>
                <a:chExt cx="1094738" cy="273600"/>
              </a:xfrm>
            </p:grpSpPr>
            <p:sp>
              <p:nvSpPr>
                <p:cNvPr id="735" name="Google Shape;735;p31"/>
                <p:cNvSpPr/>
                <p:nvPr/>
              </p:nvSpPr>
              <p:spPr>
                <a:xfrm>
                  <a:off x="6316167"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736" name="Google Shape;736;p31"/>
                <p:cNvSpPr/>
                <p:nvPr/>
              </p:nvSpPr>
              <p:spPr>
                <a:xfrm>
                  <a:off x="6589879"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737" name="Google Shape;737;p31"/>
                <p:cNvSpPr/>
                <p:nvPr/>
              </p:nvSpPr>
              <p:spPr>
                <a:xfrm>
                  <a:off x="6863592"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738" name="Google Shape;738;p31"/>
                <p:cNvSpPr/>
                <p:nvPr/>
              </p:nvSpPr>
              <p:spPr>
                <a:xfrm>
                  <a:off x="7137304"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739" name="Google Shape;739;p31"/>
                <p:cNvSpPr/>
                <p:nvPr/>
              </p:nvSpPr>
              <p:spPr>
                <a:xfrm flipH="1">
                  <a:off x="6410375"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740" name="Google Shape;740;p31"/>
                <p:cNvSpPr/>
                <p:nvPr/>
              </p:nvSpPr>
              <p:spPr>
                <a:xfrm flipH="1">
                  <a:off x="66840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741" name="Google Shape;741;p31"/>
                <p:cNvSpPr/>
                <p:nvPr/>
              </p:nvSpPr>
              <p:spPr>
                <a:xfrm flipH="1">
                  <a:off x="69577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742" name="Google Shape;742;p31"/>
                <p:cNvSpPr/>
                <p:nvPr/>
              </p:nvSpPr>
              <p:spPr>
                <a:xfrm flipH="1">
                  <a:off x="7231512"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grpSp>
          <p:grpSp>
            <p:nvGrpSpPr>
              <p:cNvPr id="743" name="Google Shape;743;p31"/>
              <p:cNvGrpSpPr/>
              <p:nvPr/>
            </p:nvGrpSpPr>
            <p:grpSpPr>
              <a:xfrm>
                <a:off x="6316167" y="2647474"/>
                <a:ext cx="1094738" cy="273600"/>
                <a:chOff x="6316167" y="2373874"/>
                <a:chExt cx="1094738" cy="273600"/>
              </a:xfrm>
            </p:grpSpPr>
            <p:sp>
              <p:nvSpPr>
                <p:cNvPr id="744" name="Google Shape;744;p31"/>
                <p:cNvSpPr/>
                <p:nvPr/>
              </p:nvSpPr>
              <p:spPr>
                <a:xfrm>
                  <a:off x="6316167"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745" name="Google Shape;745;p31"/>
                <p:cNvSpPr/>
                <p:nvPr/>
              </p:nvSpPr>
              <p:spPr>
                <a:xfrm>
                  <a:off x="6589879"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746" name="Google Shape;746;p31"/>
                <p:cNvSpPr/>
                <p:nvPr/>
              </p:nvSpPr>
              <p:spPr>
                <a:xfrm>
                  <a:off x="6863592"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747" name="Google Shape;747;p31"/>
                <p:cNvSpPr/>
                <p:nvPr/>
              </p:nvSpPr>
              <p:spPr>
                <a:xfrm>
                  <a:off x="7137304"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748" name="Google Shape;748;p31"/>
                <p:cNvSpPr/>
                <p:nvPr/>
              </p:nvSpPr>
              <p:spPr>
                <a:xfrm flipH="1">
                  <a:off x="6410375"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749" name="Google Shape;749;p31"/>
                <p:cNvSpPr/>
                <p:nvPr/>
              </p:nvSpPr>
              <p:spPr>
                <a:xfrm flipH="1">
                  <a:off x="66840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750" name="Google Shape;750;p31"/>
                <p:cNvSpPr/>
                <p:nvPr/>
              </p:nvSpPr>
              <p:spPr>
                <a:xfrm flipH="1">
                  <a:off x="69577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751" name="Google Shape;751;p31"/>
                <p:cNvSpPr/>
                <p:nvPr/>
              </p:nvSpPr>
              <p:spPr>
                <a:xfrm flipH="1">
                  <a:off x="7231512"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grpSp>
          <p:grpSp>
            <p:nvGrpSpPr>
              <p:cNvPr id="752" name="Google Shape;752;p31"/>
              <p:cNvGrpSpPr/>
              <p:nvPr/>
            </p:nvGrpSpPr>
            <p:grpSpPr>
              <a:xfrm>
                <a:off x="6316167" y="2933249"/>
                <a:ext cx="1094738" cy="273600"/>
                <a:chOff x="6316167" y="2373874"/>
                <a:chExt cx="1094738" cy="273600"/>
              </a:xfrm>
            </p:grpSpPr>
            <p:sp>
              <p:nvSpPr>
                <p:cNvPr id="753" name="Google Shape;753;p31"/>
                <p:cNvSpPr/>
                <p:nvPr/>
              </p:nvSpPr>
              <p:spPr>
                <a:xfrm>
                  <a:off x="6316167"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754" name="Google Shape;754;p31"/>
                <p:cNvSpPr/>
                <p:nvPr/>
              </p:nvSpPr>
              <p:spPr>
                <a:xfrm>
                  <a:off x="6589879"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755" name="Google Shape;755;p31"/>
                <p:cNvSpPr/>
                <p:nvPr/>
              </p:nvSpPr>
              <p:spPr>
                <a:xfrm>
                  <a:off x="6863592"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756" name="Google Shape;756;p31"/>
                <p:cNvSpPr/>
                <p:nvPr/>
              </p:nvSpPr>
              <p:spPr>
                <a:xfrm>
                  <a:off x="7137304"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757" name="Google Shape;757;p31"/>
                <p:cNvSpPr/>
                <p:nvPr/>
              </p:nvSpPr>
              <p:spPr>
                <a:xfrm flipH="1">
                  <a:off x="6410375"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758" name="Google Shape;758;p31"/>
                <p:cNvSpPr/>
                <p:nvPr/>
              </p:nvSpPr>
              <p:spPr>
                <a:xfrm flipH="1">
                  <a:off x="66840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759" name="Google Shape;759;p31"/>
                <p:cNvSpPr/>
                <p:nvPr/>
              </p:nvSpPr>
              <p:spPr>
                <a:xfrm flipH="1">
                  <a:off x="69577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760" name="Google Shape;760;p31"/>
                <p:cNvSpPr/>
                <p:nvPr/>
              </p:nvSpPr>
              <p:spPr>
                <a:xfrm flipH="1">
                  <a:off x="7231512"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grpSp>
          <p:grpSp>
            <p:nvGrpSpPr>
              <p:cNvPr id="761" name="Google Shape;761;p31"/>
              <p:cNvGrpSpPr/>
              <p:nvPr/>
            </p:nvGrpSpPr>
            <p:grpSpPr>
              <a:xfrm>
                <a:off x="6316167" y="3206849"/>
                <a:ext cx="1094738" cy="273600"/>
                <a:chOff x="6316167" y="2373874"/>
                <a:chExt cx="1094738" cy="273600"/>
              </a:xfrm>
            </p:grpSpPr>
            <p:sp>
              <p:nvSpPr>
                <p:cNvPr id="762" name="Google Shape;762;p31"/>
                <p:cNvSpPr/>
                <p:nvPr/>
              </p:nvSpPr>
              <p:spPr>
                <a:xfrm>
                  <a:off x="6316167"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763" name="Google Shape;763;p31"/>
                <p:cNvSpPr/>
                <p:nvPr/>
              </p:nvSpPr>
              <p:spPr>
                <a:xfrm>
                  <a:off x="6589879"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764" name="Google Shape;764;p31"/>
                <p:cNvSpPr/>
                <p:nvPr/>
              </p:nvSpPr>
              <p:spPr>
                <a:xfrm>
                  <a:off x="6863592"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765" name="Google Shape;765;p31"/>
                <p:cNvSpPr/>
                <p:nvPr/>
              </p:nvSpPr>
              <p:spPr>
                <a:xfrm>
                  <a:off x="7137304"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766" name="Google Shape;766;p31"/>
                <p:cNvSpPr/>
                <p:nvPr/>
              </p:nvSpPr>
              <p:spPr>
                <a:xfrm flipH="1">
                  <a:off x="6410375"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767" name="Google Shape;767;p31"/>
                <p:cNvSpPr/>
                <p:nvPr/>
              </p:nvSpPr>
              <p:spPr>
                <a:xfrm flipH="1">
                  <a:off x="66840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768" name="Google Shape;768;p31"/>
                <p:cNvSpPr/>
                <p:nvPr/>
              </p:nvSpPr>
              <p:spPr>
                <a:xfrm flipH="1">
                  <a:off x="69577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769" name="Google Shape;769;p31"/>
                <p:cNvSpPr/>
                <p:nvPr/>
              </p:nvSpPr>
              <p:spPr>
                <a:xfrm flipH="1">
                  <a:off x="7231512"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grpSp>
        </p:grpSp>
      </p:grpSp>
      <p:grpSp>
        <p:nvGrpSpPr>
          <p:cNvPr id="770" name="Google Shape;770;p31"/>
          <p:cNvGrpSpPr/>
          <p:nvPr/>
        </p:nvGrpSpPr>
        <p:grpSpPr>
          <a:xfrm>
            <a:off x="8409034" y="3150667"/>
            <a:ext cx="3450417" cy="3213579"/>
            <a:chOff x="6230575" y="2286800"/>
            <a:chExt cx="2587813" cy="2410184"/>
          </a:xfrm>
        </p:grpSpPr>
        <p:grpSp>
          <p:nvGrpSpPr>
            <p:cNvPr id="771" name="Google Shape;771;p31"/>
            <p:cNvGrpSpPr/>
            <p:nvPr/>
          </p:nvGrpSpPr>
          <p:grpSpPr>
            <a:xfrm>
              <a:off x="6230575" y="2286800"/>
              <a:ext cx="2217900" cy="2217900"/>
              <a:chOff x="6230575" y="2286800"/>
              <a:chExt cx="2217900" cy="2217900"/>
            </a:xfrm>
          </p:grpSpPr>
          <p:sp>
            <p:nvSpPr>
              <p:cNvPr id="772" name="Google Shape;772;p31"/>
              <p:cNvSpPr/>
              <p:nvPr/>
            </p:nvSpPr>
            <p:spPr>
              <a:xfrm>
                <a:off x="6230575" y="2286800"/>
                <a:ext cx="2217900" cy="2217900"/>
              </a:xfrm>
              <a:prstGeom prst="rect">
                <a:avLst/>
              </a:prstGeom>
              <a:noFill/>
              <a:ln w="28575" cap="flat" cmpd="sng">
                <a:solidFill>
                  <a:srgbClr val="FF00FF"/>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cxnSp>
            <p:nvCxnSpPr>
              <p:cNvPr id="773" name="Google Shape;773;p31"/>
              <p:cNvCxnSpPr/>
              <p:nvPr/>
            </p:nvCxnSpPr>
            <p:spPr>
              <a:xfrm>
                <a:off x="7343578" y="2286800"/>
                <a:ext cx="0" cy="2217900"/>
              </a:xfrm>
              <a:prstGeom prst="straightConnector1">
                <a:avLst/>
              </a:prstGeom>
              <a:noFill/>
              <a:ln w="28575" cap="flat" cmpd="sng">
                <a:solidFill>
                  <a:srgbClr val="FF00FF"/>
                </a:solidFill>
                <a:prstDash val="solid"/>
                <a:round/>
                <a:headEnd type="none" w="med" len="med"/>
                <a:tailEnd type="none" w="med" len="med"/>
              </a:ln>
            </p:spPr>
          </p:cxnSp>
          <p:cxnSp>
            <p:nvCxnSpPr>
              <p:cNvPr id="774" name="Google Shape;774;p31"/>
              <p:cNvCxnSpPr>
                <a:stCxn id="772" idx="1"/>
                <a:endCxn id="772" idx="3"/>
              </p:cNvCxnSpPr>
              <p:nvPr/>
            </p:nvCxnSpPr>
            <p:spPr>
              <a:xfrm>
                <a:off x="6230575" y="3395750"/>
                <a:ext cx="2217900" cy="0"/>
              </a:xfrm>
              <a:prstGeom prst="straightConnector1">
                <a:avLst/>
              </a:prstGeom>
              <a:noFill/>
              <a:ln w="28575" cap="flat" cmpd="sng">
                <a:solidFill>
                  <a:srgbClr val="FF00FF"/>
                </a:solidFill>
                <a:prstDash val="solid"/>
                <a:round/>
                <a:headEnd type="none" w="med" len="med"/>
                <a:tailEnd type="none" w="med" len="med"/>
              </a:ln>
            </p:spPr>
          </p:cxnSp>
        </p:grpSp>
        <p:cxnSp>
          <p:nvCxnSpPr>
            <p:cNvPr id="775" name="Google Shape;775;p31"/>
            <p:cNvCxnSpPr/>
            <p:nvPr/>
          </p:nvCxnSpPr>
          <p:spPr>
            <a:xfrm>
              <a:off x="6270625" y="4585475"/>
              <a:ext cx="2256000" cy="0"/>
            </a:xfrm>
            <a:prstGeom prst="straightConnector1">
              <a:avLst/>
            </a:prstGeom>
            <a:noFill/>
            <a:ln w="9525" cap="flat" cmpd="sng">
              <a:solidFill>
                <a:srgbClr val="FF00FF"/>
              </a:solidFill>
              <a:prstDash val="solid"/>
              <a:round/>
              <a:headEnd type="none" w="med" len="med"/>
              <a:tailEnd type="triangle" w="med" len="med"/>
            </a:ln>
          </p:spPr>
        </p:cxnSp>
        <p:cxnSp>
          <p:nvCxnSpPr>
            <p:cNvPr id="776" name="Google Shape;776;p31"/>
            <p:cNvCxnSpPr/>
            <p:nvPr/>
          </p:nvCxnSpPr>
          <p:spPr>
            <a:xfrm rot="10800000">
              <a:off x="8600075" y="2375500"/>
              <a:ext cx="0" cy="2216700"/>
            </a:xfrm>
            <a:prstGeom prst="straightConnector1">
              <a:avLst/>
            </a:prstGeom>
            <a:noFill/>
            <a:ln w="9525" cap="flat" cmpd="sng">
              <a:solidFill>
                <a:srgbClr val="FF00FF"/>
              </a:solidFill>
              <a:prstDash val="solid"/>
              <a:round/>
              <a:headEnd type="none" w="med" len="med"/>
              <a:tailEnd type="triangle" w="med" len="med"/>
            </a:ln>
          </p:spPr>
        </p:cxnSp>
        <p:sp>
          <p:nvSpPr>
            <p:cNvPr id="777" name="Google Shape;777;p31"/>
            <p:cNvSpPr txBox="1"/>
            <p:nvPr/>
          </p:nvSpPr>
          <p:spPr>
            <a:xfrm>
              <a:off x="8527613" y="4526284"/>
              <a:ext cx="144900" cy="170700"/>
            </a:xfrm>
            <a:prstGeom prst="rect">
              <a:avLst/>
            </a:prstGeom>
            <a:noFill/>
            <a:ln>
              <a:noFill/>
            </a:ln>
          </p:spPr>
          <p:txBody>
            <a:bodyPr spcFirstLastPara="1" wrap="square" lIns="0" tIns="0" rIns="0" bIns="0" anchor="t" anchorCtr="0">
              <a:noAutofit/>
            </a:bodyPr>
            <a:lstStyle/>
            <a:p>
              <a:pPr algn="l" rtl="0"/>
              <a:r>
                <a:rPr lang="en-GB" sz="2133">
                  <a:solidFill>
                    <a:srgbClr val="FF00FF"/>
                  </a:solidFill>
                  <a:latin typeface="Lato"/>
                  <a:ea typeface="Lato"/>
                  <a:cs typeface="Lato"/>
                  <a:sym typeface="Lato"/>
                </a:rPr>
                <a:t>x</a:t>
              </a:r>
              <a:endParaRPr sz="2133">
                <a:solidFill>
                  <a:srgbClr val="FF00FF"/>
                </a:solidFill>
                <a:latin typeface="Lato"/>
                <a:ea typeface="Lato"/>
                <a:cs typeface="Lato"/>
                <a:sym typeface="Lato"/>
              </a:endParaRPr>
            </a:p>
          </p:txBody>
        </p:sp>
        <p:sp>
          <p:nvSpPr>
            <p:cNvPr id="778" name="Google Shape;778;p31"/>
            <p:cNvSpPr txBox="1"/>
            <p:nvPr/>
          </p:nvSpPr>
          <p:spPr>
            <a:xfrm>
              <a:off x="8673488" y="2319450"/>
              <a:ext cx="144900" cy="170700"/>
            </a:xfrm>
            <a:prstGeom prst="rect">
              <a:avLst/>
            </a:prstGeom>
            <a:noFill/>
            <a:ln>
              <a:noFill/>
            </a:ln>
          </p:spPr>
          <p:txBody>
            <a:bodyPr spcFirstLastPara="1" wrap="square" lIns="0" tIns="0" rIns="0" bIns="0" anchor="t" anchorCtr="0">
              <a:noAutofit/>
            </a:bodyPr>
            <a:lstStyle/>
            <a:p>
              <a:pPr algn="l" rtl="0"/>
              <a:r>
                <a:rPr lang="en-GB" sz="2133">
                  <a:solidFill>
                    <a:srgbClr val="FF00FF"/>
                  </a:solidFill>
                  <a:latin typeface="Lato"/>
                  <a:ea typeface="Lato"/>
                  <a:cs typeface="Lato"/>
                  <a:sym typeface="Lato"/>
                </a:rPr>
                <a:t>y</a:t>
              </a:r>
              <a:endParaRPr sz="2133">
                <a:solidFill>
                  <a:srgbClr val="FF00FF"/>
                </a:solidFill>
                <a:latin typeface="Lato"/>
                <a:ea typeface="Lato"/>
                <a:cs typeface="Lato"/>
                <a:sym typeface="Lato"/>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8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0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77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4" name="Google Shape;784;p32"/>
          <p:cNvSpPr txBox="1">
            <a:spLocks noGrp="1"/>
          </p:cNvSpPr>
          <p:nvPr>
            <p:ph type="body" idx="1"/>
          </p:nvPr>
        </p:nvSpPr>
        <p:spPr>
          <a:xfrm>
            <a:off x="418000" y="927167"/>
            <a:ext cx="11326400" cy="818800"/>
          </a:xfrm>
          <a:prstGeom prst="rect">
            <a:avLst/>
          </a:prstGeom>
        </p:spPr>
        <p:txBody>
          <a:bodyPr spcFirstLastPara="1" wrap="square" lIns="91433" tIns="91433" rIns="91433" bIns="91433" anchor="t" anchorCtr="0">
            <a:noAutofit/>
          </a:bodyPr>
          <a:lstStyle/>
          <a:p>
            <a:pPr marL="0" indent="0" rtl="0">
              <a:buNone/>
            </a:pPr>
            <a:r>
              <a:rPr lang="en-GB"/>
              <a:t>In CUDA a grid is actually a 3D array of blocks, and each block is a 3D array of threads. These dimensions can be specified using the </a:t>
            </a:r>
            <a:r>
              <a:rPr lang="en-GB">
                <a:solidFill>
                  <a:srgbClr val="188038"/>
                </a:solidFill>
                <a:latin typeface="Roboto Mono"/>
                <a:ea typeface="Roboto Mono"/>
                <a:cs typeface="Roboto Mono"/>
                <a:sym typeface="Roboto Mono"/>
              </a:rPr>
              <a:t>dim3</a:t>
            </a:r>
            <a:r>
              <a:rPr lang="en-GB"/>
              <a:t> data type (an integer vector type of 3 elements)</a:t>
            </a:r>
            <a:endParaRPr/>
          </a:p>
        </p:txBody>
      </p:sp>
      <p:sp>
        <p:nvSpPr>
          <p:cNvPr id="785" name="Google Shape;785;p32"/>
          <p:cNvSpPr txBox="1">
            <a:spLocks noGrp="1"/>
          </p:cNvSpPr>
          <p:nvPr>
            <p:ph type="sldNum" idx="12"/>
          </p:nvPr>
        </p:nvSpPr>
        <p:spPr>
          <a:xfrm>
            <a:off x="11466783" y="5913927"/>
            <a:ext cx="731600" cy="418000"/>
          </a:xfrm>
          <a:prstGeom prst="rect">
            <a:avLst/>
          </a:prstGeom>
        </p:spPr>
        <p:txBody>
          <a:bodyPr spcFirstLastPara="1" wrap="square" lIns="91433" tIns="91433" rIns="91433" bIns="91433" anchor="t" anchorCtr="0">
            <a:noAutofit/>
          </a:bodyPr>
          <a:lstStyle/>
          <a:p>
            <a:pPr rtl="0"/>
            <a:fld id="{00000000-1234-1234-1234-123412341234}" type="slidenum">
              <a:rPr lang="en-GB"/>
              <a:pPr rtl="0"/>
              <a:t>9</a:t>
            </a:fld>
            <a:endParaRPr/>
          </a:p>
        </p:txBody>
      </p:sp>
      <p:sp>
        <p:nvSpPr>
          <p:cNvPr id="786" name="Google Shape;786;p32"/>
          <p:cNvSpPr txBox="1">
            <a:spLocks noGrp="1"/>
          </p:cNvSpPr>
          <p:nvPr>
            <p:ph type="body" idx="1"/>
          </p:nvPr>
        </p:nvSpPr>
        <p:spPr>
          <a:xfrm>
            <a:off x="418000" y="1943167"/>
            <a:ext cx="11326400" cy="539200"/>
          </a:xfrm>
          <a:prstGeom prst="rect">
            <a:avLst/>
          </a:prstGeom>
        </p:spPr>
        <p:txBody>
          <a:bodyPr spcFirstLastPara="1" wrap="square" lIns="91433" tIns="91433" rIns="91433" bIns="91433" anchor="t" anchorCtr="0">
            <a:noAutofit/>
          </a:bodyPr>
          <a:lstStyle/>
          <a:p>
            <a:pPr marL="0" indent="0" rtl="0">
              <a:buNone/>
            </a:pPr>
            <a:r>
              <a:rPr lang="en-GB"/>
              <a:t>For instance, to define the geometry of the previous example (2x2 blocks, each of 4x4 threads)</a:t>
            </a:r>
            <a:endParaRPr/>
          </a:p>
        </p:txBody>
      </p:sp>
      <p:sp>
        <p:nvSpPr>
          <p:cNvPr id="787" name="Google Shape;787;p32"/>
          <p:cNvSpPr txBox="1"/>
          <p:nvPr/>
        </p:nvSpPr>
        <p:spPr>
          <a:xfrm>
            <a:off x="1041333" y="2566533"/>
            <a:ext cx="9950400" cy="1215677"/>
          </a:xfrm>
          <a:prstGeom prst="rect">
            <a:avLst/>
          </a:prstGeom>
          <a:noFill/>
          <a:ln>
            <a:noFill/>
          </a:ln>
        </p:spPr>
        <p:txBody>
          <a:bodyPr spcFirstLastPara="1" wrap="square" lIns="121900" tIns="121900" rIns="121900" bIns="121900" anchor="t" anchorCtr="0">
            <a:spAutoFit/>
          </a:bodyPr>
          <a:lstStyle/>
          <a:p>
            <a:pPr algn="l" rtl="0"/>
            <a:r>
              <a:rPr lang="en-GB">
                <a:solidFill>
                  <a:srgbClr val="37474F"/>
                </a:solidFill>
                <a:latin typeface="Roboto Mono"/>
                <a:ea typeface="Roboto Mono"/>
                <a:cs typeface="Roboto Mono"/>
                <a:sym typeface="Roboto Mono"/>
              </a:rPr>
              <a:t>dim3 dimGrid(</a:t>
            </a:r>
            <a:r>
              <a:rPr lang="en-GB">
                <a:solidFill>
                  <a:schemeClr val="accent3"/>
                </a:solidFill>
                <a:latin typeface="Roboto Mono"/>
                <a:ea typeface="Roboto Mono"/>
                <a:cs typeface="Roboto Mono"/>
                <a:sym typeface="Roboto Mono"/>
              </a:rPr>
              <a:t>2</a:t>
            </a:r>
            <a:r>
              <a:rPr lang="en-GB">
                <a:solidFill>
                  <a:srgbClr val="37474F"/>
                </a:solidFill>
                <a:latin typeface="Roboto Mono"/>
                <a:ea typeface="Roboto Mono"/>
                <a:cs typeface="Roboto Mono"/>
                <a:sym typeface="Roboto Mono"/>
              </a:rPr>
              <a:t>,</a:t>
            </a:r>
            <a:r>
              <a:rPr lang="en-GB">
                <a:solidFill>
                  <a:schemeClr val="accent4"/>
                </a:solidFill>
                <a:latin typeface="Roboto Mono"/>
                <a:ea typeface="Roboto Mono"/>
                <a:cs typeface="Roboto Mono"/>
                <a:sym typeface="Roboto Mono"/>
              </a:rPr>
              <a:t>2</a:t>
            </a:r>
            <a:r>
              <a:rPr lang="en-GB">
                <a:solidFill>
                  <a:srgbClr val="37474F"/>
                </a:solidFill>
                <a:latin typeface="Roboto Mono"/>
                <a:ea typeface="Roboto Mono"/>
                <a:cs typeface="Roboto Mono"/>
                <a:sym typeface="Roboto Mono"/>
              </a:rPr>
              <a:t>,</a:t>
            </a:r>
            <a:r>
              <a:rPr lang="en-GB">
                <a:solidFill>
                  <a:schemeClr val="accent2"/>
                </a:solidFill>
                <a:latin typeface="Roboto Mono"/>
                <a:ea typeface="Roboto Mono"/>
                <a:cs typeface="Roboto Mono"/>
                <a:sym typeface="Roboto Mono"/>
              </a:rPr>
              <a:t>1</a:t>
            </a:r>
            <a:r>
              <a:rPr lang="en-GB">
                <a:solidFill>
                  <a:srgbClr val="37474F"/>
                </a:solidFill>
                <a:latin typeface="Roboto Mono"/>
                <a:ea typeface="Roboto Mono"/>
                <a:cs typeface="Roboto Mono"/>
                <a:sym typeface="Roboto Mono"/>
              </a:rPr>
              <a:t>); // </a:t>
            </a:r>
            <a:r>
              <a:rPr lang="en-GB">
                <a:solidFill>
                  <a:schemeClr val="accent3"/>
                </a:solidFill>
                <a:latin typeface="Roboto Mono"/>
                <a:ea typeface="Roboto Mono"/>
                <a:cs typeface="Roboto Mono"/>
                <a:sym typeface="Roboto Mono"/>
              </a:rPr>
              <a:t>x</a:t>
            </a:r>
            <a:r>
              <a:rPr lang="en-GB">
                <a:solidFill>
                  <a:srgbClr val="37474F"/>
                </a:solidFill>
                <a:latin typeface="Roboto Mono"/>
                <a:ea typeface="Roboto Mono"/>
                <a:cs typeface="Roboto Mono"/>
                <a:sym typeface="Roboto Mono"/>
              </a:rPr>
              <a:t>,</a:t>
            </a:r>
            <a:r>
              <a:rPr lang="en-GB">
                <a:solidFill>
                  <a:schemeClr val="accent4"/>
                </a:solidFill>
                <a:latin typeface="Roboto Mono"/>
                <a:ea typeface="Roboto Mono"/>
                <a:cs typeface="Roboto Mono"/>
                <a:sym typeface="Roboto Mono"/>
              </a:rPr>
              <a:t>y</a:t>
            </a:r>
            <a:r>
              <a:rPr lang="en-GB">
                <a:solidFill>
                  <a:srgbClr val="37474F"/>
                </a:solidFill>
                <a:latin typeface="Roboto Mono"/>
                <a:ea typeface="Roboto Mono"/>
                <a:cs typeface="Roboto Mono"/>
                <a:sym typeface="Roboto Mono"/>
              </a:rPr>
              <a:t>,</a:t>
            </a:r>
            <a:r>
              <a:rPr lang="en-GB">
                <a:solidFill>
                  <a:schemeClr val="accent2"/>
                </a:solidFill>
                <a:latin typeface="Roboto Mono"/>
                <a:ea typeface="Roboto Mono"/>
                <a:cs typeface="Roboto Mono"/>
                <a:sym typeface="Roboto Mono"/>
              </a:rPr>
              <a:t>z</a:t>
            </a:r>
            <a:endParaRPr>
              <a:solidFill>
                <a:schemeClr val="dk1"/>
              </a:solidFill>
              <a:latin typeface="Roboto Mono"/>
              <a:ea typeface="Roboto Mono"/>
              <a:cs typeface="Roboto Mono"/>
              <a:sym typeface="Roboto Mono"/>
            </a:endParaRPr>
          </a:p>
          <a:p>
            <a:pPr algn="l" rtl="0"/>
            <a:r>
              <a:rPr lang="en-GB">
                <a:solidFill>
                  <a:srgbClr val="37474F"/>
                </a:solidFill>
                <a:latin typeface="Roboto Mono"/>
                <a:ea typeface="Roboto Mono"/>
                <a:cs typeface="Roboto Mono"/>
                <a:sym typeface="Roboto Mono"/>
              </a:rPr>
              <a:t>dim3 dimBlock(4,4,1);</a:t>
            </a:r>
            <a:endParaRPr>
              <a:solidFill>
                <a:schemeClr val="dk1"/>
              </a:solidFill>
              <a:latin typeface="Roboto Mono"/>
              <a:ea typeface="Roboto Mono"/>
              <a:cs typeface="Roboto Mono"/>
              <a:sym typeface="Roboto Mono"/>
            </a:endParaRPr>
          </a:p>
          <a:p>
            <a:pPr algn="l" rtl="0">
              <a:lnSpc>
                <a:spcPct val="150000"/>
              </a:lnSpc>
            </a:pPr>
            <a:r>
              <a:rPr lang="en-GB">
                <a:solidFill>
                  <a:srgbClr val="37474F"/>
                </a:solidFill>
                <a:latin typeface="Roboto Mono"/>
                <a:ea typeface="Roboto Mono"/>
                <a:cs typeface="Roboto Mono"/>
                <a:sym typeface="Roboto Mono"/>
              </a:rPr>
              <a:t>kernel&lt;&lt;&lt;</a:t>
            </a:r>
            <a:r>
              <a:rPr lang="en-GB">
                <a:solidFill>
                  <a:srgbClr val="3F51B5"/>
                </a:solidFill>
                <a:latin typeface="Roboto Mono"/>
                <a:ea typeface="Roboto Mono"/>
                <a:cs typeface="Roboto Mono"/>
                <a:sym typeface="Roboto Mono"/>
              </a:rPr>
              <a:t>dimGrid,</a:t>
            </a:r>
            <a:r>
              <a:rPr lang="en-GB">
                <a:solidFill>
                  <a:srgbClr val="9C27B0"/>
                </a:solidFill>
                <a:latin typeface="Roboto Mono"/>
                <a:ea typeface="Roboto Mono"/>
                <a:cs typeface="Roboto Mono"/>
                <a:sym typeface="Roboto Mono"/>
              </a:rPr>
              <a:t> dimBlock</a:t>
            </a:r>
            <a:r>
              <a:rPr lang="en-GB">
                <a:solidFill>
                  <a:srgbClr val="37474F"/>
                </a:solidFill>
                <a:latin typeface="Roboto Mono"/>
                <a:ea typeface="Roboto Mono"/>
                <a:cs typeface="Roboto Mono"/>
                <a:sym typeface="Roboto Mono"/>
              </a:rPr>
              <a:t>&gt;&gt;&gt;(...);</a:t>
            </a:r>
            <a:endParaRPr>
              <a:solidFill>
                <a:srgbClr val="37474F"/>
              </a:solidFill>
              <a:latin typeface="Roboto Mono"/>
              <a:ea typeface="Roboto Mono"/>
              <a:cs typeface="Roboto Mono"/>
              <a:sym typeface="Roboto Mono"/>
            </a:endParaRPr>
          </a:p>
        </p:txBody>
      </p:sp>
      <p:sp>
        <p:nvSpPr>
          <p:cNvPr id="788" name="Google Shape;788;p32"/>
          <p:cNvSpPr txBox="1">
            <a:spLocks noGrp="1"/>
          </p:cNvSpPr>
          <p:nvPr>
            <p:ph type="body" idx="1"/>
          </p:nvPr>
        </p:nvSpPr>
        <p:spPr>
          <a:xfrm>
            <a:off x="418000" y="3670367"/>
            <a:ext cx="11326400" cy="539200"/>
          </a:xfrm>
          <a:prstGeom prst="rect">
            <a:avLst/>
          </a:prstGeom>
        </p:spPr>
        <p:txBody>
          <a:bodyPr spcFirstLastPara="1" wrap="square" lIns="91433" tIns="91433" rIns="91433" bIns="91433" anchor="t" anchorCtr="0">
            <a:noAutofit/>
          </a:bodyPr>
          <a:lstStyle/>
          <a:p>
            <a:pPr marL="0" indent="0" rtl="0">
              <a:buNone/>
            </a:pPr>
            <a:r>
              <a:rPr lang="en-GB"/>
              <a:t>For convenience, CUDA provides a shortcut for calling a kernel with one-dimensional grids of block without using a </a:t>
            </a:r>
            <a:r>
              <a:rPr lang="en-GB">
                <a:solidFill>
                  <a:srgbClr val="188038"/>
                </a:solidFill>
                <a:latin typeface="Roboto Mono"/>
                <a:ea typeface="Roboto Mono"/>
                <a:cs typeface="Roboto Mono"/>
                <a:sym typeface="Roboto Mono"/>
              </a:rPr>
              <a:t>dim3</a:t>
            </a:r>
            <a:r>
              <a:rPr lang="en-GB"/>
              <a:t> parameter</a:t>
            </a:r>
            <a:endParaRPr/>
          </a:p>
        </p:txBody>
      </p:sp>
      <p:sp>
        <p:nvSpPr>
          <p:cNvPr id="789" name="Google Shape;789;p32"/>
          <p:cNvSpPr txBox="1"/>
          <p:nvPr/>
        </p:nvSpPr>
        <p:spPr>
          <a:xfrm>
            <a:off x="1041333" y="4496933"/>
            <a:ext cx="9950400" cy="661679"/>
          </a:xfrm>
          <a:prstGeom prst="rect">
            <a:avLst/>
          </a:prstGeom>
          <a:noFill/>
          <a:ln>
            <a:noFill/>
          </a:ln>
        </p:spPr>
        <p:txBody>
          <a:bodyPr spcFirstLastPara="1" wrap="square" lIns="121900" tIns="121900" rIns="121900" bIns="121900" anchor="t" anchorCtr="0">
            <a:spAutoFit/>
          </a:bodyPr>
          <a:lstStyle/>
          <a:p>
            <a:pPr algn="l" rtl="0">
              <a:lnSpc>
                <a:spcPct val="150000"/>
              </a:lnSpc>
            </a:pPr>
            <a:r>
              <a:rPr lang="en-GB">
                <a:solidFill>
                  <a:srgbClr val="37474F"/>
                </a:solidFill>
                <a:latin typeface="Roboto Mono"/>
                <a:ea typeface="Roboto Mono"/>
                <a:cs typeface="Roboto Mono"/>
                <a:sym typeface="Roboto Mono"/>
              </a:rPr>
              <a:t>kernel&lt;&lt;&lt;</a:t>
            </a:r>
            <a:r>
              <a:rPr lang="en-GB">
                <a:solidFill>
                  <a:srgbClr val="3F51B5"/>
                </a:solidFill>
                <a:latin typeface="Roboto Mono"/>
                <a:ea typeface="Roboto Mono"/>
                <a:cs typeface="Roboto Mono"/>
                <a:sym typeface="Roboto Mono"/>
              </a:rPr>
              <a:t>numBlocks,</a:t>
            </a:r>
            <a:r>
              <a:rPr lang="en-GB">
                <a:solidFill>
                  <a:srgbClr val="9C27B0"/>
                </a:solidFill>
                <a:latin typeface="Roboto Mono"/>
                <a:ea typeface="Roboto Mono"/>
                <a:cs typeface="Roboto Mono"/>
                <a:sym typeface="Roboto Mono"/>
              </a:rPr>
              <a:t> ThreadsPerBlock</a:t>
            </a:r>
            <a:r>
              <a:rPr lang="en-GB">
                <a:solidFill>
                  <a:srgbClr val="37474F"/>
                </a:solidFill>
                <a:latin typeface="Roboto Mono"/>
                <a:ea typeface="Roboto Mono"/>
                <a:cs typeface="Roboto Mono"/>
                <a:sym typeface="Roboto Mono"/>
              </a:rPr>
              <a:t>&gt;&gt;&gt;(...);</a:t>
            </a:r>
            <a:endParaRPr>
              <a:solidFill>
                <a:srgbClr val="37474F"/>
              </a:solidFill>
              <a:latin typeface="Roboto Mono"/>
              <a:ea typeface="Roboto Mono"/>
              <a:cs typeface="Roboto Mono"/>
              <a:sym typeface="Roboto Mono"/>
            </a:endParaRPr>
          </a:p>
        </p:txBody>
      </p:sp>
      <p:sp>
        <p:nvSpPr>
          <p:cNvPr id="790" name="Google Shape;790;p32"/>
          <p:cNvSpPr txBox="1"/>
          <p:nvPr/>
        </p:nvSpPr>
        <p:spPr>
          <a:xfrm>
            <a:off x="1041333" y="5309733"/>
            <a:ext cx="9950400" cy="1215677"/>
          </a:xfrm>
          <a:prstGeom prst="rect">
            <a:avLst/>
          </a:prstGeom>
          <a:noFill/>
          <a:ln>
            <a:noFill/>
          </a:ln>
        </p:spPr>
        <p:txBody>
          <a:bodyPr spcFirstLastPara="1" wrap="square" lIns="121900" tIns="121900" rIns="121900" bIns="121900" anchor="t" anchorCtr="0">
            <a:spAutoFit/>
          </a:bodyPr>
          <a:lstStyle/>
          <a:p>
            <a:pPr algn="l" rtl="0"/>
            <a:r>
              <a:rPr lang="en-GB">
                <a:solidFill>
                  <a:srgbClr val="37474F"/>
                </a:solidFill>
                <a:latin typeface="Roboto Mono"/>
                <a:ea typeface="Roboto Mono"/>
                <a:cs typeface="Roboto Mono"/>
                <a:sym typeface="Roboto Mono"/>
              </a:rPr>
              <a:t>dim3 dimGrid(</a:t>
            </a:r>
            <a:r>
              <a:rPr lang="en-GB">
                <a:solidFill>
                  <a:schemeClr val="accent3"/>
                </a:solidFill>
                <a:latin typeface="Roboto Mono"/>
                <a:ea typeface="Roboto Mono"/>
                <a:cs typeface="Roboto Mono"/>
                <a:sym typeface="Roboto Mono"/>
              </a:rPr>
              <a:t>numBlocks</a:t>
            </a:r>
            <a:r>
              <a:rPr lang="en-GB">
                <a:solidFill>
                  <a:srgbClr val="37474F"/>
                </a:solidFill>
                <a:latin typeface="Roboto Mono"/>
                <a:ea typeface="Roboto Mono"/>
                <a:cs typeface="Roboto Mono"/>
                <a:sym typeface="Roboto Mono"/>
              </a:rPr>
              <a:t>,</a:t>
            </a:r>
            <a:r>
              <a:rPr lang="en-GB">
                <a:solidFill>
                  <a:schemeClr val="accent4"/>
                </a:solidFill>
                <a:latin typeface="Roboto Mono"/>
                <a:ea typeface="Roboto Mono"/>
                <a:cs typeface="Roboto Mono"/>
                <a:sym typeface="Roboto Mono"/>
              </a:rPr>
              <a:t>1</a:t>
            </a:r>
            <a:r>
              <a:rPr lang="en-GB">
                <a:solidFill>
                  <a:srgbClr val="37474F"/>
                </a:solidFill>
                <a:latin typeface="Roboto Mono"/>
                <a:ea typeface="Roboto Mono"/>
                <a:cs typeface="Roboto Mono"/>
                <a:sym typeface="Roboto Mono"/>
              </a:rPr>
              <a:t>,</a:t>
            </a:r>
            <a:r>
              <a:rPr lang="en-GB">
                <a:solidFill>
                  <a:schemeClr val="accent2"/>
                </a:solidFill>
                <a:latin typeface="Roboto Mono"/>
                <a:ea typeface="Roboto Mono"/>
                <a:cs typeface="Roboto Mono"/>
                <a:sym typeface="Roboto Mono"/>
              </a:rPr>
              <a:t>1</a:t>
            </a:r>
            <a:r>
              <a:rPr lang="en-GB">
                <a:solidFill>
                  <a:srgbClr val="37474F"/>
                </a:solidFill>
                <a:latin typeface="Roboto Mono"/>
                <a:ea typeface="Roboto Mono"/>
                <a:cs typeface="Roboto Mono"/>
                <a:sym typeface="Roboto Mono"/>
              </a:rPr>
              <a:t>); // </a:t>
            </a:r>
            <a:r>
              <a:rPr lang="en-GB">
                <a:solidFill>
                  <a:schemeClr val="accent3"/>
                </a:solidFill>
                <a:latin typeface="Roboto Mono"/>
                <a:ea typeface="Roboto Mono"/>
                <a:cs typeface="Roboto Mono"/>
                <a:sym typeface="Roboto Mono"/>
              </a:rPr>
              <a:t>x</a:t>
            </a:r>
            <a:r>
              <a:rPr lang="en-GB">
                <a:solidFill>
                  <a:srgbClr val="37474F"/>
                </a:solidFill>
                <a:latin typeface="Roboto Mono"/>
                <a:ea typeface="Roboto Mono"/>
                <a:cs typeface="Roboto Mono"/>
                <a:sym typeface="Roboto Mono"/>
              </a:rPr>
              <a:t>,</a:t>
            </a:r>
            <a:r>
              <a:rPr lang="en-GB">
                <a:solidFill>
                  <a:schemeClr val="accent4"/>
                </a:solidFill>
                <a:latin typeface="Roboto Mono"/>
                <a:ea typeface="Roboto Mono"/>
                <a:cs typeface="Roboto Mono"/>
                <a:sym typeface="Roboto Mono"/>
              </a:rPr>
              <a:t>y</a:t>
            </a:r>
            <a:r>
              <a:rPr lang="en-GB">
                <a:solidFill>
                  <a:srgbClr val="37474F"/>
                </a:solidFill>
                <a:latin typeface="Roboto Mono"/>
                <a:ea typeface="Roboto Mono"/>
                <a:cs typeface="Roboto Mono"/>
                <a:sym typeface="Roboto Mono"/>
              </a:rPr>
              <a:t>,</a:t>
            </a:r>
            <a:r>
              <a:rPr lang="en-GB">
                <a:solidFill>
                  <a:schemeClr val="accent2"/>
                </a:solidFill>
                <a:latin typeface="Roboto Mono"/>
                <a:ea typeface="Roboto Mono"/>
                <a:cs typeface="Roboto Mono"/>
                <a:sym typeface="Roboto Mono"/>
              </a:rPr>
              <a:t>z</a:t>
            </a:r>
            <a:endParaRPr>
              <a:solidFill>
                <a:schemeClr val="dk1"/>
              </a:solidFill>
              <a:latin typeface="Roboto Mono"/>
              <a:ea typeface="Roboto Mono"/>
              <a:cs typeface="Roboto Mono"/>
              <a:sym typeface="Roboto Mono"/>
            </a:endParaRPr>
          </a:p>
          <a:p>
            <a:pPr algn="l" rtl="0"/>
            <a:r>
              <a:rPr lang="en-GB">
                <a:solidFill>
                  <a:srgbClr val="37474F"/>
                </a:solidFill>
                <a:latin typeface="Roboto Mono"/>
                <a:ea typeface="Roboto Mono"/>
                <a:cs typeface="Roboto Mono"/>
                <a:sym typeface="Roboto Mono"/>
              </a:rPr>
              <a:t>dim3 dimBlock(ThreadsPerBlock,1,1);</a:t>
            </a:r>
            <a:endParaRPr>
              <a:solidFill>
                <a:schemeClr val="dk1"/>
              </a:solidFill>
              <a:latin typeface="Roboto Mono"/>
              <a:ea typeface="Roboto Mono"/>
              <a:cs typeface="Roboto Mono"/>
              <a:sym typeface="Roboto Mono"/>
            </a:endParaRPr>
          </a:p>
          <a:p>
            <a:pPr algn="l" rtl="0">
              <a:lnSpc>
                <a:spcPct val="150000"/>
              </a:lnSpc>
            </a:pPr>
            <a:r>
              <a:rPr lang="en-GB">
                <a:solidFill>
                  <a:srgbClr val="37474F"/>
                </a:solidFill>
                <a:latin typeface="Roboto Mono"/>
                <a:ea typeface="Roboto Mono"/>
                <a:cs typeface="Roboto Mono"/>
                <a:sym typeface="Roboto Mono"/>
              </a:rPr>
              <a:t>kernel&lt;&lt;&lt;</a:t>
            </a:r>
            <a:r>
              <a:rPr lang="en-GB">
                <a:solidFill>
                  <a:srgbClr val="3F51B5"/>
                </a:solidFill>
                <a:latin typeface="Roboto Mono"/>
                <a:ea typeface="Roboto Mono"/>
                <a:cs typeface="Roboto Mono"/>
                <a:sym typeface="Roboto Mono"/>
              </a:rPr>
              <a:t>dimGrid,</a:t>
            </a:r>
            <a:r>
              <a:rPr lang="en-GB">
                <a:solidFill>
                  <a:srgbClr val="9C27B0"/>
                </a:solidFill>
                <a:latin typeface="Roboto Mono"/>
                <a:ea typeface="Roboto Mono"/>
                <a:cs typeface="Roboto Mono"/>
                <a:sym typeface="Roboto Mono"/>
              </a:rPr>
              <a:t> dimBlock</a:t>
            </a:r>
            <a:r>
              <a:rPr lang="en-GB">
                <a:solidFill>
                  <a:srgbClr val="37474F"/>
                </a:solidFill>
                <a:latin typeface="Roboto Mono"/>
                <a:ea typeface="Roboto Mono"/>
                <a:cs typeface="Roboto Mono"/>
                <a:sym typeface="Roboto Mono"/>
              </a:rPr>
              <a:t>&gt;&gt;&gt;(...);</a:t>
            </a:r>
            <a:endParaRPr>
              <a:solidFill>
                <a:srgbClr val="37474F"/>
              </a:solidFill>
              <a:latin typeface="Roboto Mono"/>
              <a:ea typeface="Roboto Mono"/>
              <a:cs typeface="Roboto Mono"/>
              <a:sym typeface="Roboto Mono"/>
            </a:endParaRPr>
          </a:p>
        </p:txBody>
      </p:sp>
      <p:sp>
        <p:nvSpPr>
          <p:cNvPr id="791" name="Google Shape;791;p32"/>
          <p:cNvSpPr txBox="1">
            <a:spLocks noGrp="1"/>
          </p:cNvSpPr>
          <p:nvPr>
            <p:ph type="body" idx="1"/>
          </p:nvPr>
        </p:nvSpPr>
        <p:spPr>
          <a:xfrm>
            <a:off x="418000" y="4889567"/>
            <a:ext cx="11326400" cy="539200"/>
          </a:xfrm>
          <a:prstGeom prst="rect">
            <a:avLst/>
          </a:prstGeom>
        </p:spPr>
        <p:txBody>
          <a:bodyPr spcFirstLastPara="1" wrap="square" lIns="91433" tIns="91433" rIns="91433" bIns="91433" anchor="t" anchorCtr="0">
            <a:noAutofit/>
          </a:bodyPr>
          <a:lstStyle/>
          <a:p>
            <a:pPr marL="0" indent="0" algn="ctr" rtl="0">
              <a:buNone/>
            </a:pPr>
            <a:r>
              <a:rPr lang="en-GB" u="sng"/>
              <a:t>equivalent to:</a:t>
            </a:r>
            <a:endParaRPr u="sng"/>
          </a:p>
        </p:txBody>
      </p:sp>
      <p:sp>
        <p:nvSpPr>
          <p:cNvPr id="4" name="Google Shape;581;p31">
            <a:extLst>
              <a:ext uri="{FF2B5EF4-FFF2-40B4-BE49-F238E27FC236}">
                <a16:creationId xmlns:a16="http://schemas.microsoft.com/office/drawing/2014/main" id="{78F195FA-85B7-1A58-8339-007AAC914854}"/>
              </a:ext>
            </a:extLst>
          </p:cNvPr>
          <p:cNvSpPr txBox="1">
            <a:spLocks/>
          </p:cNvSpPr>
          <p:nvPr/>
        </p:nvSpPr>
        <p:spPr>
          <a:xfrm>
            <a:off x="359476" y="354921"/>
            <a:ext cx="10650400" cy="709600"/>
          </a:xfrm>
          <a:prstGeom prst="rect">
            <a:avLst/>
          </a:prstGeom>
          <a:noFill/>
          <a:ln>
            <a:noFill/>
          </a:ln>
        </p:spPr>
        <p:txBody>
          <a:bodyPr spcFirstLastPara="1" wrap="square" lIns="91433" tIns="91433" rIns="91433" bIns="91433" anchor="b" anchorCtr="0">
            <a:noAutofit/>
          </a:bodyPr>
          <a:lstStyle>
            <a:lvl1pPr lvl="0" algn="l">
              <a:lnSpc>
                <a:spcPct val="100000"/>
              </a:lnSpc>
              <a:spcBef>
                <a:spcPts val="0"/>
              </a:spcBef>
              <a:spcAft>
                <a:spcPts val="0"/>
              </a:spcAft>
              <a:buClr>
                <a:schemeClr val="dk2"/>
              </a:buClr>
              <a:buSzPts val="2500"/>
              <a:buNone/>
              <a:defRPr sz="2933" b="0" i="0" cap="small">
                <a:solidFill>
                  <a:schemeClr val="dk2"/>
                </a:solidFill>
                <a:latin typeface="Arial"/>
                <a:ea typeface="+mj-ea"/>
                <a:cs typeface="Arial"/>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pPr rtl="0"/>
            <a:r>
              <a:rPr lang="en-GB"/>
              <a:t>kind of Geometries</a:t>
            </a:r>
            <a:endParaRPr lang="en-GB"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8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8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8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9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34"/>
          <p:cNvSpPr txBox="1">
            <a:spLocks noGrp="1"/>
          </p:cNvSpPr>
          <p:nvPr>
            <p:ph type="title"/>
          </p:nvPr>
        </p:nvSpPr>
        <p:spPr>
          <a:xfrm>
            <a:off x="418000" y="274483"/>
            <a:ext cx="10650400" cy="709600"/>
          </a:xfrm>
          <a:prstGeom prst="rect">
            <a:avLst/>
          </a:prstGeom>
          <a:noFill/>
        </p:spPr>
        <p:txBody>
          <a:bodyPr spcFirstLastPara="1" wrap="square" lIns="91433" tIns="91433" rIns="91433" bIns="91433" anchor="b" anchorCtr="0">
            <a:noAutofit/>
          </a:bodyPr>
          <a:lstStyle/>
          <a:p>
            <a:pPr rtl="0"/>
            <a:r>
              <a:rPr lang="en-GB" dirty="0"/>
              <a:t>Indexing</a:t>
            </a:r>
            <a:endParaRPr dirty="0"/>
          </a:p>
        </p:txBody>
      </p:sp>
      <p:sp>
        <p:nvSpPr>
          <p:cNvPr id="860" name="Google Shape;860;p34"/>
          <p:cNvSpPr txBox="1">
            <a:spLocks noGrp="1"/>
          </p:cNvSpPr>
          <p:nvPr>
            <p:ph type="body" idx="1"/>
          </p:nvPr>
        </p:nvSpPr>
        <p:spPr>
          <a:xfrm>
            <a:off x="418000" y="914137"/>
            <a:ext cx="11326400" cy="418000"/>
          </a:xfrm>
          <a:prstGeom prst="rect">
            <a:avLst/>
          </a:prstGeom>
        </p:spPr>
        <p:txBody>
          <a:bodyPr spcFirstLastPara="1" wrap="square" lIns="91433" tIns="91433" rIns="91433" bIns="91433" anchor="t" anchorCtr="0">
            <a:noAutofit/>
          </a:bodyPr>
          <a:lstStyle/>
          <a:p>
            <a:pPr marL="0" indent="0" rtl="0">
              <a:buNone/>
            </a:pPr>
            <a:r>
              <a:rPr lang="en-GB" dirty="0"/>
              <a:t>For 1D geometry, we used information about block dimensions and  indexes, thread indexes</a:t>
            </a:r>
            <a:endParaRPr dirty="0"/>
          </a:p>
        </p:txBody>
      </p:sp>
      <p:sp>
        <p:nvSpPr>
          <p:cNvPr id="861" name="Google Shape;861;p34"/>
          <p:cNvSpPr txBox="1">
            <a:spLocks noGrp="1"/>
          </p:cNvSpPr>
          <p:nvPr>
            <p:ph type="sldNum" idx="12"/>
          </p:nvPr>
        </p:nvSpPr>
        <p:spPr>
          <a:xfrm>
            <a:off x="11466783" y="5913927"/>
            <a:ext cx="731600" cy="418000"/>
          </a:xfrm>
          <a:prstGeom prst="rect">
            <a:avLst/>
          </a:prstGeom>
        </p:spPr>
        <p:txBody>
          <a:bodyPr spcFirstLastPara="1" wrap="square" lIns="91433" tIns="91433" rIns="91433" bIns="91433" anchor="t" anchorCtr="0">
            <a:noAutofit/>
          </a:bodyPr>
          <a:lstStyle/>
          <a:p>
            <a:pPr rtl="0"/>
            <a:fld id="{00000000-1234-1234-1234-123412341234}" type="slidenum">
              <a:rPr lang="en-GB"/>
              <a:pPr rtl="0"/>
              <a:t>10</a:t>
            </a:fld>
            <a:endParaRPr/>
          </a:p>
        </p:txBody>
      </p:sp>
      <p:cxnSp>
        <p:nvCxnSpPr>
          <p:cNvPr id="862" name="Google Shape;862;p34"/>
          <p:cNvCxnSpPr/>
          <p:nvPr/>
        </p:nvCxnSpPr>
        <p:spPr>
          <a:xfrm>
            <a:off x="2783520" y="2216913"/>
            <a:ext cx="360000" cy="0"/>
          </a:xfrm>
          <a:prstGeom prst="straightConnector1">
            <a:avLst/>
          </a:prstGeom>
          <a:noFill/>
          <a:ln w="28575" cap="flat" cmpd="sng">
            <a:solidFill>
              <a:srgbClr val="0089CF"/>
            </a:solidFill>
            <a:prstDash val="dot"/>
            <a:round/>
            <a:headEnd type="none" w="med" len="med"/>
            <a:tailEnd type="none" w="med" len="med"/>
          </a:ln>
        </p:spPr>
      </p:cxnSp>
      <p:sp>
        <p:nvSpPr>
          <p:cNvPr id="863" name="Google Shape;863;p34"/>
          <p:cNvSpPr txBox="1"/>
          <p:nvPr/>
        </p:nvSpPr>
        <p:spPr>
          <a:xfrm>
            <a:off x="5883233" y="2041867"/>
            <a:ext cx="6796800" cy="512857"/>
          </a:xfrm>
          <a:prstGeom prst="rect">
            <a:avLst/>
          </a:prstGeom>
          <a:noFill/>
          <a:ln>
            <a:noFill/>
          </a:ln>
        </p:spPr>
        <p:txBody>
          <a:bodyPr spcFirstLastPara="1" wrap="square" lIns="121900" tIns="121900" rIns="121900" bIns="121900" anchor="t" anchorCtr="0">
            <a:spAutoFit/>
          </a:bodyPr>
          <a:lstStyle/>
          <a:p>
            <a:pPr algn="l" rtl="0"/>
            <a:r>
              <a:rPr lang="en-GB" sz="1733">
                <a:solidFill>
                  <a:srgbClr val="37474F"/>
                </a:solidFill>
                <a:latin typeface="Roboto Mono"/>
                <a:ea typeface="Roboto Mono"/>
                <a:cs typeface="Roboto Mono"/>
                <a:sym typeface="Roboto Mono"/>
              </a:rPr>
              <a:t>my_id = blockDim.x * blockIdx.x + threadIdx.x;</a:t>
            </a:r>
            <a:endParaRPr sz="1733">
              <a:solidFill>
                <a:srgbClr val="37474F"/>
              </a:solidFill>
              <a:latin typeface="Roboto Mono"/>
              <a:ea typeface="Roboto Mono"/>
              <a:cs typeface="Roboto Mono"/>
              <a:sym typeface="Roboto Mono"/>
            </a:endParaRPr>
          </a:p>
        </p:txBody>
      </p:sp>
      <p:grpSp>
        <p:nvGrpSpPr>
          <p:cNvPr id="864" name="Google Shape;864;p34"/>
          <p:cNvGrpSpPr/>
          <p:nvPr/>
        </p:nvGrpSpPr>
        <p:grpSpPr>
          <a:xfrm>
            <a:off x="386244" y="1550208"/>
            <a:ext cx="5029421" cy="854347"/>
            <a:chOff x="289683" y="1315055"/>
            <a:chExt cx="3772066" cy="640760"/>
          </a:xfrm>
        </p:grpSpPr>
        <p:grpSp>
          <p:nvGrpSpPr>
            <p:cNvPr id="865" name="Google Shape;865;p34"/>
            <p:cNvGrpSpPr/>
            <p:nvPr/>
          </p:nvGrpSpPr>
          <p:grpSpPr>
            <a:xfrm>
              <a:off x="289683" y="1674355"/>
              <a:ext cx="1579567" cy="281460"/>
              <a:chOff x="1640950" y="2269250"/>
              <a:chExt cx="1759375" cy="313500"/>
            </a:xfrm>
          </p:grpSpPr>
          <p:sp>
            <p:nvSpPr>
              <p:cNvPr id="866" name="Google Shape;866;p34"/>
              <p:cNvSpPr/>
              <p:nvPr/>
            </p:nvSpPr>
            <p:spPr>
              <a:xfrm>
                <a:off x="1640950" y="2269250"/>
                <a:ext cx="313500" cy="313500"/>
              </a:xfrm>
              <a:prstGeom prst="rect">
                <a:avLst/>
              </a:prstGeom>
              <a:solidFill>
                <a:srgbClr val="FFFFFF"/>
              </a:solidFill>
              <a:ln w="9525" cap="flat" cmpd="sng">
                <a:solidFill>
                  <a:srgbClr val="0089CF"/>
                </a:solidFill>
                <a:prstDash val="solid"/>
                <a:round/>
                <a:headEnd type="none" w="sm" len="sm"/>
                <a:tailEnd type="none" w="sm" len="sm"/>
              </a:ln>
            </p:spPr>
            <p:txBody>
              <a:bodyPr spcFirstLastPara="1" wrap="square" lIns="0" tIns="0" rIns="0" bIns="0" anchor="ctr" anchorCtr="0">
                <a:noAutofit/>
              </a:bodyPr>
              <a:lstStyle/>
              <a:p>
                <a:pPr algn="ctr" rtl="0"/>
                <a:r>
                  <a:rPr lang="en-GB" sz="1467">
                    <a:latin typeface="Lato"/>
                    <a:ea typeface="Lato"/>
                    <a:cs typeface="Lato"/>
                    <a:sym typeface="Lato"/>
                  </a:rPr>
                  <a:t>0</a:t>
                </a:r>
                <a:endParaRPr sz="1467">
                  <a:latin typeface="Lato"/>
                  <a:ea typeface="Lato"/>
                  <a:cs typeface="Lato"/>
                  <a:sym typeface="Lato"/>
                </a:endParaRPr>
              </a:p>
            </p:txBody>
          </p:sp>
          <p:sp>
            <p:nvSpPr>
              <p:cNvPr id="867" name="Google Shape;867;p34"/>
              <p:cNvSpPr/>
              <p:nvPr/>
            </p:nvSpPr>
            <p:spPr>
              <a:xfrm>
                <a:off x="1954450" y="2269250"/>
                <a:ext cx="313500" cy="313500"/>
              </a:xfrm>
              <a:prstGeom prst="rect">
                <a:avLst/>
              </a:prstGeom>
              <a:solidFill>
                <a:srgbClr val="FFFFFF"/>
              </a:solidFill>
              <a:ln w="9525" cap="flat" cmpd="sng">
                <a:solidFill>
                  <a:srgbClr val="0089CF"/>
                </a:solidFill>
                <a:prstDash val="solid"/>
                <a:round/>
                <a:headEnd type="none" w="sm" len="sm"/>
                <a:tailEnd type="none" w="sm" len="sm"/>
              </a:ln>
            </p:spPr>
            <p:txBody>
              <a:bodyPr spcFirstLastPara="1" wrap="square" lIns="0" tIns="0" rIns="0" bIns="0" anchor="ctr" anchorCtr="0">
                <a:noAutofit/>
              </a:bodyPr>
              <a:lstStyle/>
              <a:p>
                <a:pPr algn="ctr" rtl="0"/>
                <a:r>
                  <a:rPr lang="en-GB" sz="1467">
                    <a:latin typeface="Lato"/>
                    <a:ea typeface="Lato"/>
                    <a:cs typeface="Lato"/>
                    <a:sym typeface="Lato"/>
                  </a:rPr>
                  <a:t>1</a:t>
                </a:r>
                <a:endParaRPr sz="1467">
                  <a:latin typeface="Lato"/>
                  <a:ea typeface="Lato"/>
                  <a:cs typeface="Lato"/>
                  <a:sym typeface="Lato"/>
                </a:endParaRPr>
              </a:p>
            </p:txBody>
          </p:sp>
          <p:sp>
            <p:nvSpPr>
              <p:cNvPr id="868" name="Google Shape;868;p34"/>
              <p:cNvSpPr/>
              <p:nvPr/>
            </p:nvSpPr>
            <p:spPr>
              <a:xfrm>
                <a:off x="2267950" y="2269250"/>
                <a:ext cx="313500" cy="313500"/>
              </a:xfrm>
              <a:prstGeom prst="rect">
                <a:avLst/>
              </a:prstGeom>
              <a:solidFill>
                <a:srgbClr val="FFFFFF"/>
              </a:solidFill>
              <a:ln w="9525" cap="flat" cmpd="sng">
                <a:solidFill>
                  <a:srgbClr val="0089CF"/>
                </a:solidFill>
                <a:prstDash val="solid"/>
                <a:round/>
                <a:headEnd type="none" w="sm" len="sm"/>
                <a:tailEnd type="none" w="sm" len="sm"/>
              </a:ln>
            </p:spPr>
            <p:txBody>
              <a:bodyPr spcFirstLastPara="1" wrap="square" lIns="0" tIns="0" rIns="0" bIns="0" anchor="ctr" anchorCtr="0">
                <a:noAutofit/>
              </a:bodyPr>
              <a:lstStyle/>
              <a:p>
                <a:pPr algn="ctr" rtl="0"/>
                <a:r>
                  <a:rPr lang="en-GB" sz="1467">
                    <a:latin typeface="Lato"/>
                    <a:ea typeface="Lato"/>
                    <a:cs typeface="Lato"/>
                    <a:sym typeface="Lato"/>
                  </a:rPr>
                  <a:t>2</a:t>
                </a:r>
                <a:endParaRPr sz="1467">
                  <a:latin typeface="Lato"/>
                  <a:ea typeface="Lato"/>
                  <a:cs typeface="Lato"/>
                  <a:sym typeface="Lato"/>
                </a:endParaRPr>
              </a:p>
            </p:txBody>
          </p:sp>
          <p:sp>
            <p:nvSpPr>
              <p:cNvPr id="869" name="Google Shape;869;p34"/>
              <p:cNvSpPr/>
              <p:nvPr/>
            </p:nvSpPr>
            <p:spPr>
              <a:xfrm>
                <a:off x="3086825" y="2269250"/>
                <a:ext cx="313500" cy="313500"/>
              </a:xfrm>
              <a:prstGeom prst="rect">
                <a:avLst/>
              </a:prstGeom>
              <a:solidFill>
                <a:srgbClr val="FFFFFF"/>
              </a:solidFill>
              <a:ln w="9525" cap="flat" cmpd="sng">
                <a:solidFill>
                  <a:srgbClr val="0089CF"/>
                </a:solidFill>
                <a:prstDash val="solid"/>
                <a:round/>
                <a:headEnd type="none" w="sm" len="sm"/>
                <a:tailEnd type="none" w="sm" len="sm"/>
              </a:ln>
            </p:spPr>
            <p:txBody>
              <a:bodyPr spcFirstLastPara="1" wrap="square" lIns="0" tIns="0" rIns="0" bIns="0" anchor="ctr" anchorCtr="0">
                <a:noAutofit/>
              </a:bodyPr>
              <a:lstStyle/>
              <a:p>
                <a:pPr algn="ctr" rtl="0"/>
                <a:r>
                  <a:rPr lang="en-GB" sz="1467">
                    <a:latin typeface="Lato"/>
                    <a:ea typeface="Lato"/>
                    <a:cs typeface="Lato"/>
                    <a:sym typeface="Lato"/>
                  </a:rPr>
                  <a:t>255</a:t>
                </a:r>
                <a:endParaRPr sz="1467">
                  <a:latin typeface="Lato"/>
                  <a:ea typeface="Lato"/>
                  <a:cs typeface="Lato"/>
                  <a:sym typeface="Lato"/>
                </a:endParaRPr>
              </a:p>
            </p:txBody>
          </p:sp>
          <p:cxnSp>
            <p:nvCxnSpPr>
              <p:cNvPr id="870" name="Google Shape;870;p34"/>
              <p:cNvCxnSpPr/>
              <p:nvPr/>
            </p:nvCxnSpPr>
            <p:spPr>
              <a:xfrm>
                <a:off x="2667525" y="2416575"/>
                <a:ext cx="300900" cy="0"/>
              </a:xfrm>
              <a:prstGeom prst="straightConnector1">
                <a:avLst/>
              </a:prstGeom>
              <a:noFill/>
              <a:ln w="28575" cap="flat" cmpd="sng">
                <a:solidFill>
                  <a:srgbClr val="0089CF"/>
                </a:solidFill>
                <a:prstDash val="dot"/>
                <a:round/>
                <a:headEnd type="none" w="med" len="med"/>
                <a:tailEnd type="none" w="med" len="med"/>
              </a:ln>
            </p:spPr>
          </p:cxnSp>
        </p:grpSp>
        <p:grpSp>
          <p:nvGrpSpPr>
            <p:cNvPr id="871" name="Google Shape;871;p34"/>
            <p:cNvGrpSpPr/>
            <p:nvPr/>
          </p:nvGrpSpPr>
          <p:grpSpPr>
            <a:xfrm>
              <a:off x="2482182" y="1674355"/>
              <a:ext cx="1579567" cy="281460"/>
              <a:chOff x="1640950" y="2269250"/>
              <a:chExt cx="1759375" cy="313500"/>
            </a:xfrm>
          </p:grpSpPr>
          <p:sp>
            <p:nvSpPr>
              <p:cNvPr id="872" name="Google Shape;872;p34"/>
              <p:cNvSpPr/>
              <p:nvPr/>
            </p:nvSpPr>
            <p:spPr>
              <a:xfrm>
                <a:off x="1640950" y="2269250"/>
                <a:ext cx="313500" cy="313500"/>
              </a:xfrm>
              <a:prstGeom prst="rect">
                <a:avLst/>
              </a:prstGeom>
              <a:solidFill>
                <a:srgbClr val="FFFFFF"/>
              </a:solidFill>
              <a:ln w="9525" cap="flat" cmpd="sng">
                <a:solidFill>
                  <a:srgbClr val="0089CF"/>
                </a:solidFill>
                <a:prstDash val="solid"/>
                <a:round/>
                <a:headEnd type="none" w="sm" len="sm"/>
                <a:tailEnd type="none" w="sm" len="sm"/>
              </a:ln>
            </p:spPr>
            <p:txBody>
              <a:bodyPr spcFirstLastPara="1" wrap="square" lIns="0" tIns="0" rIns="0" bIns="0" anchor="ctr" anchorCtr="0">
                <a:noAutofit/>
              </a:bodyPr>
              <a:lstStyle/>
              <a:p>
                <a:pPr algn="ctr" rtl="0"/>
                <a:r>
                  <a:rPr lang="en-GB" sz="1467">
                    <a:latin typeface="Lato"/>
                    <a:ea typeface="Lato"/>
                    <a:cs typeface="Lato"/>
                    <a:sym typeface="Lato"/>
                  </a:rPr>
                  <a:t>0</a:t>
                </a:r>
                <a:endParaRPr sz="1467">
                  <a:latin typeface="Lato"/>
                  <a:ea typeface="Lato"/>
                  <a:cs typeface="Lato"/>
                  <a:sym typeface="Lato"/>
                </a:endParaRPr>
              </a:p>
            </p:txBody>
          </p:sp>
          <p:sp>
            <p:nvSpPr>
              <p:cNvPr id="873" name="Google Shape;873;p34"/>
              <p:cNvSpPr/>
              <p:nvPr/>
            </p:nvSpPr>
            <p:spPr>
              <a:xfrm>
                <a:off x="1954450" y="2269250"/>
                <a:ext cx="313500" cy="313500"/>
              </a:xfrm>
              <a:prstGeom prst="rect">
                <a:avLst/>
              </a:prstGeom>
              <a:solidFill>
                <a:srgbClr val="FFFFFF"/>
              </a:solidFill>
              <a:ln w="9525" cap="flat" cmpd="sng">
                <a:solidFill>
                  <a:srgbClr val="0089CF"/>
                </a:solidFill>
                <a:prstDash val="solid"/>
                <a:round/>
                <a:headEnd type="none" w="sm" len="sm"/>
                <a:tailEnd type="none" w="sm" len="sm"/>
              </a:ln>
            </p:spPr>
            <p:txBody>
              <a:bodyPr spcFirstLastPara="1" wrap="square" lIns="0" tIns="0" rIns="0" bIns="0" anchor="ctr" anchorCtr="0">
                <a:noAutofit/>
              </a:bodyPr>
              <a:lstStyle/>
              <a:p>
                <a:pPr algn="ctr" rtl="0"/>
                <a:r>
                  <a:rPr lang="en-GB" sz="1467">
                    <a:latin typeface="Lato"/>
                    <a:ea typeface="Lato"/>
                    <a:cs typeface="Lato"/>
                    <a:sym typeface="Lato"/>
                  </a:rPr>
                  <a:t>1</a:t>
                </a:r>
                <a:endParaRPr sz="1467">
                  <a:latin typeface="Lato"/>
                  <a:ea typeface="Lato"/>
                  <a:cs typeface="Lato"/>
                  <a:sym typeface="Lato"/>
                </a:endParaRPr>
              </a:p>
            </p:txBody>
          </p:sp>
          <p:sp>
            <p:nvSpPr>
              <p:cNvPr id="874" name="Google Shape;874;p34"/>
              <p:cNvSpPr/>
              <p:nvPr/>
            </p:nvSpPr>
            <p:spPr>
              <a:xfrm>
                <a:off x="2267950" y="2269250"/>
                <a:ext cx="313500" cy="313500"/>
              </a:xfrm>
              <a:prstGeom prst="rect">
                <a:avLst/>
              </a:prstGeom>
              <a:solidFill>
                <a:srgbClr val="4FAF48">
                  <a:alpha val="46840"/>
                </a:srgbClr>
              </a:solidFill>
              <a:ln w="9525" cap="flat" cmpd="sng">
                <a:solidFill>
                  <a:srgbClr val="0089CF"/>
                </a:solidFill>
                <a:prstDash val="solid"/>
                <a:round/>
                <a:headEnd type="none" w="sm" len="sm"/>
                <a:tailEnd type="none" w="sm" len="sm"/>
              </a:ln>
            </p:spPr>
            <p:txBody>
              <a:bodyPr spcFirstLastPara="1" wrap="square" lIns="0" tIns="0" rIns="0" bIns="0" anchor="ctr" anchorCtr="0">
                <a:noAutofit/>
              </a:bodyPr>
              <a:lstStyle/>
              <a:p>
                <a:pPr algn="ctr" rtl="0"/>
                <a:r>
                  <a:rPr lang="en-GB" sz="1467">
                    <a:latin typeface="Lato"/>
                    <a:ea typeface="Lato"/>
                    <a:cs typeface="Lato"/>
                    <a:sym typeface="Lato"/>
                  </a:rPr>
                  <a:t>2</a:t>
                </a:r>
                <a:endParaRPr sz="1467">
                  <a:latin typeface="Lato"/>
                  <a:ea typeface="Lato"/>
                  <a:cs typeface="Lato"/>
                  <a:sym typeface="Lato"/>
                </a:endParaRPr>
              </a:p>
            </p:txBody>
          </p:sp>
          <p:sp>
            <p:nvSpPr>
              <p:cNvPr id="875" name="Google Shape;875;p34"/>
              <p:cNvSpPr/>
              <p:nvPr/>
            </p:nvSpPr>
            <p:spPr>
              <a:xfrm>
                <a:off x="3086825" y="2269250"/>
                <a:ext cx="313500" cy="313500"/>
              </a:xfrm>
              <a:prstGeom prst="rect">
                <a:avLst/>
              </a:prstGeom>
              <a:solidFill>
                <a:srgbClr val="FFFFFF"/>
              </a:solidFill>
              <a:ln w="9525" cap="flat" cmpd="sng">
                <a:solidFill>
                  <a:srgbClr val="0089CF"/>
                </a:solidFill>
                <a:prstDash val="solid"/>
                <a:round/>
                <a:headEnd type="none" w="sm" len="sm"/>
                <a:tailEnd type="none" w="sm" len="sm"/>
              </a:ln>
            </p:spPr>
            <p:txBody>
              <a:bodyPr spcFirstLastPara="1" wrap="square" lIns="0" tIns="0" rIns="0" bIns="0" anchor="ctr" anchorCtr="0">
                <a:noAutofit/>
              </a:bodyPr>
              <a:lstStyle/>
              <a:p>
                <a:pPr algn="ctr" rtl="0"/>
                <a:r>
                  <a:rPr lang="en-GB" sz="1467">
                    <a:latin typeface="Lato"/>
                    <a:ea typeface="Lato"/>
                    <a:cs typeface="Lato"/>
                    <a:sym typeface="Lato"/>
                  </a:rPr>
                  <a:t>255</a:t>
                </a:r>
                <a:endParaRPr sz="1467">
                  <a:latin typeface="Lato"/>
                  <a:ea typeface="Lato"/>
                  <a:cs typeface="Lato"/>
                  <a:sym typeface="Lato"/>
                </a:endParaRPr>
              </a:p>
            </p:txBody>
          </p:sp>
          <p:cxnSp>
            <p:nvCxnSpPr>
              <p:cNvPr id="876" name="Google Shape;876;p34"/>
              <p:cNvCxnSpPr/>
              <p:nvPr/>
            </p:nvCxnSpPr>
            <p:spPr>
              <a:xfrm>
                <a:off x="2667525" y="2416575"/>
                <a:ext cx="300900" cy="0"/>
              </a:xfrm>
              <a:prstGeom prst="straightConnector1">
                <a:avLst/>
              </a:prstGeom>
              <a:noFill/>
              <a:ln w="28575" cap="flat" cmpd="sng">
                <a:solidFill>
                  <a:srgbClr val="0089CF"/>
                </a:solidFill>
                <a:prstDash val="dot"/>
                <a:round/>
                <a:headEnd type="none" w="med" len="med"/>
                <a:tailEnd type="none" w="med" len="med"/>
              </a:ln>
            </p:spPr>
          </p:cxnSp>
        </p:grpSp>
        <p:sp>
          <p:nvSpPr>
            <p:cNvPr id="877" name="Google Shape;877;p34"/>
            <p:cNvSpPr txBox="1"/>
            <p:nvPr/>
          </p:nvSpPr>
          <p:spPr>
            <a:xfrm>
              <a:off x="658892" y="1315055"/>
              <a:ext cx="841200" cy="392385"/>
            </a:xfrm>
            <a:prstGeom prst="rect">
              <a:avLst/>
            </a:prstGeom>
            <a:noFill/>
            <a:ln>
              <a:noFill/>
            </a:ln>
          </p:spPr>
          <p:txBody>
            <a:bodyPr spcFirstLastPara="1" wrap="square" lIns="121900" tIns="121900" rIns="121900" bIns="121900" anchor="t" anchorCtr="0">
              <a:spAutoFit/>
            </a:bodyPr>
            <a:lstStyle/>
            <a:p>
              <a:pPr algn="ctr" rtl="0"/>
              <a:r>
                <a:rPr lang="en-GB">
                  <a:solidFill>
                    <a:srgbClr val="595959"/>
                  </a:solidFill>
                  <a:latin typeface="Lato"/>
                  <a:ea typeface="Lato"/>
                  <a:cs typeface="Lato"/>
                  <a:sym typeface="Lato"/>
                </a:rPr>
                <a:t>Block 0</a:t>
              </a:r>
              <a:endParaRPr>
                <a:solidFill>
                  <a:srgbClr val="595959"/>
                </a:solidFill>
                <a:latin typeface="Lato"/>
                <a:ea typeface="Lato"/>
                <a:cs typeface="Lato"/>
                <a:sym typeface="Lato"/>
              </a:endParaRPr>
            </a:p>
          </p:txBody>
        </p:sp>
        <p:sp>
          <p:nvSpPr>
            <p:cNvPr id="878" name="Google Shape;878;p34"/>
            <p:cNvSpPr txBox="1"/>
            <p:nvPr/>
          </p:nvSpPr>
          <p:spPr>
            <a:xfrm>
              <a:off x="2802869" y="1315055"/>
              <a:ext cx="841200" cy="392385"/>
            </a:xfrm>
            <a:prstGeom prst="rect">
              <a:avLst/>
            </a:prstGeom>
            <a:noFill/>
            <a:ln>
              <a:noFill/>
            </a:ln>
          </p:spPr>
          <p:txBody>
            <a:bodyPr spcFirstLastPara="1" wrap="square" lIns="121900" tIns="121900" rIns="121900" bIns="121900" anchor="t" anchorCtr="0">
              <a:spAutoFit/>
            </a:bodyPr>
            <a:lstStyle/>
            <a:p>
              <a:pPr algn="ctr" rtl="0"/>
              <a:r>
                <a:rPr lang="en-GB">
                  <a:solidFill>
                    <a:srgbClr val="595959"/>
                  </a:solidFill>
                  <a:latin typeface="Lato"/>
                  <a:ea typeface="Lato"/>
                  <a:cs typeface="Lato"/>
                  <a:sym typeface="Lato"/>
                </a:rPr>
                <a:t>Block i</a:t>
              </a:r>
              <a:endParaRPr>
                <a:solidFill>
                  <a:srgbClr val="595959"/>
                </a:solidFill>
                <a:latin typeface="Lato"/>
                <a:ea typeface="Lato"/>
                <a:cs typeface="Lato"/>
                <a:sym typeface="Lato"/>
              </a:endParaRPr>
            </a:p>
          </p:txBody>
        </p:sp>
      </p:grpSp>
      <p:grpSp>
        <p:nvGrpSpPr>
          <p:cNvPr id="879" name="Google Shape;879;p34"/>
          <p:cNvGrpSpPr/>
          <p:nvPr/>
        </p:nvGrpSpPr>
        <p:grpSpPr>
          <a:xfrm>
            <a:off x="386273" y="1583603"/>
            <a:ext cx="6074304" cy="1605576"/>
            <a:chOff x="289705" y="1340103"/>
            <a:chExt cx="4555728" cy="1204182"/>
          </a:xfrm>
        </p:grpSpPr>
        <p:grpSp>
          <p:nvGrpSpPr>
            <p:cNvPr id="880" name="Google Shape;880;p34"/>
            <p:cNvGrpSpPr/>
            <p:nvPr/>
          </p:nvGrpSpPr>
          <p:grpSpPr>
            <a:xfrm>
              <a:off x="289705" y="2008831"/>
              <a:ext cx="1552476" cy="501020"/>
              <a:chOff x="955175" y="2641801"/>
              <a:chExt cx="1729200" cy="558053"/>
            </a:xfrm>
          </p:grpSpPr>
          <p:sp>
            <p:nvSpPr>
              <p:cNvPr id="881" name="Google Shape;881;p34"/>
              <p:cNvSpPr/>
              <p:nvPr/>
            </p:nvSpPr>
            <p:spPr>
              <a:xfrm rot="5400000">
                <a:off x="1697075" y="1899901"/>
                <a:ext cx="245400" cy="1729200"/>
              </a:xfrm>
              <a:prstGeom prst="rightBrace">
                <a:avLst>
                  <a:gd name="adj1" fmla="val 50000"/>
                  <a:gd name="adj2" fmla="val 50000"/>
                </a:avLst>
              </a:prstGeom>
              <a:noFill/>
              <a:ln w="9525" cap="flat" cmpd="sng">
                <a:solidFill>
                  <a:srgbClr val="4FAF48"/>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882" name="Google Shape;882;p34"/>
              <p:cNvSpPr txBox="1"/>
              <p:nvPr/>
            </p:nvSpPr>
            <p:spPr>
              <a:xfrm>
                <a:off x="1239428" y="2762802"/>
                <a:ext cx="1160700" cy="437052"/>
              </a:xfrm>
              <a:prstGeom prst="rect">
                <a:avLst/>
              </a:prstGeom>
              <a:noFill/>
              <a:ln>
                <a:noFill/>
              </a:ln>
            </p:spPr>
            <p:txBody>
              <a:bodyPr spcFirstLastPara="1" wrap="square" lIns="121900" tIns="121900" rIns="121900" bIns="121900" anchor="t" anchorCtr="0">
                <a:spAutoFit/>
              </a:bodyPr>
              <a:lstStyle/>
              <a:p>
                <a:pPr algn="ctr" rtl="0"/>
                <a:r>
                  <a:rPr lang="en-GB">
                    <a:solidFill>
                      <a:srgbClr val="188038"/>
                    </a:solidFill>
                    <a:latin typeface="Roboto Mono"/>
                    <a:ea typeface="Roboto Mono"/>
                    <a:cs typeface="Roboto Mono"/>
                    <a:sym typeface="Roboto Mono"/>
                  </a:rPr>
                  <a:t>blockDim</a:t>
                </a:r>
                <a:endParaRPr>
                  <a:solidFill>
                    <a:srgbClr val="595959"/>
                  </a:solidFill>
                  <a:latin typeface="Lato"/>
                  <a:ea typeface="Lato"/>
                  <a:cs typeface="Lato"/>
                  <a:sym typeface="Lato"/>
                </a:endParaRPr>
              </a:p>
            </p:txBody>
          </p:sp>
        </p:grpSp>
        <p:sp>
          <p:nvSpPr>
            <p:cNvPr id="883" name="Google Shape;883;p34"/>
            <p:cNvSpPr txBox="1"/>
            <p:nvPr/>
          </p:nvSpPr>
          <p:spPr>
            <a:xfrm>
              <a:off x="3232603" y="2151900"/>
              <a:ext cx="1300800" cy="392385"/>
            </a:xfrm>
            <a:prstGeom prst="rect">
              <a:avLst/>
            </a:prstGeom>
            <a:noFill/>
            <a:ln>
              <a:noFill/>
            </a:ln>
          </p:spPr>
          <p:txBody>
            <a:bodyPr spcFirstLastPara="1" wrap="square" lIns="121900" tIns="121900" rIns="121900" bIns="121900" anchor="t" anchorCtr="0">
              <a:spAutoFit/>
            </a:bodyPr>
            <a:lstStyle/>
            <a:p>
              <a:pPr algn="ctr" rtl="0"/>
              <a:r>
                <a:rPr lang="en-GB">
                  <a:solidFill>
                    <a:srgbClr val="188038"/>
                  </a:solidFill>
                  <a:latin typeface="Roboto Mono"/>
                  <a:ea typeface="Roboto Mono"/>
                  <a:cs typeface="Roboto Mono"/>
                  <a:sym typeface="Roboto Mono"/>
                </a:rPr>
                <a:t>threadIdx</a:t>
              </a:r>
              <a:endParaRPr>
                <a:solidFill>
                  <a:srgbClr val="595959"/>
                </a:solidFill>
                <a:latin typeface="Lato"/>
                <a:ea typeface="Lato"/>
                <a:cs typeface="Lato"/>
                <a:sym typeface="Lato"/>
              </a:endParaRPr>
            </a:p>
          </p:txBody>
        </p:sp>
        <p:cxnSp>
          <p:nvCxnSpPr>
            <p:cNvPr id="884" name="Google Shape;884;p34"/>
            <p:cNvCxnSpPr>
              <a:stCxn id="874" idx="2"/>
            </p:cNvCxnSpPr>
            <p:nvPr/>
          </p:nvCxnSpPr>
          <p:spPr>
            <a:xfrm>
              <a:off x="3185833" y="1955815"/>
              <a:ext cx="138600" cy="144000"/>
            </a:xfrm>
            <a:prstGeom prst="straightConnector1">
              <a:avLst/>
            </a:prstGeom>
            <a:noFill/>
            <a:ln w="9525" cap="flat" cmpd="sng">
              <a:solidFill>
                <a:srgbClr val="0089CF"/>
              </a:solidFill>
              <a:prstDash val="solid"/>
              <a:round/>
              <a:headEnd type="none" w="med" len="med"/>
              <a:tailEnd type="none" w="med" len="med"/>
            </a:ln>
          </p:spPr>
        </p:cxnSp>
        <p:sp>
          <p:nvSpPr>
            <p:cNvPr id="885" name="Google Shape;885;p34"/>
            <p:cNvSpPr txBox="1"/>
            <p:nvPr/>
          </p:nvSpPr>
          <p:spPr>
            <a:xfrm>
              <a:off x="3683295" y="1340103"/>
              <a:ext cx="1162138" cy="392385"/>
            </a:xfrm>
            <a:prstGeom prst="rect">
              <a:avLst/>
            </a:prstGeom>
            <a:noFill/>
            <a:ln>
              <a:noFill/>
            </a:ln>
          </p:spPr>
          <p:txBody>
            <a:bodyPr spcFirstLastPara="1" wrap="square" lIns="121900" tIns="121900" rIns="121900" bIns="121900" anchor="t" anchorCtr="0">
              <a:spAutoFit/>
            </a:bodyPr>
            <a:lstStyle/>
            <a:p>
              <a:pPr algn="ctr" rtl="0"/>
              <a:r>
                <a:rPr lang="en-GB" dirty="0" err="1">
                  <a:solidFill>
                    <a:srgbClr val="188038"/>
                  </a:solidFill>
                  <a:latin typeface="Roboto Mono"/>
                  <a:ea typeface="Roboto Mono"/>
                  <a:cs typeface="Roboto Mono"/>
                  <a:sym typeface="Roboto Mono"/>
                </a:rPr>
                <a:t>blockIdx</a:t>
              </a:r>
              <a:endParaRPr dirty="0">
                <a:solidFill>
                  <a:srgbClr val="595959"/>
                </a:solidFill>
                <a:latin typeface="Lato"/>
                <a:ea typeface="Lato"/>
                <a:cs typeface="Lato"/>
                <a:sym typeface="Lato"/>
              </a:endParaRPr>
            </a:p>
          </p:txBody>
        </p:sp>
        <p:cxnSp>
          <p:nvCxnSpPr>
            <p:cNvPr id="886" name="Google Shape;886;p34"/>
            <p:cNvCxnSpPr>
              <a:cxnSpLocks/>
            </p:cNvCxnSpPr>
            <p:nvPr/>
          </p:nvCxnSpPr>
          <p:spPr>
            <a:xfrm>
              <a:off x="3527895" y="1340104"/>
              <a:ext cx="270000" cy="141202"/>
            </a:xfrm>
            <a:prstGeom prst="straightConnector1">
              <a:avLst/>
            </a:prstGeom>
            <a:noFill/>
            <a:ln w="9525" cap="flat" cmpd="sng">
              <a:solidFill>
                <a:schemeClr val="accent2"/>
              </a:solidFill>
              <a:prstDash val="solid"/>
              <a:round/>
              <a:headEnd type="none" w="med" len="med"/>
              <a:tailEnd type="none" w="med" len="med"/>
            </a:ln>
          </p:spPr>
        </p:cxnSp>
        <p:sp>
          <p:nvSpPr>
            <p:cNvPr id="887" name="Google Shape;887;p34"/>
            <p:cNvSpPr/>
            <p:nvPr/>
          </p:nvSpPr>
          <p:spPr>
            <a:xfrm>
              <a:off x="3329306" y="1360246"/>
              <a:ext cx="270000" cy="281400"/>
            </a:xfrm>
            <a:prstGeom prst="ellipse">
              <a:avLst/>
            </a:prstGeom>
            <a:noFill/>
            <a:ln w="1905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grpSp>
      <p:sp>
        <p:nvSpPr>
          <p:cNvPr id="888" name="Google Shape;888;p34"/>
          <p:cNvSpPr txBox="1">
            <a:spLocks noGrp="1"/>
          </p:cNvSpPr>
          <p:nvPr>
            <p:ph type="body" idx="1"/>
          </p:nvPr>
        </p:nvSpPr>
        <p:spPr>
          <a:xfrm>
            <a:off x="316400" y="3263967"/>
            <a:ext cx="8490400" cy="418000"/>
          </a:xfrm>
          <a:prstGeom prst="rect">
            <a:avLst/>
          </a:prstGeom>
        </p:spPr>
        <p:txBody>
          <a:bodyPr spcFirstLastPara="1" wrap="square" lIns="91433" tIns="91433" rIns="91433" bIns="91433" anchor="t" anchorCtr="0">
            <a:noAutofit/>
          </a:bodyPr>
          <a:lstStyle/>
          <a:p>
            <a:pPr marL="0" indent="0" rtl="0">
              <a:buNone/>
            </a:pPr>
            <a:r>
              <a:rPr lang="en-GB"/>
              <a:t>For 2D (and 3D) geometries, we use the same  type of information…also considering other dimensions. For instance in 2D:</a:t>
            </a:r>
            <a:endParaRPr/>
          </a:p>
          <a:p>
            <a:pPr marL="0" indent="0" rtl="0">
              <a:buNone/>
            </a:pPr>
            <a:endParaRPr/>
          </a:p>
        </p:txBody>
      </p:sp>
      <p:sp>
        <p:nvSpPr>
          <p:cNvPr id="889" name="Google Shape;889;p34"/>
          <p:cNvSpPr txBox="1"/>
          <p:nvPr/>
        </p:nvSpPr>
        <p:spPr>
          <a:xfrm>
            <a:off x="11922551" y="3674936"/>
            <a:ext cx="153600" cy="180800"/>
          </a:xfrm>
          <a:prstGeom prst="rect">
            <a:avLst/>
          </a:prstGeom>
          <a:noFill/>
          <a:ln>
            <a:noFill/>
          </a:ln>
        </p:spPr>
        <p:txBody>
          <a:bodyPr spcFirstLastPara="1" wrap="square" lIns="0" tIns="0" rIns="0" bIns="0" anchor="t" anchorCtr="0">
            <a:noAutofit/>
          </a:bodyPr>
          <a:lstStyle/>
          <a:p>
            <a:pPr algn="l" rtl="0"/>
            <a:r>
              <a:rPr lang="en-GB" sz="2133">
                <a:solidFill>
                  <a:srgbClr val="FF00FF"/>
                </a:solidFill>
                <a:latin typeface="Lato"/>
                <a:ea typeface="Lato"/>
                <a:cs typeface="Lato"/>
                <a:sym typeface="Lato"/>
              </a:rPr>
              <a:t>y</a:t>
            </a:r>
            <a:endParaRPr sz="2133">
              <a:solidFill>
                <a:srgbClr val="FF00FF"/>
              </a:solidFill>
              <a:latin typeface="Lato"/>
              <a:ea typeface="Lato"/>
              <a:cs typeface="Lato"/>
              <a:sym typeface="Lato"/>
            </a:endParaRPr>
          </a:p>
        </p:txBody>
      </p:sp>
      <p:grpSp>
        <p:nvGrpSpPr>
          <p:cNvPr id="890" name="Google Shape;890;p34"/>
          <p:cNvGrpSpPr/>
          <p:nvPr/>
        </p:nvGrpSpPr>
        <p:grpSpPr>
          <a:xfrm>
            <a:off x="9030049" y="3307936"/>
            <a:ext cx="2814687" cy="2887187"/>
            <a:chOff x="6772536" y="2480952"/>
            <a:chExt cx="2111015" cy="2165390"/>
          </a:xfrm>
        </p:grpSpPr>
        <p:pic>
          <p:nvPicPr>
            <p:cNvPr id="891" name="Google Shape;891;p34"/>
            <p:cNvPicPr preferRelativeResize="0"/>
            <p:nvPr/>
          </p:nvPicPr>
          <p:blipFill>
            <a:blip r:embed="rId3">
              <a:alphaModFix/>
            </a:blip>
            <a:stretch>
              <a:fillRect/>
            </a:stretch>
          </p:blipFill>
          <p:spPr>
            <a:xfrm>
              <a:off x="7001543" y="2735867"/>
              <a:ext cx="1763212" cy="1763206"/>
            </a:xfrm>
            <a:prstGeom prst="rect">
              <a:avLst/>
            </a:prstGeom>
            <a:noFill/>
            <a:ln>
              <a:noFill/>
            </a:ln>
          </p:spPr>
        </p:pic>
        <p:grpSp>
          <p:nvGrpSpPr>
            <p:cNvPr id="892" name="Google Shape;892;p34"/>
            <p:cNvGrpSpPr/>
            <p:nvPr/>
          </p:nvGrpSpPr>
          <p:grpSpPr>
            <a:xfrm>
              <a:off x="6772536" y="2480952"/>
              <a:ext cx="1105043" cy="1137664"/>
              <a:chOff x="6020913" y="2049425"/>
              <a:chExt cx="1389992" cy="1431024"/>
            </a:xfrm>
          </p:grpSpPr>
          <p:grpSp>
            <p:nvGrpSpPr>
              <p:cNvPr id="893" name="Google Shape;893;p34"/>
              <p:cNvGrpSpPr/>
              <p:nvPr/>
            </p:nvGrpSpPr>
            <p:grpSpPr>
              <a:xfrm>
                <a:off x="6316167" y="2373874"/>
                <a:ext cx="1094738" cy="1106575"/>
                <a:chOff x="6316167" y="2373874"/>
                <a:chExt cx="1094738" cy="1106575"/>
              </a:xfrm>
            </p:grpSpPr>
            <p:grpSp>
              <p:nvGrpSpPr>
                <p:cNvPr id="894" name="Google Shape;894;p34"/>
                <p:cNvGrpSpPr/>
                <p:nvPr/>
              </p:nvGrpSpPr>
              <p:grpSpPr>
                <a:xfrm>
                  <a:off x="6316167" y="2373874"/>
                  <a:ext cx="1094738" cy="273600"/>
                  <a:chOff x="6316167" y="2373874"/>
                  <a:chExt cx="1094738" cy="273600"/>
                </a:xfrm>
              </p:grpSpPr>
              <p:sp>
                <p:nvSpPr>
                  <p:cNvPr id="895" name="Google Shape;895;p34"/>
                  <p:cNvSpPr/>
                  <p:nvPr/>
                </p:nvSpPr>
                <p:spPr>
                  <a:xfrm>
                    <a:off x="6316167"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896" name="Google Shape;896;p34"/>
                  <p:cNvSpPr/>
                  <p:nvPr/>
                </p:nvSpPr>
                <p:spPr>
                  <a:xfrm>
                    <a:off x="6589879"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897" name="Google Shape;897;p34"/>
                  <p:cNvSpPr/>
                  <p:nvPr/>
                </p:nvSpPr>
                <p:spPr>
                  <a:xfrm>
                    <a:off x="6863592"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898" name="Google Shape;898;p34"/>
                  <p:cNvSpPr/>
                  <p:nvPr/>
                </p:nvSpPr>
                <p:spPr>
                  <a:xfrm>
                    <a:off x="7137304"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899" name="Google Shape;899;p34"/>
                  <p:cNvSpPr/>
                  <p:nvPr/>
                </p:nvSpPr>
                <p:spPr>
                  <a:xfrm flipH="1">
                    <a:off x="6410375"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900" name="Google Shape;900;p34"/>
                  <p:cNvSpPr/>
                  <p:nvPr/>
                </p:nvSpPr>
                <p:spPr>
                  <a:xfrm flipH="1">
                    <a:off x="66840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901" name="Google Shape;901;p34"/>
                  <p:cNvSpPr/>
                  <p:nvPr/>
                </p:nvSpPr>
                <p:spPr>
                  <a:xfrm flipH="1">
                    <a:off x="69577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902" name="Google Shape;902;p34"/>
                  <p:cNvSpPr/>
                  <p:nvPr/>
                </p:nvSpPr>
                <p:spPr>
                  <a:xfrm flipH="1">
                    <a:off x="7231512"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grpSp>
            <p:grpSp>
              <p:nvGrpSpPr>
                <p:cNvPr id="903" name="Google Shape;903;p34"/>
                <p:cNvGrpSpPr/>
                <p:nvPr/>
              </p:nvGrpSpPr>
              <p:grpSpPr>
                <a:xfrm>
                  <a:off x="6316167" y="2647474"/>
                  <a:ext cx="1094738" cy="273600"/>
                  <a:chOff x="6316167" y="2373874"/>
                  <a:chExt cx="1094738" cy="273600"/>
                </a:xfrm>
              </p:grpSpPr>
              <p:sp>
                <p:nvSpPr>
                  <p:cNvPr id="904" name="Google Shape;904;p34"/>
                  <p:cNvSpPr/>
                  <p:nvPr/>
                </p:nvSpPr>
                <p:spPr>
                  <a:xfrm>
                    <a:off x="6316167"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05" name="Google Shape;905;p34"/>
                  <p:cNvSpPr/>
                  <p:nvPr/>
                </p:nvSpPr>
                <p:spPr>
                  <a:xfrm>
                    <a:off x="6589879"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06" name="Google Shape;906;p34"/>
                  <p:cNvSpPr/>
                  <p:nvPr/>
                </p:nvSpPr>
                <p:spPr>
                  <a:xfrm>
                    <a:off x="6863592"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07" name="Google Shape;907;p34"/>
                  <p:cNvSpPr/>
                  <p:nvPr/>
                </p:nvSpPr>
                <p:spPr>
                  <a:xfrm>
                    <a:off x="7137304"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08" name="Google Shape;908;p34"/>
                  <p:cNvSpPr/>
                  <p:nvPr/>
                </p:nvSpPr>
                <p:spPr>
                  <a:xfrm flipH="1">
                    <a:off x="6410375"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909" name="Google Shape;909;p34"/>
                  <p:cNvSpPr/>
                  <p:nvPr/>
                </p:nvSpPr>
                <p:spPr>
                  <a:xfrm flipH="1">
                    <a:off x="66840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910" name="Google Shape;910;p34"/>
                  <p:cNvSpPr/>
                  <p:nvPr/>
                </p:nvSpPr>
                <p:spPr>
                  <a:xfrm flipH="1">
                    <a:off x="69577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911" name="Google Shape;911;p34"/>
                  <p:cNvSpPr/>
                  <p:nvPr/>
                </p:nvSpPr>
                <p:spPr>
                  <a:xfrm flipH="1">
                    <a:off x="7231512"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grpSp>
            <p:grpSp>
              <p:nvGrpSpPr>
                <p:cNvPr id="912" name="Google Shape;912;p34"/>
                <p:cNvGrpSpPr/>
                <p:nvPr/>
              </p:nvGrpSpPr>
              <p:grpSpPr>
                <a:xfrm>
                  <a:off x="6316167" y="2933249"/>
                  <a:ext cx="1094738" cy="273600"/>
                  <a:chOff x="6316167" y="2373874"/>
                  <a:chExt cx="1094738" cy="273600"/>
                </a:xfrm>
              </p:grpSpPr>
              <p:sp>
                <p:nvSpPr>
                  <p:cNvPr id="913" name="Google Shape;913;p34"/>
                  <p:cNvSpPr/>
                  <p:nvPr/>
                </p:nvSpPr>
                <p:spPr>
                  <a:xfrm>
                    <a:off x="6316167"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14" name="Google Shape;914;p34"/>
                  <p:cNvSpPr/>
                  <p:nvPr/>
                </p:nvSpPr>
                <p:spPr>
                  <a:xfrm>
                    <a:off x="6589879"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15" name="Google Shape;915;p34"/>
                  <p:cNvSpPr/>
                  <p:nvPr/>
                </p:nvSpPr>
                <p:spPr>
                  <a:xfrm>
                    <a:off x="6863592"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16" name="Google Shape;916;p34"/>
                  <p:cNvSpPr/>
                  <p:nvPr/>
                </p:nvSpPr>
                <p:spPr>
                  <a:xfrm>
                    <a:off x="7137304"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17" name="Google Shape;917;p34"/>
                  <p:cNvSpPr/>
                  <p:nvPr/>
                </p:nvSpPr>
                <p:spPr>
                  <a:xfrm flipH="1">
                    <a:off x="6410375"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918" name="Google Shape;918;p34"/>
                  <p:cNvSpPr/>
                  <p:nvPr/>
                </p:nvSpPr>
                <p:spPr>
                  <a:xfrm flipH="1">
                    <a:off x="66840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919" name="Google Shape;919;p34"/>
                  <p:cNvSpPr/>
                  <p:nvPr/>
                </p:nvSpPr>
                <p:spPr>
                  <a:xfrm flipH="1">
                    <a:off x="69577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920" name="Google Shape;920;p34"/>
                  <p:cNvSpPr/>
                  <p:nvPr/>
                </p:nvSpPr>
                <p:spPr>
                  <a:xfrm flipH="1">
                    <a:off x="7231512"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grpSp>
            <p:grpSp>
              <p:nvGrpSpPr>
                <p:cNvPr id="921" name="Google Shape;921;p34"/>
                <p:cNvGrpSpPr/>
                <p:nvPr/>
              </p:nvGrpSpPr>
              <p:grpSpPr>
                <a:xfrm>
                  <a:off x="6316167" y="3206849"/>
                  <a:ext cx="1094738" cy="273600"/>
                  <a:chOff x="6316167" y="2373874"/>
                  <a:chExt cx="1094738" cy="273600"/>
                </a:xfrm>
              </p:grpSpPr>
              <p:sp>
                <p:nvSpPr>
                  <p:cNvPr id="922" name="Google Shape;922;p34"/>
                  <p:cNvSpPr/>
                  <p:nvPr/>
                </p:nvSpPr>
                <p:spPr>
                  <a:xfrm>
                    <a:off x="6316167"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23" name="Google Shape;923;p34"/>
                  <p:cNvSpPr/>
                  <p:nvPr/>
                </p:nvSpPr>
                <p:spPr>
                  <a:xfrm>
                    <a:off x="6589879"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24" name="Google Shape;924;p34"/>
                  <p:cNvSpPr/>
                  <p:nvPr/>
                </p:nvSpPr>
                <p:spPr>
                  <a:xfrm>
                    <a:off x="6863592"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25" name="Google Shape;925;p34"/>
                  <p:cNvSpPr/>
                  <p:nvPr/>
                </p:nvSpPr>
                <p:spPr>
                  <a:xfrm>
                    <a:off x="7137304"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26" name="Google Shape;926;p34"/>
                  <p:cNvSpPr/>
                  <p:nvPr/>
                </p:nvSpPr>
                <p:spPr>
                  <a:xfrm flipH="1">
                    <a:off x="6410375"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927" name="Google Shape;927;p34"/>
                  <p:cNvSpPr/>
                  <p:nvPr/>
                </p:nvSpPr>
                <p:spPr>
                  <a:xfrm flipH="1">
                    <a:off x="66840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928" name="Google Shape;928;p34"/>
                  <p:cNvSpPr/>
                  <p:nvPr/>
                </p:nvSpPr>
                <p:spPr>
                  <a:xfrm flipH="1">
                    <a:off x="69577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929" name="Google Shape;929;p34"/>
                  <p:cNvSpPr/>
                  <p:nvPr/>
                </p:nvSpPr>
                <p:spPr>
                  <a:xfrm flipH="1">
                    <a:off x="7231512"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grpSp>
          </p:grpSp>
          <p:grpSp>
            <p:nvGrpSpPr>
              <p:cNvPr id="930" name="Google Shape;930;p34"/>
              <p:cNvGrpSpPr/>
              <p:nvPr/>
            </p:nvGrpSpPr>
            <p:grpSpPr>
              <a:xfrm>
                <a:off x="6311400" y="2049425"/>
                <a:ext cx="641093" cy="220350"/>
                <a:chOff x="6311400" y="2049425"/>
                <a:chExt cx="641093" cy="220350"/>
              </a:xfrm>
            </p:grpSpPr>
            <p:cxnSp>
              <p:nvCxnSpPr>
                <p:cNvPr id="931" name="Google Shape;931;p34"/>
                <p:cNvCxnSpPr/>
                <p:nvPr/>
              </p:nvCxnSpPr>
              <p:spPr>
                <a:xfrm>
                  <a:off x="6311400" y="2269775"/>
                  <a:ext cx="535200" cy="0"/>
                </a:xfrm>
                <a:prstGeom prst="straightConnector1">
                  <a:avLst/>
                </a:prstGeom>
                <a:noFill/>
                <a:ln w="9525" cap="flat" cmpd="sng">
                  <a:solidFill>
                    <a:schemeClr val="accent3"/>
                  </a:solidFill>
                  <a:prstDash val="solid"/>
                  <a:round/>
                  <a:headEnd type="none" w="med" len="med"/>
                  <a:tailEnd type="triangle" w="med" len="med"/>
                </a:ln>
              </p:spPr>
            </p:cxnSp>
            <p:sp>
              <p:nvSpPr>
                <p:cNvPr id="932" name="Google Shape;932;p34"/>
                <p:cNvSpPr txBox="1"/>
                <p:nvPr/>
              </p:nvSpPr>
              <p:spPr>
                <a:xfrm>
                  <a:off x="6807593" y="2049425"/>
                  <a:ext cx="144900" cy="170700"/>
                </a:xfrm>
                <a:prstGeom prst="rect">
                  <a:avLst/>
                </a:prstGeom>
                <a:noFill/>
                <a:ln>
                  <a:noFill/>
                </a:ln>
              </p:spPr>
              <p:txBody>
                <a:bodyPr spcFirstLastPara="1" wrap="square" lIns="0" tIns="0" rIns="0" bIns="0" anchor="t" anchorCtr="0">
                  <a:noAutofit/>
                </a:bodyPr>
                <a:lstStyle/>
                <a:p>
                  <a:pPr algn="l" rtl="0"/>
                  <a:r>
                    <a:rPr lang="en-GB" sz="2133">
                      <a:solidFill>
                        <a:schemeClr val="accent3"/>
                      </a:solidFill>
                      <a:latin typeface="Lato"/>
                      <a:ea typeface="Lato"/>
                      <a:cs typeface="Lato"/>
                      <a:sym typeface="Lato"/>
                    </a:rPr>
                    <a:t>x</a:t>
                  </a:r>
                  <a:endParaRPr sz="2133">
                    <a:solidFill>
                      <a:schemeClr val="accent3"/>
                    </a:solidFill>
                    <a:latin typeface="Lato"/>
                    <a:ea typeface="Lato"/>
                    <a:cs typeface="Lato"/>
                    <a:sym typeface="Lato"/>
                  </a:endParaRPr>
                </a:p>
              </p:txBody>
            </p:sp>
          </p:grpSp>
          <p:grpSp>
            <p:nvGrpSpPr>
              <p:cNvPr id="933" name="Google Shape;933;p34"/>
              <p:cNvGrpSpPr/>
              <p:nvPr/>
            </p:nvGrpSpPr>
            <p:grpSpPr>
              <a:xfrm>
                <a:off x="6020913" y="2370813"/>
                <a:ext cx="204688" cy="538800"/>
                <a:chOff x="6020913" y="2370813"/>
                <a:chExt cx="204688" cy="538800"/>
              </a:xfrm>
            </p:grpSpPr>
            <p:cxnSp>
              <p:nvCxnSpPr>
                <p:cNvPr id="934" name="Google Shape;934;p34"/>
                <p:cNvCxnSpPr/>
                <p:nvPr/>
              </p:nvCxnSpPr>
              <p:spPr>
                <a:xfrm>
                  <a:off x="6225600" y="2370813"/>
                  <a:ext cx="0" cy="538800"/>
                </a:xfrm>
                <a:prstGeom prst="straightConnector1">
                  <a:avLst/>
                </a:prstGeom>
                <a:noFill/>
                <a:ln w="9525" cap="flat" cmpd="sng">
                  <a:solidFill>
                    <a:schemeClr val="accent3"/>
                  </a:solidFill>
                  <a:prstDash val="solid"/>
                  <a:round/>
                  <a:headEnd type="none" w="med" len="med"/>
                  <a:tailEnd type="triangle" w="med" len="med"/>
                </a:ln>
              </p:spPr>
            </p:cxnSp>
            <p:sp>
              <p:nvSpPr>
                <p:cNvPr id="935" name="Google Shape;935;p34"/>
                <p:cNvSpPr txBox="1"/>
                <p:nvPr/>
              </p:nvSpPr>
              <p:spPr>
                <a:xfrm>
                  <a:off x="6020913" y="2729155"/>
                  <a:ext cx="144900" cy="170700"/>
                </a:xfrm>
                <a:prstGeom prst="rect">
                  <a:avLst/>
                </a:prstGeom>
                <a:noFill/>
                <a:ln>
                  <a:noFill/>
                </a:ln>
              </p:spPr>
              <p:txBody>
                <a:bodyPr spcFirstLastPara="1" wrap="square" lIns="0" tIns="0" rIns="0" bIns="0" anchor="t" anchorCtr="0">
                  <a:noAutofit/>
                </a:bodyPr>
                <a:lstStyle/>
                <a:p>
                  <a:pPr algn="l" rtl="0"/>
                  <a:r>
                    <a:rPr lang="en-GB" sz="2133">
                      <a:solidFill>
                        <a:schemeClr val="accent3"/>
                      </a:solidFill>
                      <a:latin typeface="Lato"/>
                      <a:ea typeface="Lato"/>
                      <a:cs typeface="Lato"/>
                      <a:sym typeface="Lato"/>
                    </a:rPr>
                    <a:t>y</a:t>
                  </a:r>
                  <a:endParaRPr sz="2133">
                    <a:solidFill>
                      <a:schemeClr val="accent3"/>
                    </a:solidFill>
                    <a:latin typeface="Lato"/>
                    <a:ea typeface="Lato"/>
                    <a:cs typeface="Lato"/>
                    <a:sym typeface="Lato"/>
                  </a:endParaRPr>
                </a:p>
              </p:txBody>
            </p:sp>
          </p:grpSp>
        </p:grpSp>
        <p:grpSp>
          <p:nvGrpSpPr>
            <p:cNvPr id="936" name="Google Shape;936;p34"/>
            <p:cNvGrpSpPr/>
            <p:nvPr/>
          </p:nvGrpSpPr>
          <p:grpSpPr>
            <a:xfrm>
              <a:off x="7007866" y="2735829"/>
              <a:ext cx="1756734" cy="1759454"/>
              <a:chOff x="6316926" y="2370024"/>
              <a:chExt cx="2209728" cy="2213150"/>
            </a:xfrm>
          </p:grpSpPr>
          <p:grpSp>
            <p:nvGrpSpPr>
              <p:cNvPr id="937" name="Google Shape;937;p34"/>
              <p:cNvGrpSpPr/>
              <p:nvPr/>
            </p:nvGrpSpPr>
            <p:grpSpPr>
              <a:xfrm>
                <a:off x="7431917" y="2370024"/>
                <a:ext cx="1094738" cy="1106575"/>
                <a:chOff x="6316167" y="2373874"/>
                <a:chExt cx="1094738" cy="1106575"/>
              </a:xfrm>
            </p:grpSpPr>
            <p:grpSp>
              <p:nvGrpSpPr>
                <p:cNvPr id="938" name="Google Shape;938;p34"/>
                <p:cNvGrpSpPr/>
                <p:nvPr/>
              </p:nvGrpSpPr>
              <p:grpSpPr>
                <a:xfrm>
                  <a:off x="6316167" y="2373874"/>
                  <a:ext cx="1094738" cy="273600"/>
                  <a:chOff x="6316167" y="2373874"/>
                  <a:chExt cx="1094738" cy="273600"/>
                </a:xfrm>
              </p:grpSpPr>
              <p:sp>
                <p:nvSpPr>
                  <p:cNvPr id="939" name="Google Shape;939;p34"/>
                  <p:cNvSpPr/>
                  <p:nvPr/>
                </p:nvSpPr>
                <p:spPr>
                  <a:xfrm>
                    <a:off x="6316167"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40" name="Google Shape;940;p34"/>
                  <p:cNvSpPr/>
                  <p:nvPr/>
                </p:nvSpPr>
                <p:spPr>
                  <a:xfrm>
                    <a:off x="6589879"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41" name="Google Shape;941;p34"/>
                  <p:cNvSpPr/>
                  <p:nvPr/>
                </p:nvSpPr>
                <p:spPr>
                  <a:xfrm>
                    <a:off x="6863592"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42" name="Google Shape;942;p34"/>
                  <p:cNvSpPr/>
                  <p:nvPr/>
                </p:nvSpPr>
                <p:spPr>
                  <a:xfrm>
                    <a:off x="7137304"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43" name="Google Shape;943;p34"/>
                  <p:cNvSpPr/>
                  <p:nvPr/>
                </p:nvSpPr>
                <p:spPr>
                  <a:xfrm flipH="1">
                    <a:off x="6410375"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944" name="Google Shape;944;p34"/>
                  <p:cNvSpPr/>
                  <p:nvPr/>
                </p:nvSpPr>
                <p:spPr>
                  <a:xfrm flipH="1">
                    <a:off x="66840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945" name="Google Shape;945;p34"/>
                  <p:cNvSpPr/>
                  <p:nvPr/>
                </p:nvSpPr>
                <p:spPr>
                  <a:xfrm flipH="1">
                    <a:off x="69577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946" name="Google Shape;946;p34"/>
                  <p:cNvSpPr/>
                  <p:nvPr/>
                </p:nvSpPr>
                <p:spPr>
                  <a:xfrm flipH="1">
                    <a:off x="7231512"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grpSp>
            <p:grpSp>
              <p:nvGrpSpPr>
                <p:cNvPr id="947" name="Google Shape;947;p34"/>
                <p:cNvGrpSpPr/>
                <p:nvPr/>
              </p:nvGrpSpPr>
              <p:grpSpPr>
                <a:xfrm>
                  <a:off x="6316167" y="2647474"/>
                  <a:ext cx="1094738" cy="273600"/>
                  <a:chOff x="6316167" y="2373874"/>
                  <a:chExt cx="1094738" cy="273600"/>
                </a:xfrm>
              </p:grpSpPr>
              <p:sp>
                <p:nvSpPr>
                  <p:cNvPr id="948" name="Google Shape;948;p34"/>
                  <p:cNvSpPr/>
                  <p:nvPr/>
                </p:nvSpPr>
                <p:spPr>
                  <a:xfrm>
                    <a:off x="6316167"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49" name="Google Shape;949;p34"/>
                  <p:cNvSpPr/>
                  <p:nvPr/>
                </p:nvSpPr>
                <p:spPr>
                  <a:xfrm>
                    <a:off x="6589879"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50" name="Google Shape;950;p34"/>
                  <p:cNvSpPr/>
                  <p:nvPr/>
                </p:nvSpPr>
                <p:spPr>
                  <a:xfrm>
                    <a:off x="6863592"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51" name="Google Shape;951;p34"/>
                  <p:cNvSpPr/>
                  <p:nvPr/>
                </p:nvSpPr>
                <p:spPr>
                  <a:xfrm>
                    <a:off x="7137304"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52" name="Google Shape;952;p34"/>
                  <p:cNvSpPr/>
                  <p:nvPr/>
                </p:nvSpPr>
                <p:spPr>
                  <a:xfrm flipH="1">
                    <a:off x="6410375"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953" name="Google Shape;953;p34"/>
                  <p:cNvSpPr/>
                  <p:nvPr/>
                </p:nvSpPr>
                <p:spPr>
                  <a:xfrm flipH="1">
                    <a:off x="66840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954" name="Google Shape;954;p34"/>
                  <p:cNvSpPr/>
                  <p:nvPr/>
                </p:nvSpPr>
                <p:spPr>
                  <a:xfrm flipH="1">
                    <a:off x="69577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955" name="Google Shape;955;p34"/>
                  <p:cNvSpPr/>
                  <p:nvPr/>
                </p:nvSpPr>
                <p:spPr>
                  <a:xfrm flipH="1">
                    <a:off x="7231512"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grpSp>
            <p:grpSp>
              <p:nvGrpSpPr>
                <p:cNvPr id="956" name="Google Shape;956;p34"/>
                <p:cNvGrpSpPr/>
                <p:nvPr/>
              </p:nvGrpSpPr>
              <p:grpSpPr>
                <a:xfrm>
                  <a:off x="6316167" y="2933249"/>
                  <a:ext cx="1094738" cy="273600"/>
                  <a:chOff x="6316167" y="2373874"/>
                  <a:chExt cx="1094738" cy="273600"/>
                </a:xfrm>
              </p:grpSpPr>
              <p:sp>
                <p:nvSpPr>
                  <p:cNvPr id="957" name="Google Shape;957;p34"/>
                  <p:cNvSpPr/>
                  <p:nvPr/>
                </p:nvSpPr>
                <p:spPr>
                  <a:xfrm>
                    <a:off x="6316167"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58" name="Google Shape;958;p34"/>
                  <p:cNvSpPr/>
                  <p:nvPr/>
                </p:nvSpPr>
                <p:spPr>
                  <a:xfrm>
                    <a:off x="6589879"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59" name="Google Shape;959;p34"/>
                  <p:cNvSpPr/>
                  <p:nvPr/>
                </p:nvSpPr>
                <p:spPr>
                  <a:xfrm>
                    <a:off x="6863592"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60" name="Google Shape;960;p34"/>
                  <p:cNvSpPr/>
                  <p:nvPr/>
                </p:nvSpPr>
                <p:spPr>
                  <a:xfrm>
                    <a:off x="7137304"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61" name="Google Shape;961;p34"/>
                  <p:cNvSpPr/>
                  <p:nvPr/>
                </p:nvSpPr>
                <p:spPr>
                  <a:xfrm flipH="1">
                    <a:off x="6410375"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962" name="Google Shape;962;p34"/>
                  <p:cNvSpPr/>
                  <p:nvPr/>
                </p:nvSpPr>
                <p:spPr>
                  <a:xfrm flipH="1">
                    <a:off x="66840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963" name="Google Shape;963;p34"/>
                  <p:cNvSpPr/>
                  <p:nvPr/>
                </p:nvSpPr>
                <p:spPr>
                  <a:xfrm flipH="1">
                    <a:off x="69577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964" name="Google Shape;964;p34"/>
                  <p:cNvSpPr/>
                  <p:nvPr/>
                </p:nvSpPr>
                <p:spPr>
                  <a:xfrm flipH="1">
                    <a:off x="7231512"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grpSp>
            <p:grpSp>
              <p:nvGrpSpPr>
                <p:cNvPr id="965" name="Google Shape;965;p34"/>
                <p:cNvGrpSpPr/>
                <p:nvPr/>
              </p:nvGrpSpPr>
              <p:grpSpPr>
                <a:xfrm>
                  <a:off x="6316167" y="3206849"/>
                  <a:ext cx="1094738" cy="273600"/>
                  <a:chOff x="6316167" y="2373874"/>
                  <a:chExt cx="1094738" cy="273600"/>
                </a:xfrm>
              </p:grpSpPr>
              <p:sp>
                <p:nvSpPr>
                  <p:cNvPr id="966" name="Google Shape;966;p34"/>
                  <p:cNvSpPr/>
                  <p:nvPr/>
                </p:nvSpPr>
                <p:spPr>
                  <a:xfrm>
                    <a:off x="6316167"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67" name="Google Shape;967;p34"/>
                  <p:cNvSpPr/>
                  <p:nvPr/>
                </p:nvSpPr>
                <p:spPr>
                  <a:xfrm>
                    <a:off x="6589879"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68" name="Google Shape;968;p34"/>
                  <p:cNvSpPr/>
                  <p:nvPr/>
                </p:nvSpPr>
                <p:spPr>
                  <a:xfrm>
                    <a:off x="6863592"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69" name="Google Shape;969;p34"/>
                  <p:cNvSpPr/>
                  <p:nvPr/>
                </p:nvSpPr>
                <p:spPr>
                  <a:xfrm>
                    <a:off x="7137304"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70" name="Google Shape;970;p34"/>
                  <p:cNvSpPr/>
                  <p:nvPr/>
                </p:nvSpPr>
                <p:spPr>
                  <a:xfrm flipH="1">
                    <a:off x="6410375"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971" name="Google Shape;971;p34"/>
                  <p:cNvSpPr/>
                  <p:nvPr/>
                </p:nvSpPr>
                <p:spPr>
                  <a:xfrm flipH="1">
                    <a:off x="66840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972" name="Google Shape;972;p34"/>
                  <p:cNvSpPr/>
                  <p:nvPr/>
                </p:nvSpPr>
                <p:spPr>
                  <a:xfrm flipH="1">
                    <a:off x="69577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973" name="Google Shape;973;p34"/>
                  <p:cNvSpPr/>
                  <p:nvPr/>
                </p:nvSpPr>
                <p:spPr>
                  <a:xfrm flipH="1">
                    <a:off x="7231512"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grpSp>
          </p:grpSp>
          <p:grpSp>
            <p:nvGrpSpPr>
              <p:cNvPr id="974" name="Google Shape;974;p34"/>
              <p:cNvGrpSpPr/>
              <p:nvPr/>
            </p:nvGrpSpPr>
            <p:grpSpPr>
              <a:xfrm>
                <a:off x="6316926" y="3476599"/>
                <a:ext cx="1094738" cy="1106575"/>
                <a:chOff x="6316167" y="2373874"/>
                <a:chExt cx="1094738" cy="1106575"/>
              </a:xfrm>
            </p:grpSpPr>
            <p:grpSp>
              <p:nvGrpSpPr>
                <p:cNvPr id="975" name="Google Shape;975;p34"/>
                <p:cNvGrpSpPr/>
                <p:nvPr/>
              </p:nvGrpSpPr>
              <p:grpSpPr>
                <a:xfrm>
                  <a:off x="6316167" y="2373874"/>
                  <a:ext cx="1094738" cy="273600"/>
                  <a:chOff x="6316167" y="2373874"/>
                  <a:chExt cx="1094738" cy="273600"/>
                </a:xfrm>
              </p:grpSpPr>
              <p:sp>
                <p:nvSpPr>
                  <p:cNvPr id="976" name="Google Shape;976;p34"/>
                  <p:cNvSpPr/>
                  <p:nvPr/>
                </p:nvSpPr>
                <p:spPr>
                  <a:xfrm>
                    <a:off x="6316167"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77" name="Google Shape;977;p34"/>
                  <p:cNvSpPr/>
                  <p:nvPr/>
                </p:nvSpPr>
                <p:spPr>
                  <a:xfrm>
                    <a:off x="6589879"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78" name="Google Shape;978;p34"/>
                  <p:cNvSpPr/>
                  <p:nvPr/>
                </p:nvSpPr>
                <p:spPr>
                  <a:xfrm>
                    <a:off x="6863592"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79" name="Google Shape;979;p34"/>
                  <p:cNvSpPr/>
                  <p:nvPr/>
                </p:nvSpPr>
                <p:spPr>
                  <a:xfrm>
                    <a:off x="7137304"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80" name="Google Shape;980;p34"/>
                  <p:cNvSpPr/>
                  <p:nvPr/>
                </p:nvSpPr>
                <p:spPr>
                  <a:xfrm flipH="1">
                    <a:off x="6410375"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981" name="Google Shape;981;p34"/>
                  <p:cNvSpPr/>
                  <p:nvPr/>
                </p:nvSpPr>
                <p:spPr>
                  <a:xfrm flipH="1">
                    <a:off x="66840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982" name="Google Shape;982;p34"/>
                  <p:cNvSpPr/>
                  <p:nvPr/>
                </p:nvSpPr>
                <p:spPr>
                  <a:xfrm flipH="1">
                    <a:off x="69577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983" name="Google Shape;983;p34"/>
                  <p:cNvSpPr/>
                  <p:nvPr/>
                </p:nvSpPr>
                <p:spPr>
                  <a:xfrm flipH="1">
                    <a:off x="7231512"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grpSp>
            <p:grpSp>
              <p:nvGrpSpPr>
                <p:cNvPr id="984" name="Google Shape;984;p34"/>
                <p:cNvGrpSpPr/>
                <p:nvPr/>
              </p:nvGrpSpPr>
              <p:grpSpPr>
                <a:xfrm>
                  <a:off x="6316167" y="2647474"/>
                  <a:ext cx="1094738" cy="273600"/>
                  <a:chOff x="6316167" y="2373874"/>
                  <a:chExt cx="1094738" cy="273600"/>
                </a:xfrm>
              </p:grpSpPr>
              <p:sp>
                <p:nvSpPr>
                  <p:cNvPr id="985" name="Google Shape;985;p34"/>
                  <p:cNvSpPr/>
                  <p:nvPr/>
                </p:nvSpPr>
                <p:spPr>
                  <a:xfrm>
                    <a:off x="6316167"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86" name="Google Shape;986;p34"/>
                  <p:cNvSpPr/>
                  <p:nvPr/>
                </p:nvSpPr>
                <p:spPr>
                  <a:xfrm>
                    <a:off x="6589879"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87" name="Google Shape;987;p34"/>
                  <p:cNvSpPr/>
                  <p:nvPr/>
                </p:nvSpPr>
                <p:spPr>
                  <a:xfrm>
                    <a:off x="6863592"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88" name="Google Shape;988;p34"/>
                  <p:cNvSpPr/>
                  <p:nvPr/>
                </p:nvSpPr>
                <p:spPr>
                  <a:xfrm>
                    <a:off x="7137304"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89" name="Google Shape;989;p34"/>
                  <p:cNvSpPr/>
                  <p:nvPr/>
                </p:nvSpPr>
                <p:spPr>
                  <a:xfrm flipH="1">
                    <a:off x="6410375"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990" name="Google Shape;990;p34"/>
                  <p:cNvSpPr/>
                  <p:nvPr/>
                </p:nvSpPr>
                <p:spPr>
                  <a:xfrm flipH="1">
                    <a:off x="66840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991" name="Google Shape;991;p34"/>
                  <p:cNvSpPr/>
                  <p:nvPr/>
                </p:nvSpPr>
                <p:spPr>
                  <a:xfrm flipH="1">
                    <a:off x="69577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992" name="Google Shape;992;p34"/>
                  <p:cNvSpPr/>
                  <p:nvPr/>
                </p:nvSpPr>
                <p:spPr>
                  <a:xfrm flipH="1">
                    <a:off x="7231512"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grpSp>
            <p:grpSp>
              <p:nvGrpSpPr>
                <p:cNvPr id="993" name="Google Shape;993;p34"/>
                <p:cNvGrpSpPr/>
                <p:nvPr/>
              </p:nvGrpSpPr>
              <p:grpSpPr>
                <a:xfrm>
                  <a:off x="6316167" y="2933249"/>
                  <a:ext cx="1094738" cy="273600"/>
                  <a:chOff x="6316167" y="2373874"/>
                  <a:chExt cx="1094738" cy="273600"/>
                </a:xfrm>
              </p:grpSpPr>
              <p:sp>
                <p:nvSpPr>
                  <p:cNvPr id="994" name="Google Shape;994;p34"/>
                  <p:cNvSpPr/>
                  <p:nvPr/>
                </p:nvSpPr>
                <p:spPr>
                  <a:xfrm>
                    <a:off x="6316167"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95" name="Google Shape;995;p34"/>
                  <p:cNvSpPr/>
                  <p:nvPr/>
                </p:nvSpPr>
                <p:spPr>
                  <a:xfrm>
                    <a:off x="6589879"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96" name="Google Shape;996;p34"/>
                  <p:cNvSpPr/>
                  <p:nvPr/>
                </p:nvSpPr>
                <p:spPr>
                  <a:xfrm>
                    <a:off x="6863592"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97" name="Google Shape;997;p34"/>
                  <p:cNvSpPr/>
                  <p:nvPr/>
                </p:nvSpPr>
                <p:spPr>
                  <a:xfrm>
                    <a:off x="7137304"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998" name="Google Shape;998;p34"/>
                  <p:cNvSpPr/>
                  <p:nvPr/>
                </p:nvSpPr>
                <p:spPr>
                  <a:xfrm flipH="1">
                    <a:off x="6410375"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999" name="Google Shape;999;p34"/>
                  <p:cNvSpPr/>
                  <p:nvPr/>
                </p:nvSpPr>
                <p:spPr>
                  <a:xfrm flipH="1">
                    <a:off x="66840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1000" name="Google Shape;1000;p34"/>
                  <p:cNvSpPr/>
                  <p:nvPr/>
                </p:nvSpPr>
                <p:spPr>
                  <a:xfrm flipH="1">
                    <a:off x="69577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1001" name="Google Shape;1001;p34"/>
                  <p:cNvSpPr/>
                  <p:nvPr/>
                </p:nvSpPr>
                <p:spPr>
                  <a:xfrm flipH="1">
                    <a:off x="7231512"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grpSp>
            <p:grpSp>
              <p:nvGrpSpPr>
                <p:cNvPr id="1002" name="Google Shape;1002;p34"/>
                <p:cNvGrpSpPr/>
                <p:nvPr/>
              </p:nvGrpSpPr>
              <p:grpSpPr>
                <a:xfrm>
                  <a:off x="6316167" y="3206849"/>
                  <a:ext cx="1094738" cy="273600"/>
                  <a:chOff x="6316167" y="2373874"/>
                  <a:chExt cx="1094738" cy="273600"/>
                </a:xfrm>
              </p:grpSpPr>
              <p:sp>
                <p:nvSpPr>
                  <p:cNvPr id="1003" name="Google Shape;1003;p34"/>
                  <p:cNvSpPr/>
                  <p:nvPr/>
                </p:nvSpPr>
                <p:spPr>
                  <a:xfrm>
                    <a:off x="6316167"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1004" name="Google Shape;1004;p34"/>
                  <p:cNvSpPr/>
                  <p:nvPr/>
                </p:nvSpPr>
                <p:spPr>
                  <a:xfrm>
                    <a:off x="6589879"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1005" name="Google Shape;1005;p34"/>
                  <p:cNvSpPr/>
                  <p:nvPr/>
                </p:nvSpPr>
                <p:spPr>
                  <a:xfrm>
                    <a:off x="6863592"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1006" name="Google Shape;1006;p34"/>
                  <p:cNvSpPr/>
                  <p:nvPr/>
                </p:nvSpPr>
                <p:spPr>
                  <a:xfrm>
                    <a:off x="7137304"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1007" name="Google Shape;1007;p34"/>
                  <p:cNvSpPr/>
                  <p:nvPr/>
                </p:nvSpPr>
                <p:spPr>
                  <a:xfrm flipH="1">
                    <a:off x="6410375"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1008" name="Google Shape;1008;p34"/>
                  <p:cNvSpPr/>
                  <p:nvPr/>
                </p:nvSpPr>
                <p:spPr>
                  <a:xfrm flipH="1">
                    <a:off x="66840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1009" name="Google Shape;1009;p34"/>
                  <p:cNvSpPr/>
                  <p:nvPr/>
                </p:nvSpPr>
                <p:spPr>
                  <a:xfrm flipH="1">
                    <a:off x="69577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1010" name="Google Shape;1010;p34"/>
                  <p:cNvSpPr/>
                  <p:nvPr/>
                </p:nvSpPr>
                <p:spPr>
                  <a:xfrm flipH="1">
                    <a:off x="7231512"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grpSp>
          </p:grpSp>
          <p:grpSp>
            <p:nvGrpSpPr>
              <p:cNvPr id="1011" name="Google Shape;1011;p34"/>
              <p:cNvGrpSpPr/>
              <p:nvPr/>
            </p:nvGrpSpPr>
            <p:grpSpPr>
              <a:xfrm>
                <a:off x="7431917" y="3476599"/>
                <a:ext cx="1094738" cy="1106575"/>
                <a:chOff x="6316167" y="2373874"/>
                <a:chExt cx="1094738" cy="1106575"/>
              </a:xfrm>
            </p:grpSpPr>
            <p:grpSp>
              <p:nvGrpSpPr>
                <p:cNvPr id="1012" name="Google Shape;1012;p34"/>
                <p:cNvGrpSpPr/>
                <p:nvPr/>
              </p:nvGrpSpPr>
              <p:grpSpPr>
                <a:xfrm>
                  <a:off x="6316167" y="2373874"/>
                  <a:ext cx="1094738" cy="273600"/>
                  <a:chOff x="6316167" y="2373874"/>
                  <a:chExt cx="1094738" cy="273600"/>
                </a:xfrm>
              </p:grpSpPr>
              <p:sp>
                <p:nvSpPr>
                  <p:cNvPr id="1013" name="Google Shape;1013;p34"/>
                  <p:cNvSpPr/>
                  <p:nvPr/>
                </p:nvSpPr>
                <p:spPr>
                  <a:xfrm>
                    <a:off x="6316167"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1014" name="Google Shape;1014;p34"/>
                  <p:cNvSpPr/>
                  <p:nvPr/>
                </p:nvSpPr>
                <p:spPr>
                  <a:xfrm>
                    <a:off x="6589879"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1015" name="Google Shape;1015;p34"/>
                  <p:cNvSpPr/>
                  <p:nvPr/>
                </p:nvSpPr>
                <p:spPr>
                  <a:xfrm>
                    <a:off x="6863592"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1016" name="Google Shape;1016;p34"/>
                  <p:cNvSpPr/>
                  <p:nvPr/>
                </p:nvSpPr>
                <p:spPr>
                  <a:xfrm>
                    <a:off x="7137304"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1017" name="Google Shape;1017;p34"/>
                  <p:cNvSpPr/>
                  <p:nvPr/>
                </p:nvSpPr>
                <p:spPr>
                  <a:xfrm flipH="1">
                    <a:off x="6410375"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1018" name="Google Shape;1018;p34"/>
                  <p:cNvSpPr/>
                  <p:nvPr/>
                </p:nvSpPr>
                <p:spPr>
                  <a:xfrm flipH="1">
                    <a:off x="66840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1019" name="Google Shape;1019;p34"/>
                  <p:cNvSpPr/>
                  <p:nvPr/>
                </p:nvSpPr>
                <p:spPr>
                  <a:xfrm flipH="1">
                    <a:off x="69577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1020" name="Google Shape;1020;p34"/>
                  <p:cNvSpPr/>
                  <p:nvPr/>
                </p:nvSpPr>
                <p:spPr>
                  <a:xfrm flipH="1">
                    <a:off x="7231512"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grpSp>
            <p:grpSp>
              <p:nvGrpSpPr>
                <p:cNvPr id="1021" name="Google Shape;1021;p34"/>
                <p:cNvGrpSpPr/>
                <p:nvPr/>
              </p:nvGrpSpPr>
              <p:grpSpPr>
                <a:xfrm>
                  <a:off x="6316167" y="2647474"/>
                  <a:ext cx="1094738" cy="273600"/>
                  <a:chOff x="6316167" y="2373874"/>
                  <a:chExt cx="1094738" cy="273600"/>
                </a:xfrm>
              </p:grpSpPr>
              <p:sp>
                <p:nvSpPr>
                  <p:cNvPr id="1022" name="Google Shape;1022;p34"/>
                  <p:cNvSpPr/>
                  <p:nvPr/>
                </p:nvSpPr>
                <p:spPr>
                  <a:xfrm>
                    <a:off x="6316167"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1023" name="Google Shape;1023;p34"/>
                  <p:cNvSpPr/>
                  <p:nvPr/>
                </p:nvSpPr>
                <p:spPr>
                  <a:xfrm>
                    <a:off x="6589879"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1024" name="Google Shape;1024;p34"/>
                  <p:cNvSpPr/>
                  <p:nvPr/>
                </p:nvSpPr>
                <p:spPr>
                  <a:xfrm>
                    <a:off x="6863592"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1025" name="Google Shape;1025;p34"/>
                  <p:cNvSpPr/>
                  <p:nvPr/>
                </p:nvSpPr>
                <p:spPr>
                  <a:xfrm>
                    <a:off x="7137304"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1026" name="Google Shape;1026;p34"/>
                  <p:cNvSpPr/>
                  <p:nvPr/>
                </p:nvSpPr>
                <p:spPr>
                  <a:xfrm flipH="1">
                    <a:off x="6410375"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1027" name="Google Shape;1027;p34"/>
                  <p:cNvSpPr/>
                  <p:nvPr/>
                </p:nvSpPr>
                <p:spPr>
                  <a:xfrm flipH="1">
                    <a:off x="66840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1028" name="Google Shape;1028;p34"/>
                  <p:cNvSpPr/>
                  <p:nvPr/>
                </p:nvSpPr>
                <p:spPr>
                  <a:xfrm flipH="1">
                    <a:off x="69577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1029" name="Google Shape;1029;p34"/>
                  <p:cNvSpPr/>
                  <p:nvPr/>
                </p:nvSpPr>
                <p:spPr>
                  <a:xfrm flipH="1">
                    <a:off x="7231512"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grpSp>
            <p:grpSp>
              <p:nvGrpSpPr>
                <p:cNvPr id="1030" name="Google Shape;1030;p34"/>
                <p:cNvGrpSpPr/>
                <p:nvPr/>
              </p:nvGrpSpPr>
              <p:grpSpPr>
                <a:xfrm>
                  <a:off x="6316167" y="2933249"/>
                  <a:ext cx="1094738" cy="273600"/>
                  <a:chOff x="6316167" y="2373874"/>
                  <a:chExt cx="1094738" cy="273600"/>
                </a:xfrm>
              </p:grpSpPr>
              <p:sp>
                <p:nvSpPr>
                  <p:cNvPr id="1031" name="Google Shape;1031;p34"/>
                  <p:cNvSpPr/>
                  <p:nvPr/>
                </p:nvSpPr>
                <p:spPr>
                  <a:xfrm>
                    <a:off x="6316167"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1032" name="Google Shape;1032;p34"/>
                  <p:cNvSpPr/>
                  <p:nvPr/>
                </p:nvSpPr>
                <p:spPr>
                  <a:xfrm>
                    <a:off x="6589879"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1033" name="Google Shape;1033;p34"/>
                  <p:cNvSpPr/>
                  <p:nvPr/>
                </p:nvSpPr>
                <p:spPr>
                  <a:xfrm>
                    <a:off x="6863592"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1034" name="Google Shape;1034;p34"/>
                  <p:cNvSpPr/>
                  <p:nvPr/>
                </p:nvSpPr>
                <p:spPr>
                  <a:xfrm>
                    <a:off x="7137304"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1035" name="Google Shape;1035;p34"/>
                  <p:cNvSpPr/>
                  <p:nvPr/>
                </p:nvSpPr>
                <p:spPr>
                  <a:xfrm flipH="1">
                    <a:off x="6410375"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1036" name="Google Shape;1036;p34"/>
                  <p:cNvSpPr/>
                  <p:nvPr/>
                </p:nvSpPr>
                <p:spPr>
                  <a:xfrm flipH="1">
                    <a:off x="66840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1037" name="Google Shape;1037;p34"/>
                  <p:cNvSpPr/>
                  <p:nvPr/>
                </p:nvSpPr>
                <p:spPr>
                  <a:xfrm flipH="1">
                    <a:off x="69577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1038" name="Google Shape;1038;p34"/>
                  <p:cNvSpPr/>
                  <p:nvPr/>
                </p:nvSpPr>
                <p:spPr>
                  <a:xfrm flipH="1">
                    <a:off x="7231512"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grpSp>
            <p:grpSp>
              <p:nvGrpSpPr>
                <p:cNvPr id="1039" name="Google Shape;1039;p34"/>
                <p:cNvGrpSpPr/>
                <p:nvPr/>
              </p:nvGrpSpPr>
              <p:grpSpPr>
                <a:xfrm>
                  <a:off x="6316167" y="3206849"/>
                  <a:ext cx="1094738" cy="273600"/>
                  <a:chOff x="6316167" y="2373874"/>
                  <a:chExt cx="1094738" cy="273600"/>
                </a:xfrm>
              </p:grpSpPr>
              <p:sp>
                <p:nvSpPr>
                  <p:cNvPr id="1040" name="Google Shape;1040;p34"/>
                  <p:cNvSpPr/>
                  <p:nvPr/>
                </p:nvSpPr>
                <p:spPr>
                  <a:xfrm>
                    <a:off x="6316167"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1041" name="Google Shape;1041;p34"/>
                  <p:cNvSpPr/>
                  <p:nvPr/>
                </p:nvSpPr>
                <p:spPr>
                  <a:xfrm>
                    <a:off x="6589879"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1042" name="Google Shape;1042;p34"/>
                  <p:cNvSpPr/>
                  <p:nvPr/>
                </p:nvSpPr>
                <p:spPr>
                  <a:xfrm>
                    <a:off x="6863592"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1043" name="Google Shape;1043;p34"/>
                  <p:cNvSpPr/>
                  <p:nvPr/>
                </p:nvSpPr>
                <p:spPr>
                  <a:xfrm>
                    <a:off x="7137304" y="2373874"/>
                    <a:ext cx="273600" cy="2736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1044" name="Google Shape;1044;p34"/>
                  <p:cNvSpPr/>
                  <p:nvPr/>
                </p:nvSpPr>
                <p:spPr>
                  <a:xfrm flipH="1">
                    <a:off x="6410375"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1045" name="Google Shape;1045;p34"/>
                  <p:cNvSpPr/>
                  <p:nvPr/>
                </p:nvSpPr>
                <p:spPr>
                  <a:xfrm flipH="1">
                    <a:off x="66840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1046" name="Google Shape;1046;p34"/>
                  <p:cNvSpPr/>
                  <p:nvPr/>
                </p:nvSpPr>
                <p:spPr>
                  <a:xfrm flipH="1">
                    <a:off x="6957787"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1047" name="Google Shape;1047;p34"/>
                  <p:cNvSpPr/>
                  <p:nvPr/>
                </p:nvSpPr>
                <p:spPr>
                  <a:xfrm flipH="1">
                    <a:off x="7231512" y="2383354"/>
                    <a:ext cx="85200" cy="254643"/>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grpSp>
          </p:grpSp>
        </p:grpSp>
        <p:sp>
          <p:nvSpPr>
            <p:cNvPr id="1048" name="Google Shape;1048;p34"/>
            <p:cNvSpPr/>
            <p:nvPr/>
          </p:nvSpPr>
          <p:spPr>
            <a:xfrm>
              <a:off x="6999798" y="2730246"/>
              <a:ext cx="1763100" cy="1763100"/>
            </a:xfrm>
            <a:prstGeom prst="rect">
              <a:avLst/>
            </a:prstGeom>
            <a:noFill/>
            <a:ln w="28575" cap="flat" cmpd="sng">
              <a:solidFill>
                <a:srgbClr val="FF00FF"/>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cxnSp>
          <p:nvCxnSpPr>
            <p:cNvPr id="1049" name="Google Shape;1049;p34"/>
            <p:cNvCxnSpPr/>
            <p:nvPr/>
          </p:nvCxnSpPr>
          <p:spPr>
            <a:xfrm>
              <a:off x="7427435" y="2730246"/>
              <a:ext cx="0" cy="1763100"/>
            </a:xfrm>
            <a:prstGeom prst="straightConnector1">
              <a:avLst/>
            </a:prstGeom>
            <a:noFill/>
            <a:ln w="28575" cap="flat" cmpd="sng">
              <a:solidFill>
                <a:srgbClr val="FF00FF"/>
              </a:solidFill>
              <a:prstDash val="solid"/>
              <a:round/>
              <a:headEnd type="none" w="med" len="med"/>
              <a:tailEnd type="none" w="med" len="med"/>
            </a:ln>
          </p:spPr>
        </p:cxnSp>
        <p:cxnSp>
          <p:nvCxnSpPr>
            <p:cNvPr id="1050" name="Google Shape;1050;p34"/>
            <p:cNvCxnSpPr>
              <a:stCxn id="1048" idx="1"/>
              <a:endCxn id="1048" idx="3"/>
            </p:cNvCxnSpPr>
            <p:nvPr/>
          </p:nvCxnSpPr>
          <p:spPr>
            <a:xfrm>
              <a:off x="6999798" y="3611796"/>
              <a:ext cx="1763100" cy="0"/>
            </a:xfrm>
            <a:prstGeom prst="straightConnector1">
              <a:avLst/>
            </a:prstGeom>
            <a:noFill/>
            <a:ln w="28575" cap="flat" cmpd="sng">
              <a:solidFill>
                <a:srgbClr val="FF00FF"/>
              </a:solidFill>
              <a:prstDash val="solid"/>
              <a:round/>
              <a:headEnd type="none" w="med" len="med"/>
              <a:tailEnd type="none" w="med" len="med"/>
            </a:ln>
          </p:spPr>
        </p:cxnSp>
        <p:cxnSp>
          <p:nvCxnSpPr>
            <p:cNvPr id="1051" name="Google Shape;1051;p34"/>
            <p:cNvCxnSpPr/>
            <p:nvPr/>
          </p:nvCxnSpPr>
          <p:spPr>
            <a:xfrm>
              <a:off x="7031638" y="4557692"/>
              <a:ext cx="1793400" cy="0"/>
            </a:xfrm>
            <a:prstGeom prst="straightConnector1">
              <a:avLst/>
            </a:prstGeom>
            <a:noFill/>
            <a:ln w="9525" cap="flat" cmpd="sng">
              <a:solidFill>
                <a:srgbClr val="FF00FF"/>
              </a:solidFill>
              <a:prstDash val="solid"/>
              <a:round/>
              <a:headEnd type="none" w="med" len="med"/>
              <a:tailEnd type="triangle" w="med" len="med"/>
            </a:ln>
          </p:spPr>
        </p:cxnSp>
        <p:cxnSp>
          <p:nvCxnSpPr>
            <p:cNvPr id="1052" name="Google Shape;1052;p34"/>
            <p:cNvCxnSpPr/>
            <p:nvPr/>
          </p:nvCxnSpPr>
          <p:spPr>
            <a:xfrm rot="10800000">
              <a:off x="8883550" y="2800839"/>
              <a:ext cx="0" cy="1762200"/>
            </a:xfrm>
            <a:prstGeom prst="straightConnector1">
              <a:avLst/>
            </a:prstGeom>
            <a:noFill/>
            <a:ln w="9525" cap="flat" cmpd="sng">
              <a:solidFill>
                <a:srgbClr val="FF00FF"/>
              </a:solidFill>
              <a:prstDash val="solid"/>
              <a:round/>
              <a:headEnd type="none" w="med" len="med"/>
              <a:tailEnd type="triangle" w="med" len="med"/>
            </a:ln>
          </p:spPr>
        </p:cxnSp>
        <p:sp>
          <p:nvSpPr>
            <p:cNvPr id="1053" name="Google Shape;1053;p34"/>
            <p:cNvSpPr txBox="1"/>
            <p:nvPr/>
          </p:nvSpPr>
          <p:spPr>
            <a:xfrm>
              <a:off x="8673543" y="4510635"/>
              <a:ext cx="115196" cy="135707"/>
            </a:xfrm>
            <a:prstGeom prst="rect">
              <a:avLst/>
            </a:prstGeom>
            <a:noFill/>
            <a:ln>
              <a:noFill/>
            </a:ln>
          </p:spPr>
          <p:txBody>
            <a:bodyPr spcFirstLastPara="1" wrap="square" lIns="0" tIns="0" rIns="0" bIns="0" anchor="t" anchorCtr="0">
              <a:noAutofit/>
            </a:bodyPr>
            <a:lstStyle/>
            <a:p>
              <a:pPr algn="l" rtl="0"/>
              <a:r>
                <a:rPr lang="en-GB" sz="2133">
                  <a:solidFill>
                    <a:srgbClr val="FF00FF"/>
                  </a:solidFill>
                  <a:latin typeface="Lato"/>
                  <a:ea typeface="Lato"/>
                  <a:cs typeface="Lato"/>
                  <a:sym typeface="Lato"/>
                </a:rPr>
                <a:t>x</a:t>
              </a:r>
              <a:endParaRPr sz="2133">
                <a:solidFill>
                  <a:srgbClr val="FF00FF"/>
                </a:solidFill>
                <a:latin typeface="Lato"/>
                <a:ea typeface="Lato"/>
                <a:cs typeface="Lato"/>
                <a:sym typeface="Lato"/>
              </a:endParaRPr>
            </a:p>
          </p:txBody>
        </p:sp>
        <p:cxnSp>
          <p:nvCxnSpPr>
            <p:cNvPr id="1054" name="Google Shape;1054;p34"/>
            <p:cNvCxnSpPr/>
            <p:nvPr/>
          </p:nvCxnSpPr>
          <p:spPr>
            <a:xfrm>
              <a:off x="7884635" y="2730246"/>
              <a:ext cx="0" cy="1763100"/>
            </a:xfrm>
            <a:prstGeom prst="straightConnector1">
              <a:avLst/>
            </a:prstGeom>
            <a:noFill/>
            <a:ln w="28575" cap="flat" cmpd="sng">
              <a:solidFill>
                <a:srgbClr val="FF00FF"/>
              </a:solidFill>
              <a:prstDash val="solid"/>
              <a:round/>
              <a:headEnd type="none" w="med" len="med"/>
              <a:tailEnd type="none" w="med" len="med"/>
            </a:ln>
          </p:spPr>
        </p:cxnSp>
        <p:cxnSp>
          <p:nvCxnSpPr>
            <p:cNvPr id="1055" name="Google Shape;1055;p34"/>
            <p:cNvCxnSpPr/>
            <p:nvPr/>
          </p:nvCxnSpPr>
          <p:spPr>
            <a:xfrm>
              <a:off x="8341835" y="2730246"/>
              <a:ext cx="0" cy="1763100"/>
            </a:xfrm>
            <a:prstGeom prst="straightConnector1">
              <a:avLst/>
            </a:prstGeom>
            <a:noFill/>
            <a:ln w="28575" cap="flat" cmpd="sng">
              <a:solidFill>
                <a:srgbClr val="FF00FF"/>
              </a:solidFill>
              <a:prstDash val="solid"/>
              <a:round/>
              <a:headEnd type="none" w="med" len="med"/>
              <a:tailEnd type="none" w="med" len="med"/>
            </a:ln>
          </p:spPr>
        </p:cxnSp>
        <p:cxnSp>
          <p:nvCxnSpPr>
            <p:cNvPr id="1056" name="Google Shape;1056;p34"/>
            <p:cNvCxnSpPr/>
            <p:nvPr/>
          </p:nvCxnSpPr>
          <p:spPr>
            <a:xfrm>
              <a:off x="6999798" y="3172746"/>
              <a:ext cx="1763100" cy="0"/>
            </a:xfrm>
            <a:prstGeom prst="straightConnector1">
              <a:avLst/>
            </a:prstGeom>
            <a:noFill/>
            <a:ln w="28575" cap="flat" cmpd="sng">
              <a:solidFill>
                <a:srgbClr val="FF00FF"/>
              </a:solidFill>
              <a:prstDash val="solid"/>
              <a:round/>
              <a:headEnd type="none" w="med" len="med"/>
              <a:tailEnd type="none" w="med" len="med"/>
            </a:ln>
          </p:spPr>
        </p:cxnSp>
        <p:cxnSp>
          <p:nvCxnSpPr>
            <p:cNvPr id="1057" name="Google Shape;1057;p34"/>
            <p:cNvCxnSpPr/>
            <p:nvPr/>
          </p:nvCxnSpPr>
          <p:spPr>
            <a:xfrm>
              <a:off x="7009685" y="4063032"/>
              <a:ext cx="1763100" cy="0"/>
            </a:xfrm>
            <a:prstGeom prst="straightConnector1">
              <a:avLst/>
            </a:prstGeom>
            <a:noFill/>
            <a:ln w="28575" cap="flat" cmpd="sng">
              <a:solidFill>
                <a:srgbClr val="FF00FF"/>
              </a:solidFill>
              <a:prstDash val="solid"/>
              <a:round/>
              <a:headEnd type="none" w="med" len="med"/>
              <a:tailEnd type="none" w="med" len="med"/>
            </a:ln>
          </p:spPr>
        </p:cxnSp>
      </p:grpSp>
      <p:sp>
        <p:nvSpPr>
          <p:cNvPr id="1058" name="Google Shape;1058;p34"/>
          <p:cNvSpPr/>
          <p:nvPr/>
        </p:nvSpPr>
        <p:spPr>
          <a:xfrm>
            <a:off x="10412600" y="4113400"/>
            <a:ext cx="797200" cy="797200"/>
          </a:xfrm>
          <a:prstGeom prst="rect">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1059" name="Google Shape;1059;p34"/>
          <p:cNvSpPr txBox="1"/>
          <p:nvPr/>
        </p:nvSpPr>
        <p:spPr>
          <a:xfrm>
            <a:off x="396833" y="4073867"/>
            <a:ext cx="6796800" cy="779532"/>
          </a:xfrm>
          <a:prstGeom prst="rect">
            <a:avLst/>
          </a:prstGeom>
          <a:noFill/>
          <a:ln>
            <a:noFill/>
          </a:ln>
        </p:spPr>
        <p:txBody>
          <a:bodyPr spcFirstLastPara="1" wrap="square" lIns="121900" tIns="121900" rIns="121900" bIns="121900" anchor="t" anchorCtr="0">
            <a:spAutoFit/>
          </a:bodyPr>
          <a:lstStyle/>
          <a:p>
            <a:pPr algn="l" rtl="0"/>
            <a:r>
              <a:rPr lang="en-GB" sz="1733">
                <a:solidFill>
                  <a:srgbClr val="37474F"/>
                </a:solidFill>
                <a:latin typeface="Roboto Mono"/>
                <a:ea typeface="Roboto Mono"/>
                <a:cs typeface="Roboto Mono"/>
                <a:sym typeface="Roboto Mono"/>
              </a:rPr>
              <a:t>row = blockIdx.y * blockDim.y + threadIdx.y</a:t>
            </a:r>
            <a:endParaRPr sz="1733">
              <a:solidFill>
                <a:srgbClr val="37474F"/>
              </a:solidFill>
              <a:latin typeface="Roboto Mono"/>
              <a:ea typeface="Roboto Mono"/>
              <a:cs typeface="Roboto Mono"/>
              <a:sym typeface="Roboto Mono"/>
            </a:endParaRPr>
          </a:p>
          <a:p>
            <a:pPr algn="l" rtl="0"/>
            <a:r>
              <a:rPr lang="en-GB" sz="1733">
                <a:solidFill>
                  <a:srgbClr val="37474F"/>
                </a:solidFill>
                <a:latin typeface="Roboto Mono"/>
                <a:ea typeface="Roboto Mono"/>
                <a:cs typeface="Roboto Mono"/>
                <a:sym typeface="Roboto Mono"/>
              </a:rPr>
              <a:t>col = blockIdx.x * blockDim.x + threadIdx.x</a:t>
            </a:r>
            <a:endParaRPr sz="1733">
              <a:solidFill>
                <a:srgbClr val="37474F"/>
              </a:solidFill>
              <a:latin typeface="Roboto Mono"/>
              <a:ea typeface="Roboto Mono"/>
              <a:cs typeface="Roboto Mono"/>
              <a:sym typeface="Roboto Mono"/>
            </a:endParaRPr>
          </a:p>
        </p:txBody>
      </p:sp>
      <p:grpSp>
        <p:nvGrpSpPr>
          <p:cNvPr id="1060" name="Google Shape;1060;p34"/>
          <p:cNvGrpSpPr/>
          <p:nvPr/>
        </p:nvGrpSpPr>
        <p:grpSpPr>
          <a:xfrm>
            <a:off x="396833" y="4670067"/>
            <a:ext cx="10156867" cy="1199332"/>
            <a:chOff x="297625" y="3502550"/>
            <a:chExt cx="7617650" cy="899499"/>
          </a:xfrm>
        </p:grpSpPr>
        <p:sp>
          <p:nvSpPr>
            <p:cNvPr id="1061" name="Google Shape;1061;p34"/>
            <p:cNvSpPr txBox="1"/>
            <p:nvPr/>
          </p:nvSpPr>
          <p:spPr>
            <a:xfrm>
              <a:off x="297625" y="3817400"/>
              <a:ext cx="5097600" cy="584649"/>
            </a:xfrm>
            <a:prstGeom prst="rect">
              <a:avLst/>
            </a:prstGeom>
            <a:noFill/>
            <a:ln>
              <a:noFill/>
            </a:ln>
          </p:spPr>
          <p:txBody>
            <a:bodyPr spcFirstLastPara="1" wrap="square" lIns="121900" tIns="121900" rIns="121900" bIns="121900" anchor="t" anchorCtr="0">
              <a:spAutoFit/>
            </a:bodyPr>
            <a:lstStyle/>
            <a:p>
              <a:pPr algn="l" rtl="0"/>
              <a:r>
                <a:rPr lang="en-GB" sz="1733">
                  <a:solidFill>
                    <a:srgbClr val="37474F"/>
                  </a:solidFill>
                  <a:latin typeface="Roboto Mono"/>
                  <a:ea typeface="Roboto Mono"/>
                  <a:cs typeface="Roboto Mono"/>
                  <a:sym typeface="Roboto Mono"/>
                </a:rPr>
                <a:t>row = 1 * 2 + 1 = 3</a:t>
              </a:r>
              <a:endParaRPr sz="1733">
                <a:solidFill>
                  <a:srgbClr val="37474F"/>
                </a:solidFill>
                <a:latin typeface="Roboto Mono"/>
                <a:ea typeface="Roboto Mono"/>
                <a:cs typeface="Roboto Mono"/>
                <a:sym typeface="Roboto Mono"/>
              </a:endParaRPr>
            </a:p>
            <a:p>
              <a:pPr algn="l" rtl="0"/>
              <a:r>
                <a:rPr lang="en-GB" sz="1733">
                  <a:solidFill>
                    <a:srgbClr val="37474F"/>
                  </a:solidFill>
                  <a:latin typeface="Roboto Mono"/>
                  <a:ea typeface="Roboto Mono"/>
                  <a:cs typeface="Roboto Mono"/>
                  <a:sym typeface="Roboto Mono"/>
                </a:rPr>
                <a:t>col = 2 * 2 + 0 = 4</a:t>
              </a:r>
              <a:endParaRPr sz="1733">
                <a:solidFill>
                  <a:srgbClr val="37474F"/>
                </a:solidFill>
                <a:latin typeface="Roboto Mono"/>
                <a:ea typeface="Roboto Mono"/>
                <a:cs typeface="Roboto Mono"/>
                <a:sym typeface="Roboto Mono"/>
              </a:endParaRPr>
            </a:p>
          </p:txBody>
        </p:sp>
        <p:cxnSp>
          <p:nvCxnSpPr>
            <p:cNvPr id="1062" name="Google Shape;1062;p34"/>
            <p:cNvCxnSpPr>
              <a:stCxn id="1063" idx="2"/>
            </p:cNvCxnSpPr>
            <p:nvPr/>
          </p:nvCxnSpPr>
          <p:spPr>
            <a:xfrm flipH="1">
              <a:off x="2510475" y="3502550"/>
              <a:ext cx="5404800" cy="529200"/>
            </a:xfrm>
            <a:prstGeom prst="straightConnector1">
              <a:avLst/>
            </a:prstGeom>
            <a:noFill/>
            <a:ln w="19050" cap="flat" cmpd="sng">
              <a:solidFill>
                <a:srgbClr val="00FFFF"/>
              </a:solidFill>
              <a:prstDash val="solid"/>
              <a:round/>
              <a:headEnd type="none" w="med" len="med"/>
              <a:tailEnd type="triangle" w="med" len="med"/>
            </a:ln>
          </p:spPr>
        </p:cxnSp>
      </p:grpSp>
      <p:sp>
        <p:nvSpPr>
          <p:cNvPr id="1063" name="Google Shape;1063;p34"/>
          <p:cNvSpPr/>
          <p:nvPr/>
        </p:nvSpPr>
        <p:spPr>
          <a:xfrm>
            <a:off x="10553700" y="4537067"/>
            <a:ext cx="266000" cy="266000"/>
          </a:xfrm>
          <a:prstGeom prst="ellipse">
            <a:avLst/>
          </a:prstGeom>
          <a:solidFill>
            <a:srgbClr val="00FFFF"/>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grpSp>
        <p:nvGrpSpPr>
          <p:cNvPr id="1064" name="Google Shape;1064;p34"/>
          <p:cNvGrpSpPr/>
          <p:nvPr/>
        </p:nvGrpSpPr>
        <p:grpSpPr>
          <a:xfrm>
            <a:off x="7262901" y="4131001"/>
            <a:ext cx="3148300" cy="2196688"/>
            <a:chOff x="5447175" y="2793450"/>
            <a:chExt cx="2361225" cy="1647516"/>
          </a:xfrm>
        </p:grpSpPr>
        <p:pic>
          <p:nvPicPr>
            <p:cNvPr id="1065" name="Google Shape;1065;p34"/>
            <p:cNvPicPr preferRelativeResize="0"/>
            <p:nvPr/>
          </p:nvPicPr>
          <p:blipFill rotWithShape="1">
            <a:blip r:embed="rId3">
              <a:alphaModFix/>
            </a:blip>
            <a:srcRect l="49372" t="24035" r="24368" b="49802"/>
            <a:stretch/>
          </p:blipFill>
          <p:spPr>
            <a:xfrm>
              <a:off x="5942550" y="3340775"/>
              <a:ext cx="470950" cy="469225"/>
            </a:xfrm>
            <a:prstGeom prst="rect">
              <a:avLst/>
            </a:prstGeom>
            <a:noFill/>
            <a:ln>
              <a:noFill/>
            </a:ln>
          </p:spPr>
        </p:pic>
        <p:sp>
          <p:nvSpPr>
            <p:cNvPr id="1066" name="Google Shape;1066;p34"/>
            <p:cNvSpPr txBox="1"/>
            <p:nvPr/>
          </p:nvSpPr>
          <p:spPr>
            <a:xfrm>
              <a:off x="5447175" y="3856317"/>
              <a:ext cx="1595100" cy="584649"/>
            </a:xfrm>
            <a:prstGeom prst="rect">
              <a:avLst/>
            </a:prstGeom>
            <a:noFill/>
            <a:ln>
              <a:noFill/>
            </a:ln>
          </p:spPr>
          <p:txBody>
            <a:bodyPr spcFirstLastPara="1" wrap="square" lIns="121900" tIns="121900" rIns="121900" bIns="121900" anchor="t" anchorCtr="0">
              <a:spAutoFit/>
            </a:bodyPr>
            <a:lstStyle/>
            <a:p>
              <a:pPr algn="l" rtl="0"/>
              <a:r>
                <a:rPr lang="en-GB" sz="1733">
                  <a:solidFill>
                    <a:srgbClr val="37474F"/>
                  </a:solidFill>
                  <a:latin typeface="Roboto Mono"/>
                  <a:ea typeface="Roboto Mono"/>
                  <a:cs typeface="Roboto Mono"/>
                  <a:sym typeface="Roboto Mono"/>
                </a:rPr>
                <a:t>blockIdx.x = 2</a:t>
              </a:r>
              <a:endParaRPr sz="1733">
                <a:solidFill>
                  <a:srgbClr val="37474F"/>
                </a:solidFill>
                <a:latin typeface="Roboto Mono"/>
                <a:ea typeface="Roboto Mono"/>
                <a:cs typeface="Roboto Mono"/>
                <a:sym typeface="Roboto Mono"/>
              </a:endParaRPr>
            </a:p>
            <a:p>
              <a:pPr algn="l" rtl="0">
                <a:buClr>
                  <a:schemeClr val="dk1"/>
                </a:buClr>
                <a:buSzPts val="1100"/>
              </a:pPr>
              <a:r>
                <a:rPr lang="en-GB" sz="1733">
                  <a:solidFill>
                    <a:srgbClr val="37474F"/>
                  </a:solidFill>
                  <a:latin typeface="Roboto Mono"/>
                  <a:ea typeface="Roboto Mono"/>
                  <a:cs typeface="Roboto Mono"/>
                  <a:sym typeface="Roboto Mono"/>
                </a:rPr>
                <a:t>blockIdx.y = 1</a:t>
              </a:r>
              <a:endParaRPr sz="1733">
                <a:solidFill>
                  <a:srgbClr val="37474F"/>
                </a:solidFill>
                <a:latin typeface="Roboto Mono"/>
                <a:ea typeface="Roboto Mono"/>
                <a:cs typeface="Roboto Mono"/>
                <a:sym typeface="Roboto Mono"/>
              </a:endParaRPr>
            </a:p>
          </p:txBody>
        </p:sp>
        <p:cxnSp>
          <p:nvCxnSpPr>
            <p:cNvPr id="1067" name="Google Shape;1067;p34"/>
            <p:cNvCxnSpPr/>
            <p:nvPr/>
          </p:nvCxnSpPr>
          <p:spPr>
            <a:xfrm flipH="1">
              <a:off x="6373675" y="2793450"/>
              <a:ext cx="1429500" cy="536100"/>
            </a:xfrm>
            <a:prstGeom prst="straightConnector1">
              <a:avLst/>
            </a:prstGeom>
            <a:noFill/>
            <a:ln w="28575" cap="flat" cmpd="sng">
              <a:solidFill>
                <a:srgbClr val="00FF00"/>
              </a:solidFill>
              <a:prstDash val="solid"/>
              <a:round/>
              <a:headEnd type="none" w="med" len="med"/>
              <a:tailEnd type="none" w="med" len="med"/>
            </a:ln>
          </p:spPr>
        </p:cxnSp>
        <p:cxnSp>
          <p:nvCxnSpPr>
            <p:cNvPr id="1068" name="Google Shape;1068;p34"/>
            <p:cNvCxnSpPr/>
            <p:nvPr/>
          </p:nvCxnSpPr>
          <p:spPr>
            <a:xfrm flipH="1">
              <a:off x="6409500" y="3363900"/>
              <a:ext cx="1398900" cy="419700"/>
            </a:xfrm>
            <a:prstGeom prst="straightConnector1">
              <a:avLst/>
            </a:prstGeom>
            <a:noFill/>
            <a:ln w="28575" cap="flat" cmpd="sng">
              <a:solidFill>
                <a:srgbClr val="00FF00"/>
              </a:solidFill>
              <a:prstDash val="solid"/>
              <a:round/>
              <a:headEnd type="none" w="med" len="med"/>
              <a:tailEnd type="none" w="med" len="med"/>
            </a:ln>
          </p:spPr>
        </p:cxnSp>
      </p:grpSp>
      <p:grpSp>
        <p:nvGrpSpPr>
          <p:cNvPr id="1069" name="Google Shape;1069;p34"/>
          <p:cNvGrpSpPr/>
          <p:nvPr/>
        </p:nvGrpSpPr>
        <p:grpSpPr>
          <a:xfrm>
            <a:off x="4544000" y="5144464"/>
            <a:ext cx="3729067" cy="1201366"/>
            <a:chOff x="3408000" y="3858349"/>
            <a:chExt cx="2796800" cy="901025"/>
          </a:xfrm>
        </p:grpSpPr>
        <p:sp>
          <p:nvSpPr>
            <p:cNvPr id="1070" name="Google Shape;1070;p34"/>
            <p:cNvSpPr/>
            <p:nvPr/>
          </p:nvSpPr>
          <p:spPr>
            <a:xfrm>
              <a:off x="5934800" y="3858349"/>
              <a:ext cx="270000" cy="272100"/>
            </a:xfrm>
            <a:prstGeom prst="rect">
              <a:avLst/>
            </a:prstGeom>
            <a:noFill/>
            <a:ln w="19050" cap="flat" cmpd="sng">
              <a:solidFill>
                <a:srgbClr val="FF00FF"/>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1071" name="Google Shape;1071;p34"/>
            <p:cNvSpPr txBox="1"/>
            <p:nvPr/>
          </p:nvSpPr>
          <p:spPr>
            <a:xfrm>
              <a:off x="3408000" y="4174725"/>
              <a:ext cx="1798800" cy="584649"/>
            </a:xfrm>
            <a:prstGeom prst="rect">
              <a:avLst/>
            </a:prstGeom>
            <a:noFill/>
            <a:ln>
              <a:noFill/>
            </a:ln>
          </p:spPr>
          <p:txBody>
            <a:bodyPr spcFirstLastPara="1" wrap="square" lIns="121900" tIns="121900" rIns="121900" bIns="121900" anchor="t" anchorCtr="0">
              <a:spAutoFit/>
            </a:bodyPr>
            <a:lstStyle/>
            <a:p>
              <a:pPr algn="l" rtl="0"/>
              <a:r>
                <a:rPr lang="en-GB" sz="1733">
                  <a:solidFill>
                    <a:srgbClr val="37474F"/>
                  </a:solidFill>
                  <a:latin typeface="Roboto Mono"/>
                  <a:ea typeface="Roboto Mono"/>
                  <a:cs typeface="Roboto Mono"/>
                  <a:sym typeface="Roboto Mono"/>
                </a:rPr>
                <a:t>threadIdx.x = 0</a:t>
              </a:r>
              <a:endParaRPr sz="1733">
                <a:solidFill>
                  <a:srgbClr val="37474F"/>
                </a:solidFill>
                <a:latin typeface="Roboto Mono"/>
                <a:ea typeface="Roboto Mono"/>
                <a:cs typeface="Roboto Mono"/>
                <a:sym typeface="Roboto Mono"/>
              </a:endParaRPr>
            </a:p>
            <a:p>
              <a:pPr algn="l" rtl="0"/>
              <a:r>
                <a:rPr lang="en-GB" sz="1733">
                  <a:solidFill>
                    <a:srgbClr val="37474F"/>
                  </a:solidFill>
                  <a:latin typeface="Roboto Mono"/>
                  <a:ea typeface="Roboto Mono"/>
                  <a:cs typeface="Roboto Mono"/>
                  <a:sym typeface="Roboto Mono"/>
                </a:rPr>
                <a:t>threadIdx.y = 1</a:t>
              </a:r>
              <a:endParaRPr sz="1733">
                <a:solidFill>
                  <a:srgbClr val="37474F"/>
                </a:solidFill>
                <a:latin typeface="Roboto Mono"/>
                <a:ea typeface="Roboto Mono"/>
                <a:cs typeface="Roboto Mono"/>
                <a:sym typeface="Roboto Mono"/>
              </a:endParaRPr>
            </a:p>
          </p:txBody>
        </p:sp>
        <p:cxnSp>
          <p:nvCxnSpPr>
            <p:cNvPr id="1072" name="Google Shape;1072;p34"/>
            <p:cNvCxnSpPr>
              <a:stCxn id="1070" idx="1"/>
            </p:cNvCxnSpPr>
            <p:nvPr/>
          </p:nvCxnSpPr>
          <p:spPr>
            <a:xfrm flipH="1">
              <a:off x="4558400" y="3994399"/>
              <a:ext cx="1376400" cy="218700"/>
            </a:xfrm>
            <a:prstGeom prst="straightConnector1">
              <a:avLst/>
            </a:prstGeom>
            <a:noFill/>
            <a:ln w="19050" cap="flat" cmpd="sng">
              <a:solidFill>
                <a:srgbClr val="FF00FF"/>
              </a:solidFill>
              <a:prstDash val="solid"/>
              <a:round/>
              <a:headEnd type="none" w="med" len="med"/>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6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7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6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8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9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6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5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06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06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05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0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070304" y="1510665"/>
            <a:ext cx="7393305" cy="756920"/>
          </a:xfrm>
          <a:prstGeom prst="rect">
            <a:avLst/>
          </a:prstGeom>
        </p:spPr>
        <p:txBody>
          <a:bodyPr vert="horz" wrap="square" lIns="0" tIns="12700" rIns="0" bIns="0" rtlCol="0">
            <a:spAutoFit/>
          </a:bodyPr>
          <a:lstStyle/>
          <a:p>
            <a:pPr marL="195580" indent="-182880">
              <a:spcBef>
                <a:spcPts val="100"/>
              </a:spcBef>
              <a:buClr>
                <a:srgbClr val="4F80BC"/>
              </a:buClr>
              <a:buSzPct val="85416"/>
              <a:buChar char="•"/>
              <a:tabLst>
                <a:tab pos="195580" algn="l"/>
              </a:tabLst>
            </a:pPr>
            <a:r>
              <a:rPr sz="2400" spc="-10" dirty="0">
                <a:latin typeface="Arial"/>
                <a:cs typeface="Arial"/>
              </a:rPr>
              <a:t>Built-</a:t>
            </a:r>
            <a:r>
              <a:rPr sz="2400" dirty="0">
                <a:latin typeface="Arial"/>
                <a:cs typeface="Arial"/>
              </a:rPr>
              <a:t>in</a:t>
            </a:r>
            <a:r>
              <a:rPr sz="2400" spc="-35" dirty="0">
                <a:latin typeface="Arial"/>
                <a:cs typeface="Arial"/>
              </a:rPr>
              <a:t> </a:t>
            </a:r>
            <a:r>
              <a:rPr sz="2400" dirty="0">
                <a:latin typeface="Arial"/>
                <a:cs typeface="Arial"/>
              </a:rPr>
              <a:t>variables</a:t>
            </a:r>
            <a:r>
              <a:rPr sz="2400" spc="-30" dirty="0">
                <a:latin typeface="Arial"/>
                <a:cs typeface="Arial"/>
              </a:rPr>
              <a:t> </a:t>
            </a:r>
            <a:r>
              <a:rPr sz="2400" dirty="0">
                <a:latin typeface="Arial"/>
                <a:cs typeface="Arial"/>
              </a:rPr>
              <a:t>and</a:t>
            </a:r>
            <a:r>
              <a:rPr sz="2400" spc="-45" dirty="0">
                <a:latin typeface="Arial"/>
                <a:cs typeface="Arial"/>
              </a:rPr>
              <a:t> </a:t>
            </a:r>
            <a:r>
              <a:rPr sz="2400" dirty="0">
                <a:latin typeface="Arial"/>
                <a:cs typeface="Arial"/>
              </a:rPr>
              <a:t>functions</a:t>
            </a:r>
            <a:r>
              <a:rPr sz="2400" spc="-35" dirty="0">
                <a:latin typeface="Arial"/>
                <a:cs typeface="Arial"/>
              </a:rPr>
              <a:t> </a:t>
            </a:r>
            <a:r>
              <a:rPr sz="2400" b="1" dirty="0">
                <a:latin typeface="Arial"/>
                <a:cs typeface="Arial"/>
              </a:rPr>
              <a:t>valid</a:t>
            </a:r>
            <a:r>
              <a:rPr sz="2400" b="1" spc="-65" dirty="0">
                <a:latin typeface="Arial"/>
                <a:cs typeface="Arial"/>
              </a:rPr>
              <a:t> </a:t>
            </a:r>
            <a:r>
              <a:rPr sz="2400" b="1" dirty="0">
                <a:latin typeface="Arial"/>
                <a:cs typeface="Arial"/>
              </a:rPr>
              <a:t>in</a:t>
            </a:r>
            <a:r>
              <a:rPr sz="2400" b="1" spc="-50" dirty="0">
                <a:latin typeface="Arial"/>
                <a:cs typeface="Arial"/>
              </a:rPr>
              <a:t> </a:t>
            </a:r>
            <a:r>
              <a:rPr sz="2400" b="1" dirty="0">
                <a:latin typeface="Arial"/>
                <a:cs typeface="Arial"/>
              </a:rPr>
              <a:t>device</a:t>
            </a:r>
            <a:r>
              <a:rPr sz="2400" b="1" spc="-45" dirty="0">
                <a:latin typeface="Arial"/>
                <a:cs typeface="Arial"/>
              </a:rPr>
              <a:t> </a:t>
            </a:r>
            <a:r>
              <a:rPr sz="2400" b="1" spc="-10" dirty="0">
                <a:latin typeface="Arial"/>
                <a:cs typeface="Arial"/>
              </a:rPr>
              <a:t>code</a:t>
            </a:r>
            <a:r>
              <a:rPr sz="2400" spc="-10" dirty="0">
                <a:latin typeface="Arial"/>
                <a:cs typeface="Arial"/>
              </a:rPr>
              <a:t>,</a:t>
            </a:r>
            <a:endParaRPr sz="2400" dirty="0">
              <a:latin typeface="Arial"/>
              <a:cs typeface="Arial"/>
            </a:endParaRPr>
          </a:p>
          <a:p>
            <a:pPr marL="195580"/>
            <a:r>
              <a:rPr sz="2400" dirty="0">
                <a:latin typeface="Arial"/>
                <a:cs typeface="Arial"/>
              </a:rPr>
              <a:t>used</a:t>
            </a:r>
            <a:r>
              <a:rPr sz="2400" spc="-35" dirty="0">
                <a:latin typeface="Arial"/>
                <a:cs typeface="Arial"/>
              </a:rPr>
              <a:t> </a:t>
            </a:r>
            <a:r>
              <a:rPr sz="2400" dirty="0">
                <a:latin typeface="Arial"/>
                <a:cs typeface="Arial"/>
              </a:rPr>
              <a:t>to</a:t>
            </a:r>
            <a:r>
              <a:rPr sz="2400" spc="-55" dirty="0">
                <a:latin typeface="Arial"/>
                <a:cs typeface="Arial"/>
              </a:rPr>
              <a:t> </a:t>
            </a:r>
            <a:r>
              <a:rPr sz="2400" dirty="0">
                <a:latin typeface="Arial"/>
                <a:cs typeface="Arial"/>
              </a:rPr>
              <a:t>retrieve</a:t>
            </a:r>
            <a:r>
              <a:rPr sz="2400" spc="-40" dirty="0">
                <a:latin typeface="Arial"/>
                <a:cs typeface="Arial"/>
              </a:rPr>
              <a:t> </a:t>
            </a:r>
            <a:r>
              <a:rPr sz="2400" dirty="0">
                <a:latin typeface="Arial"/>
                <a:cs typeface="Arial"/>
              </a:rPr>
              <a:t>the</a:t>
            </a:r>
            <a:r>
              <a:rPr sz="2400" spc="-40" dirty="0">
                <a:latin typeface="Arial"/>
                <a:cs typeface="Arial"/>
              </a:rPr>
              <a:t> </a:t>
            </a:r>
            <a:r>
              <a:rPr sz="2400" dirty="0">
                <a:latin typeface="Arial"/>
                <a:cs typeface="Arial"/>
              </a:rPr>
              <a:t>“geometry”</a:t>
            </a:r>
            <a:r>
              <a:rPr sz="2400" spc="-45" dirty="0">
                <a:latin typeface="Arial"/>
                <a:cs typeface="Arial"/>
              </a:rPr>
              <a:t> </a:t>
            </a:r>
            <a:r>
              <a:rPr sz="2400" dirty="0">
                <a:latin typeface="Arial"/>
                <a:cs typeface="Arial"/>
              </a:rPr>
              <a:t>of</a:t>
            </a:r>
            <a:r>
              <a:rPr sz="2400" spc="-40" dirty="0">
                <a:latin typeface="Arial"/>
                <a:cs typeface="Arial"/>
              </a:rPr>
              <a:t> </a:t>
            </a:r>
            <a:r>
              <a:rPr sz="2400" dirty="0">
                <a:latin typeface="Arial"/>
                <a:cs typeface="Arial"/>
              </a:rPr>
              <a:t>the</a:t>
            </a:r>
            <a:r>
              <a:rPr sz="2400" spc="-40" dirty="0">
                <a:latin typeface="Arial"/>
                <a:cs typeface="Arial"/>
              </a:rPr>
              <a:t> </a:t>
            </a:r>
            <a:r>
              <a:rPr sz="2400" spc="-10" dirty="0">
                <a:latin typeface="Arial"/>
                <a:cs typeface="Arial"/>
              </a:rPr>
              <a:t>grid.</a:t>
            </a:r>
            <a:endParaRPr sz="2400" dirty="0">
              <a:latin typeface="Arial"/>
              <a:cs typeface="Arial"/>
            </a:endParaRPr>
          </a:p>
        </p:txBody>
      </p:sp>
      <p:graphicFrame>
        <p:nvGraphicFramePr>
          <p:cNvPr id="4" name="object 4"/>
          <p:cNvGraphicFramePr>
            <a:graphicFrameLocks noGrp="1"/>
          </p:cNvGraphicFramePr>
          <p:nvPr/>
        </p:nvGraphicFramePr>
        <p:xfrm>
          <a:off x="2325574" y="2782925"/>
          <a:ext cx="5950584" cy="1522095"/>
        </p:xfrm>
        <a:graphic>
          <a:graphicData uri="http://schemas.openxmlformats.org/drawingml/2006/table">
            <a:tbl>
              <a:tblPr firstRow="1" bandRow="1">
                <a:tableStyleId>{2D5ABB26-0587-4C30-8999-92F81FD0307C}</a:tableStyleId>
              </a:tblPr>
              <a:tblGrid>
                <a:gridCol w="788035">
                  <a:extLst>
                    <a:ext uri="{9D8B030D-6E8A-4147-A177-3AD203B41FA5}">
                      <a16:colId xmlns:a16="http://schemas.microsoft.com/office/drawing/2014/main" val="20000"/>
                    </a:ext>
                  </a:extLst>
                </a:gridCol>
                <a:gridCol w="1851025">
                  <a:extLst>
                    <a:ext uri="{9D8B030D-6E8A-4147-A177-3AD203B41FA5}">
                      <a16:colId xmlns:a16="http://schemas.microsoft.com/office/drawing/2014/main" val="20001"/>
                    </a:ext>
                  </a:extLst>
                </a:gridCol>
                <a:gridCol w="505460">
                  <a:extLst>
                    <a:ext uri="{9D8B030D-6E8A-4147-A177-3AD203B41FA5}">
                      <a16:colId xmlns:a16="http://schemas.microsoft.com/office/drawing/2014/main" val="20002"/>
                    </a:ext>
                  </a:extLst>
                </a:gridCol>
                <a:gridCol w="1177289">
                  <a:extLst>
                    <a:ext uri="{9D8B030D-6E8A-4147-A177-3AD203B41FA5}">
                      <a16:colId xmlns:a16="http://schemas.microsoft.com/office/drawing/2014/main" val="20003"/>
                    </a:ext>
                  </a:extLst>
                </a:gridCol>
                <a:gridCol w="1628775">
                  <a:extLst>
                    <a:ext uri="{9D8B030D-6E8A-4147-A177-3AD203B41FA5}">
                      <a16:colId xmlns:a16="http://schemas.microsoft.com/office/drawing/2014/main" val="20004"/>
                    </a:ext>
                  </a:extLst>
                </a:gridCol>
              </a:tblGrid>
              <a:tr h="359410">
                <a:tc>
                  <a:txBody>
                    <a:bodyPr/>
                    <a:lstStyle/>
                    <a:p>
                      <a:pPr marR="44450" algn="ctr">
                        <a:lnSpc>
                          <a:spcPts val="2270"/>
                        </a:lnSpc>
                      </a:pPr>
                      <a:r>
                        <a:rPr sz="2200" b="1" spc="-20" dirty="0">
                          <a:solidFill>
                            <a:srgbClr val="1F487C"/>
                          </a:solidFill>
                          <a:latin typeface="Courier New"/>
                          <a:cs typeface="Courier New"/>
                        </a:rPr>
                        <a:t>dim3</a:t>
                      </a:r>
                      <a:endParaRPr sz="2200">
                        <a:latin typeface="Courier New"/>
                        <a:cs typeface="Courier New"/>
                      </a:endParaRPr>
                    </a:p>
                  </a:txBody>
                  <a:tcPr marL="0" marR="0" marT="0" marB="0"/>
                </a:tc>
                <a:tc>
                  <a:txBody>
                    <a:bodyPr/>
                    <a:lstStyle/>
                    <a:p>
                      <a:pPr marL="83820">
                        <a:lnSpc>
                          <a:spcPts val="2270"/>
                        </a:lnSpc>
                      </a:pPr>
                      <a:r>
                        <a:rPr sz="2200" b="1" spc="-10" dirty="0">
                          <a:latin typeface="Courier New"/>
                          <a:cs typeface="Courier New"/>
                        </a:rPr>
                        <a:t>gridDim;</a:t>
                      </a:r>
                      <a:endParaRPr sz="2200">
                        <a:latin typeface="Courier New"/>
                        <a:cs typeface="Courier New"/>
                      </a:endParaRPr>
                    </a:p>
                  </a:txBody>
                  <a:tcPr marL="0" marR="0" marT="0" marB="0"/>
                </a:tc>
                <a:tc>
                  <a:txBody>
                    <a:bodyPr/>
                    <a:lstStyle/>
                    <a:p>
                      <a:pPr algn="ctr">
                        <a:lnSpc>
                          <a:spcPts val="2270"/>
                        </a:lnSpc>
                      </a:pPr>
                      <a:r>
                        <a:rPr sz="2200" b="1" spc="-25" dirty="0">
                          <a:latin typeface="Courier New"/>
                          <a:cs typeface="Courier New"/>
                        </a:rPr>
                        <a:t>//</a:t>
                      </a:r>
                      <a:endParaRPr sz="2200">
                        <a:latin typeface="Courier New"/>
                        <a:cs typeface="Courier New"/>
                      </a:endParaRPr>
                    </a:p>
                  </a:txBody>
                  <a:tcPr marL="0" marR="0" marT="0" marB="0"/>
                </a:tc>
                <a:tc>
                  <a:txBody>
                    <a:bodyPr/>
                    <a:lstStyle/>
                    <a:p>
                      <a:pPr marL="83820">
                        <a:lnSpc>
                          <a:spcPts val="2270"/>
                        </a:lnSpc>
                      </a:pPr>
                      <a:r>
                        <a:rPr sz="2200" b="1" spc="-20" dirty="0">
                          <a:latin typeface="Courier New"/>
                          <a:cs typeface="Courier New"/>
                        </a:rPr>
                        <a:t>Grid</a:t>
                      </a:r>
                      <a:endParaRPr sz="2200" dirty="0">
                        <a:latin typeface="Courier New"/>
                        <a:cs typeface="Courier New"/>
                      </a:endParaRPr>
                    </a:p>
                  </a:txBody>
                  <a:tcPr marL="0" marR="0" marT="0" marB="0"/>
                </a:tc>
                <a:tc>
                  <a:txBody>
                    <a:bodyPr/>
                    <a:lstStyle/>
                    <a:p>
                      <a:pPr marL="84455">
                        <a:lnSpc>
                          <a:spcPts val="2270"/>
                        </a:lnSpc>
                      </a:pPr>
                      <a:r>
                        <a:rPr sz="2200" b="1" spc="-10" dirty="0">
                          <a:latin typeface="Courier New"/>
                          <a:cs typeface="Courier New"/>
                        </a:rPr>
                        <a:t>dimension</a:t>
                      </a:r>
                      <a:endParaRPr sz="2200">
                        <a:latin typeface="Courier New"/>
                        <a:cs typeface="Courier New"/>
                      </a:endParaRPr>
                    </a:p>
                  </a:txBody>
                  <a:tcPr marL="0" marR="0" marT="0" marB="0"/>
                </a:tc>
                <a:extLst>
                  <a:ext uri="{0D108BD9-81ED-4DB2-BD59-A6C34878D82A}">
                    <a16:rowId xmlns:a16="http://schemas.microsoft.com/office/drawing/2014/main" val="10000"/>
                  </a:ext>
                </a:extLst>
              </a:tr>
              <a:tr h="401955">
                <a:tc>
                  <a:txBody>
                    <a:bodyPr/>
                    <a:lstStyle/>
                    <a:p>
                      <a:pPr marR="44450" algn="ctr">
                        <a:lnSpc>
                          <a:spcPts val="2610"/>
                        </a:lnSpc>
                      </a:pPr>
                      <a:r>
                        <a:rPr sz="2200" b="1" spc="-20" dirty="0">
                          <a:solidFill>
                            <a:srgbClr val="1F487C"/>
                          </a:solidFill>
                          <a:latin typeface="Courier New"/>
                          <a:cs typeface="Courier New"/>
                        </a:rPr>
                        <a:t>dim3</a:t>
                      </a:r>
                      <a:endParaRPr sz="2200">
                        <a:latin typeface="Courier New"/>
                        <a:cs typeface="Courier New"/>
                      </a:endParaRPr>
                    </a:p>
                  </a:txBody>
                  <a:tcPr marL="0" marR="0" marT="0" marB="0"/>
                </a:tc>
                <a:tc>
                  <a:txBody>
                    <a:bodyPr/>
                    <a:lstStyle/>
                    <a:p>
                      <a:pPr marL="83820">
                        <a:lnSpc>
                          <a:spcPts val="2610"/>
                        </a:lnSpc>
                      </a:pPr>
                      <a:r>
                        <a:rPr sz="2200" b="1" spc="-10" dirty="0">
                          <a:latin typeface="Courier New"/>
                          <a:cs typeface="Courier New"/>
                        </a:rPr>
                        <a:t>blockDim;</a:t>
                      </a:r>
                      <a:endParaRPr sz="2200">
                        <a:latin typeface="Courier New"/>
                        <a:cs typeface="Courier New"/>
                      </a:endParaRPr>
                    </a:p>
                  </a:txBody>
                  <a:tcPr marL="0" marR="0" marT="0" marB="0"/>
                </a:tc>
                <a:tc>
                  <a:txBody>
                    <a:bodyPr/>
                    <a:lstStyle/>
                    <a:p>
                      <a:pPr algn="ctr">
                        <a:lnSpc>
                          <a:spcPts val="2610"/>
                        </a:lnSpc>
                      </a:pPr>
                      <a:r>
                        <a:rPr sz="2200" b="1" spc="-25" dirty="0">
                          <a:latin typeface="Courier New"/>
                          <a:cs typeface="Courier New"/>
                        </a:rPr>
                        <a:t>//</a:t>
                      </a:r>
                      <a:endParaRPr sz="2200">
                        <a:latin typeface="Courier New"/>
                        <a:cs typeface="Courier New"/>
                      </a:endParaRPr>
                    </a:p>
                  </a:txBody>
                  <a:tcPr marL="0" marR="0" marT="0" marB="0"/>
                </a:tc>
                <a:tc>
                  <a:txBody>
                    <a:bodyPr/>
                    <a:lstStyle/>
                    <a:p>
                      <a:pPr marL="84455">
                        <a:lnSpc>
                          <a:spcPts val="2610"/>
                        </a:lnSpc>
                      </a:pPr>
                      <a:r>
                        <a:rPr sz="2200" b="1" spc="-10" dirty="0">
                          <a:latin typeface="Courier New"/>
                          <a:cs typeface="Courier New"/>
                        </a:rPr>
                        <a:t>Block</a:t>
                      </a:r>
                      <a:endParaRPr sz="2200">
                        <a:latin typeface="Courier New"/>
                        <a:cs typeface="Courier New"/>
                      </a:endParaRPr>
                    </a:p>
                  </a:txBody>
                  <a:tcPr marL="0" marR="0" marT="0" marB="0"/>
                </a:tc>
                <a:tc>
                  <a:txBody>
                    <a:bodyPr/>
                    <a:lstStyle/>
                    <a:p>
                      <a:pPr marL="84455">
                        <a:lnSpc>
                          <a:spcPts val="2610"/>
                        </a:lnSpc>
                      </a:pPr>
                      <a:r>
                        <a:rPr sz="2200" b="1" spc="-10" dirty="0">
                          <a:latin typeface="Courier New"/>
                          <a:cs typeface="Courier New"/>
                        </a:rPr>
                        <a:t>dimension</a:t>
                      </a:r>
                      <a:endParaRPr sz="2200">
                        <a:latin typeface="Courier New"/>
                        <a:cs typeface="Courier New"/>
                      </a:endParaRPr>
                    </a:p>
                  </a:txBody>
                  <a:tcPr marL="0" marR="0" marT="0" marB="0"/>
                </a:tc>
                <a:extLst>
                  <a:ext uri="{0D108BD9-81ED-4DB2-BD59-A6C34878D82A}">
                    <a16:rowId xmlns:a16="http://schemas.microsoft.com/office/drawing/2014/main" val="10001"/>
                  </a:ext>
                </a:extLst>
              </a:tr>
              <a:tr h="401955">
                <a:tc>
                  <a:txBody>
                    <a:bodyPr/>
                    <a:lstStyle/>
                    <a:p>
                      <a:pPr marR="44450" algn="ctr">
                        <a:lnSpc>
                          <a:spcPts val="2610"/>
                        </a:lnSpc>
                      </a:pPr>
                      <a:r>
                        <a:rPr sz="2200" b="1" spc="-20" dirty="0">
                          <a:solidFill>
                            <a:srgbClr val="1F487C"/>
                          </a:solidFill>
                          <a:latin typeface="Courier New"/>
                          <a:cs typeface="Courier New"/>
                        </a:rPr>
                        <a:t>dim3</a:t>
                      </a:r>
                      <a:endParaRPr sz="2200">
                        <a:latin typeface="Courier New"/>
                        <a:cs typeface="Courier New"/>
                      </a:endParaRPr>
                    </a:p>
                  </a:txBody>
                  <a:tcPr marL="0" marR="0" marT="0" marB="0"/>
                </a:tc>
                <a:tc>
                  <a:txBody>
                    <a:bodyPr/>
                    <a:lstStyle/>
                    <a:p>
                      <a:pPr marL="83820">
                        <a:lnSpc>
                          <a:spcPts val="2610"/>
                        </a:lnSpc>
                      </a:pPr>
                      <a:r>
                        <a:rPr sz="2200" b="1" spc="-10" dirty="0">
                          <a:latin typeface="Courier New"/>
                          <a:cs typeface="Courier New"/>
                        </a:rPr>
                        <a:t>blockIdx;</a:t>
                      </a:r>
                      <a:endParaRPr sz="2200">
                        <a:latin typeface="Courier New"/>
                        <a:cs typeface="Courier New"/>
                      </a:endParaRPr>
                    </a:p>
                  </a:txBody>
                  <a:tcPr marL="0" marR="0" marT="0" marB="0"/>
                </a:tc>
                <a:tc>
                  <a:txBody>
                    <a:bodyPr/>
                    <a:lstStyle/>
                    <a:p>
                      <a:pPr algn="ctr">
                        <a:lnSpc>
                          <a:spcPts val="2610"/>
                        </a:lnSpc>
                      </a:pPr>
                      <a:r>
                        <a:rPr sz="2200" b="1" spc="-25" dirty="0">
                          <a:latin typeface="Courier New"/>
                          <a:cs typeface="Courier New"/>
                        </a:rPr>
                        <a:t>//</a:t>
                      </a:r>
                      <a:endParaRPr sz="2200">
                        <a:latin typeface="Courier New"/>
                        <a:cs typeface="Courier New"/>
                      </a:endParaRPr>
                    </a:p>
                  </a:txBody>
                  <a:tcPr marL="0" marR="0" marT="0" marB="0"/>
                </a:tc>
                <a:tc>
                  <a:txBody>
                    <a:bodyPr/>
                    <a:lstStyle/>
                    <a:p>
                      <a:pPr marL="84455">
                        <a:lnSpc>
                          <a:spcPts val="2610"/>
                        </a:lnSpc>
                      </a:pPr>
                      <a:r>
                        <a:rPr sz="2200" b="1" spc="-10" dirty="0">
                          <a:latin typeface="Courier New"/>
                          <a:cs typeface="Courier New"/>
                        </a:rPr>
                        <a:t>Block</a:t>
                      </a:r>
                      <a:endParaRPr sz="2200">
                        <a:latin typeface="Courier New"/>
                        <a:cs typeface="Courier New"/>
                      </a:endParaRPr>
                    </a:p>
                  </a:txBody>
                  <a:tcPr marL="0" marR="0" marT="0" marB="0"/>
                </a:tc>
                <a:tc>
                  <a:txBody>
                    <a:bodyPr/>
                    <a:lstStyle/>
                    <a:p>
                      <a:pPr marL="84455">
                        <a:lnSpc>
                          <a:spcPts val="2610"/>
                        </a:lnSpc>
                      </a:pPr>
                      <a:r>
                        <a:rPr sz="2200" b="1" spc="-10" dirty="0">
                          <a:latin typeface="Courier New"/>
                          <a:cs typeface="Courier New"/>
                        </a:rPr>
                        <a:t>index</a:t>
                      </a:r>
                      <a:endParaRPr sz="2200">
                        <a:latin typeface="Courier New"/>
                        <a:cs typeface="Courier New"/>
                      </a:endParaRPr>
                    </a:p>
                  </a:txBody>
                  <a:tcPr marL="0" marR="0" marT="0" marB="0"/>
                </a:tc>
                <a:extLst>
                  <a:ext uri="{0D108BD9-81ED-4DB2-BD59-A6C34878D82A}">
                    <a16:rowId xmlns:a16="http://schemas.microsoft.com/office/drawing/2014/main" val="10002"/>
                  </a:ext>
                </a:extLst>
              </a:tr>
              <a:tr h="358775">
                <a:tc>
                  <a:txBody>
                    <a:bodyPr/>
                    <a:lstStyle/>
                    <a:p>
                      <a:pPr marR="44450" algn="ctr">
                        <a:lnSpc>
                          <a:spcPts val="2610"/>
                        </a:lnSpc>
                      </a:pPr>
                      <a:r>
                        <a:rPr sz="2200" b="1" spc="-20" dirty="0">
                          <a:solidFill>
                            <a:srgbClr val="1F487C"/>
                          </a:solidFill>
                          <a:latin typeface="Courier New"/>
                          <a:cs typeface="Courier New"/>
                        </a:rPr>
                        <a:t>dim3</a:t>
                      </a:r>
                      <a:endParaRPr sz="2200">
                        <a:latin typeface="Courier New"/>
                        <a:cs typeface="Courier New"/>
                      </a:endParaRPr>
                    </a:p>
                  </a:txBody>
                  <a:tcPr marL="0" marR="0" marT="0" marB="0"/>
                </a:tc>
                <a:tc>
                  <a:txBody>
                    <a:bodyPr/>
                    <a:lstStyle/>
                    <a:p>
                      <a:pPr marL="83820">
                        <a:lnSpc>
                          <a:spcPts val="2610"/>
                        </a:lnSpc>
                      </a:pPr>
                      <a:r>
                        <a:rPr sz="2200" b="1" spc="-10" dirty="0">
                          <a:latin typeface="Courier New"/>
                          <a:cs typeface="Courier New"/>
                        </a:rPr>
                        <a:t>threadIdx;</a:t>
                      </a:r>
                      <a:endParaRPr sz="2200">
                        <a:latin typeface="Courier New"/>
                        <a:cs typeface="Courier New"/>
                      </a:endParaRPr>
                    </a:p>
                  </a:txBody>
                  <a:tcPr marL="0" marR="0" marT="0" marB="0"/>
                </a:tc>
                <a:tc>
                  <a:txBody>
                    <a:bodyPr/>
                    <a:lstStyle/>
                    <a:p>
                      <a:pPr algn="ctr">
                        <a:lnSpc>
                          <a:spcPts val="2610"/>
                        </a:lnSpc>
                      </a:pPr>
                      <a:r>
                        <a:rPr sz="2200" b="1" spc="-25" dirty="0">
                          <a:latin typeface="Courier New"/>
                          <a:cs typeface="Courier New"/>
                        </a:rPr>
                        <a:t>//</a:t>
                      </a:r>
                      <a:endParaRPr sz="2200">
                        <a:latin typeface="Courier New"/>
                        <a:cs typeface="Courier New"/>
                      </a:endParaRPr>
                    </a:p>
                  </a:txBody>
                  <a:tcPr marL="0" marR="0" marT="0" marB="0"/>
                </a:tc>
                <a:tc>
                  <a:txBody>
                    <a:bodyPr/>
                    <a:lstStyle/>
                    <a:p>
                      <a:pPr marL="83820">
                        <a:lnSpc>
                          <a:spcPts val="2610"/>
                        </a:lnSpc>
                      </a:pPr>
                      <a:r>
                        <a:rPr sz="2200" b="1" spc="-10" dirty="0">
                          <a:latin typeface="Courier New"/>
                          <a:cs typeface="Courier New"/>
                        </a:rPr>
                        <a:t>Thread</a:t>
                      </a:r>
                      <a:endParaRPr sz="2200">
                        <a:latin typeface="Courier New"/>
                        <a:cs typeface="Courier New"/>
                      </a:endParaRPr>
                    </a:p>
                  </a:txBody>
                  <a:tcPr marL="0" marR="0" marT="0" marB="0"/>
                </a:tc>
                <a:tc>
                  <a:txBody>
                    <a:bodyPr/>
                    <a:lstStyle/>
                    <a:p>
                      <a:pPr marL="83820">
                        <a:lnSpc>
                          <a:spcPts val="2610"/>
                        </a:lnSpc>
                      </a:pPr>
                      <a:r>
                        <a:rPr sz="2200" b="1" spc="-10" dirty="0">
                          <a:latin typeface="Courier New"/>
                          <a:cs typeface="Courier New"/>
                        </a:rPr>
                        <a:t>index</a:t>
                      </a:r>
                      <a:endParaRPr sz="2200" dirty="0">
                        <a:latin typeface="Courier New"/>
                        <a:cs typeface="Courier New"/>
                      </a:endParaRPr>
                    </a:p>
                  </a:txBody>
                  <a:tcPr marL="0" marR="0" marT="0" marB="0"/>
                </a:tc>
                <a:extLst>
                  <a:ext uri="{0D108BD9-81ED-4DB2-BD59-A6C34878D82A}">
                    <a16:rowId xmlns:a16="http://schemas.microsoft.com/office/drawing/2014/main" val="10003"/>
                  </a:ext>
                </a:extLst>
              </a:tr>
            </a:tbl>
          </a:graphicData>
        </a:graphic>
      </p:graphicFrame>
      <p:sp>
        <p:nvSpPr>
          <p:cNvPr id="5" name="object 5"/>
          <p:cNvSpPr txBox="1"/>
          <p:nvPr/>
        </p:nvSpPr>
        <p:spPr>
          <a:xfrm>
            <a:off x="2070303" y="4745228"/>
            <a:ext cx="6150610" cy="873125"/>
          </a:xfrm>
          <a:prstGeom prst="rect">
            <a:avLst/>
          </a:prstGeom>
        </p:spPr>
        <p:txBody>
          <a:bodyPr vert="horz" wrap="square" lIns="0" tIns="70485" rIns="0" bIns="0" rtlCol="0">
            <a:spAutoFit/>
          </a:bodyPr>
          <a:lstStyle/>
          <a:p>
            <a:pPr marL="195580" indent="-182880">
              <a:spcBef>
                <a:spcPts val="555"/>
              </a:spcBef>
              <a:buClr>
                <a:srgbClr val="4F80BC"/>
              </a:buClr>
              <a:buSzPct val="85416"/>
              <a:buChar char="•"/>
              <a:tabLst>
                <a:tab pos="195580" algn="l"/>
              </a:tabLst>
            </a:pPr>
            <a:r>
              <a:rPr sz="2400" dirty="0">
                <a:latin typeface="Arial"/>
                <a:cs typeface="Arial"/>
              </a:rPr>
              <a:t>What</a:t>
            </a:r>
            <a:r>
              <a:rPr sz="2400" spc="-35" dirty="0">
                <a:latin typeface="Arial"/>
                <a:cs typeface="Arial"/>
              </a:rPr>
              <a:t> </a:t>
            </a:r>
            <a:r>
              <a:rPr sz="2400" dirty="0">
                <a:latin typeface="Arial"/>
                <a:cs typeface="Arial"/>
              </a:rPr>
              <a:t>is</a:t>
            </a:r>
            <a:r>
              <a:rPr sz="2400" spc="-35" dirty="0">
                <a:latin typeface="Arial"/>
                <a:cs typeface="Arial"/>
              </a:rPr>
              <a:t> </a:t>
            </a:r>
            <a:r>
              <a:rPr sz="2400" dirty="0">
                <a:latin typeface="Arial"/>
                <a:cs typeface="Arial"/>
              </a:rPr>
              <a:t>a</a:t>
            </a:r>
            <a:r>
              <a:rPr sz="2400" spc="-30" dirty="0">
                <a:latin typeface="Arial"/>
                <a:cs typeface="Arial"/>
              </a:rPr>
              <a:t> </a:t>
            </a:r>
            <a:r>
              <a:rPr sz="2400" dirty="0">
                <a:latin typeface="Arial"/>
                <a:cs typeface="Arial"/>
              </a:rPr>
              <a:t>thread’s</a:t>
            </a:r>
            <a:r>
              <a:rPr sz="2400" spc="-25" dirty="0">
                <a:latin typeface="Arial"/>
                <a:cs typeface="Arial"/>
              </a:rPr>
              <a:t> ID?</a:t>
            </a:r>
            <a:endParaRPr sz="2400">
              <a:latin typeface="Arial"/>
              <a:cs typeface="Arial"/>
            </a:endParaRPr>
          </a:p>
          <a:p>
            <a:pPr marL="469900" lvl="1" indent="-182880">
              <a:spcBef>
                <a:spcPts val="455"/>
              </a:spcBef>
              <a:buClr>
                <a:srgbClr val="4F80BC"/>
              </a:buClr>
              <a:buSzPct val="85416"/>
              <a:buChar char="•"/>
              <a:tabLst>
                <a:tab pos="469900" algn="l"/>
                <a:tab pos="4121785" algn="l"/>
                <a:tab pos="4962525" algn="l"/>
                <a:tab pos="5635625" algn="l"/>
              </a:tabLst>
            </a:pPr>
            <a:r>
              <a:rPr sz="2400" dirty="0">
                <a:latin typeface="Arial"/>
                <a:cs typeface="Arial"/>
              </a:rPr>
              <a:t>At</a:t>
            </a:r>
            <a:r>
              <a:rPr sz="2400" spc="-25" dirty="0">
                <a:latin typeface="Arial"/>
                <a:cs typeface="Arial"/>
              </a:rPr>
              <a:t> </a:t>
            </a:r>
            <a:r>
              <a:rPr sz="2400" spc="-20" dirty="0">
                <a:latin typeface="Arial"/>
                <a:cs typeface="Arial"/>
              </a:rPr>
              <a:t>block-</a:t>
            </a:r>
            <a:r>
              <a:rPr sz="2400" dirty="0">
                <a:latin typeface="Arial"/>
                <a:cs typeface="Arial"/>
              </a:rPr>
              <a:t>level:</a:t>
            </a:r>
            <a:r>
              <a:rPr sz="2400" spc="-95" dirty="0">
                <a:latin typeface="Arial"/>
                <a:cs typeface="Arial"/>
              </a:rPr>
              <a:t> </a:t>
            </a:r>
            <a:r>
              <a:rPr sz="2200" b="1" spc="-10" dirty="0">
                <a:latin typeface="Courier New"/>
                <a:cs typeface="Courier New"/>
              </a:rPr>
              <a:t>threadIdx</a:t>
            </a:r>
            <a:r>
              <a:rPr sz="2200" dirty="0">
                <a:latin typeface="Times New Roman"/>
                <a:cs typeface="Times New Roman"/>
              </a:rPr>
              <a:t>	</a:t>
            </a:r>
            <a:r>
              <a:rPr sz="2200" b="1" spc="-20" dirty="0">
                <a:latin typeface="Courier New"/>
                <a:cs typeface="Courier New"/>
              </a:rPr>
              <a:t>(1D,</a:t>
            </a:r>
            <a:r>
              <a:rPr sz="2200" dirty="0">
                <a:latin typeface="Times New Roman"/>
                <a:cs typeface="Times New Roman"/>
              </a:rPr>
              <a:t>	</a:t>
            </a:r>
            <a:r>
              <a:rPr sz="2200" b="1" spc="-25" dirty="0">
                <a:latin typeface="Courier New"/>
                <a:cs typeface="Courier New"/>
              </a:rPr>
              <a:t>2D,</a:t>
            </a:r>
            <a:r>
              <a:rPr sz="2200" dirty="0">
                <a:latin typeface="Times New Roman"/>
                <a:cs typeface="Times New Roman"/>
              </a:rPr>
              <a:t>	</a:t>
            </a:r>
            <a:r>
              <a:rPr sz="2200" b="1" spc="-25" dirty="0">
                <a:latin typeface="Courier New"/>
                <a:cs typeface="Courier New"/>
              </a:rPr>
              <a:t>3D)</a:t>
            </a:r>
            <a:endParaRPr sz="2200">
              <a:latin typeface="Courier New"/>
              <a:cs typeface="Courier New"/>
            </a:endParaRPr>
          </a:p>
        </p:txBody>
      </p:sp>
      <p:sp>
        <p:nvSpPr>
          <p:cNvPr id="6" name="object 6"/>
          <p:cNvSpPr txBox="1"/>
          <p:nvPr/>
        </p:nvSpPr>
        <p:spPr>
          <a:xfrm>
            <a:off x="2344623" y="5666030"/>
            <a:ext cx="1899920" cy="391160"/>
          </a:xfrm>
          <a:prstGeom prst="rect">
            <a:avLst/>
          </a:prstGeom>
        </p:spPr>
        <p:txBody>
          <a:bodyPr vert="horz" wrap="square" lIns="0" tIns="12700" rIns="0" bIns="0" rtlCol="0">
            <a:spAutoFit/>
          </a:bodyPr>
          <a:lstStyle/>
          <a:p>
            <a:pPr marL="195580" indent="-182880">
              <a:spcBef>
                <a:spcPts val="100"/>
              </a:spcBef>
              <a:buClr>
                <a:srgbClr val="4F80BC"/>
              </a:buClr>
              <a:buSzPct val="85416"/>
              <a:buChar char="•"/>
              <a:tabLst>
                <a:tab pos="195580" algn="l"/>
              </a:tabLst>
            </a:pPr>
            <a:r>
              <a:rPr sz="2400" dirty="0">
                <a:latin typeface="Arial"/>
                <a:cs typeface="Arial"/>
              </a:rPr>
              <a:t>At</a:t>
            </a:r>
            <a:r>
              <a:rPr sz="2400" spc="35" dirty="0">
                <a:latin typeface="Arial"/>
                <a:cs typeface="Arial"/>
              </a:rPr>
              <a:t> </a:t>
            </a:r>
            <a:r>
              <a:rPr sz="2400" spc="-20" dirty="0">
                <a:latin typeface="Arial"/>
                <a:cs typeface="Arial"/>
              </a:rPr>
              <a:t>grid-</a:t>
            </a:r>
            <a:r>
              <a:rPr sz="2400" spc="-10" dirty="0">
                <a:latin typeface="Arial"/>
                <a:cs typeface="Arial"/>
              </a:rPr>
              <a:t>level:</a:t>
            </a:r>
            <a:endParaRPr sz="2400">
              <a:latin typeface="Arial"/>
              <a:cs typeface="Arial"/>
            </a:endParaRPr>
          </a:p>
        </p:txBody>
      </p:sp>
      <p:sp>
        <p:nvSpPr>
          <p:cNvPr id="7" name="object 7"/>
          <p:cNvSpPr txBox="1"/>
          <p:nvPr/>
        </p:nvSpPr>
        <p:spPr>
          <a:xfrm>
            <a:off x="4460492" y="5691937"/>
            <a:ext cx="5404485" cy="360680"/>
          </a:xfrm>
          <a:prstGeom prst="rect">
            <a:avLst/>
          </a:prstGeom>
        </p:spPr>
        <p:txBody>
          <a:bodyPr vert="horz" wrap="square" lIns="0" tIns="12065" rIns="0" bIns="0" rtlCol="0">
            <a:spAutoFit/>
          </a:bodyPr>
          <a:lstStyle/>
          <a:p>
            <a:pPr marL="12700">
              <a:spcBef>
                <a:spcPts val="95"/>
              </a:spcBef>
              <a:tabLst>
                <a:tab pos="2199640" algn="l"/>
                <a:tab pos="3882390" algn="l"/>
              </a:tabLst>
            </a:pPr>
            <a:r>
              <a:rPr sz="2200" b="1" spc="-10" dirty="0">
                <a:latin typeface="Courier New"/>
                <a:cs typeface="Courier New"/>
              </a:rPr>
              <a:t>f(threadIdx,</a:t>
            </a:r>
            <a:r>
              <a:rPr sz="2200" dirty="0">
                <a:latin typeface="Times New Roman"/>
                <a:cs typeface="Times New Roman"/>
              </a:rPr>
              <a:t>	</a:t>
            </a:r>
            <a:r>
              <a:rPr sz="2200" b="1" spc="-10" dirty="0">
                <a:latin typeface="Courier New"/>
                <a:cs typeface="Courier New"/>
              </a:rPr>
              <a:t>blockIdx,</a:t>
            </a:r>
            <a:r>
              <a:rPr sz="2200" dirty="0">
                <a:latin typeface="Times New Roman"/>
                <a:cs typeface="Times New Roman"/>
              </a:rPr>
              <a:t>	</a:t>
            </a:r>
            <a:r>
              <a:rPr sz="2200" b="1" spc="-10" dirty="0">
                <a:latin typeface="Courier New"/>
                <a:cs typeface="Courier New"/>
              </a:rPr>
              <a:t>blockDim)</a:t>
            </a:r>
            <a:endParaRPr sz="2200">
              <a:latin typeface="Courier New"/>
              <a:cs typeface="Courier New"/>
            </a:endParaRPr>
          </a:p>
        </p:txBody>
      </p:sp>
      <p:sp>
        <p:nvSpPr>
          <p:cNvPr id="8" name="Google Shape;859;p34">
            <a:extLst>
              <a:ext uri="{FF2B5EF4-FFF2-40B4-BE49-F238E27FC236}">
                <a16:creationId xmlns:a16="http://schemas.microsoft.com/office/drawing/2014/main" id="{2F7B8B78-0749-A4DF-41B2-3A9F5A92C0D4}"/>
              </a:ext>
            </a:extLst>
          </p:cNvPr>
          <p:cNvSpPr txBox="1">
            <a:spLocks/>
          </p:cNvSpPr>
          <p:nvPr/>
        </p:nvSpPr>
        <p:spPr>
          <a:xfrm>
            <a:off x="441756" y="640525"/>
            <a:ext cx="10650400" cy="709600"/>
          </a:xfrm>
          <a:prstGeom prst="rect">
            <a:avLst/>
          </a:prstGeom>
          <a:noFill/>
        </p:spPr>
        <p:txBody>
          <a:bodyPr spcFirstLastPara="1" wrap="square" lIns="91433" tIns="91433" rIns="91433" bIns="91433" anchor="b" anchorCtr="0">
            <a:noAutofit/>
          </a:bodyPr>
          <a:lstStyle>
            <a:lvl1pPr>
              <a:defRPr sz="4000" b="0" i="0">
                <a:solidFill>
                  <a:srgbClr val="1F487C"/>
                </a:solidFill>
                <a:latin typeface="Arial"/>
                <a:ea typeface="+mj-ea"/>
                <a:cs typeface="Arial"/>
              </a:defRPr>
            </a:lvl1pPr>
          </a:lstStyle>
          <a:p>
            <a:pPr rtl="0"/>
            <a:r>
              <a:rPr lang="en-GB" sz="2933" cap="small" dirty="0">
                <a:solidFill>
                  <a:schemeClr val="dk2"/>
                </a:solidFill>
              </a:rPr>
              <a:t>Indexing</a:t>
            </a:r>
          </a:p>
        </p:txBody>
      </p:sp>
    </p:spTree>
    <p:extLst>
      <p:ext uri="{BB962C8B-B14F-4D97-AF65-F5344CB8AC3E}">
        <p14:creationId xmlns:p14="http://schemas.microsoft.com/office/powerpoint/2010/main" val="42226373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796" name="Google Shape;796;p33"/>
          <p:cNvSpPr txBox="1">
            <a:spLocks noGrp="1"/>
          </p:cNvSpPr>
          <p:nvPr>
            <p:ph type="title"/>
          </p:nvPr>
        </p:nvSpPr>
        <p:spPr>
          <a:xfrm>
            <a:off x="418000" y="290063"/>
            <a:ext cx="10650400" cy="709600"/>
          </a:xfrm>
          <a:prstGeom prst="rect">
            <a:avLst/>
          </a:prstGeom>
          <a:noFill/>
        </p:spPr>
        <p:txBody>
          <a:bodyPr spcFirstLastPara="1" wrap="square" lIns="91433" tIns="91433" rIns="91433" bIns="91433" anchor="b" anchorCtr="0">
            <a:noAutofit/>
          </a:bodyPr>
          <a:lstStyle/>
          <a:p>
            <a:pPr rtl="0"/>
            <a:r>
              <a:rPr lang="en-GB"/>
              <a:t>Data in Memory</a:t>
            </a:r>
            <a:endParaRPr/>
          </a:p>
        </p:txBody>
      </p:sp>
      <p:sp>
        <p:nvSpPr>
          <p:cNvPr id="797" name="Google Shape;797;p33"/>
          <p:cNvSpPr txBox="1">
            <a:spLocks noGrp="1"/>
          </p:cNvSpPr>
          <p:nvPr>
            <p:ph type="body" idx="1"/>
          </p:nvPr>
        </p:nvSpPr>
        <p:spPr>
          <a:xfrm>
            <a:off x="418000" y="927167"/>
            <a:ext cx="11326400" cy="509200"/>
          </a:xfrm>
          <a:prstGeom prst="rect">
            <a:avLst/>
          </a:prstGeom>
        </p:spPr>
        <p:txBody>
          <a:bodyPr spcFirstLastPara="1" wrap="square" lIns="91433" tIns="91433" rIns="91433" bIns="91433" anchor="t" anchorCtr="0">
            <a:noAutofit/>
          </a:bodyPr>
          <a:lstStyle/>
          <a:p>
            <a:pPr marL="0" indent="0" rtl="0">
              <a:buNone/>
            </a:pPr>
            <a:r>
              <a:rPr lang="en-GB" dirty="0"/>
              <a:t>Multidimensional data can be</a:t>
            </a:r>
            <a:r>
              <a:rPr lang="en-GB" b="1" i="1" dirty="0">
                <a:solidFill>
                  <a:schemeClr val="lt1"/>
                </a:solidFill>
              </a:rPr>
              <a:t>l </a:t>
            </a:r>
            <a:r>
              <a:rPr lang="en-GB" b="1" i="1" dirty="0"/>
              <a:t>represented</a:t>
            </a:r>
            <a:r>
              <a:rPr lang="en-GB" i="1" dirty="0"/>
              <a:t> </a:t>
            </a:r>
            <a:r>
              <a:rPr lang="en-GB" dirty="0"/>
              <a:t>(or flattened) in 1D array</a:t>
            </a:r>
            <a:endParaRPr dirty="0"/>
          </a:p>
        </p:txBody>
      </p:sp>
      <p:sp>
        <p:nvSpPr>
          <p:cNvPr id="798" name="Google Shape;798;p33"/>
          <p:cNvSpPr txBox="1">
            <a:spLocks noGrp="1"/>
          </p:cNvSpPr>
          <p:nvPr>
            <p:ph type="sldNum" idx="12"/>
          </p:nvPr>
        </p:nvSpPr>
        <p:spPr>
          <a:xfrm>
            <a:off x="11466783" y="5913927"/>
            <a:ext cx="731600" cy="418000"/>
          </a:xfrm>
          <a:prstGeom prst="rect">
            <a:avLst/>
          </a:prstGeom>
        </p:spPr>
        <p:txBody>
          <a:bodyPr spcFirstLastPara="1" wrap="square" lIns="91433" tIns="91433" rIns="91433" bIns="91433" anchor="t" anchorCtr="0">
            <a:noAutofit/>
          </a:bodyPr>
          <a:lstStyle/>
          <a:p>
            <a:pPr rtl="0"/>
            <a:fld id="{00000000-1234-1234-1234-123412341234}" type="slidenum">
              <a:rPr lang="en-GB"/>
              <a:pPr rtl="0"/>
              <a:t>12</a:t>
            </a:fld>
            <a:endParaRPr/>
          </a:p>
        </p:txBody>
      </p:sp>
      <p:sp>
        <p:nvSpPr>
          <p:cNvPr id="799" name="Google Shape;799;p33"/>
          <p:cNvSpPr txBox="1">
            <a:spLocks noGrp="1"/>
          </p:cNvSpPr>
          <p:nvPr>
            <p:ph type="body" idx="1"/>
          </p:nvPr>
        </p:nvSpPr>
        <p:spPr>
          <a:xfrm>
            <a:off x="418000" y="1536767"/>
            <a:ext cx="11326400" cy="509200"/>
          </a:xfrm>
          <a:prstGeom prst="rect">
            <a:avLst/>
          </a:prstGeom>
        </p:spPr>
        <p:txBody>
          <a:bodyPr spcFirstLastPara="1" wrap="square" lIns="91433" tIns="91433" rIns="91433" bIns="91433" anchor="t" anchorCtr="0">
            <a:noAutofit/>
          </a:bodyPr>
          <a:lstStyle/>
          <a:p>
            <a:pPr marL="0" indent="0" rtl="0">
              <a:buNone/>
            </a:pPr>
            <a:r>
              <a:rPr lang="en-GB" dirty="0"/>
              <a:t>Convention in C is to store data in </a:t>
            </a:r>
            <a:r>
              <a:rPr lang="en-GB" b="1" dirty="0">
                <a:solidFill>
                  <a:schemeClr val="dk2"/>
                </a:solidFill>
              </a:rPr>
              <a:t>row major ordering</a:t>
            </a:r>
            <a:r>
              <a:rPr lang="en-GB" dirty="0"/>
              <a:t>: elements in the same row are contiguous in memory. </a:t>
            </a:r>
            <a:endParaRPr dirty="0"/>
          </a:p>
        </p:txBody>
      </p:sp>
      <p:grpSp>
        <p:nvGrpSpPr>
          <p:cNvPr id="800" name="Google Shape;800;p33"/>
          <p:cNvGrpSpPr/>
          <p:nvPr/>
        </p:nvGrpSpPr>
        <p:grpSpPr>
          <a:xfrm>
            <a:off x="1110067" y="2534367"/>
            <a:ext cx="2257600" cy="2257600"/>
            <a:chOff x="832550" y="2053175"/>
            <a:chExt cx="1693200" cy="1693200"/>
          </a:xfrm>
        </p:grpSpPr>
        <p:grpSp>
          <p:nvGrpSpPr>
            <p:cNvPr id="801" name="Google Shape;801;p33"/>
            <p:cNvGrpSpPr/>
            <p:nvPr/>
          </p:nvGrpSpPr>
          <p:grpSpPr>
            <a:xfrm>
              <a:off x="832550" y="2053175"/>
              <a:ext cx="1693200" cy="423300"/>
              <a:chOff x="832550" y="2053175"/>
              <a:chExt cx="1693200" cy="423300"/>
            </a:xfrm>
          </p:grpSpPr>
          <p:sp>
            <p:nvSpPr>
              <p:cNvPr id="802" name="Google Shape;802;p33"/>
              <p:cNvSpPr/>
              <p:nvPr/>
            </p:nvSpPr>
            <p:spPr>
              <a:xfrm>
                <a:off x="832550" y="2053175"/>
                <a:ext cx="423300" cy="423300"/>
              </a:xfrm>
              <a:prstGeom prst="rect">
                <a:avLst/>
              </a:prstGeom>
              <a:solidFill>
                <a:srgbClr val="F7A921">
                  <a:alpha val="24710"/>
                </a:srgbClr>
              </a:solidFill>
              <a:ln w="9525" cap="flat" cmpd="sng">
                <a:solidFill>
                  <a:schemeClr val="accent6"/>
                </a:solidFill>
                <a:prstDash val="solid"/>
                <a:round/>
                <a:headEnd type="none" w="sm" len="sm"/>
                <a:tailEnd type="none" w="sm" len="sm"/>
              </a:ln>
            </p:spPr>
            <p:txBody>
              <a:bodyPr spcFirstLastPara="1" wrap="square" lIns="0" tIns="0" rIns="0" bIns="0" anchor="ctr" anchorCtr="0">
                <a:noAutofit/>
              </a:bodyPr>
              <a:lstStyle/>
              <a:p>
                <a:pPr algn="ctr" rtl="0"/>
                <a:r>
                  <a:rPr lang="en-GB">
                    <a:solidFill>
                      <a:schemeClr val="accent6"/>
                    </a:solidFill>
                    <a:latin typeface="Lato"/>
                    <a:ea typeface="Lato"/>
                    <a:cs typeface="Lato"/>
                    <a:sym typeface="Lato"/>
                  </a:rPr>
                  <a:t>[0,0]</a:t>
                </a:r>
                <a:endParaRPr>
                  <a:solidFill>
                    <a:schemeClr val="accent6"/>
                  </a:solidFill>
                  <a:latin typeface="Lato"/>
                  <a:ea typeface="Lato"/>
                  <a:cs typeface="Lato"/>
                  <a:sym typeface="Lato"/>
                </a:endParaRPr>
              </a:p>
            </p:txBody>
          </p:sp>
          <p:sp>
            <p:nvSpPr>
              <p:cNvPr id="803" name="Google Shape;803;p33"/>
              <p:cNvSpPr/>
              <p:nvPr/>
            </p:nvSpPr>
            <p:spPr>
              <a:xfrm>
                <a:off x="1255850" y="2053175"/>
                <a:ext cx="423300" cy="423300"/>
              </a:xfrm>
              <a:prstGeom prst="rect">
                <a:avLst/>
              </a:prstGeom>
              <a:solidFill>
                <a:srgbClr val="F7A921">
                  <a:alpha val="24710"/>
                </a:srgbClr>
              </a:solidFill>
              <a:ln w="9525" cap="flat" cmpd="sng">
                <a:solidFill>
                  <a:schemeClr val="accent6"/>
                </a:solidFill>
                <a:prstDash val="solid"/>
                <a:round/>
                <a:headEnd type="none" w="sm" len="sm"/>
                <a:tailEnd type="none" w="sm" len="sm"/>
              </a:ln>
            </p:spPr>
            <p:txBody>
              <a:bodyPr spcFirstLastPara="1" wrap="square" lIns="0" tIns="0" rIns="0" bIns="0" anchor="ctr" anchorCtr="0">
                <a:noAutofit/>
              </a:bodyPr>
              <a:lstStyle/>
              <a:p>
                <a:pPr algn="ctr" rtl="0"/>
                <a:r>
                  <a:rPr lang="en-GB">
                    <a:solidFill>
                      <a:schemeClr val="accent6"/>
                    </a:solidFill>
                    <a:latin typeface="Lato"/>
                    <a:ea typeface="Lato"/>
                    <a:cs typeface="Lato"/>
                    <a:sym typeface="Lato"/>
                  </a:rPr>
                  <a:t>[0,1]</a:t>
                </a:r>
                <a:endParaRPr>
                  <a:solidFill>
                    <a:schemeClr val="accent6"/>
                  </a:solidFill>
                  <a:latin typeface="Lato"/>
                  <a:ea typeface="Lato"/>
                  <a:cs typeface="Lato"/>
                  <a:sym typeface="Lato"/>
                </a:endParaRPr>
              </a:p>
            </p:txBody>
          </p:sp>
          <p:sp>
            <p:nvSpPr>
              <p:cNvPr id="804" name="Google Shape;804;p33"/>
              <p:cNvSpPr/>
              <p:nvPr/>
            </p:nvSpPr>
            <p:spPr>
              <a:xfrm>
                <a:off x="1679150" y="2053175"/>
                <a:ext cx="423300" cy="423300"/>
              </a:xfrm>
              <a:prstGeom prst="rect">
                <a:avLst/>
              </a:prstGeom>
              <a:solidFill>
                <a:srgbClr val="F7A921">
                  <a:alpha val="24710"/>
                </a:srgbClr>
              </a:solidFill>
              <a:ln w="9525" cap="flat" cmpd="sng">
                <a:solidFill>
                  <a:schemeClr val="accent6"/>
                </a:solidFill>
                <a:prstDash val="solid"/>
                <a:round/>
                <a:headEnd type="none" w="sm" len="sm"/>
                <a:tailEnd type="none" w="sm" len="sm"/>
              </a:ln>
            </p:spPr>
            <p:txBody>
              <a:bodyPr spcFirstLastPara="1" wrap="square" lIns="0" tIns="0" rIns="0" bIns="0" anchor="ctr" anchorCtr="0">
                <a:noAutofit/>
              </a:bodyPr>
              <a:lstStyle/>
              <a:p>
                <a:pPr algn="ctr" rtl="0"/>
                <a:r>
                  <a:rPr lang="en-GB">
                    <a:solidFill>
                      <a:schemeClr val="accent6"/>
                    </a:solidFill>
                    <a:latin typeface="Lato"/>
                    <a:ea typeface="Lato"/>
                    <a:cs typeface="Lato"/>
                    <a:sym typeface="Lato"/>
                  </a:rPr>
                  <a:t>[0,2]</a:t>
                </a:r>
                <a:endParaRPr>
                  <a:solidFill>
                    <a:schemeClr val="accent6"/>
                  </a:solidFill>
                  <a:latin typeface="Lato"/>
                  <a:ea typeface="Lato"/>
                  <a:cs typeface="Lato"/>
                  <a:sym typeface="Lato"/>
                </a:endParaRPr>
              </a:p>
            </p:txBody>
          </p:sp>
          <p:sp>
            <p:nvSpPr>
              <p:cNvPr id="805" name="Google Shape;805;p33"/>
              <p:cNvSpPr/>
              <p:nvPr/>
            </p:nvSpPr>
            <p:spPr>
              <a:xfrm>
                <a:off x="2102450" y="2053175"/>
                <a:ext cx="423300" cy="423300"/>
              </a:xfrm>
              <a:prstGeom prst="rect">
                <a:avLst/>
              </a:prstGeom>
              <a:solidFill>
                <a:srgbClr val="F7A921">
                  <a:alpha val="24710"/>
                </a:srgbClr>
              </a:solidFill>
              <a:ln w="9525" cap="flat" cmpd="sng">
                <a:solidFill>
                  <a:schemeClr val="accent6"/>
                </a:solidFill>
                <a:prstDash val="solid"/>
                <a:round/>
                <a:headEnd type="none" w="sm" len="sm"/>
                <a:tailEnd type="none" w="sm" len="sm"/>
              </a:ln>
            </p:spPr>
            <p:txBody>
              <a:bodyPr spcFirstLastPara="1" wrap="square" lIns="0" tIns="0" rIns="0" bIns="0" anchor="ctr" anchorCtr="0">
                <a:noAutofit/>
              </a:bodyPr>
              <a:lstStyle/>
              <a:p>
                <a:pPr algn="ctr" rtl="0"/>
                <a:r>
                  <a:rPr lang="en-GB">
                    <a:solidFill>
                      <a:schemeClr val="accent6"/>
                    </a:solidFill>
                    <a:latin typeface="Lato"/>
                    <a:ea typeface="Lato"/>
                    <a:cs typeface="Lato"/>
                    <a:sym typeface="Lato"/>
                  </a:rPr>
                  <a:t>[0,3]</a:t>
                </a:r>
                <a:endParaRPr>
                  <a:solidFill>
                    <a:schemeClr val="accent6"/>
                  </a:solidFill>
                  <a:latin typeface="Lato"/>
                  <a:ea typeface="Lato"/>
                  <a:cs typeface="Lato"/>
                  <a:sym typeface="Lato"/>
                </a:endParaRPr>
              </a:p>
            </p:txBody>
          </p:sp>
        </p:grpSp>
        <p:grpSp>
          <p:nvGrpSpPr>
            <p:cNvPr id="806" name="Google Shape;806;p33"/>
            <p:cNvGrpSpPr/>
            <p:nvPr/>
          </p:nvGrpSpPr>
          <p:grpSpPr>
            <a:xfrm>
              <a:off x="832550" y="2476475"/>
              <a:ext cx="1693200" cy="423300"/>
              <a:chOff x="832550" y="2053175"/>
              <a:chExt cx="1693200" cy="423300"/>
            </a:xfrm>
          </p:grpSpPr>
          <p:sp>
            <p:nvSpPr>
              <p:cNvPr id="807" name="Google Shape;807;p33"/>
              <p:cNvSpPr/>
              <p:nvPr/>
            </p:nvSpPr>
            <p:spPr>
              <a:xfrm>
                <a:off x="832550" y="2053175"/>
                <a:ext cx="423300" cy="423300"/>
              </a:xfrm>
              <a:prstGeom prst="rect">
                <a:avLst/>
              </a:prstGeom>
              <a:solidFill>
                <a:srgbClr val="B7E5DF">
                  <a:alpha val="29800"/>
                </a:srgbClr>
              </a:solidFill>
              <a:ln w="9525" cap="flat" cmpd="sng">
                <a:solidFill>
                  <a:schemeClr val="accent6"/>
                </a:solidFill>
                <a:prstDash val="solid"/>
                <a:round/>
                <a:headEnd type="none" w="sm" len="sm"/>
                <a:tailEnd type="none" w="sm" len="sm"/>
              </a:ln>
            </p:spPr>
            <p:txBody>
              <a:bodyPr spcFirstLastPara="1" wrap="square" lIns="0" tIns="0" rIns="0" bIns="0" anchor="ctr" anchorCtr="0">
                <a:noAutofit/>
              </a:bodyPr>
              <a:lstStyle/>
              <a:p>
                <a:pPr algn="ctr" rtl="0"/>
                <a:r>
                  <a:rPr lang="en-GB">
                    <a:solidFill>
                      <a:schemeClr val="accent6"/>
                    </a:solidFill>
                    <a:latin typeface="Lato"/>
                    <a:ea typeface="Lato"/>
                    <a:cs typeface="Lato"/>
                    <a:sym typeface="Lato"/>
                  </a:rPr>
                  <a:t>[1,0]</a:t>
                </a:r>
                <a:endParaRPr>
                  <a:solidFill>
                    <a:schemeClr val="accent6"/>
                  </a:solidFill>
                  <a:latin typeface="Lato"/>
                  <a:ea typeface="Lato"/>
                  <a:cs typeface="Lato"/>
                  <a:sym typeface="Lato"/>
                </a:endParaRPr>
              </a:p>
            </p:txBody>
          </p:sp>
          <p:sp>
            <p:nvSpPr>
              <p:cNvPr id="808" name="Google Shape;808;p33"/>
              <p:cNvSpPr/>
              <p:nvPr/>
            </p:nvSpPr>
            <p:spPr>
              <a:xfrm>
                <a:off x="1255850" y="2053175"/>
                <a:ext cx="423300" cy="423300"/>
              </a:xfrm>
              <a:prstGeom prst="rect">
                <a:avLst/>
              </a:prstGeom>
              <a:solidFill>
                <a:srgbClr val="B7E5DF">
                  <a:alpha val="29800"/>
                </a:srgbClr>
              </a:solidFill>
              <a:ln w="9525" cap="flat" cmpd="sng">
                <a:solidFill>
                  <a:schemeClr val="accent6"/>
                </a:solidFill>
                <a:prstDash val="solid"/>
                <a:round/>
                <a:headEnd type="none" w="sm" len="sm"/>
                <a:tailEnd type="none" w="sm" len="sm"/>
              </a:ln>
            </p:spPr>
            <p:txBody>
              <a:bodyPr spcFirstLastPara="1" wrap="square" lIns="0" tIns="0" rIns="0" bIns="0" anchor="ctr" anchorCtr="0">
                <a:noAutofit/>
              </a:bodyPr>
              <a:lstStyle/>
              <a:p>
                <a:pPr algn="ctr" rtl="0"/>
                <a:r>
                  <a:rPr lang="en-GB">
                    <a:solidFill>
                      <a:schemeClr val="accent6"/>
                    </a:solidFill>
                    <a:latin typeface="Lato"/>
                    <a:ea typeface="Lato"/>
                    <a:cs typeface="Lato"/>
                    <a:sym typeface="Lato"/>
                  </a:rPr>
                  <a:t>[1,1]</a:t>
                </a:r>
                <a:endParaRPr>
                  <a:solidFill>
                    <a:schemeClr val="accent6"/>
                  </a:solidFill>
                  <a:latin typeface="Lato"/>
                  <a:ea typeface="Lato"/>
                  <a:cs typeface="Lato"/>
                  <a:sym typeface="Lato"/>
                </a:endParaRPr>
              </a:p>
            </p:txBody>
          </p:sp>
          <p:sp>
            <p:nvSpPr>
              <p:cNvPr id="809" name="Google Shape;809;p33"/>
              <p:cNvSpPr/>
              <p:nvPr/>
            </p:nvSpPr>
            <p:spPr>
              <a:xfrm>
                <a:off x="1679150" y="2053175"/>
                <a:ext cx="423300" cy="423300"/>
              </a:xfrm>
              <a:prstGeom prst="rect">
                <a:avLst/>
              </a:prstGeom>
              <a:solidFill>
                <a:srgbClr val="B7E5DF">
                  <a:alpha val="29800"/>
                </a:srgbClr>
              </a:solidFill>
              <a:ln w="9525" cap="flat" cmpd="sng">
                <a:solidFill>
                  <a:schemeClr val="accent6"/>
                </a:solidFill>
                <a:prstDash val="solid"/>
                <a:round/>
                <a:headEnd type="none" w="sm" len="sm"/>
                <a:tailEnd type="none" w="sm" len="sm"/>
              </a:ln>
            </p:spPr>
            <p:txBody>
              <a:bodyPr spcFirstLastPara="1" wrap="square" lIns="0" tIns="0" rIns="0" bIns="0" anchor="ctr" anchorCtr="0">
                <a:noAutofit/>
              </a:bodyPr>
              <a:lstStyle/>
              <a:p>
                <a:pPr algn="ctr" rtl="0"/>
                <a:r>
                  <a:rPr lang="en-GB">
                    <a:solidFill>
                      <a:schemeClr val="accent6"/>
                    </a:solidFill>
                    <a:latin typeface="Lato"/>
                    <a:ea typeface="Lato"/>
                    <a:cs typeface="Lato"/>
                    <a:sym typeface="Lato"/>
                  </a:rPr>
                  <a:t>[1,2]</a:t>
                </a:r>
                <a:endParaRPr>
                  <a:solidFill>
                    <a:schemeClr val="accent6"/>
                  </a:solidFill>
                  <a:latin typeface="Lato"/>
                  <a:ea typeface="Lato"/>
                  <a:cs typeface="Lato"/>
                  <a:sym typeface="Lato"/>
                </a:endParaRPr>
              </a:p>
            </p:txBody>
          </p:sp>
          <p:sp>
            <p:nvSpPr>
              <p:cNvPr id="810" name="Google Shape;810;p33"/>
              <p:cNvSpPr/>
              <p:nvPr/>
            </p:nvSpPr>
            <p:spPr>
              <a:xfrm>
                <a:off x="2102450" y="2053175"/>
                <a:ext cx="423300" cy="423300"/>
              </a:xfrm>
              <a:prstGeom prst="rect">
                <a:avLst/>
              </a:prstGeom>
              <a:solidFill>
                <a:srgbClr val="B7E5DF">
                  <a:alpha val="29800"/>
                </a:srgbClr>
              </a:solidFill>
              <a:ln w="9525" cap="flat" cmpd="sng">
                <a:solidFill>
                  <a:schemeClr val="accent6"/>
                </a:solidFill>
                <a:prstDash val="solid"/>
                <a:round/>
                <a:headEnd type="none" w="sm" len="sm"/>
                <a:tailEnd type="none" w="sm" len="sm"/>
              </a:ln>
            </p:spPr>
            <p:txBody>
              <a:bodyPr spcFirstLastPara="1" wrap="square" lIns="0" tIns="0" rIns="0" bIns="0" anchor="ctr" anchorCtr="0">
                <a:noAutofit/>
              </a:bodyPr>
              <a:lstStyle/>
              <a:p>
                <a:pPr algn="ctr" rtl="0"/>
                <a:r>
                  <a:rPr lang="en-GB">
                    <a:solidFill>
                      <a:schemeClr val="accent6"/>
                    </a:solidFill>
                    <a:latin typeface="Lato"/>
                    <a:ea typeface="Lato"/>
                    <a:cs typeface="Lato"/>
                    <a:sym typeface="Lato"/>
                  </a:rPr>
                  <a:t>[1,3]</a:t>
                </a:r>
                <a:endParaRPr>
                  <a:solidFill>
                    <a:schemeClr val="accent6"/>
                  </a:solidFill>
                  <a:latin typeface="Lato"/>
                  <a:ea typeface="Lato"/>
                  <a:cs typeface="Lato"/>
                  <a:sym typeface="Lato"/>
                </a:endParaRPr>
              </a:p>
            </p:txBody>
          </p:sp>
        </p:grpSp>
        <p:grpSp>
          <p:nvGrpSpPr>
            <p:cNvPr id="811" name="Google Shape;811;p33"/>
            <p:cNvGrpSpPr/>
            <p:nvPr/>
          </p:nvGrpSpPr>
          <p:grpSpPr>
            <a:xfrm>
              <a:off x="832550" y="2899775"/>
              <a:ext cx="1693200" cy="423300"/>
              <a:chOff x="832550" y="2053175"/>
              <a:chExt cx="1693200" cy="423300"/>
            </a:xfrm>
          </p:grpSpPr>
          <p:sp>
            <p:nvSpPr>
              <p:cNvPr id="812" name="Google Shape;812;p33"/>
              <p:cNvSpPr/>
              <p:nvPr/>
            </p:nvSpPr>
            <p:spPr>
              <a:xfrm>
                <a:off x="832550" y="2053175"/>
                <a:ext cx="423300" cy="423300"/>
              </a:xfrm>
              <a:prstGeom prst="rect">
                <a:avLst/>
              </a:prstGeom>
              <a:solidFill>
                <a:srgbClr val="4FAF48">
                  <a:alpha val="46840"/>
                </a:srgbClr>
              </a:solidFill>
              <a:ln w="9525" cap="flat" cmpd="sng">
                <a:solidFill>
                  <a:schemeClr val="accent6"/>
                </a:solidFill>
                <a:prstDash val="solid"/>
                <a:round/>
                <a:headEnd type="none" w="sm" len="sm"/>
                <a:tailEnd type="none" w="sm" len="sm"/>
              </a:ln>
            </p:spPr>
            <p:txBody>
              <a:bodyPr spcFirstLastPara="1" wrap="square" lIns="0" tIns="0" rIns="0" bIns="0" anchor="ctr" anchorCtr="0">
                <a:noAutofit/>
              </a:bodyPr>
              <a:lstStyle/>
              <a:p>
                <a:pPr algn="ctr" rtl="0"/>
                <a:r>
                  <a:rPr lang="en-GB">
                    <a:solidFill>
                      <a:schemeClr val="accent6"/>
                    </a:solidFill>
                    <a:latin typeface="Lato"/>
                    <a:ea typeface="Lato"/>
                    <a:cs typeface="Lato"/>
                    <a:sym typeface="Lato"/>
                  </a:rPr>
                  <a:t>[2,0]</a:t>
                </a:r>
                <a:endParaRPr>
                  <a:solidFill>
                    <a:schemeClr val="accent6"/>
                  </a:solidFill>
                  <a:latin typeface="Lato"/>
                  <a:ea typeface="Lato"/>
                  <a:cs typeface="Lato"/>
                  <a:sym typeface="Lato"/>
                </a:endParaRPr>
              </a:p>
            </p:txBody>
          </p:sp>
          <p:sp>
            <p:nvSpPr>
              <p:cNvPr id="813" name="Google Shape;813;p33"/>
              <p:cNvSpPr/>
              <p:nvPr/>
            </p:nvSpPr>
            <p:spPr>
              <a:xfrm>
                <a:off x="1255850" y="2053175"/>
                <a:ext cx="423300" cy="423300"/>
              </a:xfrm>
              <a:prstGeom prst="rect">
                <a:avLst/>
              </a:prstGeom>
              <a:solidFill>
                <a:srgbClr val="4FAF48">
                  <a:alpha val="46840"/>
                </a:srgbClr>
              </a:solidFill>
              <a:ln w="9525" cap="flat" cmpd="sng">
                <a:solidFill>
                  <a:schemeClr val="accent6"/>
                </a:solidFill>
                <a:prstDash val="solid"/>
                <a:round/>
                <a:headEnd type="none" w="sm" len="sm"/>
                <a:tailEnd type="none" w="sm" len="sm"/>
              </a:ln>
            </p:spPr>
            <p:txBody>
              <a:bodyPr spcFirstLastPara="1" wrap="square" lIns="0" tIns="0" rIns="0" bIns="0" anchor="ctr" anchorCtr="0">
                <a:noAutofit/>
              </a:bodyPr>
              <a:lstStyle/>
              <a:p>
                <a:pPr algn="ctr" rtl="0"/>
                <a:r>
                  <a:rPr lang="en-GB">
                    <a:solidFill>
                      <a:schemeClr val="accent6"/>
                    </a:solidFill>
                    <a:latin typeface="Lato"/>
                    <a:ea typeface="Lato"/>
                    <a:cs typeface="Lato"/>
                    <a:sym typeface="Lato"/>
                  </a:rPr>
                  <a:t>[2,1]</a:t>
                </a:r>
                <a:endParaRPr>
                  <a:solidFill>
                    <a:schemeClr val="accent6"/>
                  </a:solidFill>
                  <a:latin typeface="Lato"/>
                  <a:ea typeface="Lato"/>
                  <a:cs typeface="Lato"/>
                  <a:sym typeface="Lato"/>
                </a:endParaRPr>
              </a:p>
            </p:txBody>
          </p:sp>
          <p:sp>
            <p:nvSpPr>
              <p:cNvPr id="814" name="Google Shape;814;p33"/>
              <p:cNvSpPr/>
              <p:nvPr/>
            </p:nvSpPr>
            <p:spPr>
              <a:xfrm>
                <a:off x="1679150" y="2053175"/>
                <a:ext cx="423300" cy="423300"/>
              </a:xfrm>
              <a:prstGeom prst="rect">
                <a:avLst/>
              </a:prstGeom>
              <a:solidFill>
                <a:srgbClr val="4FAF48">
                  <a:alpha val="46840"/>
                </a:srgbClr>
              </a:solidFill>
              <a:ln w="9525" cap="flat" cmpd="sng">
                <a:solidFill>
                  <a:schemeClr val="accent6"/>
                </a:solidFill>
                <a:prstDash val="solid"/>
                <a:round/>
                <a:headEnd type="none" w="sm" len="sm"/>
                <a:tailEnd type="none" w="sm" len="sm"/>
              </a:ln>
            </p:spPr>
            <p:txBody>
              <a:bodyPr spcFirstLastPara="1" wrap="square" lIns="0" tIns="0" rIns="0" bIns="0" anchor="ctr" anchorCtr="0">
                <a:noAutofit/>
              </a:bodyPr>
              <a:lstStyle/>
              <a:p>
                <a:pPr algn="ctr" rtl="0"/>
                <a:r>
                  <a:rPr lang="en-GB">
                    <a:solidFill>
                      <a:schemeClr val="accent6"/>
                    </a:solidFill>
                    <a:latin typeface="Lato"/>
                    <a:ea typeface="Lato"/>
                    <a:cs typeface="Lato"/>
                    <a:sym typeface="Lato"/>
                  </a:rPr>
                  <a:t>[2,2]</a:t>
                </a:r>
                <a:endParaRPr>
                  <a:solidFill>
                    <a:schemeClr val="accent6"/>
                  </a:solidFill>
                  <a:latin typeface="Lato"/>
                  <a:ea typeface="Lato"/>
                  <a:cs typeface="Lato"/>
                  <a:sym typeface="Lato"/>
                </a:endParaRPr>
              </a:p>
            </p:txBody>
          </p:sp>
          <p:sp>
            <p:nvSpPr>
              <p:cNvPr id="815" name="Google Shape;815;p33"/>
              <p:cNvSpPr/>
              <p:nvPr/>
            </p:nvSpPr>
            <p:spPr>
              <a:xfrm>
                <a:off x="2102450" y="2053175"/>
                <a:ext cx="423300" cy="423300"/>
              </a:xfrm>
              <a:prstGeom prst="rect">
                <a:avLst/>
              </a:prstGeom>
              <a:solidFill>
                <a:srgbClr val="4FAF48">
                  <a:alpha val="46840"/>
                </a:srgbClr>
              </a:solidFill>
              <a:ln w="9525" cap="flat" cmpd="sng">
                <a:solidFill>
                  <a:schemeClr val="accent6"/>
                </a:solidFill>
                <a:prstDash val="solid"/>
                <a:round/>
                <a:headEnd type="none" w="sm" len="sm"/>
                <a:tailEnd type="none" w="sm" len="sm"/>
              </a:ln>
            </p:spPr>
            <p:txBody>
              <a:bodyPr spcFirstLastPara="1" wrap="square" lIns="0" tIns="0" rIns="0" bIns="0" anchor="ctr" anchorCtr="0">
                <a:noAutofit/>
              </a:bodyPr>
              <a:lstStyle/>
              <a:p>
                <a:pPr algn="ctr" rtl="0"/>
                <a:r>
                  <a:rPr lang="en-GB">
                    <a:solidFill>
                      <a:schemeClr val="accent6"/>
                    </a:solidFill>
                    <a:latin typeface="Lato"/>
                    <a:ea typeface="Lato"/>
                    <a:cs typeface="Lato"/>
                    <a:sym typeface="Lato"/>
                  </a:rPr>
                  <a:t>[2,3]</a:t>
                </a:r>
                <a:endParaRPr>
                  <a:solidFill>
                    <a:schemeClr val="accent6"/>
                  </a:solidFill>
                  <a:latin typeface="Lato"/>
                  <a:ea typeface="Lato"/>
                  <a:cs typeface="Lato"/>
                  <a:sym typeface="Lato"/>
                </a:endParaRPr>
              </a:p>
            </p:txBody>
          </p:sp>
        </p:grpSp>
        <p:grpSp>
          <p:nvGrpSpPr>
            <p:cNvPr id="816" name="Google Shape;816;p33"/>
            <p:cNvGrpSpPr/>
            <p:nvPr/>
          </p:nvGrpSpPr>
          <p:grpSpPr>
            <a:xfrm>
              <a:off x="832550" y="3323075"/>
              <a:ext cx="1693200" cy="423300"/>
              <a:chOff x="832550" y="2053175"/>
              <a:chExt cx="1693200" cy="423300"/>
            </a:xfrm>
          </p:grpSpPr>
          <p:sp>
            <p:nvSpPr>
              <p:cNvPr id="817" name="Google Shape;817;p33"/>
              <p:cNvSpPr/>
              <p:nvPr/>
            </p:nvSpPr>
            <p:spPr>
              <a:xfrm>
                <a:off x="832550" y="2053175"/>
                <a:ext cx="423300" cy="423300"/>
              </a:xfrm>
              <a:prstGeom prst="rect">
                <a:avLst/>
              </a:prstGeom>
              <a:solidFill>
                <a:srgbClr val="247EBA">
                  <a:alpha val="21570"/>
                </a:srgbClr>
              </a:solidFill>
              <a:ln w="9525" cap="flat" cmpd="sng">
                <a:solidFill>
                  <a:schemeClr val="accent6"/>
                </a:solidFill>
                <a:prstDash val="solid"/>
                <a:round/>
                <a:headEnd type="none" w="sm" len="sm"/>
                <a:tailEnd type="none" w="sm" len="sm"/>
              </a:ln>
            </p:spPr>
            <p:txBody>
              <a:bodyPr spcFirstLastPara="1" wrap="square" lIns="0" tIns="0" rIns="0" bIns="0" anchor="ctr" anchorCtr="0">
                <a:noAutofit/>
              </a:bodyPr>
              <a:lstStyle/>
              <a:p>
                <a:pPr algn="ctr" rtl="0"/>
                <a:r>
                  <a:rPr lang="en-GB">
                    <a:solidFill>
                      <a:schemeClr val="accent6"/>
                    </a:solidFill>
                    <a:latin typeface="Lato"/>
                    <a:ea typeface="Lato"/>
                    <a:cs typeface="Lato"/>
                    <a:sym typeface="Lato"/>
                  </a:rPr>
                  <a:t>[3,0]</a:t>
                </a:r>
                <a:endParaRPr>
                  <a:solidFill>
                    <a:schemeClr val="accent6"/>
                  </a:solidFill>
                  <a:latin typeface="Lato"/>
                  <a:ea typeface="Lato"/>
                  <a:cs typeface="Lato"/>
                  <a:sym typeface="Lato"/>
                </a:endParaRPr>
              </a:p>
            </p:txBody>
          </p:sp>
          <p:sp>
            <p:nvSpPr>
              <p:cNvPr id="818" name="Google Shape;818;p33"/>
              <p:cNvSpPr/>
              <p:nvPr/>
            </p:nvSpPr>
            <p:spPr>
              <a:xfrm>
                <a:off x="1255850" y="2053175"/>
                <a:ext cx="423300" cy="423300"/>
              </a:xfrm>
              <a:prstGeom prst="rect">
                <a:avLst/>
              </a:prstGeom>
              <a:solidFill>
                <a:srgbClr val="247EBA">
                  <a:alpha val="21570"/>
                </a:srgbClr>
              </a:solidFill>
              <a:ln w="9525" cap="flat" cmpd="sng">
                <a:solidFill>
                  <a:schemeClr val="accent6"/>
                </a:solidFill>
                <a:prstDash val="solid"/>
                <a:round/>
                <a:headEnd type="none" w="sm" len="sm"/>
                <a:tailEnd type="none" w="sm" len="sm"/>
              </a:ln>
            </p:spPr>
            <p:txBody>
              <a:bodyPr spcFirstLastPara="1" wrap="square" lIns="0" tIns="0" rIns="0" bIns="0" anchor="ctr" anchorCtr="0">
                <a:noAutofit/>
              </a:bodyPr>
              <a:lstStyle/>
              <a:p>
                <a:pPr algn="ctr" rtl="0"/>
                <a:r>
                  <a:rPr lang="en-GB">
                    <a:solidFill>
                      <a:schemeClr val="accent6"/>
                    </a:solidFill>
                    <a:latin typeface="Lato"/>
                    <a:ea typeface="Lato"/>
                    <a:cs typeface="Lato"/>
                    <a:sym typeface="Lato"/>
                  </a:rPr>
                  <a:t>[3,1]</a:t>
                </a:r>
                <a:endParaRPr>
                  <a:solidFill>
                    <a:schemeClr val="accent6"/>
                  </a:solidFill>
                  <a:latin typeface="Lato"/>
                  <a:ea typeface="Lato"/>
                  <a:cs typeface="Lato"/>
                  <a:sym typeface="Lato"/>
                </a:endParaRPr>
              </a:p>
            </p:txBody>
          </p:sp>
          <p:sp>
            <p:nvSpPr>
              <p:cNvPr id="819" name="Google Shape;819;p33"/>
              <p:cNvSpPr/>
              <p:nvPr/>
            </p:nvSpPr>
            <p:spPr>
              <a:xfrm>
                <a:off x="1679150" y="2053175"/>
                <a:ext cx="423300" cy="423300"/>
              </a:xfrm>
              <a:prstGeom prst="rect">
                <a:avLst/>
              </a:prstGeom>
              <a:solidFill>
                <a:srgbClr val="247EBA">
                  <a:alpha val="21570"/>
                </a:srgbClr>
              </a:solidFill>
              <a:ln w="9525" cap="flat" cmpd="sng">
                <a:solidFill>
                  <a:schemeClr val="accent6"/>
                </a:solidFill>
                <a:prstDash val="solid"/>
                <a:round/>
                <a:headEnd type="none" w="sm" len="sm"/>
                <a:tailEnd type="none" w="sm" len="sm"/>
              </a:ln>
            </p:spPr>
            <p:txBody>
              <a:bodyPr spcFirstLastPara="1" wrap="square" lIns="0" tIns="0" rIns="0" bIns="0" anchor="ctr" anchorCtr="0">
                <a:noAutofit/>
              </a:bodyPr>
              <a:lstStyle/>
              <a:p>
                <a:pPr algn="ctr" rtl="0"/>
                <a:r>
                  <a:rPr lang="en-GB">
                    <a:solidFill>
                      <a:schemeClr val="accent6"/>
                    </a:solidFill>
                    <a:latin typeface="Lato"/>
                    <a:ea typeface="Lato"/>
                    <a:cs typeface="Lato"/>
                    <a:sym typeface="Lato"/>
                  </a:rPr>
                  <a:t>[3,2]</a:t>
                </a:r>
                <a:endParaRPr>
                  <a:solidFill>
                    <a:schemeClr val="accent6"/>
                  </a:solidFill>
                  <a:latin typeface="Lato"/>
                  <a:ea typeface="Lato"/>
                  <a:cs typeface="Lato"/>
                  <a:sym typeface="Lato"/>
                </a:endParaRPr>
              </a:p>
            </p:txBody>
          </p:sp>
          <p:sp>
            <p:nvSpPr>
              <p:cNvPr id="820" name="Google Shape;820;p33"/>
              <p:cNvSpPr/>
              <p:nvPr/>
            </p:nvSpPr>
            <p:spPr>
              <a:xfrm>
                <a:off x="2102450" y="2053175"/>
                <a:ext cx="423300" cy="423300"/>
              </a:xfrm>
              <a:prstGeom prst="rect">
                <a:avLst/>
              </a:prstGeom>
              <a:solidFill>
                <a:srgbClr val="247EBA">
                  <a:alpha val="21570"/>
                </a:srgbClr>
              </a:solidFill>
              <a:ln w="9525" cap="flat" cmpd="sng">
                <a:solidFill>
                  <a:schemeClr val="accent6"/>
                </a:solidFill>
                <a:prstDash val="solid"/>
                <a:round/>
                <a:headEnd type="none" w="sm" len="sm"/>
                <a:tailEnd type="none" w="sm" len="sm"/>
              </a:ln>
            </p:spPr>
            <p:txBody>
              <a:bodyPr spcFirstLastPara="1" wrap="square" lIns="0" tIns="0" rIns="0" bIns="0" anchor="ctr" anchorCtr="0">
                <a:noAutofit/>
              </a:bodyPr>
              <a:lstStyle/>
              <a:p>
                <a:pPr algn="ctr" rtl="0"/>
                <a:r>
                  <a:rPr lang="en-GB">
                    <a:solidFill>
                      <a:schemeClr val="accent6"/>
                    </a:solidFill>
                    <a:latin typeface="Lato"/>
                    <a:ea typeface="Lato"/>
                    <a:cs typeface="Lato"/>
                    <a:sym typeface="Lato"/>
                  </a:rPr>
                  <a:t>[3,3]</a:t>
                </a:r>
                <a:endParaRPr>
                  <a:solidFill>
                    <a:schemeClr val="accent6"/>
                  </a:solidFill>
                  <a:latin typeface="Lato"/>
                  <a:ea typeface="Lato"/>
                  <a:cs typeface="Lato"/>
                  <a:sym typeface="Lato"/>
                </a:endParaRPr>
              </a:p>
            </p:txBody>
          </p:sp>
        </p:grpSp>
      </p:grpSp>
      <p:grpSp>
        <p:nvGrpSpPr>
          <p:cNvPr id="821" name="Google Shape;821;p33"/>
          <p:cNvGrpSpPr/>
          <p:nvPr/>
        </p:nvGrpSpPr>
        <p:grpSpPr>
          <a:xfrm>
            <a:off x="1129200" y="4829767"/>
            <a:ext cx="9030400" cy="1355533"/>
            <a:chOff x="846900" y="3622325"/>
            <a:chExt cx="6772800" cy="1016650"/>
          </a:xfrm>
        </p:grpSpPr>
        <p:grpSp>
          <p:nvGrpSpPr>
            <p:cNvPr id="822" name="Google Shape;822;p33"/>
            <p:cNvGrpSpPr/>
            <p:nvPr/>
          </p:nvGrpSpPr>
          <p:grpSpPr>
            <a:xfrm>
              <a:off x="846900" y="4215675"/>
              <a:ext cx="6772800" cy="423300"/>
              <a:chOff x="313500" y="4215675"/>
              <a:chExt cx="6772800" cy="423300"/>
            </a:xfrm>
          </p:grpSpPr>
          <p:grpSp>
            <p:nvGrpSpPr>
              <p:cNvPr id="823" name="Google Shape;823;p33"/>
              <p:cNvGrpSpPr/>
              <p:nvPr/>
            </p:nvGrpSpPr>
            <p:grpSpPr>
              <a:xfrm>
                <a:off x="313500" y="4215675"/>
                <a:ext cx="1693200" cy="423300"/>
                <a:chOff x="832550" y="2053175"/>
                <a:chExt cx="1693200" cy="423300"/>
              </a:xfrm>
            </p:grpSpPr>
            <p:sp>
              <p:nvSpPr>
                <p:cNvPr id="824" name="Google Shape;824;p33"/>
                <p:cNvSpPr/>
                <p:nvPr/>
              </p:nvSpPr>
              <p:spPr>
                <a:xfrm>
                  <a:off x="832550" y="2053175"/>
                  <a:ext cx="423300" cy="423300"/>
                </a:xfrm>
                <a:prstGeom prst="rect">
                  <a:avLst/>
                </a:prstGeom>
                <a:solidFill>
                  <a:srgbClr val="F7A921">
                    <a:alpha val="24710"/>
                  </a:srgbClr>
                </a:solidFill>
                <a:ln w="9525" cap="flat" cmpd="sng">
                  <a:solidFill>
                    <a:schemeClr val="accent6"/>
                  </a:solidFill>
                  <a:prstDash val="solid"/>
                  <a:round/>
                  <a:headEnd type="none" w="sm" len="sm"/>
                  <a:tailEnd type="none" w="sm" len="sm"/>
                </a:ln>
              </p:spPr>
              <p:txBody>
                <a:bodyPr spcFirstLastPara="1" wrap="square" lIns="0" tIns="0" rIns="0" bIns="0" anchor="ctr" anchorCtr="0">
                  <a:noAutofit/>
                </a:bodyPr>
                <a:lstStyle/>
                <a:p>
                  <a:pPr algn="ctr" rtl="0"/>
                  <a:r>
                    <a:rPr lang="en-GB">
                      <a:solidFill>
                        <a:schemeClr val="accent6"/>
                      </a:solidFill>
                      <a:latin typeface="Lato"/>
                      <a:ea typeface="Lato"/>
                      <a:cs typeface="Lato"/>
                      <a:sym typeface="Lato"/>
                    </a:rPr>
                    <a:t>[0,0]</a:t>
                  </a:r>
                  <a:endParaRPr>
                    <a:solidFill>
                      <a:schemeClr val="accent6"/>
                    </a:solidFill>
                    <a:latin typeface="Lato"/>
                    <a:ea typeface="Lato"/>
                    <a:cs typeface="Lato"/>
                    <a:sym typeface="Lato"/>
                  </a:endParaRPr>
                </a:p>
              </p:txBody>
            </p:sp>
            <p:sp>
              <p:nvSpPr>
                <p:cNvPr id="825" name="Google Shape;825;p33"/>
                <p:cNvSpPr/>
                <p:nvPr/>
              </p:nvSpPr>
              <p:spPr>
                <a:xfrm>
                  <a:off x="1255850" y="2053175"/>
                  <a:ext cx="423300" cy="423300"/>
                </a:xfrm>
                <a:prstGeom prst="rect">
                  <a:avLst/>
                </a:prstGeom>
                <a:solidFill>
                  <a:srgbClr val="F7A921">
                    <a:alpha val="24710"/>
                  </a:srgbClr>
                </a:solidFill>
                <a:ln w="9525" cap="flat" cmpd="sng">
                  <a:solidFill>
                    <a:schemeClr val="accent6"/>
                  </a:solidFill>
                  <a:prstDash val="solid"/>
                  <a:round/>
                  <a:headEnd type="none" w="sm" len="sm"/>
                  <a:tailEnd type="none" w="sm" len="sm"/>
                </a:ln>
              </p:spPr>
              <p:txBody>
                <a:bodyPr spcFirstLastPara="1" wrap="square" lIns="0" tIns="0" rIns="0" bIns="0" anchor="ctr" anchorCtr="0">
                  <a:noAutofit/>
                </a:bodyPr>
                <a:lstStyle/>
                <a:p>
                  <a:pPr algn="ctr" rtl="0"/>
                  <a:r>
                    <a:rPr lang="en-GB">
                      <a:solidFill>
                        <a:schemeClr val="accent6"/>
                      </a:solidFill>
                      <a:latin typeface="Lato"/>
                      <a:ea typeface="Lato"/>
                      <a:cs typeface="Lato"/>
                      <a:sym typeface="Lato"/>
                    </a:rPr>
                    <a:t>[0,1]</a:t>
                  </a:r>
                  <a:endParaRPr>
                    <a:solidFill>
                      <a:schemeClr val="accent6"/>
                    </a:solidFill>
                    <a:latin typeface="Lato"/>
                    <a:ea typeface="Lato"/>
                    <a:cs typeface="Lato"/>
                    <a:sym typeface="Lato"/>
                  </a:endParaRPr>
                </a:p>
              </p:txBody>
            </p:sp>
            <p:sp>
              <p:nvSpPr>
                <p:cNvPr id="826" name="Google Shape;826;p33"/>
                <p:cNvSpPr/>
                <p:nvPr/>
              </p:nvSpPr>
              <p:spPr>
                <a:xfrm>
                  <a:off x="1679150" y="2053175"/>
                  <a:ext cx="423300" cy="423300"/>
                </a:xfrm>
                <a:prstGeom prst="rect">
                  <a:avLst/>
                </a:prstGeom>
                <a:solidFill>
                  <a:srgbClr val="F7A921">
                    <a:alpha val="24710"/>
                  </a:srgbClr>
                </a:solidFill>
                <a:ln w="9525" cap="flat" cmpd="sng">
                  <a:solidFill>
                    <a:schemeClr val="accent6"/>
                  </a:solidFill>
                  <a:prstDash val="solid"/>
                  <a:round/>
                  <a:headEnd type="none" w="sm" len="sm"/>
                  <a:tailEnd type="none" w="sm" len="sm"/>
                </a:ln>
              </p:spPr>
              <p:txBody>
                <a:bodyPr spcFirstLastPara="1" wrap="square" lIns="0" tIns="0" rIns="0" bIns="0" anchor="ctr" anchorCtr="0">
                  <a:noAutofit/>
                </a:bodyPr>
                <a:lstStyle/>
                <a:p>
                  <a:pPr algn="ctr" rtl="0"/>
                  <a:r>
                    <a:rPr lang="en-GB">
                      <a:solidFill>
                        <a:schemeClr val="accent6"/>
                      </a:solidFill>
                      <a:latin typeface="Lato"/>
                      <a:ea typeface="Lato"/>
                      <a:cs typeface="Lato"/>
                      <a:sym typeface="Lato"/>
                    </a:rPr>
                    <a:t>[0,2]</a:t>
                  </a:r>
                  <a:endParaRPr>
                    <a:solidFill>
                      <a:schemeClr val="accent6"/>
                    </a:solidFill>
                    <a:latin typeface="Lato"/>
                    <a:ea typeface="Lato"/>
                    <a:cs typeface="Lato"/>
                    <a:sym typeface="Lato"/>
                  </a:endParaRPr>
                </a:p>
              </p:txBody>
            </p:sp>
            <p:sp>
              <p:nvSpPr>
                <p:cNvPr id="827" name="Google Shape;827;p33"/>
                <p:cNvSpPr/>
                <p:nvPr/>
              </p:nvSpPr>
              <p:spPr>
                <a:xfrm>
                  <a:off x="2102450" y="2053175"/>
                  <a:ext cx="423300" cy="423300"/>
                </a:xfrm>
                <a:prstGeom prst="rect">
                  <a:avLst/>
                </a:prstGeom>
                <a:solidFill>
                  <a:srgbClr val="F7A921">
                    <a:alpha val="24710"/>
                  </a:srgbClr>
                </a:solidFill>
                <a:ln w="9525" cap="flat" cmpd="sng">
                  <a:solidFill>
                    <a:schemeClr val="accent6"/>
                  </a:solidFill>
                  <a:prstDash val="solid"/>
                  <a:round/>
                  <a:headEnd type="none" w="sm" len="sm"/>
                  <a:tailEnd type="none" w="sm" len="sm"/>
                </a:ln>
              </p:spPr>
              <p:txBody>
                <a:bodyPr spcFirstLastPara="1" wrap="square" lIns="0" tIns="0" rIns="0" bIns="0" anchor="ctr" anchorCtr="0">
                  <a:noAutofit/>
                </a:bodyPr>
                <a:lstStyle/>
                <a:p>
                  <a:pPr algn="ctr" rtl="0"/>
                  <a:r>
                    <a:rPr lang="en-GB">
                      <a:solidFill>
                        <a:schemeClr val="accent6"/>
                      </a:solidFill>
                      <a:latin typeface="Lato"/>
                      <a:ea typeface="Lato"/>
                      <a:cs typeface="Lato"/>
                      <a:sym typeface="Lato"/>
                    </a:rPr>
                    <a:t>[0,3]</a:t>
                  </a:r>
                  <a:endParaRPr>
                    <a:solidFill>
                      <a:schemeClr val="accent6"/>
                    </a:solidFill>
                    <a:latin typeface="Lato"/>
                    <a:ea typeface="Lato"/>
                    <a:cs typeface="Lato"/>
                    <a:sym typeface="Lato"/>
                  </a:endParaRPr>
                </a:p>
              </p:txBody>
            </p:sp>
          </p:grpSp>
          <p:grpSp>
            <p:nvGrpSpPr>
              <p:cNvPr id="828" name="Google Shape;828;p33"/>
              <p:cNvGrpSpPr/>
              <p:nvPr/>
            </p:nvGrpSpPr>
            <p:grpSpPr>
              <a:xfrm>
                <a:off x="2006700" y="4215675"/>
                <a:ext cx="1693200" cy="423300"/>
                <a:chOff x="832550" y="2053175"/>
                <a:chExt cx="1693200" cy="423300"/>
              </a:xfrm>
            </p:grpSpPr>
            <p:sp>
              <p:nvSpPr>
                <p:cNvPr id="829" name="Google Shape;829;p33"/>
                <p:cNvSpPr/>
                <p:nvPr/>
              </p:nvSpPr>
              <p:spPr>
                <a:xfrm>
                  <a:off x="832550" y="2053175"/>
                  <a:ext cx="423300" cy="423300"/>
                </a:xfrm>
                <a:prstGeom prst="rect">
                  <a:avLst/>
                </a:prstGeom>
                <a:solidFill>
                  <a:srgbClr val="B7E5DF">
                    <a:alpha val="29800"/>
                  </a:srgbClr>
                </a:solidFill>
                <a:ln w="9525" cap="flat" cmpd="sng">
                  <a:solidFill>
                    <a:schemeClr val="accent6"/>
                  </a:solidFill>
                  <a:prstDash val="solid"/>
                  <a:round/>
                  <a:headEnd type="none" w="sm" len="sm"/>
                  <a:tailEnd type="none" w="sm" len="sm"/>
                </a:ln>
              </p:spPr>
              <p:txBody>
                <a:bodyPr spcFirstLastPara="1" wrap="square" lIns="0" tIns="0" rIns="0" bIns="0" anchor="ctr" anchorCtr="0">
                  <a:noAutofit/>
                </a:bodyPr>
                <a:lstStyle/>
                <a:p>
                  <a:pPr algn="ctr" rtl="0"/>
                  <a:r>
                    <a:rPr lang="en-GB">
                      <a:solidFill>
                        <a:schemeClr val="accent6"/>
                      </a:solidFill>
                      <a:latin typeface="Lato"/>
                      <a:ea typeface="Lato"/>
                      <a:cs typeface="Lato"/>
                      <a:sym typeface="Lato"/>
                    </a:rPr>
                    <a:t>[1,0]</a:t>
                  </a:r>
                  <a:endParaRPr>
                    <a:solidFill>
                      <a:schemeClr val="accent6"/>
                    </a:solidFill>
                    <a:latin typeface="Lato"/>
                    <a:ea typeface="Lato"/>
                    <a:cs typeface="Lato"/>
                    <a:sym typeface="Lato"/>
                  </a:endParaRPr>
                </a:p>
              </p:txBody>
            </p:sp>
            <p:sp>
              <p:nvSpPr>
                <p:cNvPr id="830" name="Google Shape;830;p33"/>
                <p:cNvSpPr/>
                <p:nvPr/>
              </p:nvSpPr>
              <p:spPr>
                <a:xfrm>
                  <a:off x="1255850" y="2053175"/>
                  <a:ext cx="423300" cy="423300"/>
                </a:xfrm>
                <a:prstGeom prst="rect">
                  <a:avLst/>
                </a:prstGeom>
                <a:solidFill>
                  <a:srgbClr val="B7E5DF">
                    <a:alpha val="29800"/>
                  </a:srgbClr>
                </a:solidFill>
                <a:ln w="9525" cap="flat" cmpd="sng">
                  <a:solidFill>
                    <a:schemeClr val="accent6"/>
                  </a:solidFill>
                  <a:prstDash val="solid"/>
                  <a:round/>
                  <a:headEnd type="none" w="sm" len="sm"/>
                  <a:tailEnd type="none" w="sm" len="sm"/>
                </a:ln>
              </p:spPr>
              <p:txBody>
                <a:bodyPr spcFirstLastPara="1" wrap="square" lIns="0" tIns="0" rIns="0" bIns="0" anchor="ctr" anchorCtr="0">
                  <a:noAutofit/>
                </a:bodyPr>
                <a:lstStyle/>
                <a:p>
                  <a:pPr algn="ctr" rtl="0"/>
                  <a:r>
                    <a:rPr lang="en-GB">
                      <a:solidFill>
                        <a:schemeClr val="accent6"/>
                      </a:solidFill>
                      <a:latin typeface="Lato"/>
                      <a:ea typeface="Lato"/>
                      <a:cs typeface="Lato"/>
                      <a:sym typeface="Lato"/>
                    </a:rPr>
                    <a:t>[1,1]</a:t>
                  </a:r>
                  <a:endParaRPr>
                    <a:solidFill>
                      <a:schemeClr val="accent6"/>
                    </a:solidFill>
                    <a:latin typeface="Lato"/>
                    <a:ea typeface="Lato"/>
                    <a:cs typeface="Lato"/>
                    <a:sym typeface="Lato"/>
                  </a:endParaRPr>
                </a:p>
              </p:txBody>
            </p:sp>
            <p:sp>
              <p:nvSpPr>
                <p:cNvPr id="831" name="Google Shape;831;p33"/>
                <p:cNvSpPr/>
                <p:nvPr/>
              </p:nvSpPr>
              <p:spPr>
                <a:xfrm>
                  <a:off x="1679150" y="2053175"/>
                  <a:ext cx="423300" cy="423300"/>
                </a:xfrm>
                <a:prstGeom prst="rect">
                  <a:avLst/>
                </a:prstGeom>
                <a:solidFill>
                  <a:srgbClr val="B7E5DF">
                    <a:alpha val="29800"/>
                  </a:srgbClr>
                </a:solidFill>
                <a:ln w="9525" cap="flat" cmpd="sng">
                  <a:solidFill>
                    <a:schemeClr val="accent6"/>
                  </a:solidFill>
                  <a:prstDash val="solid"/>
                  <a:round/>
                  <a:headEnd type="none" w="sm" len="sm"/>
                  <a:tailEnd type="none" w="sm" len="sm"/>
                </a:ln>
              </p:spPr>
              <p:txBody>
                <a:bodyPr spcFirstLastPara="1" wrap="square" lIns="0" tIns="0" rIns="0" bIns="0" anchor="ctr" anchorCtr="0">
                  <a:noAutofit/>
                </a:bodyPr>
                <a:lstStyle/>
                <a:p>
                  <a:pPr algn="ctr" rtl="0"/>
                  <a:r>
                    <a:rPr lang="en-GB">
                      <a:solidFill>
                        <a:schemeClr val="accent6"/>
                      </a:solidFill>
                      <a:latin typeface="Lato"/>
                      <a:ea typeface="Lato"/>
                      <a:cs typeface="Lato"/>
                      <a:sym typeface="Lato"/>
                    </a:rPr>
                    <a:t>[1,2]</a:t>
                  </a:r>
                  <a:endParaRPr>
                    <a:solidFill>
                      <a:schemeClr val="accent6"/>
                    </a:solidFill>
                    <a:latin typeface="Lato"/>
                    <a:ea typeface="Lato"/>
                    <a:cs typeface="Lato"/>
                    <a:sym typeface="Lato"/>
                  </a:endParaRPr>
                </a:p>
              </p:txBody>
            </p:sp>
            <p:sp>
              <p:nvSpPr>
                <p:cNvPr id="832" name="Google Shape;832;p33"/>
                <p:cNvSpPr/>
                <p:nvPr/>
              </p:nvSpPr>
              <p:spPr>
                <a:xfrm>
                  <a:off x="2102450" y="2053175"/>
                  <a:ext cx="423300" cy="423300"/>
                </a:xfrm>
                <a:prstGeom prst="rect">
                  <a:avLst/>
                </a:prstGeom>
                <a:solidFill>
                  <a:srgbClr val="B7E5DF">
                    <a:alpha val="29800"/>
                  </a:srgbClr>
                </a:solidFill>
                <a:ln w="9525" cap="flat" cmpd="sng">
                  <a:solidFill>
                    <a:schemeClr val="accent6"/>
                  </a:solidFill>
                  <a:prstDash val="solid"/>
                  <a:round/>
                  <a:headEnd type="none" w="sm" len="sm"/>
                  <a:tailEnd type="none" w="sm" len="sm"/>
                </a:ln>
              </p:spPr>
              <p:txBody>
                <a:bodyPr spcFirstLastPara="1" wrap="square" lIns="0" tIns="0" rIns="0" bIns="0" anchor="ctr" anchorCtr="0">
                  <a:noAutofit/>
                </a:bodyPr>
                <a:lstStyle/>
                <a:p>
                  <a:pPr algn="ctr" rtl="0"/>
                  <a:r>
                    <a:rPr lang="en-GB">
                      <a:solidFill>
                        <a:schemeClr val="accent6"/>
                      </a:solidFill>
                      <a:latin typeface="Lato"/>
                      <a:ea typeface="Lato"/>
                      <a:cs typeface="Lato"/>
                      <a:sym typeface="Lato"/>
                    </a:rPr>
                    <a:t>[1,3]</a:t>
                  </a:r>
                  <a:endParaRPr>
                    <a:solidFill>
                      <a:schemeClr val="accent6"/>
                    </a:solidFill>
                    <a:latin typeface="Lato"/>
                    <a:ea typeface="Lato"/>
                    <a:cs typeface="Lato"/>
                    <a:sym typeface="Lato"/>
                  </a:endParaRPr>
                </a:p>
              </p:txBody>
            </p:sp>
          </p:grpSp>
          <p:grpSp>
            <p:nvGrpSpPr>
              <p:cNvPr id="833" name="Google Shape;833;p33"/>
              <p:cNvGrpSpPr/>
              <p:nvPr/>
            </p:nvGrpSpPr>
            <p:grpSpPr>
              <a:xfrm>
                <a:off x="3699900" y="4215675"/>
                <a:ext cx="1693200" cy="423300"/>
                <a:chOff x="832550" y="2053175"/>
                <a:chExt cx="1693200" cy="423300"/>
              </a:xfrm>
            </p:grpSpPr>
            <p:sp>
              <p:nvSpPr>
                <p:cNvPr id="834" name="Google Shape;834;p33"/>
                <p:cNvSpPr/>
                <p:nvPr/>
              </p:nvSpPr>
              <p:spPr>
                <a:xfrm>
                  <a:off x="832550" y="2053175"/>
                  <a:ext cx="423300" cy="423300"/>
                </a:xfrm>
                <a:prstGeom prst="rect">
                  <a:avLst/>
                </a:prstGeom>
                <a:solidFill>
                  <a:srgbClr val="4FAF48">
                    <a:alpha val="46840"/>
                  </a:srgbClr>
                </a:solidFill>
                <a:ln w="9525" cap="flat" cmpd="sng">
                  <a:solidFill>
                    <a:schemeClr val="accent6"/>
                  </a:solidFill>
                  <a:prstDash val="solid"/>
                  <a:round/>
                  <a:headEnd type="none" w="sm" len="sm"/>
                  <a:tailEnd type="none" w="sm" len="sm"/>
                </a:ln>
              </p:spPr>
              <p:txBody>
                <a:bodyPr spcFirstLastPara="1" wrap="square" lIns="0" tIns="0" rIns="0" bIns="0" anchor="ctr" anchorCtr="0">
                  <a:noAutofit/>
                </a:bodyPr>
                <a:lstStyle/>
                <a:p>
                  <a:pPr algn="ctr" rtl="0"/>
                  <a:r>
                    <a:rPr lang="en-GB">
                      <a:solidFill>
                        <a:schemeClr val="accent6"/>
                      </a:solidFill>
                      <a:latin typeface="Lato"/>
                      <a:ea typeface="Lato"/>
                      <a:cs typeface="Lato"/>
                      <a:sym typeface="Lato"/>
                    </a:rPr>
                    <a:t>[2,0]</a:t>
                  </a:r>
                  <a:endParaRPr>
                    <a:solidFill>
                      <a:schemeClr val="accent6"/>
                    </a:solidFill>
                    <a:latin typeface="Lato"/>
                    <a:ea typeface="Lato"/>
                    <a:cs typeface="Lato"/>
                    <a:sym typeface="Lato"/>
                  </a:endParaRPr>
                </a:p>
              </p:txBody>
            </p:sp>
            <p:sp>
              <p:nvSpPr>
                <p:cNvPr id="835" name="Google Shape;835;p33"/>
                <p:cNvSpPr/>
                <p:nvPr/>
              </p:nvSpPr>
              <p:spPr>
                <a:xfrm>
                  <a:off x="1255850" y="2053175"/>
                  <a:ext cx="423300" cy="423300"/>
                </a:xfrm>
                <a:prstGeom prst="rect">
                  <a:avLst/>
                </a:prstGeom>
                <a:solidFill>
                  <a:srgbClr val="4FAF48">
                    <a:alpha val="46840"/>
                  </a:srgbClr>
                </a:solidFill>
                <a:ln w="9525" cap="flat" cmpd="sng">
                  <a:solidFill>
                    <a:schemeClr val="accent6"/>
                  </a:solidFill>
                  <a:prstDash val="solid"/>
                  <a:round/>
                  <a:headEnd type="none" w="sm" len="sm"/>
                  <a:tailEnd type="none" w="sm" len="sm"/>
                </a:ln>
              </p:spPr>
              <p:txBody>
                <a:bodyPr spcFirstLastPara="1" wrap="square" lIns="0" tIns="0" rIns="0" bIns="0" anchor="ctr" anchorCtr="0">
                  <a:noAutofit/>
                </a:bodyPr>
                <a:lstStyle/>
                <a:p>
                  <a:pPr algn="ctr" rtl="0"/>
                  <a:r>
                    <a:rPr lang="en-GB">
                      <a:solidFill>
                        <a:schemeClr val="accent6"/>
                      </a:solidFill>
                      <a:latin typeface="Lato"/>
                      <a:ea typeface="Lato"/>
                      <a:cs typeface="Lato"/>
                      <a:sym typeface="Lato"/>
                    </a:rPr>
                    <a:t>[2,1]</a:t>
                  </a:r>
                  <a:endParaRPr>
                    <a:solidFill>
                      <a:schemeClr val="accent6"/>
                    </a:solidFill>
                    <a:latin typeface="Lato"/>
                    <a:ea typeface="Lato"/>
                    <a:cs typeface="Lato"/>
                    <a:sym typeface="Lato"/>
                  </a:endParaRPr>
                </a:p>
              </p:txBody>
            </p:sp>
            <p:sp>
              <p:nvSpPr>
                <p:cNvPr id="836" name="Google Shape;836;p33"/>
                <p:cNvSpPr/>
                <p:nvPr/>
              </p:nvSpPr>
              <p:spPr>
                <a:xfrm>
                  <a:off x="1679150" y="2053175"/>
                  <a:ext cx="423300" cy="423300"/>
                </a:xfrm>
                <a:prstGeom prst="rect">
                  <a:avLst/>
                </a:prstGeom>
                <a:solidFill>
                  <a:srgbClr val="4FAF48">
                    <a:alpha val="46840"/>
                  </a:srgbClr>
                </a:solidFill>
                <a:ln w="9525" cap="flat" cmpd="sng">
                  <a:solidFill>
                    <a:schemeClr val="accent6"/>
                  </a:solidFill>
                  <a:prstDash val="solid"/>
                  <a:round/>
                  <a:headEnd type="none" w="sm" len="sm"/>
                  <a:tailEnd type="none" w="sm" len="sm"/>
                </a:ln>
              </p:spPr>
              <p:txBody>
                <a:bodyPr spcFirstLastPara="1" wrap="square" lIns="0" tIns="0" rIns="0" bIns="0" anchor="ctr" anchorCtr="0">
                  <a:noAutofit/>
                </a:bodyPr>
                <a:lstStyle/>
                <a:p>
                  <a:pPr algn="ctr" rtl="0"/>
                  <a:r>
                    <a:rPr lang="en-GB">
                      <a:solidFill>
                        <a:schemeClr val="accent6"/>
                      </a:solidFill>
                      <a:latin typeface="Lato"/>
                      <a:ea typeface="Lato"/>
                      <a:cs typeface="Lato"/>
                      <a:sym typeface="Lato"/>
                    </a:rPr>
                    <a:t>[2,2]</a:t>
                  </a:r>
                  <a:endParaRPr>
                    <a:solidFill>
                      <a:schemeClr val="accent6"/>
                    </a:solidFill>
                    <a:latin typeface="Lato"/>
                    <a:ea typeface="Lato"/>
                    <a:cs typeface="Lato"/>
                    <a:sym typeface="Lato"/>
                  </a:endParaRPr>
                </a:p>
              </p:txBody>
            </p:sp>
            <p:sp>
              <p:nvSpPr>
                <p:cNvPr id="837" name="Google Shape;837;p33"/>
                <p:cNvSpPr/>
                <p:nvPr/>
              </p:nvSpPr>
              <p:spPr>
                <a:xfrm>
                  <a:off x="2102450" y="2053175"/>
                  <a:ext cx="423300" cy="423300"/>
                </a:xfrm>
                <a:prstGeom prst="rect">
                  <a:avLst/>
                </a:prstGeom>
                <a:solidFill>
                  <a:srgbClr val="4FAF48">
                    <a:alpha val="46840"/>
                  </a:srgbClr>
                </a:solidFill>
                <a:ln w="9525" cap="flat" cmpd="sng">
                  <a:solidFill>
                    <a:schemeClr val="accent6"/>
                  </a:solidFill>
                  <a:prstDash val="solid"/>
                  <a:round/>
                  <a:headEnd type="none" w="sm" len="sm"/>
                  <a:tailEnd type="none" w="sm" len="sm"/>
                </a:ln>
              </p:spPr>
              <p:txBody>
                <a:bodyPr spcFirstLastPara="1" wrap="square" lIns="0" tIns="0" rIns="0" bIns="0" anchor="ctr" anchorCtr="0">
                  <a:noAutofit/>
                </a:bodyPr>
                <a:lstStyle/>
                <a:p>
                  <a:pPr algn="ctr" rtl="0"/>
                  <a:r>
                    <a:rPr lang="en-GB">
                      <a:solidFill>
                        <a:schemeClr val="accent6"/>
                      </a:solidFill>
                      <a:latin typeface="Lato"/>
                      <a:ea typeface="Lato"/>
                      <a:cs typeface="Lato"/>
                      <a:sym typeface="Lato"/>
                    </a:rPr>
                    <a:t>[2,3]</a:t>
                  </a:r>
                  <a:endParaRPr>
                    <a:solidFill>
                      <a:schemeClr val="accent6"/>
                    </a:solidFill>
                    <a:latin typeface="Lato"/>
                    <a:ea typeface="Lato"/>
                    <a:cs typeface="Lato"/>
                    <a:sym typeface="Lato"/>
                  </a:endParaRPr>
                </a:p>
              </p:txBody>
            </p:sp>
          </p:grpSp>
          <p:grpSp>
            <p:nvGrpSpPr>
              <p:cNvPr id="838" name="Google Shape;838;p33"/>
              <p:cNvGrpSpPr/>
              <p:nvPr/>
            </p:nvGrpSpPr>
            <p:grpSpPr>
              <a:xfrm>
                <a:off x="5393100" y="4215675"/>
                <a:ext cx="1693200" cy="423300"/>
                <a:chOff x="832550" y="2053175"/>
                <a:chExt cx="1693200" cy="423300"/>
              </a:xfrm>
            </p:grpSpPr>
            <p:sp>
              <p:nvSpPr>
                <p:cNvPr id="839" name="Google Shape;839;p33"/>
                <p:cNvSpPr/>
                <p:nvPr/>
              </p:nvSpPr>
              <p:spPr>
                <a:xfrm>
                  <a:off x="832550" y="2053175"/>
                  <a:ext cx="423300" cy="423300"/>
                </a:xfrm>
                <a:prstGeom prst="rect">
                  <a:avLst/>
                </a:prstGeom>
                <a:solidFill>
                  <a:srgbClr val="247EBA">
                    <a:alpha val="21570"/>
                  </a:srgbClr>
                </a:solidFill>
                <a:ln w="9525" cap="flat" cmpd="sng">
                  <a:solidFill>
                    <a:schemeClr val="accent6"/>
                  </a:solidFill>
                  <a:prstDash val="solid"/>
                  <a:round/>
                  <a:headEnd type="none" w="sm" len="sm"/>
                  <a:tailEnd type="none" w="sm" len="sm"/>
                </a:ln>
              </p:spPr>
              <p:txBody>
                <a:bodyPr spcFirstLastPara="1" wrap="square" lIns="0" tIns="0" rIns="0" bIns="0" anchor="ctr" anchorCtr="0">
                  <a:noAutofit/>
                </a:bodyPr>
                <a:lstStyle/>
                <a:p>
                  <a:pPr algn="ctr" rtl="0"/>
                  <a:r>
                    <a:rPr lang="en-GB">
                      <a:solidFill>
                        <a:schemeClr val="accent6"/>
                      </a:solidFill>
                      <a:latin typeface="Lato"/>
                      <a:ea typeface="Lato"/>
                      <a:cs typeface="Lato"/>
                      <a:sym typeface="Lato"/>
                    </a:rPr>
                    <a:t>[3,0]</a:t>
                  </a:r>
                  <a:endParaRPr>
                    <a:solidFill>
                      <a:schemeClr val="accent6"/>
                    </a:solidFill>
                    <a:latin typeface="Lato"/>
                    <a:ea typeface="Lato"/>
                    <a:cs typeface="Lato"/>
                    <a:sym typeface="Lato"/>
                  </a:endParaRPr>
                </a:p>
              </p:txBody>
            </p:sp>
            <p:sp>
              <p:nvSpPr>
                <p:cNvPr id="840" name="Google Shape;840;p33"/>
                <p:cNvSpPr/>
                <p:nvPr/>
              </p:nvSpPr>
              <p:spPr>
                <a:xfrm>
                  <a:off x="1255850" y="2053175"/>
                  <a:ext cx="423300" cy="423300"/>
                </a:xfrm>
                <a:prstGeom prst="rect">
                  <a:avLst/>
                </a:prstGeom>
                <a:solidFill>
                  <a:srgbClr val="247EBA">
                    <a:alpha val="21570"/>
                  </a:srgbClr>
                </a:solidFill>
                <a:ln w="9525" cap="flat" cmpd="sng">
                  <a:solidFill>
                    <a:schemeClr val="accent6"/>
                  </a:solidFill>
                  <a:prstDash val="solid"/>
                  <a:round/>
                  <a:headEnd type="none" w="sm" len="sm"/>
                  <a:tailEnd type="none" w="sm" len="sm"/>
                </a:ln>
              </p:spPr>
              <p:txBody>
                <a:bodyPr spcFirstLastPara="1" wrap="square" lIns="0" tIns="0" rIns="0" bIns="0" anchor="ctr" anchorCtr="0">
                  <a:noAutofit/>
                </a:bodyPr>
                <a:lstStyle/>
                <a:p>
                  <a:pPr algn="ctr" rtl="0"/>
                  <a:r>
                    <a:rPr lang="en-GB">
                      <a:solidFill>
                        <a:schemeClr val="accent6"/>
                      </a:solidFill>
                      <a:latin typeface="Lato"/>
                      <a:ea typeface="Lato"/>
                      <a:cs typeface="Lato"/>
                      <a:sym typeface="Lato"/>
                    </a:rPr>
                    <a:t>[3,1]</a:t>
                  </a:r>
                  <a:endParaRPr>
                    <a:solidFill>
                      <a:schemeClr val="accent6"/>
                    </a:solidFill>
                    <a:latin typeface="Lato"/>
                    <a:ea typeface="Lato"/>
                    <a:cs typeface="Lato"/>
                    <a:sym typeface="Lato"/>
                  </a:endParaRPr>
                </a:p>
              </p:txBody>
            </p:sp>
            <p:sp>
              <p:nvSpPr>
                <p:cNvPr id="841" name="Google Shape;841;p33"/>
                <p:cNvSpPr/>
                <p:nvPr/>
              </p:nvSpPr>
              <p:spPr>
                <a:xfrm>
                  <a:off x="1679150" y="2053175"/>
                  <a:ext cx="423300" cy="423300"/>
                </a:xfrm>
                <a:prstGeom prst="rect">
                  <a:avLst/>
                </a:prstGeom>
                <a:solidFill>
                  <a:srgbClr val="247EBA">
                    <a:alpha val="21570"/>
                  </a:srgbClr>
                </a:solidFill>
                <a:ln w="9525" cap="flat" cmpd="sng">
                  <a:solidFill>
                    <a:schemeClr val="accent6"/>
                  </a:solidFill>
                  <a:prstDash val="solid"/>
                  <a:round/>
                  <a:headEnd type="none" w="sm" len="sm"/>
                  <a:tailEnd type="none" w="sm" len="sm"/>
                </a:ln>
              </p:spPr>
              <p:txBody>
                <a:bodyPr spcFirstLastPara="1" wrap="square" lIns="0" tIns="0" rIns="0" bIns="0" anchor="ctr" anchorCtr="0">
                  <a:noAutofit/>
                </a:bodyPr>
                <a:lstStyle/>
                <a:p>
                  <a:pPr algn="ctr" rtl="0"/>
                  <a:r>
                    <a:rPr lang="en-GB">
                      <a:solidFill>
                        <a:schemeClr val="accent6"/>
                      </a:solidFill>
                      <a:latin typeface="Lato"/>
                      <a:ea typeface="Lato"/>
                      <a:cs typeface="Lato"/>
                      <a:sym typeface="Lato"/>
                    </a:rPr>
                    <a:t>[3,2]</a:t>
                  </a:r>
                  <a:endParaRPr>
                    <a:solidFill>
                      <a:schemeClr val="accent6"/>
                    </a:solidFill>
                    <a:latin typeface="Lato"/>
                    <a:ea typeface="Lato"/>
                    <a:cs typeface="Lato"/>
                    <a:sym typeface="Lato"/>
                  </a:endParaRPr>
                </a:p>
              </p:txBody>
            </p:sp>
            <p:sp>
              <p:nvSpPr>
                <p:cNvPr id="842" name="Google Shape;842;p33"/>
                <p:cNvSpPr/>
                <p:nvPr/>
              </p:nvSpPr>
              <p:spPr>
                <a:xfrm>
                  <a:off x="2102450" y="2053175"/>
                  <a:ext cx="423300" cy="423300"/>
                </a:xfrm>
                <a:prstGeom prst="rect">
                  <a:avLst/>
                </a:prstGeom>
                <a:solidFill>
                  <a:srgbClr val="247EBA">
                    <a:alpha val="21570"/>
                  </a:srgbClr>
                </a:solidFill>
                <a:ln w="9525" cap="flat" cmpd="sng">
                  <a:solidFill>
                    <a:schemeClr val="accent6"/>
                  </a:solidFill>
                  <a:prstDash val="solid"/>
                  <a:round/>
                  <a:headEnd type="none" w="sm" len="sm"/>
                  <a:tailEnd type="none" w="sm" len="sm"/>
                </a:ln>
              </p:spPr>
              <p:txBody>
                <a:bodyPr spcFirstLastPara="1" wrap="square" lIns="0" tIns="0" rIns="0" bIns="0" anchor="ctr" anchorCtr="0">
                  <a:noAutofit/>
                </a:bodyPr>
                <a:lstStyle/>
                <a:p>
                  <a:pPr algn="ctr" rtl="0"/>
                  <a:r>
                    <a:rPr lang="en-GB">
                      <a:solidFill>
                        <a:schemeClr val="accent6"/>
                      </a:solidFill>
                      <a:latin typeface="Lato"/>
                      <a:ea typeface="Lato"/>
                      <a:cs typeface="Lato"/>
                      <a:sym typeface="Lato"/>
                    </a:rPr>
                    <a:t>[3,3]</a:t>
                  </a:r>
                  <a:endParaRPr>
                    <a:solidFill>
                      <a:schemeClr val="accent6"/>
                    </a:solidFill>
                    <a:latin typeface="Lato"/>
                    <a:ea typeface="Lato"/>
                    <a:cs typeface="Lato"/>
                    <a:sym typeface="Lato"/>
                  </a:endParaRPr>
                </a:p>
              </p:txBody>
            </p:sp>
          </p:grpSp>
        </p:grpSp>
        <p:grpSp>
          <p:nvGrpSpPr>
            <p:cNvPr id="843" name="Google Shape;843;p33"/>
            <p:cNvGrpSpPr/>
            <p:nvPr/>
          </p:nvGrpSpPr>
          <p:grpSpPr>
            <a:xfrm>
              <a:off x="1643175" y="3622325"/>
              <a:ext cx="1973425" cy="474000"/>
              <a:chOff x="1643175" y="3622325"/>
              <a:chExt cx="1973425" cy="474000"/>
            </a:xfrm>
          </p:grpSpPr>
          <p:cxnSp>
            <p:nvCxnSpPr>
              <p:cNvPr id="844" name="Google Shape;844;p33"/>
              <p:cNvCxnSpPr/>
              <p:nvPr/>
            </p:nvCxnSpPr>
            <p:spPr>
              <a:xfrm>
                <a:off x="1643175" y="3671475"/>
                <a:ext cx="0" cy="359400"/>
              </a:xfrm>
              <a:prstGeom prst="straightConnector1">
                <a:avLst/>
              </a:prstGeom>
              <a:noFill/>
              <a:ln w="19050" cap="flat" cmpd="sng">
                <a:solidFill>
                  <a:schemeClr val="dk2"/>
                </a:solidFill>
                <a:prstDash val="solid"/>
                <a:round/>
                <a:headEnd type="none" w="med" len="med"/>
                <a:tailEnd type="triangle" w="med" len="med"/>
              </a:ln>
            </p:spPr>
          </p:cxnSp>
          <p:sp>
            <p:nvSpPr>
              <p:cNvPr id="845" name="Google Shape;845;p33"/>
              <p:cNvSpPr txBox="1"/>
              <p:nvPr/>
            </p:nvSpPr>
            <p:spPr>
              <a:xfrm>
                <a:off x="1741300" y="3622325"/>
                <a:ext cx="1875300" cy="474000"/>
              </a:xfrm>
              <a:prstGeom prst="rect">
                <a:avLst/>
              </a:prstGeom>
              <a:noFill/>
              <a:ln>
                <a:noFill/>
              </a:ln>
            </p:spPr>
            <p:txBody>
              <a:bodyPr spcFirstLastPara="1" wrap="square" lIns="121900" tIns="121900" rIns="121900" bIns="121900" anchor="t" anchorCtr="0">
                <a:noAutofit/>
              </a:bodyPr>
              <a:lstStyle/>
              <a:p>
                <a:pPr algn="l" rtl="0"/>
                <a:r>
                  <a:rPr lang="en-GB" sz="2133">
                    <a:solidFill>
                      <a:srgbClr val="595959"/>
                    </a:solidFill>
                    <a:latin typeface="Lato"/>
                    <a:ea typeface="Lato"/>
                    <a:cs typeface="Lato"/>
                    <a:sym typeface="Lato"/>
                  </a:rPr>
                  <a:t>Stored in row maj. as</a:t>
                </a:r>
                <a:endParaRPr sz="2133">
                  <a:solidFill>
                    <a:srgbClr val="595959"/>
                  </a:solidFill>
                  <a:latin typeface="Lato"/>
                  <a:ea typeface="Lato"/>
                  <a:cs typeface="Lato"/>
                  <a:sym typeface="Lato"/>
                </a:endParaRPr>
              </a:p>
            </p:txBody>
          </p:sp>
        </p:grpSp>
      </p:grpSp>
      <p:grpSp>
        <p:nvGrpSpPr>
          <p:cNvPr id="846" name="Google Shape;846;p33"/>
          <p:cNvGrpSpPr/>
          <p:nvPr/>
        </p:nvGrpSpPr>
        <p:grpSpPr>
          <a:xfrm>
            <a:off x="3976000" y="2725767"/>
            <a:ext cx="7742000" cy="1241600"/>
            <a:chOff x="2982000" y="2044325"/>
            <a:chExt cx="5806500" cy="931200"/>
          </a:xfrm>
        </p:grpSpPr>
        <p:sp>
          <p:nvSpPr>
            <p:cNvPr id="847" name="Google Shape;847;p33"/>
            <p:cNvSpPr txBox="1"/>
            <p:nvPr/>
          </p:nvSpPr>
          <p:spPr>
            <a:xfrm>
              <a:off x="2982000" y="2044325"/>
              <a:ext cx="5730300" cy="474000"/>
            </a:xfrm>
            <a:prstGeom prst="rect">
              <a:avLst/>
            </a:prstGeom>
            <a:noFill/>
            <a:ln>
              <a:noFill/>
            </a:ln>
          </p:spPr>
          <p:txBody>
            <a:bodyPr spcFirstLastPara="1" wrap="square" lIns="121900" tIns="121900" rIns="121900" bIns="121900" anchor="t" anchorCtr="0">
              <a:noAutofit/>
            </a:bodyPr>
            <a:lstStyle/>
            <a:p>
              <a:pPr algn="l" rtl="0"/>
              <a:r>
                <a:rPr lang="en-GB" sz="2133">
                  <a:solidFill>
                    <a:srgbClr val="595959"/>
                  </a:solidFill>
                  <a:latin typeface="Lato"/>
                  <a:ea typeface="Lato"/>
                  <a:cs typeface="Lato"/>
                  <a:sym typeface="Lato"/>
                </a:rPr>
                <a:t>To compute the position of </a:t>
              </a:r>
              <a:r>
                <a:rPr lang="en-GB" sz="2133">
                  <a:solidFill>
                    <a:srgbClr val="188038"/>
                  </a:solidFill>
                  <a:latin typeface="Roboto Mono"/>
                  <a:ea typeface="Roboto Mono"/>
                  <a:cs typeface="Roboto Mono"/>
                  <a:sym typeface="Roboto Mono"/>
                </a:rPr>
                <a:t>image[i][j]</a:t>
              </a:r>
              <a:r>
                <a:rPr lang="en-GB" sz="2133">
                  <a:solidFill>
                    <a:srgbClr val="595959"/>
                  </a:solidFill>
                  <a:latin typeface="Lato"/>
                  <a:ea typeface="Lato"/>
                  <a:cs typeface="Lato"/>
                  <a:sym typeface="Lato"/>
                </a:rPr>
                <a:t> we use the width :</a:t>
              </a:r>
              <a:endParaRPr sz="2133">
                <a:solidFill>
                  <a:srgbClr val="595959"/>
                </a:solidFill>
                <a:latin typeface="Lato"/>
                <a:ea typeface="Lato"/>
                <a:cs typeface="Lato"/>
                <a:sym typeface="Lato"/>
              </a:endParaRPr>
            </a:p>
          </p:txBody>
        </p:sp>
        <p:sp>
          <p:nvSpPr>
            <p:cNvPr id="848" name="Google Shape;848;p33"/>
            <p:cNvSpPr txBox="1"/>
            <p:nvPr/>
          </p:nvSpPr>
          <p:spPr>
            <a:xfrm>
              <a:off x="3058200" y="2501525"/>
              <a:ext cx="5730300" cy="474000"/>
            </a:xfrm>
            <a:prstGeom prst="rect">
              <a:avLst/>
            </a:prstGeom>
            <a:noFill/>
            <a:ln>
              <a:noFill/>
            </a:ln>
          </p:spPr>
          <p:txBody>
            <a:bodyPr spcFirstLastPara="1" wrap="square" lIns="121900" tIns="121900" rIns="121900" bIns="121900" anchor="t" anchorCtr="0">
              <a:noAutofit/>
            </a:bodyPr>
            <a:lstStyle/>
            <a:p>
              <a:pPr algn="ctr" rtl="0"/>
              <a:r>
                <a:rPr lang="en-GB" sz="2133">
                  <a:solidFill>
                    <a:srgbClr val="188038"/>
                  </a:solidFill>
                  <a:latin typeface="Roboto Mono"/>
                  <a:ea typeface="Roboto Mono"/>
                  <a:cs typeface="Roboto Mono"/>
                  <a:sym typeface="Roboto Mono"/>
                </a:rPr>
                <a:t>image[i][j] = image[i*width + j]</a:t>
              </a:r>
              <a:endParaRPr sz="2133">
                <a:solidFill>
                  <a:srgbClr val="595959"/>
                </a:solidFill>
                <a:latin typeface="Lato"/>
                <a:ea typeface="Lato"/>
                <a:cs typeface="Lato"/>
                <a:sym typeface="Lato"/>
              </a:endParaRPr>
            </a:p>
          </p:txBody>
        </p:sp>
      </p:grpSp>
      <p:sp>
        <p:nvSpPr>
          <p:cNvPr id="849" name="Google Shape;849;p33"/>
          <p:cNvSpPr/>
          <p:nvPr/>
        </p:nvSpPr>
        <p:spPr>
          <a:xfrm>
            <a:off x="2232433" y="3124740"/>
            <a:ext cx="552000" cy="509200"/>
          </a:xfrm>
          <a:prstGeom prst="rect">
            <a:avLst/>
          </a:prstGeom>
          <a:noFill/>
          <a:ln w="28575"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grpSp>
        <p:nvGrpSpPr>
          <p:cNvPr id="850" name="Google Shape;850;p33"/>
          <p:cNvGrpSpPr/>
          <p:nvPr/>
        </p:nvGrpSpPr>
        <p:grpSpPr>
          <a:xfrm>
            <a:off x="2784433" y="3379340"/>
            <a:ext cx="7131867" cy="2805960"/>
            <a:chOff x="2088325" y="2534505"/>
            <a:chExt cx="5348900" cy="2104470"/>
          </a:xfrm>
        </p:grpSpPr>
        <p:sp>
          <p:nvSpPr>
            <p:cNvPr id="851" name="Google Shape;851;p33"/>
            <p:cNvSpPr txBox="1"/>
            <p:nvPr/>
          </p:nvSpPr>
          <p:spPr>
            <a:xfrm>
              <a:off x="3317025" y="3063525"/>
              <a:ext cx="4120200" cy="363600"/>
            </a:xfrm>
            <a:prstGeom prst="rect">
              <a:avLst/>
            </a:prstGeom>
            <a:noFill/>
            <a:ln>
              <a:noFill/>
            </a:ln>
          </p:spPr>
          <p:txBody>
            <a:bodyPr spcFirstLastPara="1" wrap="square" lIns="121900" tIns="121900" rIns="121900" bIns="121900" anchor="t" anchorCtr="0">
              <a:noAutofit/>
            </a:bodyPr>
            <a:lstStyle/>
            <a:p>
              <a:pPr algn="l" rtl="0"/>
              <a:r>
                <a:rPr lang="en-GB" sz="2000">
                  <a:solidFill>
                    <a:schemeClr val="accent3"/>
                  </a:solidFill>
                  <a:latin typeface="Roboto Mono"/>
                  <a:ea typeface="Roboto Mono"/>
                  <a:cs typeface="Roboto Mono"/>
                  <a:sym typeface="Roboto Mono"/>
                </a:rPr>
                <a:t>image[1][2] = image [1*4+2 = 6]</a:t>
              </a:r>
              <a:endParaRPr sz="2000">
                <a:solidFill>
                  <a:schemeClr val="accent3"/>
                </a:solidFill>
                <a:latin typeface="Roboto Mono"/>
                <a:ea typeface="Roboto Mono"/>
                <a:cs typeface="Roboto Mono"/>
                <a:sym typeface="Roboto Mono"/>
              </a:endParaRPr>
            </a:p>
          </p:txBody>
        </p:sp>
        <p:cxnSp>
          <p:nvCxnSpPr>
            <p:cNvPr id="852" name="Google Shape;852;p33"/>
            <p:cNvCxnSpPr>
              <a:endCxn id="849" idx="3"/>
            </p:cNvCxnSpPr>
            <p:nvPr/>
          </p:nvCxnSpPr>
          <p:spPr>
            <a:xfrm rot="10800000">
              <a:off x="2088325" y="2534505"/>
              <a:ext cx="1198200" cy="537900"/>
            </a:xfrm>
            <a:prstGeom prst="straightConnector1">
              <a:avLst/>
            </a:prstGeom>
            <a:noFill/>
            <a:ln w="19050" cap="flat" cmpd="sng">
              <a:solidFill>
                <a:schemeClr val="accent3"/>
              </a:solidFill>
              <a:prstDash val="solid"/>
              <a:round/>
              <a:headEnd type="none" w="med" len="med"/>
              <a:tailEnd type="none" w="med" len="med"/>
            </a:ln>
          </p:spPr>
        </p:cxnSp>
        <p:sp>
          <p:nvSpPr>
            <p:cNvPr id="853" name="Google Shape;853;p33"/>
            <p:cNvSpPr/>
            <p:nvPr/>
          </p:nvSpPr>
          <p:spPr>
            <a:xfrm>
              <a:off x="3392875" y="4257075"/>
              <a:ext cx="414000" cy="381900"/>
            </a:xfrm>
            <a:prstGeom prst="rect">
              <a:avLst/>
            </a:prstGeom>
            <a:noFill/>
            <a:ln w="28575"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cxnSp>
          <p:nvCxnSpPr>
            <p:cNvPr id="854" name="Google Shape;854;p33"/>
            <p:cNvCxnSpPr>
              <a:endCxn id="853" idx="0"/>
            </p:cNvCxnSpPr>
            <p:nvPr/>
          </p:nvCxnSpPr>
          <p:spPr>
            <a:xfrm flipH="1">
              <a:off x="3599875" y="3517575"/>
              <a:ext cx="1543500" cy="739500"/>
            </a:xfrm>
            <a:prstGeom prst="straightConnector1">
              <a:avLst/>
            </a:prstGeom>
            <a:noFill/>
            <a:ln w="19050" cap="flat" cmpd="sng">
              <a:solidFill>
                <a:schemeClr val="accent3"/>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4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4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21"/>
          <p:cNvSpPr txBox="1">
            <a:spLocks noGrp="1"/>
          </p:cNvSpPr>
          <p:nvPr>
            <p:ph type="ctrTitle"/>
          </p:nvPr>
        </p:nvSpPr>
        <p:spPr>
          <a:xfrm>
            <a:off x="415611" y="922745"/>
            <a:ext cx="11360800" cy="2154422"/>
          </a:xfrm>
          <a:prstGeom prst="rect">
            <a:avLst/>
          </a:prstGeom>
        </p:spPr>
        <p:txBody>
          <a:bodyPr spcFirstLastPara="1" wrap="square" lIns="365767" tIns="91433" rIns="0" bIns="91433" anchor="b" anchorCtr="0">
            <a:spAutoFit/>
          </a:bodyPr>
          <a:lstStyle/>
          <a:p>
            <a:r>
              <a:rPr lang="en-GB" sz="6400"/>
              <a:t>Moving Data To/From the GPU</a:t>
            </a:r>
            <a:endParaRPr sz="6400"/>
          </a:p>
        </p:txBody>
      </p:sp>
      <p:sp>
        <p:nvSpPr>
          <p:cNvPr id="383" name="Google Shape;383;p21"/>
          <p:cNvSpPr txBox="1">
            <a:spLocks noGrp="1"/>
          </p:cNvSpPr>
          <p:nvPr>
            <p:ph type="sldNum" idx="12"/>
          </p:nvPr>
        </p:nvSpPr>
        <p:spPr>
          <a:xfrm>
            <a:off x="11296611" y="6217623"/>
            <a:ext cx="731600" cy="524800"/>
          </a:xfrm>
          <a:prstGeom prst="rect">
            <a:avLst/>
          </a:prstGeom>
        </p:spPr>
        <p:txBody>
          <a:bodyPr spcFirstLastPara="1" wrap="square" lIns="0" tIns="0" rIns="0" bIns="0" anchor="ctr" anchorCtr="0">
            <a:noAutofit/>
          </a:bodyPr>
          <a:lstStyle/>
          <a:p>
            <a:fld id="{00000000-1234-1234-1234-123412341234}" type="slidenum">
              <a:rPr lang="en-GB"/>
              <a:pPr/>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22"/>
          <p:cNvSpPr txBox="1">
            <a:spLocks noGrp="1"/>
          </p:cNvSpPr>
          <p:nvPr>
            <p:ph type="title"/>
          </p:nvPr>
        </p:nvSpPr>
        <p:spPr>
          <a:xfrm>
            <a:off x="304800" y="627134"/>
            <a:ext cx="10650400" cy="709600"/>
          </a:xfrm>
          <a:prstGeom prst="rect">
            <a:avLst/>
          </a:prstGeom>
          <a:noFill/>
        </p:spPr>
        <p:txBody>
          <a:bodyPr spcFirstLastPara="1" wrap="square" lIns="91433" tIns="91433" rIns="91433" bIns="91433" anchor="b" anchorCtr="0">
            <a:noAutofit/>
          </a:bodyPr>
          <a:lstStyle/>
          <a:p>
            <a:pPr rtl="0"/>
            <a:r>
              <a:rPr lang="en-GB" dirty="0"/>
              <a:t>Transferring Data To/From the GPU</a:t>
            </a:r>
            <a:endParaRPr dirty="0"/>
          </a:p>
        </p:txBody>
      </p:sp>
      <p:sp>
        <p:nvSpPr>
          <p:cNvPr id="389" name="Google Shape;389;p22"/>
          <p:cNvSpPr txBox="1">
            <a:spLocks noGrp="1"/>
          </p:cNvSpPr>
          <p:nvPr>
            <p:ph type="body" idx="1"/>
          </p:nvPr>
        </p:nvSpPr>
        <p:spPr>
          <a:xfrm>
            <a:off x="418000" y="1355034"/>
            <a:ext cx="11326400" cy="491200"/>
          </a:xfrm>
          <a:prstGeom prst="rect">
            <a:avLst/>
          </a:prstGeom>
        </p:spPr>
        <p:txBody>
          <a:bodyPr spcFirstLastPara="1" wrap="square" lIns="91433" tIns="91433" rIns="91433" bIns="91433" anchor="t" anchorCtr="0">
            <a:noAutofit/>
          </a:bodyPr>
          <a:lstStyle/>
          <a:p>
            <a:pPr marL="0" indent="0" rtl="0">
              <a:buNone/>
            </a:pPr>
            <a:r>
              <a:rPr lang="en-GB" sz="2267" dirty="0"/>
              <a:t>Host and Device memory spaces are separated. </a:t>
            </a:r>
          </a:p>
          <a:p>
            <a:pPr marL="0" indent="0" rtl="0">
              <a:buNone/>
            </a:pPr>
            <a:r>
              <a:rPr lang="en-GB" sz="2267" dirty="0"/>
              <a:t>Data must be copied between the two. </a:t>
            </a:r>
          </a:p>
          <a:p>
            <a:pPr marL="0" indent="0" rtl="0">
              <a:buNone/>
            </a:pPr>
            <a:endParaRPr lang="en-GB" sz="2267" dirty="0"/>
          </a:p>
          <a:p>
            <a:pPr marL="0" indent="0" rtl="0">
              <a:buNone/>
            </a:pPr>
            <a:endParaRPr sz="2267" dirty="0"/>
          </a:p>
        </p:txBody>
      </p:sp>
      <p:sp>
        <p:nvSpPr>
          <p:cNvPr id="390" name="Google Shape;390;p22"/>
          <p:cNvSpPr txBox="1">
            <a:spLocks noGrp="1"/>
          </p:cNvSpPr>
          <p:nvPr>
            <p:ph type="sldNum" idx="12"/>
          </p:nvPr>
        </p:nvSpPr>
        <p:spPr>
          <a:xfrm>
            <a:off x="11466783" y="6341794"/>
            <a:ext cx="731600" cy="418000"/>
          </a:xfrm>
          <a:prstGeom prst="rect">
            <a:avLst/>
          </a:prstGeom>
        </p:spPr>
        <p:txBody>
          <a:bodyPr spcFirstLastPara="1" wrap="square" lIns="91433" tIns="91433" rIns="91433" bIns="91433" anchor="t" anchorCtr="0">
            <a:noAutofit/>
          </a:bodyPr>
          <a:lstStyle/>
          <a:p>
            <a:pPr rtl="0"/>
            <a:fld id="{00000000-1234-1234-1234-123412341234}" type="slidenum">
              <a:rPr lang="en-GB"/>
              <a:pPr rtl="0"/>
              <a:t>14</a:t>
            </a:fld>
            <a:endParaRPr/>
          </a:p>
        </p:txBody>
      </p:sp>
      <p:sp>
        <p:nvSpPr>
          <p:cNvPr id="392" name="Google Shape;392;p22"/>
          <p:cNvSpPr txBox="1">
            <a:spLocks noGrp="1"/>
          </p:cNvSpPr>
          <p:nvPr>
            <p:ph type="body" idx="1"/>
          </p:nvPr>
        </p:nvSpPr>
        <p:spPr>
          <a:xfrm>
            <a:off x="418000" y="2371034"/>
            <a:ext cx="11326400" cy="491200"/>
          </a:xfrm>
          <a:prstGeom prst="rect">
            <a:avLst/>
          </a:prstGeom>
        </p:spPr>
        <p:txBody>
          <a:bodyPr spcFirstLastPara="1" wrap="square" lIns="91433" tIns="91433" rIns="91433" bIns="91433" anchor="t" anchorCtr="0">
            <a:noAutofit/>
          </a:bodyPr>
          <a:lstStyle/>
          <a:p>
            <a:pPr marL="0" indent="0" rtl="0">
              <a:buNone/>
            </a:pPr>
            <a:endParaRPr lang="en-GB" sz="2267" b="1" dirty="0">
              <a:solidFill>
                <a:schemeClr val="dk2"/>
              </a:solidFill>
            </a:endParaRPr>
          </a:p>
          <a:p>
            <a:pPr marL="0" indent="0" rtl="0">
              <a:buNone/>
            </a:pPr>
            <a:endParaRPr lang="en-GB" sz="2267" b="1" dirty="0">
              <a:solidFill>
                <a:schemeClr val="dk2"/>
              </a:solidFill>
            </a:endParaRPr>
          </a:p>
          <a:p>
            <a:pPr marL="0" indent="0" rtl="0">
              <a:buNone/>
            </a:pPr>
            <a:r>
              <a:rPr lang="en-GB" sz="2267" b="1" dirty="0">
                <a:solidFill>
                  <a:schemeClr val="dk2"/>
                </a:solidFill>
              </a:rPr>
              <a:t>Explicit</a:t>
            </a:r>
            <a:r>
              <a:rPr lang="en-GB" sz="2267" dirty="0"/>
              <a:t> allocation and management:</a:t>
            </a:r>
            <a:endParaRPr sz="2267" dirty="0"/>
          </a:p>
          <a:p>
            <a:pPr indent="-440256" rtl="0">
              <a:buSzPts val="1600"/>
            </a:pPr>
            <a:r>
              <a:rPr lang="en-GB" sz="2267" dirty="0"/>
              <a:t>Data is allocated twice (on the host and on the device)</a:t>
            </a:r>
            <a:endParaRPr sz="2267" dirty="0"/>
          </a:p>
          <a:p>
            <a:pPr indent="-440256" rtl="0">
              <a:spcBef>
                <a:spcPts val="0"/>
              </a:spcBef>
              <a:buSzPts val="1600"/>
            </a:pPr>
            <a:r>
              <a:rPr lang="en-GB" sz="2267" dirty="0"/>
              <a:t>Data is copied </a:t>
            </a:r>
            <a:r>
              <a:rPr lang="en-GB" sz="2267" b="1" dirty="0">
                <a:solidFill>
                  <a:schemeClr val="dk2"/>
                </a:solidFill>
              </a:rPr>
              <a:t>explicitly</a:t>
            </a:r>
            <a:r>
              <a:rPr lang="en-GB" sz="2267" dirty="0"/>
              <a:t> from host to device (H2D) and vice versa (D2H)</a:t>
            </a:r>
            <a:endParaRPr sz="2267" dirty="0"/>
          </a:p>
          <a:p>
            <a:pPr indent="-440256" rtl="0">
              <a:spcBef>
                <a:spcPts val="0"/>
              </a:spcBef>
              <a:buSzPts val="1600"/>
            </a:pPr>
            <a:r>
              <a:rPr lang="en-GB" sz="2267" dirty="0"/>
              <a:t>Copies exists on both sides (coherence is left to the user)</a:t>
            </a:r>
            <a:endParaRPr sz="2267" dirty="0"/>
          </a:p>
          <a:p>
            <a:pPr indent="-440256" rtl="0">
              <a:spcBef>
                <a:spcPts val="0"/>
              </a:spcBef>
              <a:buSzPts val="1600"/>
            </a:pPr>
            <a:r>
              <a:rPr lang="en-GB" sz="2267" dirty="0"/>
              <a:t>Enable asynchronous copies (we will discuss this later)</a:t>
            </a:r>
            <a:endParaRPr sz="2267" dirty="0"/>
          </a:p>
          <a:p>
            <a:pPr indent="0" rtl="0">
              <a:buNone/>
            </a:pPr>
            <a:endParaRPr sz="2267" dirty="0"/>
          </a:p>
          <a:p>
            <a:pPr marL="0" indent="0" rtl="0">
              <a:buNone/>
            </a:pPr>
            <a:endParaRPr sz="2267"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23"/>
          <p:cNvSpPr txBox="1">
            <a:spLocks noGrp="1"/>
          </p:cNvSpPr>
          <p:nvPr>
            <p:ph type="title"/>
          </p:nvPr>
        </p:nvSpPr>
        <p:spPr>
          <a:xfrm>
            <a:off x="418011" y="228600"/>
            <a:ext cx="10650400" cy="709600"/>
          </a:xfrm>
          <a:prstGeom prst="rect">
            <a:avLst/>
          </a:prstGeom>
          <a:noFill/>
        </p:spPr>
        <p:txBody>
          <a:bodyPr spcFirstLastPara="1" wrap="square" lIns="91433" tIns="91433" rIns="91433" bIns="91433" anchor="b" anchorCtr="0">
            <a:noAutofit/>
          </a:bodyPr>
          <a:lstStyle/>
          <a:p>
            <a:pPr rtl="0"/>
            <a:r>
              <a:rPr lang="en-GB"/>
              <a:t>Explicit Memory Operations</a:t>
            </a:r>
            <a:endParaRPr/>
          </a:p>
        </p:txBody>
      </p:sp>
      <p:sp>
        <p:nvSpPr>
          <p:cNvPr id="399" name="Google Shape;399;p23"/>
          <p:cNvSpPr txBox="1">
            <a:spLocks noGrp="1"/>
          </p:cNvSpPr>
          <p:nvPr>
            <p:ph type="body" idx="1"/>
          </p:nvPr>
        </p:nvSpPr>
        <p:spPr>
          <a:xfrm>
            <a:off x="418000" y="1084510"/>
            <a:ext cx="11326400" cy="1700800"/>
          </a:xfrm>
          <a:prstGeom prst="rect">
            <a:avLst/>
          </a:prstGeom>
        </p:spPr>
        <p:txBody>
          <a:bodyPr spcFirstLastPara="1" wrap="square" lIns="91433" tIns="91433" rIns="91433" bIns="91433" anchor="t" anchorCtr="0">
            <a:noAutofit/>
          </a:bodyPr>
          <a:lstStyle/>
          <a:p>
            <a:pPr marL="0" indent="0" rtl="0">
              <a:buNone/>
            </a:pPr>
            <a:r>
              <a:rPr lang="en-GB" sz="2267" dirty="0"/>
              <a:t>Basically we need to perform three types of operations:</a:t>
            </a:r>
            <a:endParaRPr sz="2267" dirty="0"/>
          </a:p>
          <a:p>
            <a:pPr indent="-440256" rtl="0">
              <a:buSzPts val="1600"/>
              <a:buAutoNum type="arabicPeriod"/>
            </a:pPr>
            <a:r>
              <a:rPr lang="en-GB" sz="2267" dirty="0"/>
              <a:t>Allocating the memory </a:t>
            </a:r>
            <a:endParaRPr sz="2267" dirty="0"/>
          </a:p>
          <a:p>
            <a:pPr indent="-440256" rtl="0">
              <a:spcBef>
                <a:spcPts val="0"/>
              </a:spcBef>
              <a:buSzPts val="1600"/>
              <a:buAutoNum type="arabicPeriod"/>
            </a:pPr>
            <a:r>
              <a:rPr lang="en-GB" sz="2267" dirty="0"/>
              <a:t>Copy the data from/to the host to/from the device</a:t>
            </a:r>
            <a:endParaRPr sz="2267" dirty="0"/>
          </a:p>
          <a:p>
            <a:pPr indent="-440256" rtl="0">
              <a:spcBef>
                <a:spcPts val="0"/>
              </a:spcBef>
              <a:buSzPts val="1600"/>
              <a:buAutoNum type="arabicPeriod"/>
            </a:pPr>
            <a:r>
              <a:rPr lang="en-GB" sz="2267" dirty="0"/>
              <a:t>Free the memory</a:t>
            </a:r>
            <a:endParaRPr sz="2267" dirty="0"/>
          </a:p>
        </p:txBody>
      </p:sp>
      <p:sp>
        <p:nvSpPr>
          <p:cNvPr id="400" name="Google Shape;400;p23"/>
          <p:cNvSpPr txBox="1">
            <a:spLocks noGrp="1"/>
          </p:cNvSpPr>
          <p:nvPr>
            <p:ph type="sldNum" idx="12"/>
          </p:nvPr>
        </p:nvSpPr>
        <p:spPr>
          <a:xfrm>
            <a:off x="11466783" y="6071270"/>
            <a:ext cx="731600" cy="418000"/>
          </a:xfrm>
          <a:prstGeom prst="rect">
            <a:avLst/>
          </a:prstGeom>
        </p:spPr>
        <p:txBody>
          <a:bodyPr spcFirstLastPara="1" wrap="square" lIns="91433" tIns="91433" rIns="91433" bIns="91433" anchor="t" anchorCtr="0">
            <a:noAutofit/>
          </a:bodyPr>
          <a:lstStyle/>
          <a:p>
            <a:pPr rtl="0"/>
            <a:fld id="{00000000-1234-1234-1234-123412341234}" type="slidenum">
              <a:rPr lang="en-GB"/>
              <a:pPr rtl="0"/>
              <a:t>15</a:t>
            </a:fld>
            <a:endParaRPr/>
          </a:p>
        </p:txBody>
      </p:sp>
      <p:sp>
        <p:nvSpPr>
          <p:cNvPr id="401" name="Google Shape;401;p23"/>
          <p:cNvSpPr txBox="1"/>
          <p:nvPr/>
        </p:nvSpPr>
        <p:spPr>
          <a:xfrm>
            <a:off x="1934600" y="3531010"/>
            <a:ext cx="8322800" cy="707846"/>
          </a:xfrm>
          <a:prstGeom prst="rect">
            <a:avLst/>
          </a:prstGeom>
          <a:noFill/>
          <a:ln>
            <a:noFill/>
          </a:ln>
        </p:spPr>
        <p:txBody>
          <a:bodyPr spcFirstLastPara="1" wrap="square" lIns="121900" tIns="121900" rIns="121900" bIns="121900" anchor="t" anchorCtr="0">
            <a:spAutoFit/>
          </a:bodyPr>
          <a:lstStyle/>
          <a:p>
            <a:pPr algn="ctr" rtl="0">
              <a:lnSpc>
                <a:spcPct val="150000"/>
              </a:lnSpc>
            </a:pPr>
            <a:r>
              <a:rPr lang="en-GB" sz="2000">
                <a:solidFill>
                  <a:srgbClr val="9C27B0"/>
                </a:solidFill>
                <a:latin typeface="Roboto Mono"/>
                <a:ea typeface="Roboto Mono"/>
                <a:cs typeface="Roboto Mono"/>
                <a:sym typeface="Roboto Mono"/>
              </a:rPr>
              <a:t>​cudaError_t</a:t>
            </a:r>
            <a:r>
              <a:rPr lang="en-GB" sz="2000">
                <a:solidFill>
                  <a:srgbClr val="37474F"/>
                </a:solidFill>
                <a:latin typeface="Roboto Mono"/>
                <a:ea typeface="Roboto Mono"/>
                <a:cs typeface="Roboto Mono"/>
                <a:sym typeface="Roboto Mono"/>
              </a:rPr>
              <a:t> cudaMalloc(</a:t>
            </a:r>
            <a:r>
              <a:rPr lang="en-GB" sz="2000">
                <a:solidFill>
                  <a:srgbClr val="3F51B5"/>
                </a:solidFill>
                <a:latin typeface="Roboto Mono"/>
                <a:ea typeface="Roboto Mono"/>
                <a:cs typeface="Roboto Mono"/>
                <a:sym typeface="Roboto Mono"/>
              </a:rPr>
              <a:t>void</a:t>
            </a:r>
            <a:r>
              <a:rPr lang="en-GB" sz="2000">
                <a:solidFill>
                  <a:srgbClr val="37474F"/>
                </a:solidFill>
                <a:latin typeface="Roboto Mono"/>
                <a:ea typeface="Roboto Mono"/>
                <a:cs typeface="Roboto Mono"/>
                <a:sym typeface="Roboto Mono"/>
              </a:rPr>
              <a:t>** devPtr, </a:t>
            </a:r>
            <a:r>
              <a:rPr lang="en-GB" sz="2000">
                <a:solidFill>
                  <a:srgbClr val="9C27B0"/>
                </a:solidFill>
                <a:latin typeface="Roboto Mono"/>
                <a:ea typeface="Roboto Mono"/>
                <a:cs typeface="Roboto Mono"/>
                <a:sym typeface="Roboto Mono"/>
              </a:rPr>
              <a:t>size_t</a:t>
            </a:r>
            <a:r>
              <a:rPr lang="en-GB" sz="2000">
                <a:solidFill>
                  <a:srgbClr val="37474F"/>
                </a:solidFill>
                <a:latin typeface="Roboto Mono"/>
                <a:ea typeface="Roboto Mono"/>
                <a:cs typeface="Roboto Mono"/>
                <a:sym typeface="Roboto Mono"/>
              </a:rPr>
              <a:t> nbytes)</a:t>
            </a:r>
            <a:endParaRPr sz="2000">
              <a:solidFill>
                <a:srgbClr val="37474F"/>
              </a:solidFill>
              <a:latin typeface="Roboto Mono"/>
              <a:ea typeface="Roboto Mono"/>
              <a:cs typeface="Roboto Mono"/>
              <a:sym typeface="Roboto Mono"/>
            </a:endParaRPr>
          </a:p>
        </p:txBody>
      </p:sp>
      <p:sp>
        <p:nvSpPr>
          <p:cNvPr id="402" name="Google Shape;402;p23"/>
          <p:cNvSpPr txBox="1">
            <a:spLocks noGrp="1"/>
          </p:cNvSpPr>
          <p:nvPr>
            <p:ph type="body" idx="1"/>
          </p:nvPr>
        </p:nvSpPr>
        <p:spPr>
          <a:xfrm>
            <a:off x="418000" y="2931610"/>
            <a:ext cx="11326400" cy="513200"/>
          </a:xfrm>
          <a:prstGeom prst="rect">
            <a:avLst/>
          </a:prstGeom>
        </p:spPr>
        <p:txBody>
          <a:bodyPr spcFirstLastPara="1" wrap="square" lIns="91433" tIns="91433" rIns="91433" bIns="91433" anchor="t" anchorCtr="0">
            <a:noAutofit/>
          </a:bodyPr>
          <a:lstStyle/>
          <a:p>
            <a:pPr marL="0" indent="0" rtl="0">
              <a:buNone/>
            </a:pPr>
            <a:r>
              <a:rPr lang="en-GB" sz="2267" b="1" dirty="0">
                <a:solidFill>
                  <a:schemeClr val="dk2"/>
                </a:solidFill>
              </a:rPr>
              <a:t>Allocating the memory</a:t>
            </a:r>
            <a:r>
              <a:rPr lang="en-GB" sz="2267" dirty="0"/>
              <a:t>: note, this must be done both for host and device. For the device:</a:t>
            </a:r>
            <a:endParaRPr sz="2267" dirty="0"/>
          </a:p>
        </p:txBody>
      </p:sp>
      <p:sp>
        <p:nvSpPr>
          <p:cNvPr id="403" name="Google Shape;403;p23"/>
          <p:cNvSpPr txBox="1">
            <a:spLocks noGrp="1"/>
          </p:cNvSpPr>
          <p:nvPr>
            <p:ph type="body" idx="1"/>
          </p:nvPr>
        </p:nvSpPr>
        <p:spPr>
          <a:xfrm>
            <a:off x="418000" y="4049210"/>
            <a:ext cx="11326400" cy="513200"/>
          </a:xfrm>
          <a:prstGeom prst="rect">
            <a:avLst/>
          </a:prstGeom>
        </p:spPr>
        <p:txBody>
          <a:bodyPr spcFirstLastPara="1" wrap="square" lIns="91433" tIns="91433" rIns="91433" bIns="91433" anchor="t" anchorCtr="0">
            <a:noAutofit/>
          </a:bodyPr>
          <a:lstStyle/>
          <a:p>
            <a:pPr marL="0" indent="0" rtl="0">
              <a:buNone/>
            </a:pPr>
            <a:r>
              <a:rPr lang="en-GB" sz="2267"/>
              <a:t>Example: allocate a device array </a:t>
            </a:r>
            <a:r>
              <a:rPr lang="en-GB" sz="2267">
                <a:solidFill>
                  <a:srgbClr val="188038"/>
                </a:solidFill>
                <a:latin typeface="Roboto Mono"/>
                <a:ea typeface="Roboto Mono"/>
                <a:cs typeface="Roboto Mono"/>
                <a:sym typeface="Roboto Mono"/>
              </a:rPr>
              <a:t>x</a:t>
            </a:r>
            <a:r>
              <a:rPr lang="en-GB" sz="2267"/>
              <a:t> of N </a:t>
            </a:r>
            <a:r>
              <a:rPr lang="en-GB" sz="2267">
                <a:solidFill>
                  <a:srgbClr val="188038"/>
                </a:solidFill>
                <a:latin typeface="Roboto Mono"/>
                <a:ea typeface="Roboto Mono"/>
                <a:cs typeface="Roboto Mono"/>
                <a:sym typeface="Roboto Mono"/>
              </a:rPr>
              <a:t>float</a:t>
            </a:r>
            <a:r>
              <a:rPr lang="en-GB" sz="2267"/>
              <a:t> numbers</a:t>
            </a:r>
            <a:endParaRPr sz="2267"/>
          </a:p>
        </p:txBody>
      </p:sp>
      <p:sp>
        <p:nvSpPr>
          <p:cNvPr id="404" name="Google Shape;404;p23"/>
          <p:cNvSpPr txBox="1"/>
          <p:nvPr/>
        </p:nvSpPr>
        <p:spPr>
          <a:xfrm>
            <a:off x="450867" y="4765610"/>
            <a:ext cx="5791200" cy="1215677"/>
          </a:xfrm>
          <a:prstGeom prst="rect">
            <a:avLst/>
          </a:prstGeom>
          <a:noFill/>
          <a:ln>
            <a:noFill/>
          </a:ln>
        </p:spPr>
        <p:txBody>
          <a:bodyPr spcFirstLastPara="1" wrap="square" lIns="121900" tIns="121900" rIns="121900" bIns="121900" anchor="t" anchorCtr="0">
            <a:spAutoFit/>
          </a:bodyPr>
          <a:lstStyle/>
          <a:p>
            <a:pPr algn="l" rtl="0"/>
            <a:r>
              <a:rPr lang="en-GB">
                <a:solidFill>
                  <a:srgbClr val="3F51B5"/>
                </a:solidFill>
                <a:latin typeface="Roboto Mono"/>
                <a:ea typeface="Roboto Mono"/>
                <a:cs typeface="Roboto Mono"/>
                <a:sym typeface="Roboto Mono"/>
              </a:rPr>
              <a:t>float</a:t>
            </a:r>
            <a:r>
              <a:rPr lang="en-GB">
                <a:solidFill>
                  <a:srgbClr val="37474F"/>
                </a:solidFill>
                <a:latin typeface="Roboto Mono"/>
                <a:ea typeface="Roboto Mono"/>
                <a:cs typeface="Roboto Mono"/>
                <a:sym typeface="Roboto Mono"/>
              </a:rPr>
              <a:t> *x_d;</a:t>
            </a:r>
            <a:endParaRPr>
              <a:solidFill>
                <a:srgbClr val="37474F"/>
              </a:solidFill>
              <a:latin typeface="Roboto Mono"/>
              <a:ea typeface="Roboto Mono"/>
              <a:cs typeface="Roboto Mono"/>
              <a:sym typeface="Roboto Mono"/>
            </a:endParaRPr>
          </a:p>
          <a:p>
            <a:pPr algn="l" rtl="0"/>
            <a:r>
              <a:rPr lang="en-GB">
                <a:solidFill>
                  <a:srgbClr val="9C27B0"/>
                </a:solidFill>
                <a:latin typeface="Roboto Mono"/>
                <a:ea typeface="Roboto Mono"/>
                <a:cs typeface="Roboto Mono"/>
                <a:sym typeface="Roboto Mono"/>
              </a:rPr>
              <a:t>size_t</a:t>
            </a:r>
            <a:r>
              <a:rPr lang="en-GB">
                <a:solidFill>
                  <a:srgbClr val="37474F"/>
                </a:solidFill>
                <a:latin typeface="Roboto Mono"/>
                <a:ea typeface="Roboto Mono"/>
                <a:cs typeface="Roboto Mono"/>
                <a:sym typeface="Roboto Mono"/>
              </a:rPr>
              <a:t> size = n * </a:t>
            </a:r>
            <a:r>
              <a:rPr lang="en-GB">
                <a:solidFill>
                  <a:srgbClr val="3F51B5"/>
                </a:solidFill>
                <a:latin typeface="Roboto Mono"/>
                <a:ea typeface="Roboto Mono"/>
                <a:cs typeface="Roboto Mono"/>
                <a:sym typeface="Roboto Mono"/>
              </a:rPr>
              <a:t>sizeof</a:t>
            </a:r>
            <a:r>
              <a:rPr lang="en-GB">
                <a:solidFill>
                  <a:srgbClr val="37474F"/>
                </a:solidFill>
                <a:latin typeface="Roboto Mono"/>
                <a:ea typeface="Roboto Mono"/>
                <a:cs typeface="Roboto Mono"/>
                <a:sym typeface="Roboto Mono"/>
              </a:rPr>
              <a:t>(</a:t>
            </a:r>
            <a:r>
              <a:rPr lang="en-GB">
                <a:solidFill>
                  <a:srgbClr val="3F51B5"/>
                </a:solidFill>
                <a:latin typeface="Roboto Mono"/>
                <a:ea typeface="Roboto Mono"/>
                <a:cs typeface="Roboto Mono"/>
                <a:sym typeface="Roboto Mono"/>
              </a:rPr>
              <a:t>float</a:t>
            </a:r>
            <a:r>
              <a:rPr lang="en-GB">
                <a:solidFill>
                  <a:srgbClr val="37474F"/>
                </a:solidFill>
                <a:latin typeface="Roboto Mono"/>
                <a:ea typeface="Roboto Mono"/>
                <a:cs typeface="Roboto Mono"/>
                <a:sym typeface="Roboto Mono"/>
              </a:rPr>
              <a:t>);</a:t>
            </a:r>
            <a:endParaRPr>
              <a:solidFill>
                <a:srgbClr val="37474F"/>
              </a:solidFill>
              <a:latin typeface="Roboto Mono"/>
              <a:ea typeface="Roboto Mono"/>
              <a:cs typeface="Roboto Mono"/>
              <a:sym typeface="Roboto Mono"/>
            </a:endParaRPr>
          </a:p>
          <a:p>
            <a:pPr algn="l" rtl="0">
              <a:lnSpc>
                <a:spcPct val="150000"/>
              </a:lnSpc>
            </a:pPr>
            <a:r>
              <a:rPr lang="en-GB">
                <a:solidFill>
                  <a:srgbClr val="37474F"/>
                </a:solidFill>
                <a:latin typeface="Roboto Mono"/>
                <a:ea typeface="Roboto Mono"/>
                <a:cs typeface="Roboto Mono"/>
                <a:sym typeface="Roboto Mono"/>
              </a:rPr>
              <a:t>cudaMalloc((</a:t>
            </a:r>
            <a:r>
              <a:rPr lang="en-GB">
                <a:solidFill>
                  <a:srgbClr val="3F51B5"/>
                </a:solidFill>
                <a:latin typeface="Roboto Mono"/>
                <a:ea typeface="Roboto Mono"/>
                <a:cs typeface="Roboto Mono"/>
                <a:sym typeface="Roboto Mono"/>
              </a:rPr>
              <a:t>void</a:t>
            </a:r>
            <a:r>
              <a:rPr lang="en-GB">
                <a:solidFill>
                  <a:srgbClr val="37474F"/>
                </a:solidFill>
                <a:latin typeface="Roboto Mono"/>
                <a:ea typeface="Roboto Mono"/>
                <a:cs typeface="Roboto Mono"/>
                <a:sym typeface="Roboto Mono"/>
              </a:rPr>
              <a:t>**) &amp;x_d, size);</a:t>
            </a:r>
            <a:endParaRPr>
              <a:solidFill>
                <a:srgbClr val="37474F"/>
              </a:solidFill>
              <a:latin typeface="Roboto Mono"/>
              <a:ea typeface="Roboto Mono"/>
              <a:cs typeface="Roboto Mono"/>
              <a:sym typeface="Roboto Mono"/>
            </a:endParaRPr>
          </a:p>
        </p:txBody>
      </p:sp>
      <p:sp>
        <p:nvSpPr>
          <p:cNvPr id="405" name="Google Shape;405;p23"/>
          <p:cNvSpPr txBox="1">
            <a:spLocks noGrp="1"/>
          </p:cNvSpPr>
          <p:nvPr>
            <p:ph type="body" idx="1"/>
          </p:nvPr>
        </p:nvSpPr>
        <p:spPr>
          <a:xfrm>
            <a:off x="5952733" y="4486910"/>
            <a:ext cx="6168400" cy="513200"/>
          </a:xfrm>
          <a:prstGeom prst="rect">
            <a:avLst/>
          </a:prstGeom>
        </p:spPr>
        <p:txBody>
          <a:bodyPr spcFirstLastPara="1" wrap="square" lIns="91433" tIns="91433" rIns="91433" bIns="91433" anchor="t" anchorCtr="0">
            <a:noAutofit/>
          </a:bodyPr>
          <a:lstStyle/>
          <a:p>
            <a:pPr marL="0" indent="0" rtl="0">
              <a:buNone/>
            </a:pPr>
            <a:r>
              <a:rPr lang="en-GB" sz="2267"/>
              <a:t>Notes:</a:t>
            </a:r>
            <a:endParaRPr sz="2267"/>
          </a:p>
          <a:p>
            <a:pPr indent="-440256" rtl="0">
              <a:buSzPts val="1600"/>
            </a:pPr>
            <a:r>
              <a:rPr lang="en-GB" sz="2267"/>
              <a:t>Convention: clearly identify host/device variables (prefix/append </a:t>
            </a:r>
            <a:r>
              <a:rPr lang="en-GB" sz="2267" i="1">
                <a:solidFill>
                  <a:srgbClr val="188038"/>
                </a:solidFill>
                <a:latin typeface="Roboto Mono"/>
                <a:ea typeface="Roboto Mono"/>
                <a:cs typeface="Roboto Mono"/>
                <a:sym typeface="Roboto Mono"/>
              </a:rPr>
              <a:t>_d</a:t>
            </a:r>
            <a:r>
              <a:rPr lang="en-GB" sz="2267" i="1"/>
              <a:t>/</a:t>
            </a:r>
            <a:r>
              <a:rPr lang="en-GB" sz="2267" i="1">
                <a:solidFill>
                  <a:srgbClr val="188038"/>
                </a:solidFill>
                <a:latin typeface="Roboto Mono"/>
                <a:ea typeface="Roboto Mono"/>
                <a:cs typeface="Roboto Mono"/>
                <a:sym typeface="Roboto Mono"/>
              </a:rPr>
              <a:t>_h</a:t>
            </a:r>
            <a:r>
              <a:rPr lang="en-GB" sz="2267" i="1"/>
              <a:t>)</a:t>
            </a:r>
            <a:endParaRPr sz="2267"/>
          </a:p>
          <a:p>
            <a:pPr indent="-440256" rtl="0">
              <a:spcBef>
                <a:spcPts val="0"/>
              </a:spcBef>
              <a:buSzPts val="1600"/>
            </a:pPr>
            <a:r>
              <a:rPr lang="en-GB" sz="2267"/>
              <a:t>Error checking is suggested (but we will skip for the sake of conciseness)</a:t>
            </a:r>
            <a:endParaRPr sz="2267"/>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0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0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0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24"/>
          <p:cNvSpPr txBox="1">
            <a:spLocks noGrp="1"/>
          </p:cNvSpPr>
          <p:nvPr>
            <p:ph type="title"/>
          </p:nvPr>
        </p:nvSpPr>
        <p:spPr>
          <a:xfrm>
            <a:off x="418011" y="321390"/>
            <a:ext cx="10650400" cy="709600"/>
          </a:xfrm>
          <a:prstGeom prst="rect">
            <a:avLst/>
          </a:prstGeom>
          <a:noFill/>
        </p:spPr>
        <p:txBody>
          <a:bodyPr spcFirstLastPara="1" wrap="square" lIns="91433" tIns="91433" rIns="91433" bIns="91433" anchor="b" anchorCtr="0">
            <a:noAutofit/>
          </a:bodyPr>
          <a:lstStyle/>
          <a:p>
            <a:pPr rtl="0"/>
            <a:r>
              <a:rPr lang="en-GB" dirty="0"/>
              <a:t>Explicit Memory Allocation </a:t>
            </a:r>
            <a:endParaRPr dirty="0"/>
          </a:p>
        </p:txBody>
      </p:sp>
      <p:sp>
        <p:nvSpPr>
          <p:cNvPr id="412" name="Google Shape;412;p24"/>
          <p:cNvSpPr txBox="1">
            <a:spLocks noGrp="1"/>
          </p:cNvSpPr>
          <p:nvPr>
            <p:ph type="body" idx="1"/>
          </p:nvPr>
        </p:nvSpPr>
        <p:spPr>
          <a:xfrm>
            <a:off x="418000" y="1177300"/>
            <a:ext cx="11326400" cy="573600"/>
          </a:xfrm>
          <a:prstGeom prst="rect">
            <a:avLst/>
          </a:prstGeom>
        </p:spPr>
        <p:txBody>
          <a:bodyPr spcFirstLastPara="1" wrap="square" lIns="91433" tIns="91433" rIns="91433" bIns="91433" anchor="t" anchorCtr="0">
            <a:noAutofit/>
          </a:bodyPr>
          <a:lstStyle/>
          <a:p>
            <a:pPr marL="0" indent="0" rtl="0">
              <a:buClr>
                <a:schemeClr val="dk1"/>
              </a:buClr>
              <a:buSzPts val="1100"/>
              <a:buNone/>
            </a:pPr>
            <a:r>
              <a:rPr lang="en-GB" sz="2267" b="1">
                <a:solidFill>
                  <a:schemeClr val="dk2"/>
                </a:solidFill>
              </a:rPr>
              <a:t>Copy the memory </a:t>
            </a:r>
            <a:r>
              <a:rPr lang="en-GB" sz="2267"/>
              <a:t>from/to host to/from device:</a:t>
            </a:r>
            <a:endParaRPr sz="2267"/>
          </a:p>
          <a:p>
            <a:pPr marL="0" indent="0" rtl="0">
              <a:buClr>
                <a:schemeClr val="dk1"/>
              </a:buClr>
              <a:buSzPts val="1100"/>
              <a:buNone/>
            </a:pPr>
            <a:endParaRPr sz="2267"/>
          </a:p>
          <a:p>
            <a:pPr marL="0" indent="0" rtl="0">
              <a:buNone/>
            </a:pPr>
            <a:endParaRPr sz="2267"/>
          </a:p>
        </p:txBody>
      </p:sp>
      <p:sp>
        <p:nvSpPr>
          <p:cNvPr id="413" name="Google Shape;413;p24"/>
          <p:cNvSpPr txBox="1">
            <a:spLocks noGrp="1"/>
          </p:cNvSpPr>
          <p:nvPr>
            <p:ph type="sldNum" idx="12"/>
          </p:nvPr>
        </p:nvSpPr>
        <p:spPr>
          <a:xfrm>
            <a:off x="11466783" y="6164060"/>
            <a:ext cx="731600" cy="418000"/>
          </a:xfrm>
          <a:prstGeom prst="rect">
            <a:avLst/>
          </a:prstGeom>
        </p:spPr>
        <p:txBody>
          <a:bodyPr spcFirstLastPara="1" wrap="square" lIns="91433" tIns="91433" rIns="91433" bIns="91433" anchor="t" anchorCtr="0">
            <a:noAutofit/>
          </a:bodyPr>
          <a:lstStyle/>
          <a:p>
            <a:pPr rtl="0"/>
            <a:fld id="{00000000-1234-1234-1234-123412341234}" type="slidenum">
              <a:rPr lang="en-GB"/>
              <a:pPr rtl="0"/>
              <a:t>16</a:t>
            </a:fld>
            <a:endParaRPr/>
          </a:p>
        </p:txBody>
      </p:sp>
      <p:sp>
        <p:nvSpPr>
          <p:cNvPr id="414" name="Google Shape;414;p24"/>
          <p:cNvSpPr txBox="1"/>
          <p:nvPr/>
        </p:nvSpPr>
        <p:spPr>
          <a:xfrm>
            <a:off x="512000" y="1750900"/>
            <a:ext cx="10556400" cy="883278"/>
          </a:xfrm>
          <a:prstGeom prst="rect">
            <a:avLst/>
          </a:prstGeom>
          <a:noFill/>
          <a:ln>
            <a:noFill/>
          </a:ln>
        </p:spPr>
        <p:txBody>
          <a:bodyPr spcFirstLastPara="1" wrap="square" lIns="121900" tIns="121900" rIns="121900" bIns="121900" anchor="t" anchorCtr="0">
            <a:spAutoFit/>
          </a:bodyPr>
          <a:lstStyle/>
          <a:p>
            <a:pPr algn="ctr" rtl="0">
              <a:lnSpc>
                <a:spcPct val="115000"/>
              </a:lnSpc>
            </a:pPr>
            <a:r>
              <a:rPr lang="en-GB">
                <a:solidFill>
                  <a:srgbClr val="9C27B0"/>
                </a:solidFill>
                <a:latin typeface="Roboto Mono"/>
                <a:ea typeface="Roboto Mono"/>
                <a:cs typeface="Roboto Mono"/>
                <a:sym typeface="Roboto Mono"/>
              </a:rPr>
              <a:t>cudaError_t</a:t>
            </a:r>
            <a:r>
              <a:rPr lang="en-GB">
                <a:solidFill>
                  <a:srgbClr val="37474F"/>
                </a:solidFill>
                <a:latin typeface="Roboto Mono"/>
                <a:ea typeface="Roboto Mono"/>
                <a:cs typeface="Roboto Mono"/>
                <a:sym typeface="Roboto Mono"/>
              </a:rPr>
              <a:t> cudaMemcpy(</a:t>
            </a:r>
            <a:r>
              <a:rPr lang="en-GB">
                <a:solidFill>
                  <a:srgbClr val="3F51B5"/>
                </a:solidFill>
                <a:latin typeface="Roboto Mono"/>
                <a:ea typeface="Roboto Mono"/>
                <a:cs typeface="Roboto Mono"/>
                <a:sym typeface="Roboto Mono"/>
              </a:rPr>
              <a:t>void</a:t>
            </a:r>
            <a:r>
              <a:rPr lang="en-GB">
                <a:solidFill>
                  <a:srgbClr val="37474F"/>
                </a:solidFill>
                <a:latin typeface="Roboto Mono"/>
                <a:ea typeface="Roboto Mono"/>
                <a:cs typeface="Roboto Mono"/>
                <a:sym typeface="Roboto Mono"/>
              </a:rPr>
              <a:t>* dst, </a:t>
            </a:r>
            <a:r>
              <a:rPr lang="en-GB">
                <a:solidFill>
                  <a:srgbClr val="3F51B5"/>
                </a:solidFill>
                <a:latin typeface="Roboto Mono"/>
                <a:ea typeface="Roboto Mono"/>
                <a:cs typeface="Roboto Mono"/>
                <a:sym typeface="Roboto Mono"/>
              </a:rPr>
              <a:t>const</a:t>
            </a:r>
            <a:r>
              <a:rPr lang="en-GB">
                <a:solidFill>
                  <a:srgbClr val="37474F"/>
                </a:solidFill>
                <a:latin typeface="Roboto Mono"/>
                <a:ea typeface="Roboto Mono"/>
                <a:cs typeface="Roboto Mono"/>
                <a:sym typeface="Roboto Mono"/>
              </a:rPr>
              <a:t> </a:t>
            </a:r>
            <a:r>
              <a:rPr lang="en-GB">
                <a:solidFill>
                  <a:srgbClr val="3F51B5"/>
                </a:solidFill>
                <a:latin typeface="Roboto Mono"/>
                <a:ea typeface="Roboto Mono"/>
                <a:cs typeface="Roboto Mono"/>
                <a:sym typeface="Roboto Mono"/>
              </a:rPr>
              <a:t>void</a:t>
            </a:r>
            <a:r>
              <a:rPr lang="en-GB">
                <a:solidFill>
                  <a:srgbClr val="37474F"/>
                </a:solidFill>
                <a:latin typeface="Roboto Mono"/>
                <a:ea typeface="Roboto Mono"/>
                <a:cs typeface="Roboto Mono"/>
                <a:sym typeface="Roboto Mono"/>
              </a:rPr>
              <a:t>* src, </a:t>
            </a:r>
            <a:br>
              <a:rPr lang="en-GB">
                <a:solidFill>
                  <a:srgbClr val="37474F"/>
                </a:solidFill>
                <a:latin typeface="Roboto Mono"/>
                <a:ea typeface="Roboto Mono"/>
                <a:cs typeface="Roboto Mono"/>
                <a:sym typeface="Roboto Mono"/>
              </a:rPr>
            </a:br>
            <a:r>
              <a:rPr lang="en-GB">
                <a:solidFill>
                  <a:srgbClr val="37474F"/>
                </a:solidFill>
                <a:latin typeface="Roboto Mono"/>
                <a:ea typeface="Roboto Mono"/>
                <a:cs typeface="Roboto Mono"/>
                <a:sym typeface="Roboto Mono"/>
              </a:rPr>
              <a:t>						</a:t>
            </a:r>
            <a:r>
              <a:rPr lang="en-GB">
                <a:solidFill>
                  <a:srgbClr val="9C27B0"/>
                </a:solidFill>
                <a:latin typeface="Roboto Mono"/>
                <a:ea typeface="Roboto Mono"/>
                <a:cs typeface="Roboto Mono"/>
                <a:sym typeface="Roboto Mono"/>
              </a:rPr>
              <a:t>size_t</a:t>
            </a:r>
            <a:r>
              <a:rPr lang="en-GB">
                <a:solidFill>
                  <a:srgbClr val="37474F"/>
                </a:solidFill>
                <a:latin typeface="Roboto Mono"/>
                <a:ea typeface="Roboto Mono"/>
                <a:cs typeface="Roboto Mono"/>
                <a:sym typeface="Roboto Mono"/>
              </a:rPr>
              <a:t> count, </a:t>
            </a:r>
            <a:r>
              <a:rPr lang="en-GB">
                <a:solidFill>
                  <a:srgbClr val="9C27B0"/>
                </a:solidFill>
                <a:latin typeface="Roboto Mono"/>
                <a:ea typeface="Roboto Mono"/>
                <a:cs typeface="Roboto Mono"/>
                <a:sym typeface="Roboto Mono"/>
              </a:rPr>
              <a:t>cudaMemcpyKind</a:t>
            </a:r>
            <a:r>
              <a:rPr lang="en-GB">
                <a:solidFill>
                  <a:srgbClr val="37474F"/>
                </a:solidFill>
                <a:latin typeface="Roboto Mono"/>
                <a:ea typeface="Roboto Mono"/>
                <a:cs typeface="Roboto Mono"/>
                <a:sym typeface="Roboto Mono"/>
              </a:rPr>
              <a:t> kind)</a:t>
            </a:r>
            <a:endParaRPr>
              <a:solidFill>
                <a:srgbClr val="37474F"/>
              </a:solidFill>
              <a:latin typeface="Roboto Mono"/>
              <a:ea typeface="Roboto Mono"/>
              <a:cs typeface="Roboto Mono"/>
              <a:sym typeface="Roboto Mono"/>
            </a:endParaRPr>
          </a:p>
        </p:txBody>
      </p:sp>
      <p:sp>
        <p:nvSpPr>
          <p:cNvPr id="415" name="Google Shape;415;p24"/>
          <p:cNvSpPr txBox="1">
            <a:spLocks noGrp="1"/>
          </p:cNvSpPr>
          <p:nvPr>
            <p:ph type="body" idx="1"/>
          </p:nvPr>
        </p:nvSpPr>
        <p:spPr>
          <a:xfrm>
            <a:off x="519600" y="2599700"/>
            <a:ext cx="11326400" cy="573600"/>
          </a:xfrm>
          <a:prstGeom prst="rect">
            <a:avLst/>
          </a:prstGeom>
        </p:spPr>
        <p:txBody>
          <a:bodyPr spcFirstLastPara="1" wrap="square" lIns="91433" tIns="91433" rIns="91433" bIns="91433" anchor="t" anchorCtr="0">
            <a:noAutofit/>
          </a:bodyPr>
          <a:lstStyle/>
          <a:p>
            <a:pPr marL="0" indent="0" rtl="0">
              <a:buNone/>
            </a:pPr>
            <a:r>
              <a:rPr lang="en-GB"/>
              <a:t>where:</a:t>
            </a:r>
            <a:endParaRPr/>
          </a:p>
          <a:p>
            <a:pPr marL="0" indent="0" rtl="0">
              <a:buNone/>
            </a:pPr>
            <a:endParaRPr/>
          </a:p>
          <a:p>
            <a:pPr marL="0" indent="0" rtl="0">
              <a:buNone/>
            </a:pPr>
            <a:endParaRPr/>
          </a:p>
        </p:txBody>
      </p:sp>
      <p:sp>
        <p:nvSpPr>
          <p:cNvPr id="416" name="Google Shape;416;p24"/>
          <p:cNvSpPr txBox="1"/>
          <p:nvPr/>
        </p:nvSpPr>
        <p:spPr>
          <a:xfrm>
            <a:off x="1746700" y="6769400"/>
            <a:ext cx="5538800" cy="164800"/>
          </a:xfrm>
          <a:prstGeom prst="rect">
            <a:avLst/>
          </a:prstGeom>
          <a:noFill/>
          <a:ln>
            <a:noFill/>
          </a:ln>
        </p:spPr>
        <p:txBody>
          <a:bodyPr spcFirstLastPara="1" wrap="square" lIns="0" tIns="0" rIns="0" bIns="0" anchor="t" anchorCtr="0">
            <a:noAutofit/>
          </a:bodyPr>
          <a:lstStyle/>
          <a:p>
            <a:pPr algn="l" rtl="0"/>
            <a:r>
              <a:rPr lang="en-GB" sz="1333">
                <a:solidFill>
                  <a:schemeClr val="lt2"/>
                </a:solidFill>
                <a:latin typeface="Lato"/>
                <a:ea typeface="Lato"/>
                <a:cs typeface="Lato"/>
                <a:sym typeface="Lato"/>
              </a:rPr>
              <a:t>For more details checkout the </a:t>
            </a:r>
            <a:r>
              <a:rPr lang="en-GB" sz="1333" u="sng">
                <a:solidFill>
                  <a:schemeClr val="lt2"/>
                </a:solidFill>
                <a:latin typeface="Lato"/>
                <a:ea typeface="Lato"/>
                <a:cs typeface="Lato"/>
                <a:sym typeface="Lato"/>
                <a:hlinkClick r:id="rId3">
                  <a:extLst>
                    <a:ext uri="{A12FA001-AC4F-418D-AE19-62706E023703}">
                      <ahyp:hlinkClr xmlns:ahyp="http://schemas.microsoft.com/office/drawing/2018/hyperlinkcolor" val="tx"/>
                    </a:ext>
                  </a:extLst>
                </a:hlinkClick>
              </a:rPr>
              <a:t>cudaMemcpy Nvidia Documentation </a:t>
            </a:r>
            <a:endParaRPr sz="1333">
              <a:solidFill>
                <a:schemeClr val="lt2"/>
              </a:solidFill>
              <a:latin typeface="Lato"/>
              <a:ea typeface="Lato"/>
              <a:cs typeface="Lato"/>
              <a:sym typeface="Lato"/>
            </a:endParaRPr>
          </a:p>
        </p:txBody>
      </p:sp>
      <p:sp>
        <p:nvSpPr>
          <p:cNvPr id="417" name="Google Shape;417;p24"/>
          <p:cNvSpPr txBox="1"/>
          <p:nvPr/>
        </p:nvSpPr>
        <p:spPr>
          <a:xfrm>
            <a:off x="3048600" y="2736133"/>
            <a:ext cx="6268400" cy="1769675"/>
          </a:xfrm>
          <a:prstGeom prst="rect">
            <a:avLst/>
          </a:prstGeom>
          <a:noFill/>
          <a:ln>
            <a:noFill/>
          </a:ln>
        </p:spPr>
        <p:txBody>
          <a:bodyPr spcFirstLastPara="1" wrap="square" lIns="121900" tIns="121900" rIns="121900" bIns="121900" anchor="t" anchorCtr="0">
            <a:spAutoFit/>
          </a:bodyPr>
          <a:lstStyle/>
          <a:p>
            <a:pPr algn="l" rtl="0"/>
            <a:r>
              <a:rPr lang="en-GB" dirty="0" err="1">
                <a:solidFill>
                  <a:srgbClr val="3F51B5"/>
                </a:solidFill>
                <a:latin typeface="Roboto Mono"/>
                <a:ea typeface="Roboto Mono"/>
                <a:cs typeface="Roboto Mono"/>
                <a:sym typeface="Roboto Mono"/>
              </a:rPr>
              <a:t>enum</a:t>
            </a:r>
            <a:r>
              <a:rPr lang="en-GB" dirty="0">
                <a:solidFill>
                  <a:srgbClr val="37474F"/>
                </a:solidFill>
                <a:latin typeface="Roboto Mono"/>
                <a:ea typeface="Roboto Mono"/>
                <a:cs typeface="Roboto Mono"/>
                <a:sym typeface="Roboto Mono"/>
              </a:rPr>
              <a:t> {</a:t>
            </a:r>
            <a:endParaRPr dirty="0">
              <a:solidFill>
                <a:srgbClr val="37474F"/>
              </a:solidFill>
              <a:latin typeface="Roboto Mono"/>
              <a:ea typeface="Roboto Mono"/>
              <a:cs typeface="Roboto Mono"/>
              <a:sym typeface="Roboto Mono"/>
            </a:endParaRPr>
          </a:p>
          <a:p>
            <a:pPr algn="l" rtl="0"/>
            <a:r>
              <a:rPr lang="en-GB" dirty="0">
                <a:solidFill>
                  <a:srgbClr val="37474F"/>
                </a:solidFill>
                <a:latin typeface="Roboto Mono"/>
                <a:ea typeface="Roboto Mono"/>
                <a:cs typeface="Roboto Mono"/>
                <a:sym typeface="Roboto Mono"/>
              </a:rPr>
              <a:t>    </a:t>
            </a:r>
            <a:r>
              <a:rPr lang="en-GB" dirty="0" err="1">
                <a:solidFill>
                  <a:srgbClr val="37474F"/>
                </a:solidFill>
                <a:latin typeface="Roboto Mono"/>
                <a:ea typeface="Roboto Mono"/>
                <a:cs typeface="Roboto Mono"/>
                <a:sym typeface="Roboto Mono"/>
              </a:rPr>
              <a:t>cudaMemcpyHostToDevice</a:t>
            </a:r>
            <a:r>
              <a:rPr lang="en-GB" dirty="0">
                <a:solidFill>
                  <a:srgbClr val="37474F"/>
                </a:solidFill>
                <a:latin typeface="Roboto Mono"/>
                <a:ea typeface="Roboto Mono"/>
                <a:cs typeface="Roboto Mono"/>
                <a:sym typeface="Roboto Mono"/>
              </a:rPr>
              <a:t>,</a:t>
            </a:r>
            <a:endParaRPr dirty="0">
              <a:solidFill>
                <a:srgbClr val="37474F"/>
              </a:solidFill>
              <a:latin typeface="Roboto Mono"/>
              <a:ea typeface="Roboto Mono"/>
              <a:cs typeface="Roboto Mono"/>
              <a:sym typeface="Roboto Mono"/>
            </a:endParaRPr>
          </a:p>
          <a:p>
            <a:pPr algn="l" rtl="0"/>
            <a:r>
              <a:rPr lang="en-GB" dirty="0">
                <a:solidFill>
                  <a:srgbClr val="37474F"/>
                </a:solidFill>
                <a:latin typeface="Roboto Mono"/>
                <a:ea typeface="Roboto Mono"/>
                <a:cs typeface="Roboto Mono"/>
                <a:sym typeface="Roboto Mono"/>
              </a:rPr>
              <a:t>    </a:t>
            </a:r>
            <a:r>
              <a:rPr lang="en-GB" dirty="0" err="1">
                <a:solidFill>
                  <a:srgbClr val="37474F"/>
                </a:solidFill>
                <a:latin typeface="Roboto Mono"/>
                <a:ea typeface="Roboto Mono"/>
                <a:cs typeface="Roboto Mono"/>
                <a:sym typeface="Roboto Mono"/>
              </a:rPr>
              <a:t>cudaMemcpyDeviceToHost</a:t>
            </a:r>
            <a:r>
              <a:rPr lang="en-GB" dirty="0">
                <a:solidFill>
                  <a:srgbClr val="37474F"/>
                </a:solidFill>
                <a:latin typeface="Roboto Mono"/>
                <a:ea typeface="Roboto Mono"/>
                <a:cs typeface="Roboto Mono"/>
                <a:sym typeface="Roboto Mono"/>
              </a:rPr>
              <a:t>,</a:t>
            </a:r>
            <a:endParaRPr dirty="0">
              <a:solidFill>
                <a:srgbClr val="37474F"/>
              </a:solidFill>
              <a:latin typeface="Roboto Mono"/>
              <a:ea typeface="Roboto Mono"/>
              <a:cs typeface="Roboto Mono"/>
              <a:sym typeface="Roboto Mono"/>
            </a:endParaRPr>
          </a:p>
          <a:p>
            <a:pPr algn="l" rtl="0"/>
            <a:r>
              <a:rPr lang="en-GB" dirty="0">
                <a:solidFill>
                  <a:srgbClr val="37474F"/>
                </a:solidFill>
                <a:latin typeface="Roboto Mono"/>
                <a:ea typeface="Roboto Mono"/>
                <a:cs typeface="Roboto Mono"/>
                <a:sym typeface="Roboto Mono"/>
              </a:rPr>
              <a:t>    </a:t>
            </a:r>
            <a:r>
              <a:rPr lang="en-GB" dirty="0" err="1">
                <a:solidFill>
                  <a:srgbClr val="37474F"/>
                </a:solidFill>
                <a:latin typeface="Roboto Mono"/>
                <a:ea typeface="Roboto Mono"/>
                <a:cs typeface="Roboto Mono"/>
                <a:sym typeface="Roboto Mono"/>
              </a:rPr>
              <a:t>cudaMemcpyDeviceToDevice</a:t>
            </a:r>
            <a:endParaRPr dirty="0">
              <a:solidFill>
                <a:srgbClr val="37474F"/>
              </a:solidFill>
              <a:latin typeface="Roboto Mono"/>
              <a:ea typeface="Roboto Mono"/>
              <a:cs typeface="Roboto Mono"/>
              <a:sym typeface="Roboto Mono"/>
            </a:endParaRPr>
          </a:p>
          <a:p>
            <a:pPr algn="l" rtl="0">
              <a:lnSpc>
                <a:spcPct val="150000"/>
              </a:lnSpc>
            </a:pPr>
            <a:r>
              <a:rPr lang="en-GB" dirty="0">
                <a:solidFill>
                  <a:srgbClr val="37474F"/>
                </a:solidFill>
                <a:latin typeface="Roboto Mono"/>
                <a:ea typeface="Roboto Mono"/>
                <a:cs typeface="Roboto Mono"/>
                <a:sym typeface="Roboto Mono"/>
              </a:rPr>
              <a:t>} </a:t>
            </a:r>
            <a:r>
              <a:rPr lang="en-GB" dirty="0" err="1">
                <a:solidFill>
                  <a:srgbClr val="9C27B0"/>
                </a:solidFill>
                <a:latin typeface="Roboto Mono"/>
                <a:ea typeface="Roboto Mono"/>
                <a:cs typeface="Roboto Mono"/>
                <a:sym typeface="Roboto Mono"/>
              </a:rPr>
              <a:t>cudaMemcpyKind</a:t>
            </a:r>
            <a:endParaRPr dirty="0">
              <a:solidFill>
                <a:srgbClr val="9C27B0"/>
              </a:solidFill>
              <a:latin typeface="Roboto Mono"/>
              <a:ea typeface="Roboto Mono"/>
              <a:cs typeface="Roboto Mono"/>
              <a:sym typeface="Roboto Mono"/>
            </a:endParaRPr>
          </a:p>
        </p:txBody>
      </p:sp>
      <p:sp>
        <p:nvSpPr>
          <p:cNvPr id="418" name="Google Shape;418;p24"/>
          <p:cNvSpPr txBox="1">
            <a:spLocks noGrp="1"/>
          </p:cNvSpPr>
          <p:nvPr>
            <p:ph type="body" idx="1"/>
          </p:nvPr>
        </p:nvSpPr>
        <p:spPr>
          <a:xfrm>
            <a:off x="519600" y="4363333"/>
            <a:ext cx="11326400" cy="573600"/>
          </a:xfrm>
          <a:prstGeom prst="rect">
            <a:avLst/>
          </a:prstGeom>
        </p:spPr>
        <p:txBody>
          <a:bodyPr spcFirstLastPara="1" wrap="square" lIns="91433" tIns="91433" rIns="91433" bIns="91433" anchor="t" anchorCtr="0">
            <a:noAutofit/>
          </a:bodyPr>
          <a:lstStyle/>
          <a:p>
            <a:pPr marL="0" indent="0" rtl="0">
              <a:buNone/>
            </a:pPr>
            <a:r>
              <a:rPr lang="en-GB" sz="2267" b="1">
                <a:solidFill>
                  <a:schemeClr val="dk2"/>
                </a:solidFill>
              </a:rPr>
              <a:t>Freeing the memory</a:t>
            </a:r>
            <a:r>
              <a:rPr lang="en-GB" sz="2267"/>
              <a:t>:</a:t>
            </a:r>
            <a:endParaRPr sz="2267"/>
          </a:p>
          <a:p>
            <a:pPr marL="0" indent="0" rtl="0">
              <a:buNone/>
            </a:pPr>
            <a:endParaRPr sz="2267"/>
          </a:p>
          <a:p>
            <a:pPr marL="0" indent="0" rtl="0">
              <a:buNone/>
            </a:pPr>
            <a:endParaRPr sz="2267"/>
          </a:p>
        </p:txBody>
      </p:sp>
      <p:sp>
        <p:nvSpPr>
          <p:cNvPr id="419" name="Google Shape;419;p24"/>
          <p:cNvSpPr txBox="1"/>
          <p:nvPr/>
        </p:nvSpPr>
        <p:spPr>
          <a:xfrm>
            <a:off x="2947000" y="4839966"/>
            <a:ext cx="6268400" cy="661679"/>
          </a:xfrm>
          <a:prstGeom prst="rect">
            <a:avLst/>
          </a:prstGeom>
          <a:noFill/>
          <a:ln>
            <a:noFill/>
          </a:ln>
        </p:spPr>
        <p:txBody>
          <a:bodyPr spcFirstLastPara="1" wrap="square" lIns="121900" tIns="121900" rIns="121900" bIns="121900" anchor="t" anchorCtr="0">
            <a:spAutoFit/>
          </a:bodyPr>
          <a:lstStyle/>
          <a:p>
            <a:pPr algn="ctr" rtl="0">
              <a:lnSpc>
                <a:spcPct val="150000"/>
              </a:lnSpc>
            </a:pPr>
            <a:r>
              <a:rPr lang="en-GB">
                <a:solidFill>
                  <a:srgbClr val="9C27B0"/>
                </a:solidFill>
                <a:latin typeface="Roboto Mono"/>
                <a:ea typeface="Roboto Mono"/>
                <a:cs typeface="Roboto Mono"/>
                <a:sym typeface="Roboto Mono"/>
              </a:rPr>
              <a:t>cudaError_t</a:t>
            </a:r>
            <a:r>
              <a:rPr lang="en-GB">
                <a:solidFill>
                  <a:srgbClr val="37474F"/>
                </a:solidFill>
                <a:latin typeface="Roboto Mono"/>
                <a:ea typeface="Roboto Mono"/>
                <a:cs typeface="Roboto Mono"/>
                <a:sym typeface="Roboto Mono"/>
              </a:rPr>
              <a:t> cudaFree(</a:t>
            </a:r>
            <a:r>
              <a:rPr lang="en-GB">
                <a:solidFill>
                  <a:srgbClr val="3F51B5"/>
                </a:solidFill>
                <a:latin typeface="Roboto Mono"/>
                <a:ea typeface="Roboto Mono"/>
                <a:cs typeface="Roboto Mono"/>
                <a:sym typeface="Roboto Mono"/>
              </a:rPr>
              <a:t>void</a:t>
            </a:r>
            <a:r>
              <a:rPr lang="en-GB">
                <a:solidFill>
                  <a:srgbClr val="37474F"/>
                </a:solidFill>
                <a:latin typeface="Roboto Mono"/>
                <a:ea typeface="Roboto Mono"/>
                <a:cs typeface="Roboto Mono"/>
                <a:sym typeface="Roboto Mono"/>
              </a:rPr>
              <a:t>* devPtr)</a:t>
            </a:r>
            <a:endParaRPr>
              <a:solidFill>
                <a:srgbClr val="37474F"/>
              </a:solidFill>
              <a:latin typeface="Roboto Mono"/>
              <a:ea typeface="Roboto Mono"/>
              <a:cs typeface="Roboto Mono"/>
              <a:sym typeface="Roboto Mono"/>
            </a:endParaRPr>
          </a:p>
        </p:txBody>
      </p:sp>
      <p:sp>
        <p:nvSpPr>
          <p:cNvPr id="420" name="Google Shape;420;p24"/>
          <p:cNvSpPr txBox="1">
            <a:spLocks noGrp="1"/>
          </p:cNvSpPr>
          <p:nvPr>
            <p:ph type="body" idx="1"/>
          </p:nvPr>
        </p:nvSpPr>
        <p:spPr>
          <a:xfrm>
            <a:off x="519600" y="5444500"/>
            <a:ext cx="11326400" cy="573600"/>
          </a:xfrm>
          <a:prstGeom prst="rect">
            <a:avLst/>
          </a:prstGeom>
        </p:spPr>
        <p:txBody>
          <a:bodyPr spcFirstLastPara="1" wrap="square" lIns="91433" tIns="91433" rIns="91433" bIns="91433" anchor="t" anchorCtr="0">
            <a:noAutofit/>
          </a:bodyPr>
          <a:lstStyle/>
          <a:p>
            <a:pPr marL="0" indent="0" rtl="0">
              <a:buNone/>
            </a:pPr>
            <a:r>
              <a:rPr lang="en-GB" dirty="0"/>
              <a:t>There are others </a:t>
            </a:r>
            <a:r>
              <a:rPr lang="en-GB" u="sng" dirty="0">
                <a:solidFill>
                  <a:schemeClr val="hlink"/>
                </a:solidFill>
                <a:hlinkClick r:id="rId4"/>
              </a:rPr>
              <a:t>memory management functions</a:t>
            </a:r>
            <a:r>
              <a:rPr lang="en-GB" dirty="0"/>
              <a:t> (e.g., </a:t>
            </a:r>
            <a:r>
              <a:rPr lang="en-GB" dirty="0" err="1">
                <a:solidFill>
                  <a:srgbClr val="188038"/>
                </a:solidFill>
                <a:latin typeface="Roboto Mono"/>
                <a:ea typeface="Roboto Mono"/>
                <a:cs typeface="Roboto Mono"/>
                <a:sym typeface="Roboto Mono"/>
              </a:rPr>
              <a:t>cudaMemset</a:t>
            </a:r>
            <a:r>
              <a:rPr lang="en-GB" dirty="0"/>
              <a:t>), they are similar to their C-equivalent. Have a look at them!</a:t>
            </a:r>
            <a:endParaRPr dirty="0"/>
          </a:p>
          <a:p>
            <a:pPr marL="0" indent="0" rtl="0">
              <a:buNone/>
            </a:pPr>
            <a:endParaRPr dirty="0"/>
          </a:p>
          <a:p>
            <a:pPr marL="0" indent="0" rtl="0">
              <a:buNone/>
            </a:pP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6" name="Google Shape;426;p25"/>
          <p:cNvSpPr txBox="1">
            <a:spLocks noGrp="1"/>
          </p:cNvSpPr>
          <p:nvPr>
            <p:ph type="sldNum" idx="12"/>
          </p:nvPr>
        </p:nvSpPr>
        <p:spPr>
          <a:xfrm>
            <a:off x="11466783" y="5913927"/>
            <a:ext cx="731600" cy="418000"/>
          </a:xfrm>
          <a:prstGeom prst="rect">
            <a:avLst/>
          </a:prstGeom>
        </p:spPr>
        <p:txBody>
          <a:bodyPr spcFirstLastPara="1" wrap="square" lIns="91433" tIns="91433" rIns="91433" bIns="91433" anchor="t" anchorCtr="0">
            <a:noAutofit/>
          </a:bodyPr>
          <a:lstStyle/>
          <a:p>
            <a:pPr rtl="0"/>
            <a:fld id="{00000000-1234-1234-1234-123412341234}" type="slidenum">
              <a:rPr lang="en-GB"/>
              <a:pPr rtl="0"/>
              <a:t>17</a:t>
            </a:fld>
            <a:endParaRPr/>
          </a:p>
        </p:txBody>
      </p:sp>
      <p:sp>
        <p:nvSpPr>
          <p:cNvPr id="427" name="Google Shape;427;p25"/>
          <p:cNvSpPr txBox="1"/>
          <p:nvPr/>
        </p:nvSpPr>
        <p:spPr>
          <a:xfrm>
            <a:off x="223800" y="947201"/>
            <a:ext cx="8729200" cy="5560393"/>
          </a:xfrm>
          <a:prstGeom prst="rect">
            <a:avLst/>
          </a:prstGeom>
          <a:noFill/>
          <a:ln>
            <a:noFill/>
          </a:ln>
        </p:spPr>
        <p:txBody>
          <a:bodyPr spcFirstLastPara="1" wrap="square" lIns="121900" tIns="121900" rIns="121900" bIns="121900" anchor="t" anchorCtr="0">
            <a:spAutoFit/>
          </a:bodyPr>
          <a:lstStyle/>
          <a:p>
            <a:pPr algn="l" rtl="0"/>
            <a:r>
              <a:rPr lang="en-GB" sz="1600" dirty="0">
                <a:solidFill>
                  <a:srgbClr val="37474F"/>
                </a:solidFill>
                <a:latin typeface="Roboto Mono"/>
                <a:ea typeface="Roboto Mono"/>
                <a:cs typeface="Roboto Mono"/>
                <a:sym typeface="Roboto Mono"/>
              </a:rPr>
              <a:t>__global__ </a:t>
            </a:r>
            <a:r>
              <a:rPr lang="en-GB" sz="1600" dirty="0">
                <a:solidFill>
                  <a:srgbClr val="3F51B5"/>
                </a:solidFill>
                <a:latin typeface="Roboto Mono"/>
                <a:ea typeface="Roboto Mono"/>
                <a:cs typeface="Roboto Mono"/>
                <a:sym typeface="Roboto Mono"/>
              </a:rPr>
              <a:t>void</a:t>
            </a:r>
            <a:r>
              <a:rPr lang="en-GB" sz="1600" dirty="0">
                <a:solidFill>
                  <a:srgbClr val="37474F"/>
                </a:solidFill>
                <a:latin typeface="Roboto Mono"/>
                <a:ea typeface="Roboto Mono"/>
                <a:cs typeface="Roboto Mono"/>
                <a:sym typeface="Roboto Mono"/>
              </a:rPr>
              <a:t> </a:t>
            </a:r>
            <a:r>
              <a:rPr lang="en-GB" sz="1600" dirty="0" err="1">
                <a:solidFill>
                  <a:srgbClr val="37474F"/>
                </a:solidFill>
                <a:latin typeface="Roboto Mono"/>
                <a:ea typeface="Roboto Mono"/>
                <a:cs typeface="Roboto Mono"/>
                <a:sym typeface="Roboto Mono"/>
              </a:rPr>
              <a:t>scal</a:t>
            </a:r>
            <a:r>
              <a:rPr lang="en-GB" sz="1600" dirty="0">
                <a:solidFill>
                  <a:srgbClr val="37474F"/>
                </a:solidFill>
                <a:latin typeface="Roboto Mono"/>
                <a:ea typeface="Roboto Mono"/>
                <a:cs typeface="Roboto Mono"/>
                <a:sym typeface="Roboto Mono"/>
              </a:rPr>
              <a:t>(</a:t>
            </a:r>
            <a:r>
              <a:rPr lang="en-GB" sz="1600" dirty="0">
                <a:solidFill>
                  <a:srgbClr val="3F51B5"/>
                </a:solidFill>
                <a:latin typeface="Roboto Mono"/>
                <a:ea typeface="Roboto Mono"/>
                <a:cs typeface="Roboto Mono"/>
                <a:sym typeface="Roboto Mono"/>
              </a:rPr>
              <a:t>int</a:t>
            </a:r>
            <a:r>
              <a:rPr lang="en-GB" sz="1600" dirty="0">
                <a:solidFill>
                  <a:srgbClr val="37474F"/>
                </a:solidFill>
                <a:latin typeface="Roboto Mono"/>
                <a:ea typeface="Roboto Mono"/>
                <a:cs typeface="Roboto Mono"/>
                <a:sym typeface="Roboto Mono"/>
              </a:rPr>
              <a:t> N, </a:t>
            </a:r>
            <a:r>
              <a:rPr lang="en-GB" sz="1600" dirty="0">
                <a:solidFill>
                  <a:srgbClr val="3F51B5"/>
                </a:solidFill>
                <a:latin typeface="Roboto Mono"/>
                <a:ea typeface="Roboto Mono"/>
                <a:cs typeface="Roboto Mono"/>
                <a:sym typeface="Roboto Mono"/>
              </a:rPr>
              <a:t>float</a:t>
            </a:r>
            <a:r>
              <a:rPr lang="en-GB" sz="1600" dirty="0">
                <a:solidFill>
                  <a:srgbClr val="37474F"/>
                </a:solidFill>
                <a:latin typeface="Roboto Mono"/>
                <a:ea typeface="Roboto Mono"/>
                <a:cs typeface="Roboto Mono"/>
                <a:sym typeface="Roboto Mono"/>
              </a:rPr>
              <a:t> alpha, </a:t>
            </a:r>
            <a:r>
              <a:rPr lang="en-GB" sz="1600" dirty="0">
                <a:solidFill>
                  <a:srgbClr val="3F51B5"/>
                </a:solidFill>
                <a:latin typeface="Roboto Mono"/>
                <a:ea typeface="Roboto Mono"/>
                <a:cs typeface="Roboto Mono"/>
                <a:sym typeface="Roboto Mono"/>
              </a:rPr>
              <a:t>float</a:t>
            </a:r>
            <a:r>
              <a:rPr lang="en-GB" sz="1600" dirty="0">
                <a:solidFill>
                  <a:srgbClr val="37474F"/>
                </a:solidFill>
                <a:latin typeface="Roboto Mono"/>
                <a:ea typeface="Roboto Mono"/>
                <a:cs typeface="Roboto Mono"/>
                <a:sym typeface="Roboto Mono"/>
              </a:rPr>
              <a:t> *x, </a:t>
            </a:r>
            <a:r>
              <a:rPr lang="en-GB" sz="1600" dirty="0">
                <a:solidFill>
                  <a:srgbClr val="3F51B5"/>
                </a:solidFill>
                <a:latin typeface="Roboto Mono"/>
                <a:ea typeface="Roboto Mono"/>
                <a:cs typeface="Roboto Mono"/>
                <a:sym typeface="Roboto Mono"/>
              </a:rPr>
              <a:t>float</a:t>
            </a:r>
            <a:r>
              <a:rPr lang="en-GB" sz="1600" dirty="0">
                <a:solidFill>
                  <a:srgbClr val="37474F"/>
                </a:solidFill>
                <a:latin typeface="Roboto Mono"/>
                <a:ea typeface="Roboto Mono"/>
                <a:cs typeface="Roboto Mono"/>
                <a:sym typeface="Roboto Mono"/>
              </a:rPr>
              <a:t> *y) {</a:t>
            </a:r>
            <a:endParaRPr sz="1600" dirty="0">
              <a:solidFill>
                <a:srgbClr val="37474F"/>
              </a:solidFill>
              <a:latin typeface="Roboto Mono"/>
              <a:ea typeface="Roboto Mono"/>
              <a:cs typeface="Roboto Mono"/>
              <a:sym typeface="Roboto Mono"/>
            </a:endParaRPr>
          </a:p>
          <a:p>
            <a:pPr algn="l" rtl="0"/>
            <a:r>
              <a:rPr lang="en-GB" sz="1600" dirty="0">
                <a:solidFill>
                  <a:srgbClr val="37474F"/>
                </a:solidFill>
                <a:latin typeface="Roboto Mono"/>
                <a:ea typeface="Roboto Mono"/>
                <a:cs typeface="Roboto Mono"/>
                <a:sym typeface="Roboto Mono"/>
              </a:rPr>
              <a:t>    </a:t>
            </a:r>
            <a:r>
              <a:rPr lang="en-GB" sz="1600" dirty="0">
                <a:solidFill>
                  <a:srgbClr val="D81B60"/>
                </a:solidFill>
                <a:latin typeface="Roboto Mono"/>
                <a:ea typeface="Roboto Mono"/>
                <a:cs typeface="Roboto Mono"/>
                <a:sym typeface="Roboto Mono"/>
              </a:rPr>
              <a:t>//..</a:t>
            </a:r>
            <a:endParaRPr sz="1600" dirty="0">
              <a:solidFill>
                <a:srgbClr val="37474F"/>
              </a:solidFill>
              <a:latin typeface="Roboto Mono"/>
              <a:ea typeface="Roboto Mono"/>
              <a:cs typeface="Roboto Mono"/>
              <a:sym typeface="Roboto Mono"/>
            </a:endParaRPr>
          </a:p>
          <a:p>
            <a:pPr algn="l" rtl="0"/>
            <a:r>
              <a:rPr lang="en-GB" sz="1600" dirty="0">
                <a:solidFill>
                  <a:srgbClr val="37474F"/>
                </a:solidFill>
                <a:latin typeface="Roboto Mono"/>
                <a:ea typeface="Roboto Mono"/>
                <a:cs typeface="Roboto Mono"/>
                <a:sym typeface="Roboto Mono"/>
              </a:rPr>
              <a:t>}</a:t>
            </a:r>
            <a:endParaRPr sz="1600" dirty="0">
              <a:solidFill>
                <a:srgbClr val="37474F"/>
              </a:solidFill>
              <a:latin typeface="Roboto Mono"/>
              <a:ea typeface="Roboto Mono"/>
              <a:cs typeface="Roboto Mono"/>
              <a:sym typeface="Roboto Mono"/>
            </a:endParaRPr>
          </a:p>
          <a:p>
            <a:pPr algn="l" rtl="0"/>
            <a:endParaRPr sz="1600" dirty="0">
              <a:solidFill>
                <a:srgbClr val="37474F"/>
              </a:solidFill>
              <a:latin typeface="Roboto Mono"/>
              <a:ea typeface="Roboto Mono"/>
              <a:cs typeface="Roboto Mono"/>
              <a:sym typeface="Roboto Mono"/>
            </a:endParaRPr>
          </a:p>
          <a:p>
            <a:pPr algn="l" rtl="0"/>
            <a:r>
              <a:rPr lang="en-GB" sz="1600" dirty="0">
                <a:solidFill>
                  <a:srgbClr val="3F51B5"/>
                </a:solidFill>
                <a:latin typeface="Roboto Mono"/>
                <a:ea typeface="Roboto Mono"/>
                <a:cs typeface="Roboto Mono"/>
                <a:sym typeface="Roboto Mono"/>
              </a:rPr>
              <a:t>int</a:t>
            </a:r>
            <a:r>
              <a:rPr lang="en-GB" sz="1600" dirty="0">
                <a:solidFill>
                  <a:srgbClr val="37474F"/>
                </a:solidFill>
                <a:latin typeface="Roboto Mono"/>
                <a:ea typeface="Roboto Mono"/>
                <a:cs typeface="Roboto Mono"/>
                <a:sym typeface="Roboto Mono"/>
              </a:rPr>
              <a:t> main(</a:t>
            </a:r>
            <a:r>
              <a:rPr lang="en-GB" sz="1600" dirty="0">
                <a:solidFill>
                  <a:srgbClr val="3F51B5"/>
                </a:solidFill>
                <a:latin typeface="Roboto Mono"/>
                <a:ea typeface="Roboto Mono"/>
                <a:cs typeface="Roboto Mono"/>
                <a:sym typeface="Roboto Mono"/>
              </a:rPr>
              <a:t>int</a:t>
            </a:r>
            <a:r>
              <a:rPr lang="en-GB" sz="1600" dirty="0">
                <a:solidFill>
                  <a:srgbClr val="37474F"/>
                </a:solidFill>
                <a:latin typeface="Roboto Mono"/>
                <a:ea typeface="Roboto Mono"/>
                <a:cs typeface="Roboto Mono"/>
                <a:sym typeface="Roboto Mono"/>
              </a:rPr>
              <a:t> </a:t>
            </a:r>
            <a:r>
              <a:rPr lang="en-GB" sz="1600" dirty="0" err="1">
                <a:solidFill>
                  <a:srgbClr val="37474F"/>
                </a:solidFill>
                <a:latin typeface="Roboto Mono"/>
                <a:ea typeface="Roboto Mono"/>
                <a:cs typeface="Roboto Mono"/>
                <a:sym typeface="Roboto Mono"/>
              </a:rPr>
              <a:t>argc</a:t>
            </a:r>
            <a:r>
              <a:rPr lang="en-GB" sz="1600" dirty="0">
                <a:solidFill>
                  <a:srgbClr val="37474F"/>
                </a:solidFill>
                <a:latin typeface="Roboto Mono"/>
                <a:ea typeface="Roboto Mono"/>
                <a:cs typeface="Roboto Mono"/>
                <a:sym typeface="Roboto Mono"/>
              </a:rPr>
              <a:t>, </a:t>
            </a:r>
            <a:r>
              <a:rPr lang="en-GB" sz="1600" dirty="0">
                <a:solidFill>
                  <a:srgbClr val="3F51B5"/>
                </a:solidFill>
                <a:latin typeface="Roboto Mono"/>
                <a:ea typeface="Roboto Mono"/>
                <a:cs typeface="Roboto Mono"/>
                <a:sym typeface="Roboto Mono"/>
              </a:rPr>
              <a:t>char</a:t>
            </a:r>
            <a:r>
              <a:rPr lang="en-GB" sz="1600" dirty="0">
                <a:solidFill>
                  <a:srgbClr val="37474F"/>
                </a:solidFill>
                <a:latin typeface="Roboto Mono"/>
                <a:ea typeface="Roboto Mono"/>
                <a:cs typeface="Roboto Mono"/>
                <a:sym typeface="Roboto Mono"/>
              </a:rPr>
              <a:t> **</a:t>
            </a:r>
            <a:r>
              <a:rPr lang="en-GB" sz="1600" dirty="0" err="1">
                <a:solidFill>
                  <a:srgbClr val="37474F"/>
                </a:solidFill>
                <a:latin typeface="Roboto Mono"/>
                <a:ea typeface="Roboto Mono"/>
                <a:cs typeface="Roboto Mono"/>
                <a:sym typeface="Roboto Mono"/>
              </a:rPr>
              <a:t>argv</a:t>
            </a:r>
            <a:r>
              <a:rPr lang="en-GB" sz="1600" dirty="0">
                <a:solidFill>
                  <a:srgbClr val="37474F"/>
                </a:solidFill>
                <a:latin typeface="Roboto Mono"/>
                <a:ea typeface="Roboto Mono"/>
                <a:cs typeface="Roboto Mono"/>
                <a:sym typeface="Roboto Mono"/>
              </a:rPr>
              <a:t>){</a:t>
            </a:r>
            <a:endParaRPr sz="1600" dirty="0">
              <a:solidFill>
                <a:srgbClr val="37474F"/>
              </a:solidFill>
              <a:latin typeface="Roboto Mono"/>
              <a:ea typeface="Roboto Mono"/>
              <a:cs typeface="Roboto Mono"/>
              <a:sym typeface="Roboto Mono"/>
            </a:endParaRPr>
          </a:p>
          <a:p>
            <a:pPr algn="l" rtl="0"/>
            <a:r>
              <a:rPr lang="en-GB" sz="1600" dirty="0">
                <a:solidFill>
                  <a:srgbClr val="37474F"/>
                </a:solidFill>
                <a:latin typeface="Roboto Mono"/>
                <a:ea typeface="Roboto Mono"/>
                <a:cs typeface="Roboto Mono"/>
                <a:sym typeface="Roboto Mono"/>
              </a:rPr>
              <a:t>    </a:t>
            </a:r>
            <a:r>
              <a:rPr lang="en-GB" sz="1600" dirty="0">
                <a:solidFill>
                  <a:srgbClr val="3F51B5"/>
                </a:solidFill>
                <a:latin typeface="Roboto Mono"/>
                <a:ea typeface="Roboto Mono"/>
                <a:cs typeface="Roboto Mono"/>
                <a:sym typeface="Roboto Mono"/>
              </a:rPr>
              <a:t>int</a:t>
            </a:r>
            <a:r>
              <a:rPr lang="en-GB" sz="1600" dirty="0">
                <a:solidFill>
                  <a:srgbClr val="37474F"/>
                </a:solidFill>
                <a:latin typeface="Roboto Mono"/>
                <a:ea typeface="Roboto Mono"/>
                <a:cs typeface="Roboto Mono"/>
                <a:sym typeface="Roboto Mono"/>
              </a:rPr>
              <a:t> N = </a:t>
            </a:r>
            <a:r>
              <a:rPr lang="en-GB" sz="1600" dirty="0">
                <a:solidFill>
                  <a:srgbClr val="D81B60"/>
                </a:solidFill>
                <a:latin typeface="Roboto Mono"/>
                <a:ea typeface="Roboto Mono"/>
                <a:cs typeface="Roboto Mono"/>
                <a:sym typeface="Roboto Mono"/>
              </a:rPr>
              <a:t>//...</a:t>
            </a:r>
            <a:endParaRPr sz="1600" dirty="0">
              <a:solidFill>
                <a:srgbClr val="37474F"/>
              </a:solidFill>
              <a:latin typeface="Roboto Mono"/>
              <a:ea typeface="Roboto Mono"/>
              <a:cs typeface="Roboto Mono"/>
              <a:sym typeface="Roboto Mono"/>
            </a:endParaRPr>
          </a:p>
          <a:p>
            <a:pPr algn="l" rtl="0"/>
            <a:r>
              <a:rPr lang="en-GB" sz="1600" dirty="0">
                <a:solidFill>
                  <a:srgbClr val="37474F"/>
                </a:solidFill>
                <a:latin typeface="Roboto Mono"/>
                <a:ea typeface="Roboto Mono"/>
                <a:cs typeface="Roboto Mono"/>
                <a:sym typeface="Roboto Mono"/>
              </a:rPr>
              <a:t>    </a:t>
            </a:r>
            <a:r>
              <a:rPr lang="en-GB" sz="1600" dirty="0">
                <a:solidFill>
                  <a:srgbClr val="3F51B5"/>
                </a:solidFill>
                <a:latin typeface="Roboto Mono"/>
                <a:ea typeface="Roboto Mono"/>
                <a:cs typeface="Roboto Mono"/>
                <a:sym typeface="Roboto Mono"/>
              </a:rPr>
              <a:t>float</a:t>
            </a:r>
            <a:r>
              <a:rPr lang="en-GB" sz="1600" dirty="0">
                <a:solidFill>
                  <a:srgbClr val="37474F"/>
                </a:solidFill>
                <a:latin typeface="Roboto Mono"/>
                <a:ea typeface="Roboto Mono"/>
                <a:cs typeface="Roboto Mono"/>
                <a:sym typeface="Roboto Mono"/>
              </a:rPr>
              <a:t> *</a:t>
            </a:r>
            <a:r>
              <a:rPr lang="en-GB" sz="1600" dirty="0" err="1">
                <a:solidFill>
                  <a:srgbClr val="37474F"/>
                </a:solidFill>
                <a:latin typeface="Roboto Mono"/>
                <a:ea typeface="Roboto Mono"/>
                <a:cs typeface="Roboto Mono"/>
                <a:sym typeface="Roboto Mono"/>
              </a:rPr>
              <a:t>x_h</a:t>
            </a:r>
            <a:r>
              <a:rPr lang="en-GB" sz="1600" dirty="0">
                <a:solidFill>
                  <a:srgbClr val="37474F"/>
                </a:solidFill>
                <a:latin typeface="Roboto Mono"/>
                <a:ea typeface="Roboto Mono"/>
                <a:cs typeface="Roboto Mono"/>
                <a:sym typeface="Roboto Mono"/>
              </a:rPr>
              <a:t> = </a:t>
            </a:r>
            <a:r>
              <a:rPr lang="en-GB" sz="1600" dirty="0">
                <a:solidFill>
                  <a:srgbClr val="3F51B5"/>
                </a:solidFill>
                <a:latin typeface="Roboto Mono"/>
                <a:ea typeface="Roboto Mono"/>
                <a:cs typeface="Roboto Mono"/>
                <a:sym typeface="Roboto Mono"/>
              </a:rPr>
              <a:t>malloc</a:t>
            </a:r>
            <a:r>
              <a:rPr lang="en-GB" sz="1600" dirty="0">
                <a:solidFill>
                  <a:srgbClr val="37474F"/>
                </a:solidFill>
                <a:latin typeface="Roboto Mono"/>
                <a:ea typeface="Roboto Mono"/>
                <a:cs typeface="Roboto Mono"/>
                <a:sym typeface="Roboto Mono"/>
              </a:rPr>
              <a:t>(N * </a:t>
            </a:r>
            <a:r>
              <a:rPr lang="en-GB" sz="1600" dirty="0" err="1">
                <a:solidFill>
                  <a:srgbClr val="37474F"/>
                </a:solidFill>
                <a:latin typeface="Roboto Mono"/>
                <a:ea typeface="Roboto Mono"/>
                <a:cs typeface="Roboto Mono"/>
                <a:sym typeface="Roboto Mono"/>
              </a:rPr>
              <a:t>sizeof</a:t>
            </a:r>
            <a:r>
              <a:rPr lang="en-GB" sz="1600" dirty="0">
                <a:solidFill>
                  <a:srgbClr val="37474F"/>
                </a:solidFill>
                <a:latin typeface="Roboto Mono"/>
                <a:ea typeface="Roboto Mono"/>
                <a:cs typeface="Roboto Mono"/>
                <a:sym typeface="Roboto Mono"/>
              </a:rPr>
              <a:t>(</a:t>
            </a:r>
            <a:r>
              <a:rPr lang="en-GB" sz="1600" dirty="0">
                <a:solidFill>
                  <a:srgbClr val="3F51B5"/>
                </a:solidFill>
                <a:latin typeface="Roboto Mono"/>
                <a:ea typeface="Roboto Mono"/>
                <a:cs typeface="Roboto Mono"/>
                <a:sym typeface="Roboto Mono"/>
              </a:rPr>
              <a:t>float</a:t>
            </a:r>
            <a:r>
              <a:rPr lang="en-GB" sz="1600" dirty="0">
                <a:solidFill>
                  <a:srgbClr val="37474F"/>
                </a:solidFill>
                <a:latin typeface="Roboto Mono"/>
                <a:ea typeface="Roboto Mono"/>
                <a:cs typeface="Roboto Mono"/>
                <a:sym typeface="Roboto Mono"/>
              </a:rPr>
              <a:t>))</a:t>
            </a:r>
            <a:r>
              <a:rPr lang="en-GB" sz="1733" dirty="0">
                <a:solidFill>
                  <a:srgbClr val="37474F"/>
                </a:solidFill>
                <a:latin typeface="Roboto Mono"/>
                <a:ea typeface="Roboto Mono"/>
                <a:cs typeface="Roboto Mono"/>
                <a:sym typeface="Roboto Mono"/>
              </a:rPr>
              <a:t>; </a:t>
            </a:r>
            <a:r>
              <a:rPr lang="en-GB" sz="1733" dirty="0">
                <a:solidFill>
                  <a:srgbClr val="3F51B5"/>
                </a:solidFill>
                <a:latin typeface="Roboto Mono"/>
                <a:ea typeface="Roboto Mono"/>
                <a:cs typeface="Roboto Mono"/>
                <a:sym typeface="Roboto Mono"/>
              </a:rPr>
              <a:t>float</a:t>
            </a:r>
            <a:r>
              <a:rPr lang="en-GB" sz="1733" dirty="0">
                <a:solidFill>
                  <a:srgbClr val="37474F"/>
                </a:solidFill>
                <a:latin typeface="Roboto Mono"/>
                <a:ea typeface="Roboto Mono"/>
                <a:cs typeface="Roboto Mono"/>
                <a:sym typeface="Roboto Mono"/>
              </a:rPr>
              <a:t> *</a:t>
            </a:r>
            <a:r>
              <a:rPr lang="en-GB" sz="1733" dirty="0" err="1">
                <a:solidFill>
                  <a:srgbClr val="37474F"/>
                </a:solidFill>
                <a:latin typeface="Roboto Mono"/>
                <a:ea typeface="Roboto Mono"/>
                <a:cs typeface="Roboto Mono"/>
                <a:sym typeface="Roboto Mono"/>
              </a:rPr>
              <a:t>y_h</a:t>
            </a:r>
            <a:r>
              <a:rPr lang="en-GB" sz="1733" dirty="0">
                <a:solidFill>
                  <a:srgbClr val="37474F"/>
                </a:solidFill>
                <a:latin typeface="Roboto Mono"/>
                <a:ea typeface="Roboto Mono"/>
                <a:cs typeface="Roboto Mono"/>
                <a:sym typeface="Roboto Mono"/>
              </a:rPr>
              <a:t>= </a:t>
            </a:r>
            <a:r>
              <a:rPr lang="en-GB" sz="1600" dirty="0">
                <a:solidFill>
                  <a:srgbClr val="D81B60"/>
                </a:solidFill>
                <a:latin typeface="Roboto Mono"/>
                <a:ea typeface="Roboto Mono"/>
                <a:cs typeface="Roboto Mono"/>
                <a:sym typeface="Roboto Mono"/>
              </a:rPr>
              <a:t>//...</a:t>
            </a:r>
            <a:r>
              <a:rPr lang="en-GB" sz="1733" dirty="0">
                <a:solidFill>
                  <a:srgbClr val="37474F"/>
                </a:solidFill>
                <a:latin typeface="Roboto Mono"/>
                <a:ea typeface="Roboto Mono"/>
                <a:cs typeface="Roboto Mono"/>
                <a:sym typeface="Roboto Mono"/>
              </a:rPr>
              <a:t> </a:t>
            </a:r>
            <a:endParaRPr sz="1600" dirty="0">
              <a:solidFill>
                <a:srgbClr val="37474F"/>
              </a:solidFill>
              <a:latin typeface="Roboto Mono"/>
              <a:ea typeface="Roboto Mono"/>
              <a:cs typeface="Roboto Mono"/>
              <a:sym typeface="Roboto Mono"/>
            </a:endParaRPr>
          </a:p>
          <a:p>
            <a:pPr algn="l" rtl="0"/>
            <a:r>
              <a:rPr lang="en-GB" sz="1600" dirty="0">
                <a:solidFill>
                  <a:srgbClr val="37474F"/>
                </a:solidFill>
                <a:latin typeface="Roboto Mono"/>
                <a:ea typeface="Roboto Mono"/>
                <a:cs typeface="Roboto Mono"/>
                <a:sym typeface="Roboto Mono"/>
              </a:rPr>
              <a:t>    </a:t>
            </a:r>
            <a:r>
              <a:rPr lang="en-GB" sz="1600" dirty="0">
                <a:solidFill>
                  <a:srgbClr val="3F51B5"/>
                </a:solidFill>
                <a:latin typeface="Roboto Mono"/>
                <a:ea typeface="Roboto Mono"/>
                <a:cs typeface="Roboto Mono"/>
                <a:sym typeface="Roboto Mono"/>
              </a:rPr>
              <a:t>float</a:t>
            </a:r>
            <a:r>
              <a:rPr lang="en-GB" sz="1600" dirty="0">
                <a:solidFill>
                  <a:srgbClr val="37474F"/>
                </a:solidFill>
                <a:latin typeface="Roboto Mono"/>
                <a:ea typeface="Roboto Mono"/>
                <a:cs typeface="Roboto Mono"/>
                <a:sym typeface="Roboto Mono"/>
              </a:rPr>
              <a:t> *</a:t>
            </a:r>
            <a:r>
              <a:rPr lang="en-GB" sz="1600" dirty="0" err="1">
                <a:solidFill>
                  <a:srgbClr val="37474F"/>
                </a:solidFill>
                <a:latin typeface="Roboto Mono"/>
                <a:ea typeface="Roboto Mono"/>
                <a:cs typeface="Roboto Mono"/>
                <a:sym typeface="Roboto Mono"/>
              </a:rPr>
              <a:t>x_d</a:t>
            </a:r>
            <a:r>
              <a:rPr lang="en-GB" sz="1600" dirty="0">
                <a:solidFill>
                  <a:srgbClr val="37474F"/>
                </a:solidFill>
                <a:latin typeface="Roboto Mono"/>
                <a:ea typeface="Roboto Mono"/>
                <a:cs typeface="Roboto Mono"/>
                <a:sym typeface="Roboto Mono"/>
              </a:rPr>
              <a:t>, *</a:t>
            </a:r>
            <a:r>
              <a:rPr lang="en-GB" sz="1600" dirty="0" err="1">
                <a:solidFill>
                  <a:srgbClr val="37474F"/>
                </a:solidFill>
                <a:latin typeface="Roboto Mono"/>
                <a:ea typeface="Roboto Mono"/>
                <a:cs typeface="Roboto Mono"/>
                <a:sym typeface="Roboto Mono"/>
              </a:rPr>
              <a:t>y_d</a:t>
            </a:r>
            <a:r>
              <a:rPr lang="en-GB" sz="1600" dirty="0">
                <a:solidFill>
                  <a:srgbClr val="37474F"/>
                </a:solidFill>
                <a:latin typeface="Roboto Mono"/>
                <a:ea typeface="Roboto Mono"/>
                <a:cs typeface="Roboto Mono"/>
                <a:sym typeface="Roboto Mono"/>
              </a:rPr>
              <a:t>;</a:t>
            </a:r>
            <a:endParaRPr sz="1600" dirty="0">
              <a:solidFill>
                <a:srgbClr val="37474F"/>
              </a:solidFill>
              <a:latin typeface="Roboto Mono"/>
              <a:ea typeface="Roboto Mono"/>
              <a:cs typeface="Roboto Mono"/>
              <a:sym typeface="Roboto Mono"/>
            </a:endParaRPr>
          </a:p>
          <a:p>
            <a:pPr algn="l" rtl="0"/>
            <a:endParaRPr sz="1600" dirty="0">
              <a:solidFill>
                <a:srgbClr val="37474F"/>
              </a:solidFill>
              <a:latin typeface="Roboto Mono"/>
              <a:ea typeface="Roboto Mono"/>
              <a:cs typeface="Roboto Mono"/>
              <a:sym typeface="Roboto Mono"/>
            </a:endParaRPr>
          </a:p>
          <a:p>
            <a:pPr algn="l" rtl="0"/>
            <a:r>
              <a:rPr lang="en-GB" sz="1600" dirty="0">
                <a:solidFill>
                  <a:srgbClr val="37474F"/>
                </a:solidFill>
                <a:latin typeface="Roboto Mono"/>
                <a:ea typeface="Roboto Mono"/>
                <a:cs typeface="Roboto Mono"/>
                <a:sym typeface="Roboto Mono"/>
              </a:rPr>
              <a:t>    </a:t>
            </a:r>
            <a:r>
              <a:rPr lang="en-GB" sz="1600" u="sng" dirty="0" err="1">
                <a:solidFill>
                  <a:srgbClr val="37474F"/>
                </a:solidFill>
                <a:latin typeface="Roboto Mono"/>
                <a:ea typeface="Roboto Mono"/>
                <a:cs typeface="Roboto Mono"/>
                <a:sym typeface="Roboto Mono"/>
              </a:rPr>
              <a:t>cudaMalloc</a:t>
            </a:r>
            <a:r>
              <a:rPr lang="en-GB" sz="1600" dirty="0">
                <a:solidFill>
                  <a:srgbClr val="37474F"/>
                </a:solidFill>
                <a:latin typeface="Roboto Mono"/>
                <a:ea typeface="Roboto Mono"/>
                <a:cs typeface="Roboto Mono"/>
                <a:sym typeface="Roboto Mono"/>
              </a:rPr>
              <a:t>((</a:t>
            </a:r>
            <a:r>
              <a:rPr lang="en-GB" sz="1600" dirty="0">
                <a:solidFill>
                  <a:srgbClr val="3F51B5"/>
                </a:solidFill>
                <a:latin typeface="Roboto Mono"/>
                <a:ea typeface="Roboto Mono"/>
                <a:cs typeface="Roboto Mono"/>
                <a:sym typeface="Roboto Mono"/>
              </a:rPr>
              <a:t>void</a:t>
            </a:r>
            <a:r>
              <a:rPr lang="en-GB" sz="1600" dirty="0">
                <a:solidFill>
                  <a:srgbClr val="37474F"/>
                </a:solidFill>
                <a:latin typeface="Roboto Mono"/>
                <a:ea typeface="Roboto Mono"/>
                <a:cs typeface="Roboto Mono"/>
                <a:sym typeface="Roboto Mono"/>
              </a:rPr>
              <a:t> **)&amp;</a:t>
            </a:r>
            <a:r>
              <a:rPr lang="en-GB" sz="1600" dirty="0" err="1">
                <a:solidFill>
                  <a:srgbClr val="37474F"/>
                </a:solidFill>
                <a:latin typeface="Roboto Mono"/>
                <a:ea typeface="Roboto Mono"/>
                <a:cs typeface="Roboto Mono"/>
                <a:sym typeface="Roboto Mono"/>
              </a:rPr>
              <a:t>x_d</a:t>
            </a:r>
            <a:r>
              <a:rPr lang="en-GB" sz="1600" dirty="0">
                <a:solidFill>
                  <a:srgbClr val="37474F"/>
                </a:solidFill>
                <a:latin typeface="Roboto Mono"/>
                <a:ea typeface="Roboto Mono"/>
                <a:cs typeface="Roboto Mono"/>
                <a:sym typeface="Roboto Mono"/>
              </a:rPr>
              <a:t>, N * </a:t>
            </a:r>
            <a:r>
              <a:rPr lang="en-GB" sz="1600" dirty="0" err="1">
                <a:solidFill>
                  <a:srgbClr val="3F51B5"/>
                </a:solidFill>
                <a:latin typeface="Roboto Mono"/>
                <a:ea typeface="Roboto Mono"/>
                <a:cs typeface="Roboto Mono"/>
                <a:sym typeface="Roboto Mono"/>
              </a:rPr>
              <a:t>sizeof</a:t>
            </a:r>
            <a:r>
              <a:rPr lang="en-GB" sz="1600" dirty="0">
                <a:solidFill>
                  <a:srgbClr val="37474F"/>
                </a:solidFill>
                <a:latin typeface="Roboto Mono"/>
                <a:ea typeface="Roboto Mono"/>
                <a:cs typeface="Roboto Mono"/>
                <a:sym typeface="Roboto Mono"/>
              </a:rPr>
              <a:t>(</a:t>
            </a:r>
            <a:r>
              <a:rPr lang="en-GB" sz="1600" dirty="0">
                <a:solidFill>
                  <a:srgbClr val="3F51B5"/>
                </a:solidFill>
                <a:latin typeface="Roboto Mono"/>
                <a:ea typeface="Roboto Mono"/>
                <a:cs typeface="Roboto Mono"/>
                <a:sym typeface="Roboto Mono"/>
              </a:rPr>
              <a:t>float</a:t>
            </a:r>
            <a:r>
              <a:rPr lang="en-GB" sz="1600" dirty="0">
                <a:solidFill>
                  <a:srgbClr val="37474F"/>
                </a:solidFill>
                <a:latin typeface="Roboto Mono"/>
                <a:ea typeface="Roboto Mono"/>
                <a:cs typeface="Roboto Mono"/>
                <a:sym typeface="Roboto Mono"/>
              </a:rPr>
              <a:t>));</a:t>
            </a:r>
            <a:endParaRPr sz="1600" dirty="0">
              <a:solidFill>
                <a:srgbClr val="37474F"/>
              </a:solidFill>
              <a:latin typeface="Roboto Mono"/>
              <a:ea typeface="Roboto Mono"/>
              <a:cs typeface="Roboto Mono"/>
              <a:sym typeface="Roboto Mono"/>
            </a:endParaRPr>
          </a:p>
          <a:p>
            <a:pPr algn="l" rtl="0"/>
            <a:r>
              <a:rPr lang="en-GB" sz="1600" dirty="0">
                <a:solidFill>
                  <a:srgbClr val="37474F"/>
                </a:solidFill>
                <a:latin typeface="Roboto Mono"/>
                <a:ea typeface="Roboto Mono"/>
                <a:cs typeface="Roboto Mono"/>
                <a:sym typeface="Roboto Mono"/>
              </a:rPr>
              <a:t>    </a:t>
            </a:r>
            <a:r>
              <a:rPr lang="en-GB" sz="1600" u="sng" dirty="0" err="1">
                <a:solidFill>
                  <a:srgbClr val="37474F"/>
                </a:solidFill>
                <a:latin typeface="Roboto Mono"/>
                <a:ea typeface="Roboto Mono"/>
                <a:cs typeface="Roboto Mono"/>
                <a:sym typeface="Roboto Mono"/>
              </a:rPr>
              <a:t>cudaMalloc</a:t>
            </a:r>
            <a:r>
              <a:rPr lang="en-GB" sz="1600" dirty="0">
                <a:solidFill>
                  <a:srgbClr val="37474F"/>
                </a:solidFill>
                <a:latin typeface="Roboto Mono"/>
                <a:ea typeface="Roboto Mono"/>
                <a:cs typeface="Roboto Mono"/>
                <a:sym typeface="Roboto Mono"/>
              </a:rPr>
              <a:t>((</a:t>
            </a:r>
            <a:r>
              <a:rPr lang="en-GB" sz="1600" dirty="0">
                <a:solidFill>
                  <a:srgbClr val="3F51B5"/>
                </a:solidFill>
                <a:latin typeface="Roboto Mono"/>
                <a:ea typeface="Roboto Mono"/>
                <a:cs typeface="Roboto Mono"/>
                <a:sym typeface="Roboto Mono"/>
              </a:rPr>
              <a:t>void</a:t>
            </a:r>
            <a:r>
              <a:rPr lang="en-GB" sz="1600" dirty="0">
                <a:solidFill>
                  <a:srgbClr val="37474F"/>
                </a:solidFill>
                <a:latin typeface="Roboto Mono"/>
                <a:ea typeface="Roboto Mono"/>
                <a:cs typeface="Roboto Mono"/>
                <a:sym typeface="Roboto Mono"/>
              </a:rPr>
              <a:t> **)&amp;</a:t>
            </a:r>
            <a:r>
              <a:rPr lang="en-GB" sz="1600" dirty="0" err="1">
                <a:solidFill>
                  <a:srgbClr val="37474F"/>
                </a:solidFill>
                <a:latin typeface="Roboto Mono"/>
                <a:ea typeface="Roboto Mono"/>
                <a:cs typeface="Roboto Mono"/>
                <a:sym typeface="Roboto Mono"/>
              </a:rPr>
              <a:t>y_d</a:t>
            </a:r>
            <a:r>
              <a:rPr lang="en-GB" sz="1600" dirty="0">
                <a:solidFill>
                  <a:srgbClr val="37474F"/>
                </a:solidFill>
                <a:latin typeface="Roboto Mono"/>
                <a:ea typeface="Roboto Mono"/>
                <a:cs typeface="Roboto Mono"/>
                <a:sym typeface="Roboto Mono"/>
              </a:rPr>
              <a:t>, N * </a:t>
            </a:r>
            <a:r>
              <a:rPr lang="en-GB" sz="1600" dirty="0" err="1">
                <a:solidFill>
                  <a:srgbClr val="3F51B5"/>
                </a:solidFill>
                <a:latin typeface="Roboto Mono"/>
                <a:ea typeface="Roboto Mono"/>
                <a:cs typeface="Roboto Mono"/>
                <a:sym typeface="Roboto Mono"/>
              </a:rPr>
              <a:t>sizeof</a:t>
            </a:r>
            <a:r>
              <a:rPr lang="en-GB" sz="1600" dirty="0">
                <a:solidFill>
                  <a:srgbClr val="37474F"/>
                </a:solidFill>
                <a:latin typeface="Roboto Mono"/>
                <a:ea typeface="Roboto Mono"/>
                <a:cs typeface="Roboto Mono"/>
                <a:sym typeface="Roboto Mono"/>
              </a:rPr>
              <a:t>(</a:t>
            </a:r>
            <a:r>
              <a:rPr lang="en-GB" sz="1600" dirty="0">
                <a:solidFill>
                  <a:srgbClr val="3F51B5"/>
                </a:solidFill>
                <a:latin typeface="Roboto Mono"/>
                <a:ea typeface="Roboto Mono"/>
                <a:cs typeface="Roboto Mono"/>
                <a:sym typeface="Roboto Mono"/>
              </a:rPr>
              <a:t>float</a:t>
            </a:r>
            <a:r>
              <a:rPr lang="en-GB" sz="1600" dirty="0">
                <a:solidFill>
                  <a:srgbClr val="37474F"/>
                </a:solidFill>
                <a:latin typeface="Roboto Mono"/>
                <a:ea typeface="Roboto Mono"/>
                <a:cs typeface="Roboto Mono"/>
                <a:sym typeface="Roboto Mono"/>
              </a:rPr>
              <a:t>));</a:t>
            </a:r>
            <a:endParaRPr sz="1600" dirty="0">
              <a:solidFill>
                <a:srgbClr val="37474F"/>
              </a:solidFill>
              <a:latin typeface="Roboto Mono"/>
              <a:ea typeface="Roboto Mono"/>
              <a:cs typeface="Roboto Mono"/>
              <a:sym typeface="Roboto Mono"/>
            </a:endParaRPr>
          </a:p>
          <a:p>
            <a:pPr algn="l" rtl="0"/>
            <a:endParaRPr sz="1600" dirty="0">
              <a:solidFill>
                <a:srgbClr val="37474F"/>
              </a:solidFill>
              <a:latin typeface="Roboto Mono"/>
              <a:ea typeface="Roboto Mono"/>
              <a:cs typeface="Roboto Mono"/>
              <a:sym typeface="Roboto Mono"/>
            </a:endParaRPr>
          </a:p>
          <a:p>
            <a:pPr algn="l" rtl="0"/>
            <a:r>
              <a:rPr lang="en-GB" sz="1600" dirty="0">
                <a:solidFill>
                  <a:srgbClr val="37474F"/>
                </a:solidFill>
                <a:latin typeface="Roboto Mono"/>
                <a:ea typeface="Roboto Mono"/>
                <a:cs typeface="Roboto Mono"/>
                <a:sym typeface="Roboto Mono"/>
              </a:rPr>
              <a:t>    </a:t>
            </a:r>
            <a:r>
              <a:rPr lang="en-GB" sz="1600" u="sng" dirty="0" err="1">
                <a:solidFill>
                  <a:srgbClr val="37474F"/>
                </a:solidFill>
                <a:latin typeface="Roboto Mono"/>
                <a:ea typeface="Roboto Mono"/>
                <a:cs typeface="Roboto Mono"/>
                <a:sym typeface="Roboto Mono"/>
              </a:rPr>
              <a:t>cudaMemcpy</a:t>
            </a:r>
            <a:r>
              <a:rPr lang="en-GB" sz="1600" dirty="0">
                <a:solidFill>
                  <a:srgbClr val="37474F"/>
                </a:solidFill>
                <a:latin typeface="Roboto Mono"/>
                <a:ea typeface="Roboto Mono"/>
                <a:cs typeface="Roboto Mono"/>
                <a:sym typeface="Roboto Mono"/>
              </a:rPr>
              <a:t>(</a:t>
            </a:r>
            <a:r>
              <a:rPr lang="en-GB" sz="1600" dirty="0" err="1">
                <a:solidFill>
                  <a:srgbClr val="37474F"/>
                </a:solidFill>
                <a:latin typeface="Roboto Mono"/>
                <a:ea typeface="Roboto Mono"/>
                <a:cs typeface="Roboto Mono"/>
                <a:sym typeface="Roboto Mono"/>
              </a:rPr>
              <a:t>x_d</a:t>
            </a:r>
            <a:r>
              <a:rPr lang="en-GB" sz="1600" dirty="0">
                <a:solidFill>
                  <a:srgbClr val="37474F"/>
                </a:solidFill>
                <a:latin typeface="Roboto Mono"/>
                <a:ea typeface="Roboto Mono"/>
                <a:cs typeface="Roboto Mono"/>
                <a:sym typeface="Roboto Mono"/>
              </a:rPr>
              <a:t>, </a:t>
            </a:r>
            <a:r>
              <a:rPr lang="en-GB" sz="1600" dirty="0" err="1">
                <a:solidFill>
                  <a:srgbClr val="37474F"/>
                </a:solidFill>
                <a:latin typeface="Roboto Mono"/>
                <a:ea typeface="Roboto Mono"/>
                <a:cs typeface="Roboto Mono"/>
                <a:sym typeface="Roboto Mono"/>
              </a:rPr>
              <a:t>x_h</a:t>
            </a:r>
            <a:r>
              <a:rPr lang="en-GB" sz="1600" dirty="0">
                <a:solidFill>
                  <a:srgbClr val="37474F"/>
                </a:solidFill>
                <a:latin typeface="Roboto Mono"/>
                <a:ea typeface="Roboto Mono"/>
                <a:cs typeface="Roboto Mono"/>
                <a:sym typeface="Roboto Mono"/>
              </a:rPr>
              <a:t>, N * </a:t>
            </a:r>
            <a:r>
              <a:rPr lang="en-GB" sz="1600" dirty="0" err="1">
                <a:solidFill>
                  <a:srgbClr val="3F51B5"/>
                </a:solidFill>
                <a:latin typeface="Roboto Mono"/>
                <a:ea typeface="Roboto Mono"/>
                <a:cs typeface="Roboto Mono"/>
                <a:sym typeface="Roboto Mono"/>
              </a:rPr>
              <a:t>sizeof</a:t>
            </a:r>
            <a:r>
              <a:rPr lang="en-GB" sz="1600" dirty="0">
                <a:solidFill>
                  <a:srgbClr val="37474F"/>
                </a:solidFill>
                <a:latin typeface="Roboto Mono"/>
                <a:ea typeface="Roboto Mono"/>
                <a:cs typeface="Roboto Mono"/>
                <a:sym typeface="Roboto Mono"/>
              </a:rPr>
              <a:t>(</a:t>
            </a:r>
            <a:r>
              <a:rPr lang="en-GB" sz="1600" dirty="0">
                <a:solidFill>
                  <a:srgbClr val="3F51B5"/>
                </a:solidFill>
                <a:latin typeface="Roboto Mono"/>
                <a:ea typeface="Roboto Mono"/>
                <a:cs typeface="Roboto Mono"/>
                <a:sym typeface="Roboto Mono"/>
              </a:rPr>
              <a:t>float</a:t>
            </a:r>
            <a:r>
              <a:rPr lang="en-GB" sz="1600" dirty="0">
                <a:solidFill>
                  <a:srgbClr val="37474F"/>
                </a:solidFill>
                <a:latin typeface="Roboto Mono"/>
                <a:ea typeface="Roboto Mono"/>
                <a:cs typeface="Roboto Mono"/>
                <a:sym typeface="Roboto Mono"/>
              </a:rPr>
              <a:t>), </a:t>
            </a:r>
            <a:r>
              <a:rPr lang="en-GB" sz="1600" dirty="0" err="1">
                <a:solidFill>
                  <a:srgbClr val="D81B60"/>
                </a:solidFill>
                <a:latin typeface="Roboto Mono"/>
                <a:ea typeface="Roboto Mono"/>
                <a:cs typeface="Roboto Mono"/>
                <a:sym typeface="Roboto Mono"/>
              </a:rPr>
              <a:t>cudaMemcpyHostToDevice</a:t>
            </a:r>
            <a:r>
              <a:rPr lang="en-GB" sz="1600" dirty="0">
                <a:solidFill>
                  <a:srgbClr val="37474F"/>
                </a:solidFill>
                <a:latin typeface="Roboto Mono"/>
                <a:ea typeface="Roboto Mono"/>
                <a:cs typeface="Roboto Mono"/>
                <a:sym typeface="Roboto Mono"/>
              </a:rPr>
              <a:t>);</a:t>
            </a:r>
            <a:endParaRPr sz="1600" dirty="0">
              <a:solidFill>
                <a:srgbClr val="37474F"/>
              </a:solidFill>
              <a:latin typeface="Roboto Mono"/>
              <a:ea typeface="Roboto Mono"/>
              <a:cs typeface="Roboto Mono"/>
              <a:sym typeface="Roboto Mono"/>
            </a:endParaRPr>
          </a:p>
          <a:p>
            <a:pPr algn="l" rtl="0"/>
            <a:endParaRPr sz="1600" dirty="0">
              <a:solidFill>
                <a:srgbClr val="37474F"/>
              </a:solidFill>
              <a:latin typeface="Roboto Mono"/>
              <a:ea typeface="Roboto Mono"/>
              <a:cs typeface="Roboto Mono"/>
              <a:sym typeface="Roboto Mono"/>
            </a:endParaRPr>
          </a:p>
          <a:p>
            <a:pPr algn="l" rtl="0"/>
            <a:r>
              <a:rPr lang="en-GB" sz="1600" dirty="0">
                <a:solidFill>
                  <a:srgbClr val="37474F"/>
                </a:solidFill>
                <a:latin typeface="Roboto Mono"/>
                <a:ea typeface="Roboto Mono"/>
                <a:cs typeface="Roboto Mono"/>
                <a:sym typeface="Roboto Mono"/>
              </a:rPr>
              <a:t>    </a:t>
            </a:r>
            <a:r>
              <a:rPr lang="en-GB" sz="1600" dirty="0" err="1">
                <a:solidFill>
                  <a:srgbClr val="37474F"/>
                </a:solidFill>
                <a:latin typeface="Roboto Mono"/>
                <a:ea typeface="Roboto Mono"/>
                <a:cs typeface="Roboto Mono"/>
                <a:sym typeface="Roboto Mono"/>
              </a:rPr>
              <a:t>scal</a:t>
            </a:r>
            <a:r>
              <a:rPr lang="en-GB" sz="1600" dirty="0">
                <a:solidFill>
                  <a:srgbClr val="37474F"/>
                </a:solidFill>
                <a:latin typeface="Roboto Mono"/>
                <a:ea typeface="Roboto Mono"/>
                <a:cs typeface="Roboto Mono"/>
                <a:sym typeface="Roboto Mono"/>
              </a:rPr>
              <a:t>&lt;&lt;&lt;</a:t>
            </a:r>
            <a:r>
              <a:rPr lang="en-GB" sz="1600" dirty="0">
                <a:solidFill>
                  <a:srgbClr val="C53929"/>
                </a:solidFill>
                <a:latin typeface="Roboto Mono"/>
                <a:ea typeface="Roboto Mono"/>
                <a:cs typeface="Roboto Mono"/>
                <a:sym typeface="Roboto Mono"/>
              </a:rPr>
              <a:t>(N/128)+1</a:t>
            </a:r>
            <a:r>
              <a:rPr lang="en-GB" sz="1600" dirty="0">
                <a:solidFill>
                  <a:srgbClr val="37474F"/>
                </a:solidFill>
                <a:latin typeface="Roboto Mono"/>
                <a:ea typeface="Roboto Mono"/>
                <a:cs typeface="Roboto Mono"/>
                <a:sym typeface="Roboto Mono"/>
              </a:rPr>
              <a:t>, </a:t>
            </a:r>
            <a:r>
              <a:rPr lang="en-GB" sz="1600" dirty="0">
                <a:solidFill>
                  <a:srgbClr val="C53929"/>
                </a:solidFill>
                <a:latin typeface="Roboto Mono"/>
                <a:ea typeface="Roboto Mono"/>
                <a:cs typeface="Roboto Mono"/>
                <a:sym typeface="Roboto Mono"/>
              </a:rPr>
              <a:t>128</a:t>
            </a:r>
            <a:r>
              <a:rPr lang="en-GB" sz="1600" dirty="0">
                <a:solidFill>
                  <a:srgbClr val="37474F"/>
                </a:solidFill>
                <a:latin typeface="Roboto Mono"/>
                <a:ea typeface="Roboto Mono"/>
                <a:cs typeface="Roboto Mono"/>
                <a:sym typeface="Roboto Mono"/>
              </a:rPr>
              <a:t>&gt;&gt;&gt;(N, alpha, </a:t>
            </a:r>
            <a:r>
              <a:rPr lang="en-GB" sz="1600" dirty="0" err="1">
                <a:solidFill>
                  <a:srgbClr val="37474F"/>
                </a:solidFill>
                <a:latin typeface="Roboto Mono"/>
                <a:ea typeface="Roboto Mono"/>
                <a:cs typeface="Roboto Mono"/>
                <a:sym typeface="Roboto Mono"/>
              </a:rPr>
              <a:t>x_d</a:t>
            </a:r>
            <a:r>
              <a:rPr lang="en-GB" sz="1600" dirty="0">
                <a:solidFill>
                  <a:srgbClr val="37474F"/>
                </a:solidFill>
                <a:latin typeface="Roboto Mono"/>
                <a:ea typeface="Roboto Mono"/>
                <a:cs typeface="Roboto Mono"/>
                <a:sym typeface="Roboto Mono"/>
              </a:rPr>
              <a:t>, </a:t>
            </a:r>
            <a:r>
              <a:rPr lang="en-GB" sz="1600" dirty="0" err="1">
                <a:solidFill>
                  <a:srgbClr val="37474F"/>
                </a:solidFill>
                <a:latin typeface="Roboto Mono"/>
                <a:ea typeface="Roboto Mono"/>
                <a:cs typeface="Roboto Mono"/>
                <a:sym typeface="Roboto Mono"/>
              </a:rPr>
              <a:t>y_d</a:t>
            </a:r>
            <a:r>
              <a:rPr lang="en-GB" sz="1600" dirty="0">
                <a:solidFill>
                  <a:srgbClr val="37474F"/>
                </a:solidFill>
                <a:latin typeface="Roboto Mono"/>
                <a:ea typeface="Roboto Mono"/>
                <a:cs typeface="Roboto Mono"/>
                <a:sym typeface="Roboto Mono"/>
              </a:rPr>
              <a:t>);</a:t>
            </a:r>
            <a:endParaRPr sz="1600" dirty="0">
              <a:solidFill>
                <a:srgbClr val="37474F"/>
              </a:solidFill>
              <a:latin typeface="Roboto Mono"/>
              <a:ea typeface="Roboto Mono"/>
              <a:cs typeface="Roboto Mono"/>
              <a:sym typeface="Roboto Mono"/>
            </a:endParaRPr>
          </a:p>
          <a:p>
            <a:pPr algn="l" rtl="0"/>
            <a:endParaRPr sz="1600" dirty="0">
              <a:solidFill>
                <a:srgbClr val="37474F"/>
              </a:solidFill>
              <a:latin typeface="Roboto Mono"/>
              <a:ea typeface="Roboto Mono"/>
              <a:cs typeface="Roboto Mono"/>
              <a:sym typeface="Roboto Mono"/>
            </a:endParaRPr>
          </a:p>
          <a:p>
            <a:pPr algn="l" rtl="0"/>
            <a:r>
              <a:rPr lang="en-GB" sz="1600" dirty="0">
                <a:solidFill>
                  <a:srgbClr val="37474F"/>
                </a:solidFill>
                <a:latin typeface="Roboto Mono"/>
                <a:ea typeface="Roboto Mono"/>
                <a:cs typeface="Roboto Mono"/>
                <a:sym typeface="Roboto Mono"/>
              </a:rPr>
              <a:t>    </a:t>
            </a:r>
            <a:r>
              <a:rPr lang="en-GB" sz="1600" u="sng" dirty="0" err="1">
                <a:solidFill>
                  <a:srgbClr val="37474F"/>
                </a:solidFill>
                <a:latin typeface="Roboto Mono"/>
                <a:ea typeface="Roboto Mono"/>
                <a:cs typeface="Roboto Mono"/>
                <a:sym typeface="Roboto Mono"/>
              </a:rPr>
              <a:t>cudaMemcpy</a:t>
            </a:r>
            <a:r>
              <a:rPr lang="en-GB" sz="1600" dirty="0">
                <a:solidFill>
                  <a:srgbClr val="37474F"/>
                </a:solidFill>
                <a:latin typeface="Roboto Mono"/>
                <a:ea typeface="Roboto Mono"/>
                <a:cs typeface="Roboto Mono"/>
                <a:sym typeface="Roboto Mono"/>
              </a:rPr>
              <a:t>(</a:t>
            </a:r>
            <a:r>
              <a:rPr lang="en-GB" sz="1600" dirty="0" err="1">
                <a:solidFill>
                  <a:srgbClr val="37474F"/>
                </a:solidFill>
                <a:latin typeface="Roboto Mono"/>
                <a:ea typeface="Roboto Mono"/>
                <a:cs typeface="Roboto Mono"/>
                <a:sym typeface="Roboto Mono"/>
              </a:rPr>
              <a:t>y_h</a:t>
            </a:r>
            <a:r>
              <a:rPr lang="en-GB" sz="1600" dirty="0">
                <a:solidFill>
                  <a:srgbClr val="37474F"/>
                </a:solidFill>
                <a:latin typeface="Roboto Mono"/>
                <a:ea typeface="Roboto Mono"/>
                <a:cs typeface="Roboto Mono"/>
                <a:sym typeface="Roboto Mono"/>
              </a:rPr>
              <a:t>, </a:t>
            </a:r>
            <a:r>
              <a:rPr lang="en-GB" sz="1600" dirty="0" err="1">
                <a:solidFill>
                  <a:srgbClr val="37474F"/>
                </a:solidFill>
                <a:latin typeface="Roboto Mono"/>
                <a:ea typeface="Roboto Mono"/>
                <a:cs typeface="Roboto Mono"/>
                <a:sym typeface="Roboto Mono"/>
              </a:rPr>
              <a:t>y_d</a:t>
            </a:r>
            <a:r>
              <a:rPr lang="en-GB" sz="1600" dirty="0">
                <a:solidFill>
                  <a:srgbClr val="37474F"/>
                </a:solidFill>
                <a:latin typeface="Roboto Mono"/>
                <a:ea typeface="Roboto Mono"/>
                <a:cs typeface="Roboto Mono"/>
                <a:sym typeface="Roboto Mono"/>
              </a:rPr>
              <a:t>, N * </a:t>
            </a:r>
            <a:r>
              <a:rPr lang="en-GB" sz="1600" dirty="0" err="1">
                <a:solidFill>
                  <a:srgbClr val="3F51B5"/>
                </a:solidFill>
                <a:latin typeface="Roboto Mono"/>
                <a:ea typeface="Roboto Mono"/>
                <a:cs typeface="Roboto Mono"/>
                <a:sym typeface="Roboto Mono"/>
              </a:rPr>
              <a:t>sizeof</a:t>
            </a:r>
            <a:r>
              <a:rPr lang="en-GB" sz="1600" dirty="0">
                <a:solidFill>
                  <a:srgbClr val="37474F"/>
                </a:solidFill>
                <a:latin typeface="Roboto Mono"/>
                <a:ea typeface="Roboto Mono"/>
                <a:cs typeface="Roboto Mono"/>
                <a:sym typeface="Roboto Mono"/>
              </a:rPr>
              <a:t>(</a:t>
            </a:r>
            <a:r>
              <a:rPr lang="en-GB" sz="1600" dirty="0">
                <a:solidFill>
                  <a:srgbClr val="3F51B5"/>
                </a:solidFill>
                <a:latin typeface="Roboto Mono"/>
                <a:ea typeface="Roboto Mono"/>
                <a:cs typeface="Roboto Mono"/>
                <a:sym typeface="Roboto Mono"/>
              </a:rPr>
              <a:t>float</a:t>
            </a:r>
            <a:r>
              <a:rPr lang="en-GB" sz="1600" dirty="0">
                <a:solidFill>
                  <a:srgbClr val="37474F"/>
                </a:solidFill>
                <a:latin typeface="Roboto Mono"/>
                <a:ea typeface="Roboto Mono"/>
                <a:cs typeface="Roboto Mono"/>
                <a:sym typeface="Roboto Mono"/>
              </a:rPr>
              <a:t>), </a:t>
            </a:r>
            <a:r>
              <a:rPr lang="en-GB" sz="1600" dirty="0" err="1">
                <a:solidFill>
                  <a:srgbClr val="188038"/>
                </a:solidFill>
                <a:latin typeface="Roboto Mono"/>
                <a:ea typeface="Roboto Mono"/>
                <a:cs typeface="Roboto Mono"/>
                <a:sym typeface="Roboto Mono"/>
              </a:rPr>
              <a:t>cudaMemcpyDeviceToHost</a:t>
            </a:r>
            <a:r>
              <a:rPr lang="en-GB" sz="1600" dirty="0">
                <a:solidFill>
                  <a:srgbClr val="37474F"/>
                </a:solidFill>
                <a:latin typeface="Roboto Mono"/>
                <a:ea typeface="Roboto Mono"/>
                <a:cs typeface="Roboto Mono"/>
                <a:sym typeface="Roboto Mono"/>
              </a:rPr>
              <a:t>);</a:t>
            </a:r>
            <a:endParaRPr sz="1600" dirty="0">
              <a:solidFill>
                <a:srgbClr val="37474F"/>
              </a:solidFill>
              <a:latin typeface="Roboto Mono"/>
              <a:ea typeface="Roboto Mono"/>
              <a:cs typeface="Roboto Mono"/>
              <a:sym typeface="Roboto Mono"/>
            </a:endParaRPr>
          </a:p>
          <a:p>
            <a:pPr algn="l" rtl="0"/>
            <a:r>
              <a:rPr lang="en-GB" sz="1600" dirty="0">
                <a:solidFill>
                  <a:srgbClr val="37474F"/>
                </a:solidFill>
                <a:latin typeface="Roboto Mono"/>
                <a:ea typeface="Roboto Mono"/>
                <a:cs typeface="Roboto Mono"/>
                <a:sym typeface="Roboto Mono"/>
              </a:rPr>
              <a:t>    </a:t>
            </a:r>
            <a:endParaRPr sz="1600" dirty="0">
              <a:solidFill>
                <a:srgbClr val="37474F"/>
              </a:solidFill>
              <a:latin typeface="Roboto Mono"/>
              <a:ea typeface="Roboto Mono"/>
              <a:cs typeface="Roboto Mono"/>
              <a:sym typeface="Roboto Mono"/>
            </a:endParaRPr>
          </a:p>
          <a:p>
            <a:pPr algn="l" rtl="0"/>
            <a:r>
              <a:rPr lang="en-GB" sz="1600" dirty="0">
                <a:solidFill>
                  <a:srgbClr val="37474F"/>
                </a:solidFill>
                <a:latin typeface="Roboto Mono"/>
                <a:ea typeface="Roboto Mono"/>
                <a:cs typeface="Roboto Mono"/>
                <a:sym typeface="Roboto Mono"/>
              </a:rPr>
              <a:t>    </a:t>
            </a:r>
            <a:r>
              <a:rPr lang="en-GB" sz="1600" u="sng" dirty="0" err="1">
                <a:solidFill>
                  <a:srgbClr val="37474F"/>
                </a:solidFill>
                <a:latin typeface="Roboto Mono"/>
                <a:ea typeface="Roboto Mono"/>
                <a:cs typeface="Roboto Mono"/>
                <a:sym typeface="Roboto Mono"/>
              </a:rPr>
              <a:t>cudaFree</a:t>
            </a:r>
            <a:r>
              <a:rPr lang="en-GB" sz="1600" dirty="0">
                <a:solidFill>
                  <a:srgbClr val="37474F"/>
                </a:solidFill>
                <a:latin typeface="Roboto Mono"/>
                <a:ea typeface="Roboto Mono"/>
                <a:cs typeface="Roboto Mono"/>
                <a:sym typeface="Roboto Mono"/>
              </a:rPr>
              <a:t>(</a:t>
            </a:r>
            <a:r>
              <a:rPr lang="en-GB" sz="1600" dirty="0" err="1">
                <a:solidFill>
                  <a:srgbClr val="37474F"/>
                </a:solidFill>
                <a:latin typeface="Roboto Mono"/>
                <a:ea typeface="Roboto Mono"/>
                <a:cs typeface="Roboto Mono"/>
                <a:sym typeface="Roboto Mono"/>
              </a:rPr>
              <a:t>x_d</a:t>
            </a:r>
            <a:r>
              <a:rPr lang="en-GB" sz="1600" dirty="0">
                <a:solidFill>
                  <a:srgbClr val="37474F"/>
                </a:solidFill>
                <a:latin typeface="Roboto Mono"/>
                <a:ea typeface="Roboto Mono"/>
                <a:cs typeface="Roboto Mono"/>
                <a:sym typeface="Roboto Mono"/>
              </a:rPr>
              <a:t>); </a:t>
            </a:r>
            <a:r>
              <a:rPr lang="en-GB" sz="1600" u="sng" dirty="0" err="1">
                <a:solidFill>
                  <a:srgbClr val="37474F"/>
                </a:solidFill>
                <a:latin typeface="Roboto Mono"/>
                <a:ea typeface="Roboto Mono"/>
                <a:cs typeface="Roboto Mono"/>
                <a:sym typeface="Roboto Mono"/>
              </a:rPr>
              <a:t>cudaFree</a:t>
            </a:r>
            <a:r>
              <a:rPr lang="en-GB" sz="1600" dirty="0">
                <a:solidFill>
                  <a:srgbClr val="37474F"/>
                </a:solidFill>
                <a:latin typeface="Roboto Mono"/>
                <a:ea typeface="Roboto Mono"/>
                <a:cs typeface="Roboto Mono"/>
                <a:sym typeface="Roboto Mono"/>
              </a:rPr>
              <a:t>(</a:t>
            </a:r>
            <a:r>
              <a:rPr lang="en-GB" sz="1600" dirty="0" err="1">
                <a:solidFill>
                  <a:srgbClr val="37474F"/>
                </a:solidFill>
                <a:latin typeface="Roboto Mono"/>
                <a:ea typeface="Roboto Mono"/>
                <a:cs typeface="Roboto Mono"/>
                <a:sym typeface="Roboto Mono"/>
              </a:rPr>
              <a:t>y_d</a:t>
            </a:r>
            <a:r>
              <a:rPr lang="en-GB" sz="1600" dirty="0">
                <a:solidFill>
                  <a:srgbClr val="37474F"/>
                </a:solidFill>
                <a:latin typeface="Roboto Mono"/>
                <a:ea typeface="Roboto Mono"/>
                <a:cs typeface="Roboto Mono"/>
                <a:sym typeface="Roboto Mono"/>
              </a:rPr>
              <a:t>);</a:t>
            </a:r>
            <a:endParaRPr sz="1600" dirty="0">
              <a:solidFill>
                <a:srgbClr val="37474F"/>
              </a:solidFill>
              <a:latin typeface="Roboto Mono"/>
              <a:ea typeface="Roboto Mono"/>
              <a:cs typeface="Roboto Mono"/>
              <a:sym typeface="Roboto Mono"/>
            </a:endParaRPr>
          </a:p>
          <a:p>
            <a:pPr algn="l" rtl="0"/>
            <a:r>
              <a:rPr lang="en-GB" sz="1600" dirty="0">
                <a:solidFill>
                  <a:srgbClr val="37474F"/>
                </a:solidFill>
                <a:latin typeface="Roboto Mono"/>
                <a:ea typeface="Roboto Mono"/>
                <a:cs typeface="Roboto Mono"/>
                <a:sym typeface="Roboto Mono"/>
              </a:rPr>
              <a:t>    free(</a:t>
            </a:r>
            <a:r>
              <a:rPr lang="en-GB" sz="1600" dirty="0" err="1">
                <a:solidFill>
                  <a:srgbClr val="37474F"/>
                </a:solidFill>
                <a:latin typeface="Roboto Mono"/>
                <a:ea typeface="Roboto Mono"/>
                <a:cs typeface="Roboto Mono"/>
                <a:sym typeface="Roboto Mono"/>
              </a:rPr>
              <a:t>x_h</a:t>
            </a:r>
            <a:r>
              <a:rPr lang="en-GB" sz="1600" dirty="0">
                <a:solidFill>
                  <a:srgbClr val="37474F"/>
                </a:solidFill>
                <a:latin typeface="Roboto Mono"/>
                <a:ea typeface="Roboto Mono"/>
                <a:cs typeface="Roboto Mono"/>
                <a:sym typeface="Roboto Mono"/>
              </a:rPr>
              <a:t>); free(</a:t>
            </a:r>
            <a:r>
              <a:rPr lang="en-GB" sz="1600" dirty="0" err="1">
                <a:solidFill>
                  <a:srgbClr val="37474F"/>
                </a:solidFill>
                <a:latin typeface="Roboto Mono"/>
                <a:ea typeface="Roboto Mono"/>
                <a:cs typeface="Roboto Mono"/>
                <a:sym typeface="Roboto Mono"/>
              </a:rPr>
              <a:t>y_h</a:t>
            </a:r>
            <a:r>
              <a:rPr lang="en-GB" sz="1600" dirty="0">
                <a:solidFill>
                  <a:srgbClr val="37474F"/>
                </a:solidFill>
                <a:latin typeface="Roboto Mono"/>
                <a:ea typeface="Roboto Mono"/>
                <a:cs typeface="Roboto Mono"/>
                <a:sym typeface="Roboto Mono"/>
              </a:rPr>
              <a:t>);</a:t>
            </a:r>
            <a:endParaRPr sz="1600" dirty="0">
              <a:solidFill>
                <a:srgbClr val="37474F"/>
              </a:solidFill>
              <a:latin typeface="Roboto Mono"/>
              <a:ea typeface="Roboto Mono"/>
              <a:cs typeface="Roboto Mono"/>
              <a:sym typeface="Roboto Mono"/>
            </a:endParaRPr>
          </a:p>
          <a:p>
            <a:pPr algn="l" rtl="0">
              <a:lnSpc>
                <a:spcPct val="150000"/>
              </a:lnSpc>
            </a:pPr>
            <a:r>
              <a:rPr lang="en-GB" sz="1600" dirty="0">
                <a:solidFill>
                  <a:srgbClr val="37474F"/>
                </a:solidFill>
                <a:latin typeface="Roboto Mono"/>
                <a:ea typeface="Roboto Mono"/>
                <a:cs typeface="Roboto Mono"/>
                <a:sym typeface="Roboto Mono"/>
              </a:rPr>
              <a:t>}</a:t>
            </a:r>
            <a:endParaRPr sz="1600" dirty="0">
              <a:solidFill>
                <a:srgbClr val="37474F"/>
              </a:solidFill>
              <a:latin typeface="Roboto Mono"/>
              <a:ea typeface="Roboto Mono"/>
              <a:cs typeface="Roboto Mono"/>
              <a:sym typeface="Roboto Mono"/>
            </a:endParaRPr>
          </a:p>
        </p:txBody>
      </p:sp>
      <p:sp>
        <p:nvSpPr>
          <p:cNvPr id="428" name="Google Shape;428;p25"/>
          <p:cNvSpPr txBox="1"/>
          <p:nvPr/>
        </p:nvSpPr>
        <p:spPr>
          <a:xfrm>
            <a:off x="8741233" y="1737401"/>
            <a:ext cx="3178800" cy="4432712"/>
          </a:xfrm>
          <a:prstGeom prst="rect">
            <a:avLst/>
          </a:prstGeom>
          <a:noFill/>
          <a:ln>
            <a:noFill/>
          </a:ln>
        </p:spPr>
        <p:txBody>
          <a:bodyPr spcFirstLastPara="1" wrap="square" lIns="121900" tIns="121900" rIns="121900" bIns="121900" anchor="t" anchorCtr="0">
            <a:spAutoFit/>
          </a:bodyPr>
          <a:lstStyle/>
          <a:p>
            <a:pPr algn="ctr" rtl="0"/>
            <a:r>
              <a:rPr lang="en-GB" sz="2267">
                <a:solidFill>
                  <a:srgbClr val="595959"/>
                </a:solidFill>
                <a:latin typeface="Lato"/>
                <a:ea typeface="Lato"/>
                <a:cs typeface="Lato"/>
                <a:sym typeface="Lato"/>
              </a:rPr>
              <a:t>Cuda Functions are (in this case) executed in the same order they appear in the program.</a:t>
            </a:r>
            <a:endParaRPr sz="2267">
              <a:solidFill>
                <a:srgbClr val="595959"/>
              </a:solidFill>
              <a:latin typeface="Lato"/>
              <a:ea typeface="Lato"/>
              <a:cs typeface="Lato"/>
              <a:sym typeface="Lato"/>
            </a:endParaRPr>
          </a:p>
          <a:p>
            <a:pPr algn="ctr" rtl="0"/>
            <a:endParaRPr sz="2267">
              <a:solidFill>
                <a:srgbClr val="595959"/>
              </a:solidFill>
              <a:latin typeface="Lato"/>
              <a:ea typeface="Lato"/>
              <a:cs typeface="Lato"/>
              <a:sym typeface="Lato"/>
            </a:endParaRPr>
          </a:p>
          <a:p>
            <a:pPr algn="ctr" rtl="0"/>
            <a:r>
              <a:rPr lang="en-GB" sz="2267">
                <a:solidFill>
                  <a:srgbClr val="188038"/>
                </a:solidFill>
                <a:latin typeface="Roboto Mono"/>
                <a:ea typeface="Roboto Mono"/>
                <a:cs typeface="Roboto Mono"/>
                <a:sym typeface="Roboto Mono"/>
              </a:rPr>
              <a:t>cudaMem</a:t>
            </a:r>
            <a:r>
              <a:rPr lang="en-GB" sz="2267">
                <a:solidFill>
                  <a:srgbClr val="595959"/>
                </a:solidFill>
                <a:latin typeface="Lato"/>
                <a:ea typeface="Lato"/>
                <a:cs typeface="Lato"/>
                <a:sym typeface="Lato"/>
              </a:rPr>
              <a:t> operations are blocking</a:t>
            </a:r>
            <a:endParaRPr sz="2267">
              <a:solidFill>
                <a:srgbClr val="595959"/>
              </a:solidFill>
              <a:latin typeface="Lato"/>
              <a:ea typeface="Lato"/>
              <a:cs typeface="Lato"/>
              <a:sym typeface="Lato"/>
            </a:endParaRPr>
          </a:p>
          <a:p>
            <a:pPr algn="ctr" rtl="0"/>
            <a:endParaRPr sz="2267">
              <a:solidFill>
                <a:srgbClr val="595959"/>
              </a:solidFill>
              <a:latin typeface="Lato"/>
              <a:ea typeface="Lato"/>
              <a:cs typeface="Lato"/>
              <a:sym typeface="Lato"/>
            </a:endParaRPr>
          </a:p>
          <a:p>
            <a:pPr algn="ctr" rtl="0"/>
            <a:r>
              <a:rPr lang="en-GB" sz="2267">
                <a:solidFill>
                  <a:srgbClr val="595959"/>
                </a:solidFill>
                <a:latin typeface="Lato"/>
                <a:ea typeface="Lato"/>
                <a:cs typeface="Lato"/>
                <a:sym typeface="Lato"/>
              </a:rPr>
              <a:t>(so </a:t>
            </a:r>
            <a:r>
              <a:rPr lang="en-GB" sz="2267">
                <a:solidFill>
                  <a:srgbClr val="188038"/>
                </a:solidFill>
                <a:latin typeface="Roboto Mono"/>
                <a:ea typeface="Roboto Mono"/>
                <a:cs typeface="Roboto Mono"/>
                <a:sym typeface="Roboto Mono"/>
              </a:rPr>
              <a:t>cudaDeviceSynchronize</a:t>
            </a:r>
            <a:r>
              <a:rPr lang="en-GB" sz="2267">
                <a:solidFill>
                  <a:srgbClr val="595959"/>
                </a:solidFill>
                <a:latin typeface="Lato"/>
                <a:ea typeface="Lato"/>
                <a:cs typeface="Lato"/>
                <a:sym typeface="Lato"/>
              </a:rPr>
              <a:t> is not needed in this example)</a:t>
            </a:r>
            <a:endParaRPr sz="2267">
              <a:solidFill>
                <a:srgbClr val="595959"/>
              </a:solidFill>
              <a:latin typeface="Lato"/>
              <a:ea typeface="Lato"/>
              <a:cs typeface="Lato"/>
              <a:sym typeface="Lato"/>
            </a:endParaRPr>
          </a:p>
        </p:txBody>
      </p:sp>
      <p:sp>
        <p:nvSpPr>
          <p:cNvPr id="429" name="Google Shape;429;p25"/>
          <p:cNvSpPr/>
          <p:nvPr/>
        </p:nvSpPr>
        <p:spPr>
          <a:xfrm>
            <a:off x="698300" y="3251833"/>
            <a:ext cx="8108800" cy="1094400"/>
          </a:xfrm>
          <a:prstGeom prst="rect">
            <a:avLst/>
          </a:prstGeom>
          <a:solidFill>
            <a:schemeClr val="lt2"/>
          </a:solidFill>
          <a:ln w="9525" cap="flat" cmpd="sng">
            <a:solidFill>
              <a:schemeClr val="lt2"/>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430" name="Google Shape;430;p25"/>
          <p:cNvSpPr/>
          <p:nvPr/>
        </p:nvSpPr>
        <p:spPr>
          <a:xfrm>
            <a:off x="698300" y="4768267"/>
            <a:ext cx="8108800" cy="953600"/>
          </a:xfrm>
          <a:prstGeom prst="rect">
            <a:avLst/>
          </a:prstGeom>
          <a:solidFill>
            <a:schemeClr val="lt2"/>
          </a:solidFill>
          <a:ln w="9525" cap="flat" cmpd="sng">
            <a:solidFill>
              <a:schemeClr val="lt2"/>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29"/>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430"/>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2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2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26"/>
          <p:cNvSpPr txBox="1">
            <a:spLocks noGrp="1"/>
          </p:cNvSpPr>
          <p:nvPr>
            <p:ph type="title"/>
          </p:nvPr>
        </p:nvSpPr>
        <p:spPr>
          <a:xfrm>
            <a:off x="418000" y="316450"/>
            <a:ext cx="10650400" cy="709600"/>
          </a:xfrm>
          <a:prstGeom prst="rect">
            <a:avLst/>
          </a:prstGeom>
          <a:noFill/>
        </p:spPr>
        <p:txBody>
          <a:bodyPr spcFirstLastPara="1" wrap="square" lIns="91433" tIns="91433" rIns="91433" bIns="91433" anchor="b" anchorCtr="0">
            <a:noAutofit/>
          </a:bodyPr>
          <a:lstStyle/>
          <a:p>
            <a:pPr rtl="0"/>
            <a:r>
              <a:rPr lang="en-GB" dirty="0"/>
              <a:t>Unified Memory</a:t>
            </a:r>
            <a:endParaRPr dirty="0"/>
          </a:p>
        </p:txBody>
      </p:sp>
      <p:sp>
        <p:nvSpPr>
          <p:cNvPr id="436" name="Google Shape;436;p26"/>
          <p:cNvSpPr txBox="1">
            <a:spLocks noGrp="1"/>
          </p:cNvSpPr>
          <p:nvPr>
            <p:ph type="body" idx="1"/>
          </p:nvPr>
        </p:nvSpPr>
        <p:spPr>
          <a:xfrm>
            <a:off x="418000" y="1125600"/>
            <a:ext cx="11326400" cy="855600"/>
          </a:xfrm>
          <a:prstGeom prst="rect">
            <a:avLst/>
          </a:prstGeom>
        </p:spPr>
        <p:txBody>
          <a:bodyPr spcFirstLastPara="1" wrap="square" lIns="91433" tIns="91433" rIns="91433" bIns="91433" anchor="t" anchorCtr="0">
            <a:noAutofit/>
          </a:bodyPr>
          <a:lstStyle/>
          <a:p>
            <a:pPr marL="0" indent="0" rtl="0">
              <a:buNone/>
            </a:pPr>
            <a:r>
              <a:rPr lang="en-GB" dirty="0"/>
              <a:t>CUDA 6 (the SDK, 2013), introduced </a:t>
            </a:r>
            <a:r>
              <a:rPr lang="en-GB" b="1" dirty="0">
                <a:solidFill>
                  <a:schemeClr val="dk2"/>
                </a:solidFill>
              </a:rPr>
              <a:t>Unified Memory</a:t>
            </a:r>
            <a:r>
              <a:rPr lang="en-GB" dirty="0">
                <a:solidFill>
                  <a:schemeClr val="accent6"/>
                </a:solidFill>
              </a:rPr>
              <a:t>, which creates a pool of managed memory shared between CPU and GPU</a:t>
            </a:r>
            <a:endParaRPr dirty="0"/>
          </a:p>
        </p:txBody>
      </p:sp>
      <p:sp>
        <p:nvSpPr>
          <p:cNvPr id="437" name="Google Shape;437;p26"/>
          <p:cNvSpPr txBox="1">
            <a:spLocks noGrp="1"/>
          </p:cNvSpPr>
          <p:nvPr>
            <p:ph type="sldNum" idx="12"/>
          </p:nvPr>
        </p:nvSpPr>
        <p:spPr>
          <a:xfrm>
            <a:off x="11466783" y="5913927"/>
            <a:ext cx="731600" cy="418000"/>
          </a:xfrm>
          <a:prstGeom prst="rect">
            <a:avLst/>
          </a:prstGeom>
        </p:spPr>
        <p:txBody>
          <a:bodyPr spcFirstLastPara="1" wrap="square" lIns="91433" tIns="91433" rIns="91433" bIns="91433" anchor="t" anchorCtr="0">
            <a:noAutofit/>
          </a:bodyPr>
          <a:lstStyle/>
          <a:p>
            <a:pPr rtl="0"/>
            <a:fld id="{00000000-1234-1234-1234-123412341234}" type="slidenum">
              <a:rPr lang="en-GB"/>
              <a:pPr rtl="0"/>
              <a:t>18</a:t>
            </a:fld>
            <a:endParaRPr/>
          </a:p>
        </p:txBody>
      </p:sp>
      <p:sp>
        <p:nvSpPr>
          <p:cNvPr id="438" name="Google Shape;438;p26"/>
          <p:cNvSpPr txBox="1">
            <a:spLocks noGrp="1"/>
          </p:cNvSpPr>
          <p:nvPr>
            <p:ph type="body" idx="1"/>
          </p:nvPr>
        </p:nvSpPr>
        <p:spPr>
          <a:xfrm>
            <a:off x="432800" y="1753900"/>
            <a:ext cx="11326400" cy="855600"/>
          </a:xfrm>
          <a:prstGeom prst="rect">
            <a:avLst/>
          </a:prstGeom>
        </p:spPr>
        <p:txBody>
          <a:bodyPr spcFirstLastPara="1" wrap="square" lIns="91433" tIns="91433" rIns="91433" bIns="91433" anchor="t" anchorCtr="0">
            <a:noAutofit/>
          </a:bodyPr>
          <a:lstStyle/>
          <a:p>
            <a:pPr marL="0" indent="0" rtl="0">
              <a:buClr>
                <a:schemeClr val="dk1"/>
              </a:buClr>
              <a:buSzPts val="1100"/>
              <a:buNone/>
            </a:pPr>
            <a:r>
              <a:rPr lang="en-GB"/>
              <a:t>Managed memory is accessible to both the CPU and GPU using a single pointer. Data can reside in the CPU physical memory, the GPU physical memory, or even both.</a:t>
            </a:r>
            <a:endParaRPr/>
          </a:p>
          <a:p>
            <a:pPr marL="0" indent="0" rtl="0">
              <a:buNone/>
            </a:pPr>
            <a:endParaRPr/>
          </a:p>
        </p:txBody>
      </p:sp>
      <p:grpSp>
        <p:nvGrpSpPr>
          <p:cNvPr id="439" name="Google Shape;439;p26"/>
          <p:cNvGrpSpPr/>
          <p:nvPr/>
        </p:nvGrpSpPr>
        <p:grpSpPr>
          <a:xfrm>
            <a:off x="2793267" y="2646134"/>
            <a:ext cx="2115035" cy="1525301"/>
            <a:chOff x="2094950" y="1984600"/>
            <a:chExt cx="1586276" cy="1143976"/>
          </a:xfrm>
        </p:grpSpPr>
        <p:grpSp>
          <p:nvGrpSpPr>
            <p:cNvPr id="440" name="Google Shape;440;p26"/>
            <p:cNvGrpSpPr/>
            <p:nvPr/>
          </p:nvGrpSpPr>
          <p:grpSpPr>
            <a:xfrm>
              <a:off x="2094950" y="1984600"/>
              <a:ext cx="601076" cy="1143976"/>
              <a:chOff x="3594816" y="1985505"/>
              <a:chExt cx="964500" cy="1889620"/>
            </a:xfrm>
          </p:grpSpPr>
          <p:sp>
            <p:nvSpPr>
              <p:cNvPr id="441" name="Google Shape;441;p26"/>
              <p:cNvSpPr/>
              <p:nvPr/>
            </p:nvSpPr>
            <p:spPr>
              <a:xfrm>
                <a:off x="3594816" y="1985505"/>
                <a:ext cx="964500" cy="764700"/>
              </a:xfrm>
              <a:prstGeom prst="rect">
                <a:avLst/>
              </a:prstGeom>
              <a:solidFill>
                <a:srgbClr val="D8D3D0"/>
              </a:solidFill>
              <a:ln w="9525"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pPr algn="ctr" rtl="0"/>
                <a:r>
                  <a:rPr lang="en-GB" b="1">
                    <a:latin typeface="Lato"/>
                    <a:ea typeface="Lato"/>
                    <a:cs typeface="Lato"/>
                    <a:sym typeface="Lato"/>
                  </a:rPr>
                  <a:t>CPU</a:t>
                </a:r>
                <a:endParaRPr b="1">
                  <a:latin typeface="Lato"/>
                  <a:ea typeface="Lato"/>
                  <a:cs typeface="Lato"/>
                  <a:sym typeface="Lato"/>
                </a:endParaRPr>
              </a:p>
            </p:txBody>
          </p:sp>
          <p:sp>
            <p:nvSpPr>
              <p:cNvPr id="442" name="Google Shape;442;p26"/>
              <p:cNvSpPr/>
              <p:nvPr/>
            </p:nvSpPr>
            <p:spPr>
              <a:xfrm>
                <a:off x="3631875" y="3110425"/>
                <a:ext cx="870600" cy="764700"/>
              </a:xfrm>
              <a:prstGeom prst="rect">
                <a:avLst/>
              </a:prstGeom>
              <a:solidFill>
                <a:srgbClr val="E8692D"/>
              </a:solidFill>
              <a:ln w="9525"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pPr algn="ctr" rtl="0"/>
                <a:r>
                  <a:rPr lang="en-GB" sz="1467" b="1">
                    <a:solidFill>
                      <a:srgbClr val="FFFFFF"/>
                    </a:solidFill>
                    <a:latin typeface="Lato"/>
                    <a:ea typeface="Lato"/>
                    <a:cs typeface="Lato"/>
                    <a:sym typeface="Lato"/>
                  </a:rPr>
                  <a:t>CPU MEM</a:t>
                </a:r>
                <a:endParaRPr sz="1467" b="1">
                  <a:solidFill>
                    <a:srgbClr val="FFFFFF"/>
                  </a:solidFill>
                  <a:latin typeface="Lato"/>
                  <a:ea typeface="Lato"/>
                  <a:cs typeface="Lato"/>
                  <a:sym typeface="Lato"/>
                </a:endParaRPr>
              </a:p>
            </p:txBody>
          </p:sp>
          <p:cxnSp>
            <p:nvCxnSpPr>
              <p:cNvPr id="443" name="Google Shape;443;p26"/>
              <p:cNvCxnSpPr/>
              <p:nvPr/>
            </p:nvCxnSpPr>
            <p:spPr>
              <a:xfrm>
                <a:off x="3890450" y="2757575"/>
                <a:ext cx="0" cy="346500"/>
              </a:xfrm>
              <a:prstGeom prst="straightConnector1">
                <a:avLst/>
              </a:prstGeom>
              <a:noFill/>
              <a:ln w="9525" cap="flat" cmpd="sng">
                <a:solidFill>
                  <a:srgbClr val="666666"/>
                </a:solidFill>
                <a:prstDash val="solid"/>
                <a:round/>
                <a:headEnd type="none" w="med" len="med"/>
                <a:tailEnd type="none" w="med" len="med"/>
              </a:ln>
            </p:spPr>
          </p:cxnSp>
          <p:cxnSp>
            <p:nvCxnSpPr>
              <p:cNvPr id="444" name="Google Shape;444;p26"/>
              <p:cNvCxnSpPr/>
              <p:nvPr/>
            </p:nvCxnSpPr>
            <p:spPr>
              <a:xfrm>
                <a:off x="4018088" y="2757075"/>
                <a:ext cx="0" cy="346500"/>
              </a:xfrm>
              <a:prstGeom prst="straightConnector1">
                <a:avLst/>
              </a:prstGeom>
              <a:noFill/>
              <a:ln w="9525" cap="flat" cmpd="sng">
                <a:solidFill>
                  <a:srgbClr val="666666"/>
                </a:solidFill>
                <a:prstDash val="solid"/>
                <a:round/>
                <a:headEnd type="none" w="med" len="med"/>
                <a:tailEnd type="none" w="med" len="med"/>
              </a:ln>
            </p:spPr>
          </p:cxnSp>
          <p:cxnSp>
            <p:nvCxnSpPr>
              <p:cNvPr id="445" name="Google Shape;445;p26"/>
              <p:cNvCxnSpPr/>
              <p:nvPr/>
            </p:nvCxnSpPr>
            <p:spPr>
              <a:xfrm>
                <a:off x="4139563" y="2757075"/>
                <a:ext cx="0" cy="346500"/>
              </a:xfrm>
              <a:prstGeom prst="straightConnector1">
                <a:avLst/>
              </a:prstGeom>
              <a:noFill/>
              <a:ln w="9525" cap="flat" cmpd="sng">
                <a:solidFill>
                  <a:srgbClr val="666666"/>
                </a:solidFill>
                <a:prstDash val="solid"/>
                <a:round/>
                <a:headEnd type="none" w="med" len="med"/>
                <a:tailEnd type="none" w="med" len="med"/>
              </a:ln>
            </p:spPr>
          </p:cxnSp>
          <p:cxnSp>
            <p:nvCxnSpPr>
              <p:cNvPr id="446" name="Google Shape;446;p26"/>
              <p:cNvCxnSpPr/>
              <p:nvPr/>
            </p:nvCxnSpPr>
            <p:spPr>
              <a:xfrm>
                <a:off x="4267238" y="2763175"/>
                <a:ext cx="0" cy="346500"/>
              </a:xfrm>
              <a:prstGeom prst="straightConnector1">
                <a:avLst/>
              </a:prstGeom>
              <a:noFill/>
              <a:ln w="9525" cap="flat" cmpd="sng">
                <a:solidFill>
                  <a:srgbClr val="666666"/>
                </a:solidFill>
                <a:prstDash val="solid"/>
                <a:round/>
                <a:headEnd type="none" w="med" len="med"/>
                <a:tailEnd type="none" w="med" len="med"/>
              </a:ln>
            </p:spPr>
          </p:cxnSp>
        </p:grpSp>
        <p:grpSp>
          <p:nvGrpSpPr>
            <p:cNvPr id="447" name="Google Shape;447;p26"/>
            <p:cNvGrpSpPr/>
            <p:nvPr/>
          </p:nvGrpSpPr>
          <p:grpSpPr>
            <a:xfrm>
              <a:off x="3132546" y="1984604"/>
              <a:ext cx="548681" cy="1143971"/>
              <a:chOff x="3631875" y="1985513"/>
              <a:chExt cx="880425" cy="1889613"/>
            </a:xfrm>
          </p:grpSpPr>
          <p:sp>
            <p:nvSpPr>
              <p:cNvPr id="448" name="Google Shape;448;p26"/>
              <p:cNvSpPr/>
              <p:nvPr/>
            </p:nvSpPr>
            <p:spPr>
              <a:xfrm>
                <a:off x="3641700" y="1985513"/>
                <a:ext cx="870600" cy="764700"/>
              </a:xfrm>
              <a:prstGeom prst="rect">
                <a:avLst/>
              </a:prstGeom>
              <a:solidFill>
                <a:schemeClr val="dk2"/>
              </a:solidFill>
              <a:ln w="9525" cap="flat" cmpd="sng">
                <a:solidFill>
                  <a:srgbClr val="666666"/>
                </a:solidFill>
                <a:prstDash val="solid"/>
                <a:round/>
                <a:headEnd type="none" w="sm" len="sm"/>
                <a:tailEnd type="none" w="sm" len="sm"/>
              </a:ln>
            </p:spPr>
            <p:txBody>
              <a:bodyPr spcFirstLastPara="1" wrap="square" lIns="72000" tIns="121900" rIns="72000" bIns="121900" anchor="ctr" anchorCtr="0">
                <a:noAutofit/>
              </a:bodyPr>
              <a:lstStyle/>
              <a:p>
                <a:pPr algn="ctr" rtl="0"/>
                <a:r>
                  <a:rPr lang="en-GB" b="1">
                    <a:solidFill>
                      <a:schemeClr val="lt2"/>
                    </a:solidFill>
                    <a:latin typeface="Lato"/>
                    <a:ea typeface="Lato"/>
                    <a:cs typeface="Lato"/>
                    <a:sym typeface="Lato"/>
                  </a:rPr>
                  <a:t>GPU</a:t>
                </a:r>
                <a:endParaRPr b="1">
                  <a:solidFill>
                    <a:schemeClr val="lt2"/>
                  </a:solidFill>
                  <a:latin typeface="Lato"/>
                  <a:ea typeface="Lato"/>
                  <a:cs typeface="Lato"/>
                  <a:sym typeface="Lato"/>
                </a:endParaRPr>
              </a:p>
            </p:txBody>
          </p:sp>
          <p:sp>
            <p:nvSpPr>
              <p:cNvPr id="449" name="Google Shape;449;p26"/>
              <p:cNvSpPr/>
              <p:nvPr/>
            </p:nvSpPr>
            <p:spPr>
              <a:xfrm>
                <a:off x="3631875" y="3110425"/>
                <a:ext cx="870600" cy="764700"/>
              </a:xfrm>
              <a:prstGeom prst="rect">
                <a:avLst/>
              </a:prstGeom>
              <a:solidFill>
                <a:schemeClr val="accent2"/>
              </a:solidFill>
              <a:ln w="9525"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pPr algn="ctr" rtl="0"/>
                <a:r>
                  <a:rPr lang="en-GB" sz="1467" b="1">
                    <a:solidFill>
                      <a:srgbClr val="FFFFFF"/>
                    </a:solidFill>
                    <a:latin typeface="Lato"/>
                    <a:ea typeface="Lato"/>
                    <a:cs typeface="Lato"/>
                    <a:sym typeface="Lato"/>
                  </a:rPr>
                  <a:t>GPU MEM</a:t>
                </a:r>
                <a:endParaRPr sz="1467" b="1">
                  <a:solidFill>
                    <a:srgbClr val="FFFFFF"/>
                  </a:solidFill>
                  <a:latin typeface="Lato"/>
                  <a:ea typeface="Lato"/>
                  <a:cs typeface="Lato"/>
                  <a:sym typeface="Lato"/>
                </a:endParaRPr>
              </a:p>
            </p:txBody>
          </p:sp>
          <p:cxnSp>
            <p:nvCxnSpPr>
              <p:cNvPr id="450" name="Google Shape;450;p26"/>
              <p:cNvCxnSpPr/>
              <p:nvPr/>
            </p:nvCxnSpPr>
            <p:spPr>
              <a:xfrm>
                <a:off x="3890450" y="2757575"/>
                <a:ext cx="0" cy="346500"/>
              </a:xfrm>
              <a:prstGeom prst="straightConnector1">
                <a:avLst/>
              </a:prstGeom>
              <a:noFill/>
              <a:ln w="9525" cap="flat" cmpd="sng">
                <a:solidFill>
                  <a:srgbClr val="666666"/>
                </a:solidFill>
                <a:prstDash val="solid"/>
                <a:round/>
                <a:headEnd type="none" w="med" len="med"/>
                <a:tailEnd type="none" w="med" len="med"/>
              </a:ln>
            </p:spPr>
          </p:cxnSp>
          <p:cxnSp>
            <p:nvCxnSpPr>
              <p:cNvPr id="451" name="Google Shape;451;p26"/>
              <p:cNvCxnSpPr/>
              <p:nvPr/>
            </p:nvCxnSpPr>
            <p:spPr>
              <a:xfrm>
                <a:off x="4018088" y="2757075"/>
                <a:ext cx="0" cy="346500"/>
              </a:xfrm>
              <a:prstGeom prst="straightConnector1">
                <a:avLst/>
              </a:prstGeom>
              <a:noFill/>
              <a:ln w="9525" cap="flat" cmpd="sng">
                <a:solidFill>
                  <a:srgbClr val="666666"/>
                </a:solidFill>
                <a:prstDash val="solid"/>
                <a:round/>
                <a:headEnd type="none" w="med" len="med"/>
                <a:tailEnd type="none" w="med" len="med"/>
              </a:ln>
            </p:spPr>
          </p:cxnSp>
          <p:cxnSp>
            <p:nvCxnSpPr>
              <p:cNvPr id="452" name="Google Shape;452;p26"/>
              <p:cNvCxnSpPr/>
              <p:nvPr/>
            </p:nvCxnSpPr>
            <p:spPr>
              <a:xfrm>
                <a:off x="4139563" y="2757075"/>
                <a:ext cx="0" cy="346500"/>
              </a:xfrm>
              <a:prstGeom prst="straightConnector1">
                <a:avLst/>
              </a:prstGeom>
              <a:noFill/>
              <a:ln w="9525" cap="flat" cmpd="sng">
                <a:solidFill>
                  <a:srgbClr val="666666"/>
                </a:solidFill>
                <a:prstDash val="solid"/>
                <a:round/>
                <a:headEnd type="none" w="med" len="med"/>
                <a:tailEnd type="none" w="med" len="med"/>
              </a:ln>
            </p:spPr>
          </p:cxnSp>
          <p:cxnSp>
            <p:nvCxnSpPr>
              <p:cNvPr id="453" name="Google Shape;453;p26"/>
              <p:cNvCxnSpPr/>
              <p:nvPr/>
            </p:nvCxnSpPr>
            <p:spPr>
              <a:xfrm>
                <a:off x="4267238" y="2763175"/>
                <a:ext cx="0" cy="346500"/>
              </a:xfrm>
              <a:prstGeom prst="straightConnector1">
                <a:avLst/>
              </a:prstGeom>
              <a:noFill/>
              <a:ln w="9525" cap="flat" cmpd="sng">
                <a:solidFill>
                  <a:srgbClr val="666666"/>
                </a:solidFill>
                <a:prstDash val="solid"/>
                <a:round/>
                <a:headEnd type="none" w="med" len="med"/>
                <a:tailEnd type="none" w="med" len="med"/>
              </a:ln>
            </p:spPr>
          </p:cxnSp>
        </p:grpSp>
        <p:cxnSp>
          <p:nvCxnSpPr>
            <p:cNvPr id="454" name="Google Shape;454;p26"/>
            <p:cNvCxnSpPr>
              <a:stCxn id="442" idx="3"/>
              <a:endCxn id="449" idx="1"/>
            </p:cNvCxnSpPr>
            <p:nvPr/>
          </p:nvCxnSpPr>
          <p:spPr>
            <a:xfrm>
              <a:off x="2660603" y="2897101"/>
              <a:ext cx="471900" cy="0"/>
            </a:xfrm>
            <a:prstGeom prst="straightConnector1">
              <a:avLst/>
            </a:prstGeom>
            <a:noFill/>
            <a:ln w="19050" cap="flat" cmpd="sng">
              <a:solidFill>
                <a:schemeClr val="accent6"/>
              </a:solidFill>
              <a:prstDash val="solid"/>
              <a:round/>
              <a:headEnd type="triangle" w="med" len="med"/>
              <a:tailEnd type="triangle" w="med" len="med"/>
            </a:ln>
          </p:spPr>
        </p:cxnSp>
      </p:grpSp>
      <p:grpSp>
        <p:nvGrpSpPr>
          <p:cNvPr id="455" name="Google Shape;455;p26"/>
          <p:cNvGrpSpPr/>
          <p:nvPr/>
        </p:nvGrpSpPr>
        <p:grpSpPr>
          <a:xfrm>
            <a:off x="5776700" y="2646139"/>
            <a:ext cx="3906992" cy="1525228"/>
            <a:chOff x="4332525" y="1984604"/>
            <a:chExt cx="2930244" cy="1143921"/>
          </a:xfrm>
        </p:grpSpPr>
        <p:grpSp>
          <p:nvGrpSpPr>
            <p:cNvPr id="456" name="Google Shape;456;p26"/>
            <p:cNvGrpSpPr/>
            <p:nvPr/>
          </p:nvGrpSpPr>
          <p:grpSpPr>
            <a:xfrm>
              <a:off x="5699459" y="1984604"/>
              <a:ext cx="1563310" cy="1143921"/>
              <a:chOff x="5699459" y="1984604"/>
              <a:chExt cx="1563310" cy="1143921"/>
            </a:xfrm>
          </p:grpSpPr>
          <p:sp>
            <p:nvSpPr>
              <p:cNvPr id="457" name="Google Shape;457;p26"/>
              <p:cNvSpPr/>
              <p:nvPr/>
            </p:nvSpPr>
            <p:spPr>
              <a:xfrm>
                <a:off x="5705568" y="1984604"/>
                <a:ext cx="542700" cy="462900"/>
              </a:xfrm>
              <a:prstGeom prst="rect">
                <a:avLst/>
              </a:prstGeom>
              <a:solidFill>
                <a:srgbClr val="D8D3D0"/>
              </a:solidFill>
              <a:ln w="9525"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pPr algn="ctr" rtl="0"/>
                <a:r>
                  <a:rPr lang="en-GB" b="1">
                    <a:latin typeface="Lato"/>
                    <a:ea typeface="Lato"/>
                    <a:cs typeface="Lato"/>
                    <a:sym typeface="Lato"/>
                  </a:rPr>
                  <a:t>CPU</a:t>
                </a:r>
                <a:endParaRPr b="1">
                  <a:latin typeface="Lato"/>
                  <a:ea typeface="Lato"/>
                  <a:cs typeface="Lato"/>
                  <a:sym typeface="Lato"/>
                </a:endParaRPr>
              </a:p>
            </p:txBody>
          </p:sp>
          <p:sp>
            <p:nvSpPr>
              <p:cNvPr id="458" name="Google Shape;458;p26"/>
              <p:cNvSpPr/>
              <p:nvPr/>
            </p:nvSpPr>
            <p:spPr>
              <a:xfrm>
                <a:off x="5699459" y="2665625"/>
                <a:ext cx="1563300" cy="462900"/>
              </a:xfrm>
              <a:prstGeom prst="rect">
                <a:avLst/>
              </a:prstGeom>
              <a:solidFill>
                <a:schemeClr val="accent4"/>
              </a:solidFill>
              <a:ln w="9525"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pPr algn="ctr" rtl="0"/>
                <a:r>
                  <a:rPr lang="en-GB" sz="1467" b="1">
                    <a:solidFill>
                      <a:srgbClr val="FFFFFF"/>
                    </a:solidFill>
                    <a:latin typeface="Lato"/>
                    <a:ea typeface="Lato"/>
                    <a:cs typeface="Lato"/>
                    <a:sym typeface="Lato"/>
                  </a:rPr>
                  <a:t>UNIFIED MEMORY</a:t>
                </a:r>
                <a:endParaRPr sz="1467" b="1">
                  <a:solidFill>
                    <a:srgbClr val="FFFFFF"/>
                  </a:solidFill>
                  <a:latin typeface="Lato"/>
                  <a:ea typeface="Lato"/>
                  <a:cs typeface="Lato"/>
                  <a:sym typeface="Lato"/>
                </a:endParaRPr>
              </a:p>
            </p:txBody>
          </p:sp>
          <p:cxnSp>
            <p:nvCxnSpPr>
              <p:cNvPr id="459" name="Google Shape;459;p26"/>
              <p:cNvCxnSpPr/>
              <p:nvPr/>
            </p:nvCxnSpPr>
            <p:spPr>
              <a:xfrm>
                <a:off x="5860589" y="2452011"/>
                <a:ext cx="0" cy="209700"/>
              </a:xfrm>
              <a:prstGeom prst="straightConnector1">
                <a:avLst/>
              </a:prstGeom>
              <a:noFill/>
              <a:ln w="9525" cap="flat" cmpd="sng">
                <a:solidFill>
                  <a:srgbClr val="666666"/>
                </a:solidFill>
                <a:prstDash val="solid"/>
                <a:round/>
                <a:headEnd type="none" w="med" len="med"/>
                <a:tailEnd type="none" w="med" len="med"/>
              </a:ln>
            </p:spPr>
          </p:cxnSp>
          <p:cxnSp>
            <p:nvCxnSpPr>
              <p:cNvPr id="460" name="Google Shape;460;p26"/>
              <p:cNvCxnSpPr/>
              <p:nvPr/>
            </p:nvCxnSpPr>
            <p:spPr>
              <a:xfrm>
                <a:off x="5940133" y="2451708"/>
                <a:ext cx="0" cy="209700"/>
              </a:xfrm>
              <a:prstGeom prst="straightConnector1">
                <a:avLst/>
              </a:prstGeom>
              <a:noFill/>
              <a:ln w="9525" cap="flat" cmpd="sng">
                <a:solidFill>
                  <a:srgbClr val="666666"/>
                </a:solidFill>
                <a:prstDash val="solid"/>
                <a:round/>
                <a:headEnd type="none" w="med" len="med"/>
                <a:tailEnd type="none" w="med" len="med"/>
              </a:ln>
            </p:spPr>
          </p:cxnSp>
          <p:cxnSp>
            <p:nvCxnSpPr>
              <p:cNvPr id="461" name="Google Shape;461;p26"/>
              <p:cNvCxnSpPr/>
              <p:nvPr/>
            </p:nvCxnSpPr>
            <p:spPr>
              <a:xfrm>
                <a:off x="6015836" y="2451708"/>
                <a:ext cx="0" cy="209700"/>
              </a:xfrm>
              <a:prstGeom prst="straightConnector1">
                <a:avLst/>
              </a:prstGeom>
              <a:noFill/>
              <a:ln w="9525" cap="flat" cmpd="sng">
                <a:solidFill>
                  <a:srgbClr val="666666"/>
                </a:solidFill>
                <a:prstDash val="solid"/>
                <a:round/>
                <a:headEnd type="none" w="med" len="med"/>
                <a:tailEnd type="none" w="med" len="med"/>
              </a:ln>
            </p:spPr>
          </p:cxnSp>
          <p:cxnSp>
            <p:nvCxnSpPr>
              <p:cNvPr id="462" name="Google Shape;462;p26"/>
              <p:cNvCxnSpPr/>
              <p:nvPr/>
            </p:nvCxnSpPr>
            <p:spPr>
              <a:xfrm>
                <a:off x="6095403" y="2455401"/>
                <a:ext cx="0" cy="209700"/>
              </a:xfrm>
              <a:prstGeom prst="straightConnector1">
                <a:avLst/>
              </a:prstGeom>
              <a:noFill/>
              <a:ln w="9525" cap="flat" cmpd="sng">
                <a:solidFill>
                  <a:srgbClr val="666666"/>
                </a:solidFill>
                <a:prstDash val="solid"/>
                <a:round/>
                <a:headEnd type="none" w="med" len="med"/>
                <a:tailEnd type="none" w="med" len="med"/>
              </a:ln>
            </p:spPr>
          </p:cxnSp>
          <p:sp>
            <p:nvSpPr>
              <p:cNvPr id="463" name="Google Shape;463;p26"/>
              <p:cNvSpPr/>
              <p:nvPr/>
            </p:nvSpPr>
            <p:spPr>
              <a:xfrm>
                <a:off x="6720068" y="1984604"/>
                <a:ext cx="542700" cy="462900"/>
              </a:xfrm>
              <a:prstGeom prst="rect">
                <a:avLst/>
              </a:prstGeom>
              <a:solidFill>
                <a:schemeClr val="dk2"/>
              </a:solidFill>
              <a:ln w="9525" cap="flat" cmpd="sng">
                <a:solidFill>
                  <a:srgbClr val="666666"/>
                </a:solidFill>
                <a:prstDash val="solid"/>
                <a:round/>
                <a:headEnd type="none" w="sm" len="sm"/>
                <a:tailEnd type="none" w="sm" len="sm"/>
              </a:ln>
            </p:spPr>
            <p:txBody>
              <a:bodyPr spcFirstLastPara="1" wrap="square" lIns="72000" tIns="121900" rIns="72000" bIns="121900" anchor="ctr" anchorCtr="0">
                <a:noAutofit/>
              </a:bodyPr>
              <a:lstStyle/>
              <a:p>
                <a:pPr algn="ctr" rtl="0"/>
                <a:r>
                  <a:rPr lang="en-GB" b="1">
                    <a:solidFill>
                      <a:schemeClr val="lt2"/>
                    </a:solidFill>
                    <a:latin typeface="Lato"/>
                    <a:ea typeface="Lato"/>
                    <a:cs typeface="Lato"/>
                    <a:sym typeface="Lato"/>
                  </a:rPr>
                  <a:t>GPU</a:t>
                </a:r>
                <a:endParaRPr b="1">
                  <a:solidFill>
                    <a:schemeClr val="lt2"/>
                  </a:solidFill>
                  <a:latin typeface="Lato"/>
                  <a:ea typeface="Lato"/>
                  <a:cs typeface="Lato"/>
                  <a:sym typeface="Lato"/>
                </a:endParaRPr>
              </a:p>
            </p:txBody>
          </p:sp>
          <p:cxnSp>
            <p:nvCxnSpPr>
              <p:cNvPr id="464" name="Google Shape;464;p26"/>
              <p:cNvCxnSpPr/>
              <p:nvPr/>
            </p:nvCxnSpPr>
            <p:spPr>
              <a:xfrm>
                <a:off x="6875089" y="2452011"/>
                <a:ext cx="0" cy="209700"/>
              </a:xfrm>
              <a:prstGeom prst="straightConnector1">
                <a:avLst/>
              </a:prstGeom>
              <a:noFill/>
              <a:ln w="9525" cap="flat" cmpd="sng">
                <a:solidFill>
                  <a:srgbClr val="666666"/>
                </a:solidFill>
                <a:prstDash val="solid"/>
                <a:round/>
                <a:headEnd type="none" w="med" len="med"/>
                <a:tailEnd type="none" w="med" len="med"/>
              </a:ln>
            </p:spPr>
          </p:cxnSp>
          <p:cxnSp>
            <p:nvCxnSpPr>
              <p:cNvPr id="465" name="Google Shape;465;p26"/>
              <p:cNvCxnSpPr/>
              <p:nvPr/>
            </p:nvCxnSpPr>
            <p:spPr>
              <a:xfrm>
                <a:off x="6954633" y="2451708"/>
                <a:ext cx="0" cy="209700"/>
              </a:xfrm>
              <a:prstGeom prst="straightConnector1">
                <a:avLst/>
              </a:prstGeom>
              <a:noFill/>
              <a:ln w="9525" cap="flat" cmpd="sng">
                <a:solidFill>
                  <a:srgbClr val="666666"/>
                </a:solidFill>
                <a:prstDash val="solid"/>
                <a:round/>
                <a:headEnd type="none" w="med" len="med"/>
                <a:tailEnd type="none" w="med" len="med"/>
              </a:ln>
            </p:spPr>
          </p:cxnSp>
          <p:cxnSp>
            <p:nvCxnSpPr>
              <p:cNvPr id="466" name="Google Shape;466;p26"/>
              <p:cNvCxnSpPr/>
              <p:nvPr/>
            </p:nvCxnSpPr>
            <p:spPr>
              <a:xfrm>
                <a:off x="7030336" y="2451708"/>
                <a:ext cx="0" cy="209700"/>
              </a:xfrm>
              <a:prstGeom prst="straightConnector1">
                <a:avLst/>
              </a:prstGeom>
              <a:noFill/>
              <a:ln w="9525" cap="flat" cmpd="sng">
                <a:solidFill>
                  <a:srgbClr val="666666"/>
                </a:solidFill>
                <a:prstDash val="solid"/>
                <a:round/>
                <a:headEnd type="none" w="med" len="med"/>
                <a:tailEnd type="none" w="med" len="med"/>
              </a:ln>
            </p:spPr>
          </p:cxnSp>
          <p:cxnSp>
            <p:nvCxnSpPr>
              <p:cNvPr id="467" name="Google Shape;467;p26"/>
              <p:cNvCxnSpPr/>
              <p:nvPr/>
            </p:nvCxnSpPr>
            <p:spPr>
              <a:xfrm>
                <a:off x="7109903" y="2455401"/>
                <a:ext cx="0" cy="209700"/>
              </a:xfrm>
              <a:prstGeom prst="straightConnector1">
                <a:avLst/>
              </a:prstGeom>
              <a:noFill/>
              <a:ln w="9525" cap="flat" cmpd="sng">
                <a:solidFill>
                  <a:srgbClr val="666666"/>
                </a:solidFill>
                <a:prstDash val="solid"/>
                <a:round/>
                <a:headEnd type="none" w="med" len="med"/>
                <a:tailEnd type="none" w="med" len="med"/>
              </a:ln>
            </p:spPr>
          </p:cxnSp>
        </p:grpSp>
        <p:sp>
          <p:nvSpPr>
            <p:cNvPr id="468" name="Google Shape;468;p26"/>
            <p:cNvSpPr txBox="1"/>
            <p:nvPr/>
          </p:nvSpPr>
          <p:spPr>
            <a:xfrm>
              <a:off x="4332525" y="2379675"/>
              <a:ext cx="394500" cy="430809"/>
            </a:xfrm>
            <a:prstGeom prst="rect">
              <a:avLst/>
            </a:prstGeom>
            <a:noFill/>
            <a:ln>
              <a:noFill/>
            </a:ln>
          </p:spPr>
          <p:txBody>
            <a:bodyPr spcFirstLastPara="1" wrap="square" lIns="121900" tIns="121900" rIns="121900" bIns="121900" anchor="t" anchorCtr="0">
              <a:spAutoFit/>
            </a:bodyPr>
            <a:lstStyle/>
            <a:p>
              <a:pPr algn="l" rtl="0"/>
              <a:r>
                <a:rPr lang="en-GB" sz="2133">
                  <a:solidFill>
                    <a:srgbClr val="595959"/>
                  </a:solidFill>
                  <a:latin typeface="Lato"/>
                  <a:ea typeface="Lato"/>
                  <a:cs typeface="Lato"/>
                  <a:sym typeface="Lato"/>
                </a:rPr>
                <a:t>vs</a:t>
              </a:r>
              <a:endParaRPr sz="2133">
                <a:solidFill>
                  <a:srgbClr val="595959"/>
                </a:solidFill>
                <a:latin typeface="Lato"/>
                <a:ea typeface="Lato"/>
                <a:cs typeface="Lato"/>
                <a:sym typeface="Lato"/>
              </a:endParaRPr>
            </a:p>
          </p:txBody>
        </p:sp>
      </p:grpSp>
      <p:sp>
        <p:nvSpPr>
          <p:cNvPr id="469" name="Google Shape;469;p26"/>
          <p:cNvSpPr txBox="1">
            <a:spLocks noGrp="1"/>
          </p:cNvSpPr>
          <p:nvPr>
            <p:ph type="body" idx="1"/>
          </p:nvPr>
        </p:nvSpPr>
        <p:spPr>
          <a:xfrm>
            <a:off x="432800" y="4293900"/>
            <a:ext cx="11326400" cy="855600"/>
          </a:xfrm>
          <a:prstGeom prst="rect">
            <a:avLst/>
          </a:prstGeom>
        </p:spPr>
        <p:txBody>
          <a:bodyPr spcFirstLastPara="1" wrap="square" lIns="91433" tIns="91433" rIns="91433" bIns="91433" anchor="t" anchorCtr="0">
            <a:noAutofit/>
          </a:bodyPr>
          <a:lstStyle/>
          <a:p>
            <a:pPr marL="0" indent="0" rtl="0">
              <a:buNone/>
            </a:pPr>
            <a:r>
              <a:rPr lang="en-GB"/>
              <a:t>The CUDA runtime takes care of migrating data between the host and device memory spaces as needed, transparently to the user</a:t>
            </a:r>
            <a:endParaRPr/>
          </a:p>
          <a:p>
            <a:pPr marL="0" indent="0" rtl="0">
              <a:buNone/>
            </a:pPr>
            <a:endParaRPr/>
          </a:p>
          <a:p>
            <a:pPr marL="0" indent="0" rtl="0">
              <a:buNone/>
            </a:pPr>
            <a:endParaRPr/>
          </a:p>
        </p:txBody>
      </p:sp>
      <p:sp>
        <p:nvSpPr>
          <p:cNvPr id="470" name="Google Shape;470;p26"/>
          <p:cNvSpPr txBox="1">
            <a:spLocks noGrp="1"/>
          </p:cNvSpPr>
          <p:nvPr>
            <p:ph type="body" idx="1"/>
          </p:nvPr>
        </p:nvSpPr>
        <p:spPr>
          <a:xfrm>
            <a:off x="432800" y="5106700"/>
            <a:ext cx="11326400" cy="855600"/>
          </a:xfrm>
          <a:prstGeom prst="rect">
            <a:avLst/>
          </a:prstGeom>
        </p:spPr>
        <p:txBody>
          <a:bodyPr spcFirstLastPara="1" wrap="square" lIns="91433" tIns="91433" rIns="91433" bIns="91433" anchor="t" anchorCtr="0">
            <a:noAutofit/>
          </a:bodyPr>
          <a:lstStyle/>
          <a:p>
            <a:pPr marL="0" indent="0" rtl="0">
              <a:buNone/>
            </a:pPr>
            <a:r>
              <a:rPr lang="en-GB" dirty="0"/>
              <a:t>Implementation is Hardware dependent (look at the CUDA capability of your card)</a:t>
            </a:r>
          </a:p>
          <a:p>
            <a:pPr marL="0" indent="0" rtl="0">
              <a:buNone/>
            </a:pPr>
            <a:r>
              <a:rPr lang="en-GB" u="sng" dirty="0"/>
              <a:t>For this course, we focus ONLY on explicit memory allocation</a:t>
            </a:r>
            <a:endParaRPr u="sng" dirty="0"/>
          </a:p>
          <a:p>
            <a:pPr marL="0" indent="0" rtl="0">
              <a:buNone/>
            </a:pP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6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C860B-BDD3-6F6F-A5B9-10AC8B7C3446}"/>
              </a:ext>
            </a:extLst>
          </p:cNvPr>
          <p:cNvSpPr>
            <a:spLocks noGrp="1"/>
          </p:cNvSpPr>
          <p:nvPr>
            <p:ph type="title"/>
          </p:nvPr>
        </p:nvSpPr>
        <p:spPr>
          <a:xfrm>
            <a:off x="418011" y="357200"/>
            <a:ext cx="10650400" cy="709600"/>
          </a:xfrm>
          <a:noFill/>
        </p:spPr>
        <p:txBody>
          <a:bodyPr/>
          <a:lstStyle/>
          <a:p>
            <a:r>
              <a:rPr lang="en-NL" dirty="0"/>
              <a:t>Multiple Applications Running on one GPU</a:t>
            </a:r>
          </a:p>
        </p:txBody>
      </p:sp>
      <p:sp>
        <p:nvSpPr>
          <p:cNvPr id="3" name="Text Placeholder 2">
            <a:extLst>
              <a:ext uri="{FF2B5EF4-FFF2-40B4-BE49-F238E27FC236}">
                <a16:creationId xmlns:a16="http://schemas.microsoft.com/office/drawing/2014/main" id="{CF39DF9A-872A-7E44-DCD8-05B4DD03D226}"/>
              </a:ext>
            </a:extLst>
          </p:cNvPr>
          <p:cNvSpPr>
            <a:spLocks noGrp="1"/>
          </p:cNvSpPr>
          <p:nvPr>
            <p:ph type="body" idx="1"/>
          </p:nvPr>
        </p:nvSpPr>
        <p:spPr>
          <a:xfrm>
            <a:off x="432800" y="1250800"/>
            <a:ext cx="11326400" cy="5150000"/>
          </a:xfrm>
        </p:spPr>
        <p:txBody>
          <a:bodyPr/>
          <a:lstStyle/>
          <a:p>
            <a:r>
              <a:rPr lang="en-GB" b="1" dirty="0">
                <a:latin typeface="Arial" panose="020B0604020202020204" pitchFamily="34" charset="0"/>
                <a:cs typeface="Arial" panose="020B0604020202020204" pitchFamily="34" charset="0"/>
                <a:hlinkClick r:id="rId3"/>
              </a:rPr>
              <a:t>NVIDIA Multi-Process Service (MPS)</a:t>
            </a:r>
            <a:r>
              <a:rPr lang="en-GB" dirty="0">
                <a:latin typeface="Arial" panose="020B0604020202020204" pitchFamily="34" charset="0"/>
                <a:cs typeface="Arial" panose="020B0604020202020204" pitchFamily="34" charset="0"/>
              </a:rPr>
              <a:t>: </a:t>
            </a:r>
          </a:p>
          <a:p>
            <a:pPr lvl="1"/>
            <a:r>
              <a:rPr lang="en-GB" dirty="0">
                <a:latin typeface="Arial" panose="020B0604020202020204" pitchFamily="34" charset="0"/>
                <a:cs typeface="Arial" panose="020B0604020202020204" pitchFamily="34" charset="0"/>
              </a:rPr>
              <a:t>This server acts as a proxy between applications and the GPU.</a:t>
            </a:r>
          </a:p>
          <a:p>
            <a:pPr lvl="1"/>
            <a:r>
              <a:rPr lang="en-GB" dirty="0">
                <a:latin typeface="Arial" panose="020B0604020202020204" pitchFamily="34" charset="0"/>
                <a:cs typeface="Arial" panose="020B0604020202020204" pitchFamily="34" charset="0"/>
              </a:rPr>
              <a:t>”Funnel" multiple applications into a single CUDA context,</a:t>
            </a:r>
          </a:p>
          <a:p>
            <a:pPr lvl="2"/>
            <a:r>
              <a:rPr lang="en-GB" dirty="0">
                <a:latin typeface="Arial" panose="020B0604020202020204" pitchFamily="34" charset="0"/>
                <a:cs typeface="Arial" panose="020B0604020202020204" pitchFamily="34" charset="0"/>
              </a:rPr>
              <a:t>when the applications' workloads are small enough to allow for it.</a:t>
            </a:r>
          </a:p>
          <a:p>
            <a:pPr marL="177796" indent="0">
              <a:buNone/>
            </a:pPr>
            <a:endParaRPr lang="en-GB" dirty="0">
              <a:latin typeface="Arial" panose="020B0604020202020204" pitchFamily="34" charset="0"/>
              <a:cs typeface="Arial" panose="020B0604020202020204" pitchFamily="34" charset="0"/>
            </a:endParaRPr>
          </a:p>
          <a:p>
            <a:r>
              <a:rPr lang="en-GB" b="1" dirty="0">
                <a:latin typeface="Arial" panose="020B0604020202020204" pitchFamily="34" charset="0"/>
                <a:cs typeface="Arial" panose="020B0604020202020204" pitchFamily="34" charset="0"/>
                <a:hlinkClick r:id="rId4"/>
              </a:rPr>
              <a:t>NVIDIA Multi-Instance GPU (MIG)</a:t>
            </a:r>
            <a:r>
              <a:rPr lang="en-GB" dirty="0">
                <a:latin typeface="Arial" panose="020B0604020202020204" pitchFamily="34" charset="0"/>
                <a:cs typeface="Arial" panose="020B0604020202020204" pitchFamily="34" charset="0"/>
              </a:rPr>
              <a:t>: This hardware-based partitioning technology </a:t>
            </a:r>
          </a:p>
          <a:p>
            <a:pPr lvl="1"/>
            <a:r>
              <a:rPr lang="en-GB" dirty="0">
                <a:latin typeface="Arial" panose="020B0604020202020204" pitchFamily="34" charset="0"/>
                <a:cs typeface="Arial" panose="020B0604020202020204" pitchFamily="34" charset="0"/>
              </a:rPr>
              <a:t>Physically separates a single GPU into multiple, independent GPU instances.</a:t>
            </a:r>
          </a:p>
          <a:p>
            <a:pPr lvl="1"/>
            <a:r>
              <a:rPr lang="en-GB" dirty="0">
                <a:latin typeface="Arial" panose="020B0604020202020204" pitchFamily="34" charset="0"/>
                <a:cs typeface="Arial" panose="020B0604020202020204" pitchFamily="34" charset="0"/>
              </a:rPr>
              <a:t>Each instance has its own set of compute cores, memory, and caches.</a:t>
            </a:r>
          </a:p>
          <a:p>
            <a:pPr lvl="1"/>
            <a:r>
              <a:rPr lang="en-GB" dirty="0">
                <a:latin typeface="Arial" panose="020B0604020202020204" pitchFamily="34" charset="0"/>
                <a:cs typeface="Arial" panose="020B0604020202020204" pitchFamily="34" charset="0"/>
              </a:rPr>
              <a:t>This allows multiple applications to run on different partitions of the same GPU at the same time, with no resource contention.</a:t>
            </a:r>
          </a:p>
          <a:p>
            <a:pPr lvl="1"/>
            <a:r>
              <a:rPr lang="en-GB" dirty="0">
                <a:latin typeface="Arial" panose="020B0604020202020204" pitchFamily="34" charset="0"/>
                <a:cs typeface="Arial" panose="020B0604020202020204" pitchFamily="34" charset="0"/>
              </a:rPr>
              <a:t>MIG also provides better security and fault isolation</a:t>
            </a:r>
          </a:p>
          <a:p>
            <a:pPr marL="761981" lvl="1" indent="0">
              <a:buNone/>
            </a:pPr>
            <a:endParaRPr lang="en-GB" dirty="0">
              <a:latin typeface="Arial" panose="020B0604020202020204" pitchFamily="34" charset="0"/>
              <a:cs typeface="Arial" panose="020B0604020202020204" pitchFamily="34" charset="0"/>
            </a:endParaRPr>
          </a:p>
          <a:p>
            <a:pPr marL="177796" indent="0">
              <a:buNone/>
            </a:pPr>
            <a:r>
              <a:rPr lang="en-GB" dirty="0">
                <a:latin typeface="Arial" panose="020B0604020202020204" pitchFamily="34" charset="0"/>
                <a:cs typeface="Arial" panose="020B0604020202020204" pitchFamily="34" charset="0"/>
              </a:rPr>
              <a:t>MPS (</a:t>
            </a:r>
            <a:r>
              <a:rPr lang="en-GB" dirty="0">
                <a:latin typeface="Arial" panose="020B0604020202020204" pitchFamily="34" charset="0"/>
                <a:cs typeface="Arial" panose="020B0604020202020204" pitchFamily="34" charset="0"/>
                <a:hlinkClick r:id="rId5"/>
              </a:rPr>
              <a:t>Multi-Process Service</a:t>
            </a:r>
            <a:r>
              <a:rPr lang="en-GB" dirty="0">
                <a:latin typeface="Arial" panose="020B0604020202020204" pitchFamily="34" charset="0"/>
                <a:cs typeface="Arial" panose="020B0604020202020204" pitchFamily="34" charset="0"/>
              </a:rPr>
              <a:t>) is a software-based sharing method </a:t>
            </a:r>
          </a:p>
          <a:p>
            <a:pPr marL="177796" indent="0">
              <a:buNone/>
            </a:pPr>
            <a:r>
              <a:rPr lang="en-GB" dirty="0">
                <a:latin typeface="Arial" panose="020B0604020202020204" pitchFamily="34" charset="0"/>
                <a:cs typeface="Arial" panose="020B0604020202020204" pitchFamily="34" charset="0"/>
              </a:rPr>
              <a:t>MIG (</a:t>
            </a:r>
            <a:r>
              <a:rPr lang="en-GB" dirty="0">
                <a:latin typeface="Arial" panose="020B0604020202020204" pitchFamily="34" charset="0"/>
                <a:cs typeface="Arial" panose="020B0604020202020204" pitchFamily="34" charset="0"/>
                <a:hlinkClick r:id="rId6"/>
              </a:rPr>
              <a:t>Multi-Instance GPU</a:t>
            </a:r>
            <a:r>
              <a:rPr lang="en-GB" dirty="0">
                <a:latin typeface="Arial" panose="020B0604020202020204" pitchFamily="34" charset="0"/>
                <a:cs typeface="Arial" panose="020B0604020202020204" pitchFamily="34" charset="0"/>
              </a:rPr>
              <a:t>) is a hardware-level partitioning </a:t>
            </a:r>
          </a:p>
          <a:p>
            <a:pPr marL="177796" indent="0">
              <a:buNone/>
            </a:pPr>
            <a:r>
              <a:rPr lang="en-GB" dirty="0">
                <a:latin typeface="Arial" panose="020B0604020202020204" pitchFamily="34" charset="0"/>
                <a:cs typeface="Arial" panose="020B0604020202020204" pitchFamily="34" charset="0"/>
              </a:rPr>
              <a:t>	creates up to seven physically isolated instances from a single GPU, </a:t>
            </a:r>
          </a:p>
          <a:p>
            <a:pPr marL="177796" indent="0">
              <a:buNone/>
            </a:pPr>
            <a:endParaRPr lang="en-NL"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329616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C4998-DB5B-BE5B-DC8C-C1A03A93E24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ABD9820-CE80-3AD6-97FD-F196E78F65EC}"/>
              </a:ext>
            </a:extLst>
          </p:cNvPr>
          <p:cNvSpPr txBox="1">
            <a:spLocks noGrp="1"/>
          </p:cNvSpPr>
          <p:nvPr>
            <p:ph type="title"/>
          </p:nvPr>
        </p:nvSpPr>
        <p:spPr>
          <a:xfrm>
            <a:off x="2325118" y="3756786"/>
            <a:ext cx="5198745" cy="756920"/>
          </a:xfrm>
          <a:prstGeom prst="rect">
            <a:avLst/>
          </a:prstGeom>
        </p:spPr>
        <p:txBody>
          <a:bodyPr vert="horz" wrap="square" lIns="0" tIns="12700" rIns="0" bIns="0" rtlCol="0">
            <a:spAutoFit/>
          </a:bodyPr>
          <a:lstStyle/>
          <a:p>
            <a:pPr marL="12700">
              <a:spcBef>
                <a:spcPts val="100"/>
              </a:spcBef>
            </a:pPr>
            <a:r>
              <a:rPr lang="en-US" sz="4800" dirty="0">
                <a:solidFill>
                  <a:schemeClr val="bg1"/>
                </a:solidFill>
              </a:rPr>
              <a:t>EXCERCISE</a:t>
            </a:r>
            <a:endParaRPr sz="4800" dirty="0">
              <a:solidFill>
                <a:schemeClr val="bg1"/>
              </a:solidFill>
            </a:endParaRPr>
          </a:p>
        </p:txBody>
      </p:sp>
    </p:spTree>
    <p:extLst>
      <p:ext uri="{BB962C8B-B14F-4D97-AF65-F5344CB8AC3E}">
        <p14:creationId xmlns:p14="http://schemas.microsoft.com/office/powerpoint/2010/main" val="11576402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97FB8-6C5B-492D-6995-EC02DACB6C0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AC381C4-98B6-0733-F3C3-FCD82034498E}"/>
              </a:ext>
            </a:extLst>
          </p:cNvPr>
          <p:cNvSpPr txBox="1">
            <a:spLocks noGrp="1"/>
          </p:cNvSpPr>
          <p:nvPr>
            <p:ph type="title"/>
          </p:nvPr>
        </p:nvSpPr>
        <p:spPr>
          <a:xfrm>
            <a:off x="2325118" y="3756786"/>
            <a:ext cx="5198745" cy="756920"/>
          </a:xfrm>
          <a:prstGeom prst="rect">
            <a:avLst/>
          </a:prstGeom>
        </p:spPr>
        <p:txBody>
          <a:bodyPr vert="horz" wrap="square" lIns="0" tIns="12700" rIns="0" bIns="0" rtlCol="0">
            <a:spAutoFit/>
          </a:bodyPr>
          <a:lstStyle/>
          <a:p>
            <a:pPr marL="12700">
              <a:spcBef>
                <a:spcPts val="100"/>
              </a:spcBef>
            </a:pPr>
            <a:r>
              <a:rPr sz="4800" spc="-125" dirty="0">
                <a:solidFill>
                  <a:srgbClr val="EEECE1"/>
                </a:solidFill>
              </a:rPr>
              <a:t>MEMORY</a:t>
            </a:r>
            <a:r>
              <a:rPr sz="4800" spc="-245" dirty="0">
                <a:solidFill>
                  <a:srgbClr val="EEECE1"/>
                </a:solidFill>
              </a:rPr>
              <a:t> </a:t>
            </a:r>
            <a:r>
              <a:rPr sz="4800" spc="-110" dirty="0">
                <a:solidFill>
                  <a:srgbClr val="EEECE1"/>
                </a:solidFill>
              </a:rPr>
              <a:t>SPACES</a:t>
            </a:r>
            <a:endParaRPr sz="4800" dirty="0"/>
          </a:p>
        </p:txBody>
      </p:sp>
    </p:spTree>
    <p:extLst>
      <p:ext uri="{BB962C8B-B14F-4D97-AF65-F5344CB8AC3E}">
        <p14:creationId xmlns:p14="http://schemas.microsoft.com/office/powerpoint/2010/main" val="3249777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513959" y="1857501"/>
            <a:ext cx="131445" cy="836930"/>
          </a:xfrm>
          <a:prstGeom prst="rect">
            <a:avLst/>
          </a:prstGeom>
        </p:spPr>
      </p:pic>
      <p:sp>
        <p:nvSpPr>
          <p:cNvPr id="3" name="object 3"/>
          <p:cNvSpPr txBox="1"/>
          <p:nvPr/>
        </p:nvSpPr>
        <p:spPr>
          <a:xfrm>
            <a:off x="6172200" y="1566417"/>
            <a:ext cx="750570" cy="299720"/>
          </a:xfrm>
          <a:prstGeom prst="rect">
            <a:avLst/>
          </a:prstGeom>
        </p:spPr>
        <p:txBody>
          <a:bodyPr vert="horz" wrap="square" lIns="0" tIns="12700" rIns="0" bIns="0" rtlCol="0">
            <a:spAutoFit/>
          </a:bodyPr>
          <a:lstStyle/>
          <a:p>
            <a:pPr marL="12700">
              <a:spcBef>
                <a:spcPts val="100"/>
              </a:spcBef>
            </a:pPr>
            <a:r>
              <a:rPr spc="-10" dirty="0">
                <a:latin typeface="Arial"/>
                <a:cs typeface="Arial"/>
              </a:rPr>
              <a:t>Thread</a:t>
            </a:r>
            <a:endParaRPr>
              <a:latin typeface="Arial"/>
              <a:cs typeface="Arial"/>
            </a:endParaRPr>
          </a:p>
        </p:txBody>
      </p:sp>
      <p:sp>
        <p:nvSpPr>
          <p:cNvPr id="4" name="object 4"/>
          <p:cNvSpPr txBox="1"/>
          <p:nvPr/>
        </p:nvSpPr>
        <p:spPr>
          <a:xfrm>
            <a:off x="7204202" y="2262378"/>
            <a:ext cx="2292858" cy="282770"/>
          </a:xfrm>
          <a:prstGeom prst="rect">
            <a:avLst/>
          </a:prstGeom>
          <a:solidFill>
            <a:srgbClr val="4F80BC"/>
          </a:solidFill>
          <a:ln w="26424">
            <a:solidFill>
              <a:srgbClr val="385D89"/>
            </a:solidFill>
          </a:ln>
        </p:spPr>
        <p:txBody>
          <a:bodyPr vert="horz" wrap="square" lIns="0" tIns="51435" rIns="0" bIns="0" rtlCol="0">
            <a:spAutoFit/>
          </a:bodyPr>
          <a:lstStyle/>
          <a:p>
            <a:pPr marL="251460" marR="240665" indent="176530">
              <a:lnSpc>
                <a:spcPts val="1839"/>
              </a:lnSpc>
              <a:spcBef>
                <a:spcPts val="405"/>
              </a:spcBef>
            </a:pPr>
            <a:r>
              <a:rPr dirty="0">
                <a:solidFill>
                  <a:srgbClr val="FFFFFF"/>
                </a:solidFill>
                <a:latin typeface="Arial"/>
                <a:cs typeface="Arial"/>
              </a:rPr>
              <a:t>Local</a:t>
            </a:r>
            <a:r>
              <a:rPr lang="en-US" dirty="0">
                <a:solidFill>
                  <a:srgbClr val="FFFFFF"/>
                </a:solidFill>
                <a:latin typeface="Arial"/>
                <a:cs typeface="Arial"/>
              </a:rPr>
              <a:t> </a:t>
            </a:r>
            <a:r>
              <a:rPr spc="-10" dirty="0">
                <a:solidFill>
                  <a:srgbClr val="FFFFFF"/>
                </a:solidFill>
                <a:latin typeface="Arial"/>
                <a:cs typeface="Arial"/>
              </a:rPr>
              <a:t>Memory</a:t>
            </a:r>
            <a:endParaRPr dirty="0">
              <a:latin typeface="Arial"/>
              <a:cs typeface="Arial"/>
            </a:endParaRPr>
          </a:p>
        </p:txBody>
      </p:sp>
      <p:sp>
        <p:nvSpPr>
          <p:cNvPr id="5" name="object 5"/>
          <p:cNvSpPr/>
          <p:nvPr/>
        </p:nvSpPr>
        <p:spPr>
          <a:xfrm>
            <a:off x="6620002" y="2370831"/>
            <a:ext cx="584200" cy="79375"/>
          </a:xfrm>
          <a:custGeom>
            <a:avLst/>
            <a:gdLst/>
            <a:ahLst/>
            <a:cxnLst/>
            <a:rect l="l" t="t" r="r" b="b"/>
            <a:pathLst>
              <a:path w="584200" h="79375">
                <a:moveTo>
                  <a:pt x="79248" y="0"/>
                </a:moveTo>
                <a:lnTo>
                  <a:pt x="0" y="39624"/>
                </a:lnTo>
                <a:lnTo>
                  <a:pt x="79248" y="79248"/>
                </a:lnTo>
                <a:lnTo>
                  <a:pt x="79248" y="52833"/>
                </a:lnTo>
                <a:lnTo>
                  <a:pt x="66040" y="52833"/>
                </a:lnTo>
                <a:lnTo>
                  <a:pt x="66040" y="26416"/>
                </a:lnTo>
                <a:lnTo>
                  <a:pt x="79248" y="26416"/>
                </a:lnTo>
                <a:lnTo>
                  <a:pt x="79248" y="0"/>
                </a:lnTo>
                <a:close/>
              </a:path>
              <a:path w="584200" h="79375">
                <a:moveTo>
                  <a:pt x="504444" y="0"/>
                </a:moveTo>
                <a:lnTo>
                  <a:pt x="504444" y="79248"/>
                </a:lnTo>
                <a:lnTo>
                  <a:pt x="557273" y="52833"/>
                </a:lnTo>
                <a:lnTo>
                  <a:pt x="517654" y="52833"/>
                </a:lnTo>
                <a:lnTo>
                  <a:pt x="517654" y="26416"/>
                </a:lnTo>
                <a:lnTo>
                  <a:pt x="557276" y="26416"/>
                </a:lnTo>
                <a:lnTo>
                  <a:pt x="504444" y="0"/>
                </a:lnTo>
                <a:close/>
              </a:path>
              <a:path w="584200" h="79375">
                <a:moveTo>
                  <a:pt x="79248" y="26416"/>
                </a:moveTo>
                <a:lnTo>
                  <a:pt x="66040" y="26416"/>
                </a:lnTo>
                <a:lnTo>
                  <a:pt x="66040" y="52833"/>
                </a:lnTo>
                <a:lnTo>
                  <a:pt x="79248" y="52833"/>
                </a:lnTo>
                <a:lnTo>
                  <a:pt x="79248" y="26416"/>
                </a:lnTo>
                <a:close/>
              </a:path>
              <a:path w="584200" h="79375">
                <a:moveTo>
                  <a:pt x="504444" y="26416"/>
                </a:moveTo>
                <a:lnTo>
                  <a:pt x="79248" y="26416"/>
                </a:lnTo>
                <a:lnTo>
                  <a:pt x="79248" y="52833"/>
                </a:lnTo>
                <a:lnTo>
                  <a:pt x="504444" y="52833"/>
                </a:lnTo>
                <a:lnTo>
                  <a:pt x="504444" y="26416"/>
                </a:lnTo>
                <a:close/>
              </a:path>
              <a:path w="584200" h="79375">
                <a:moveTo>
                  <a:pt x="557276" y="26416"/>
                </a:moveTo>
                <a:lnTo>
                  <a:pt x="517654" y="26416"/>
                </a:lnTo>
                <a:lnTo>
                  <a:pt x="517654" y="52833"/>
                </a:lnTo>
                <a:lnTo>
                  <a:pt x="557273" y="52833"/>
                </a:lnTo>
                <a:lnTo>
                  <a:pt x="583692" y="39624"/>
                </a:lnTo>
                <a:lnTo>
                  <a:pt x="557276" y="26416"/>
                </a:lnTo>
                <a:close/>
              </a:path>
            </a:pathLst>
          </a:custGeom>
          <a:solidFill>
            <a:srgbClr val="385D89"/>
          </a:solidFill>
        </p:spPr>
        <p:txBody>
          <a:bodyPr wrap="square" lIns="0" tIns="0" rIns="0" bIns="0" rtlCol="0"/>
          <a:lstStyle/>
          <a:p>
            <a:endParaRPr/>
          </a:p>
        </p:txBody>
      </p:sp>
      <p:pic>
        <p:nvPicPr>
          <p:cNvPr id="6" name="object 6"/>
          <p:cNvPicPr/>
          <p:nvPr/>
        </p:nvPicPr>
        <p:blipFill>
          <a:blip r:embed="rId3" cstate="print"/>
          <a:stretch>
            <a:fillRect/>
          </a:stretch>
        </p:blipFill>
        <p:spPr>
          <a:xfrm>
            <a:off x="7635049" y="5603557"/>
            <a:ext cx="2972248" cy="1018410"/>
          </a:xfrm>
          <a:prstGeom prst="rect">
            <a:avLst/>
          </a:prstGeom>
        </p:spPr>
      </p:pic>
      <p:sp>
        <p:nvSpPr>
          <p:cNvPr id="7" name="object 7"/>
          <p:cNvSpPr txBox="1"/>
          <p:nvPr/>
        </p:nvSpPr>
        <p:spPr>
          <a:xfrm>
            <a:off x="7832217" y="5253354"/>
            <a:ext cx="583565" cy="299720"/>
          </a:xfrm>
          <a:prstGeom prst="rect">
            <a:avLst/>
          </a:prstGeom>
        </p:spPr>
        <p:txBody>
          <a:bodyPr vert="horz" wrap="square" lIns="0" tIns="12700" rIns="0" bIns="0" rtlCol="0">
            <a:spAutoFit/>
          </a:bodyPr>
          <a:lstStyle/>
          <a:p>
            <a:pPr marL="12700">
              <a:spcBef>
                <a:spcPts val="100"/>
              </a:spcBef>
            </a:pPr>
            <a:r>
              <a:rPr spc="-10" dirty="0">
                <a:latin typeface="Arial"/>
                <a:cs typeface="Arial"/>
              </a:rPr>
              <a:t>Block</a:t>
            </a:r>
            <a:endParaRPr>
              <a:latin typeface="Arial"/>
              <a:cs typeface="Arial"/>
            </a:endParaRPr>
          </a:p>
        </p:txBody>
      </p:sp>
      <p:sp>
        <p:nvSpPr>
          <p:cNvPr id="8" name="object 8"/>
          <p:cNvSpPr txBox="1"/>
          <p:nvPr/>
        </p:nvSpPr>
        <p:spPr>
          <a:xfrm>
            <a:off x="9287345" y="5666970"/>
            <a:ext cx="1319951" cy="896784"/>
          </a:xfrm>
          <a:prstGeom prst="rect">
            <a:avLst/>
          </a:prstGeom>
          <a:solidFill>
            <a:schemeClr val="bg1">
              <a:lumMod val="65000"/>
            </a:schemeClr>
          </a:solidFill>
        </p:spPr>
        <p:txBody>
          <a:bodyPr vert="horz" wrap="square" lIns="0" tIns="28575" rIns="0" bIns="0" rtlCol="0">
            <a:spAutoFit/>
          </a:bodyPr>
          <a:lstStyle/>
          <a:p>
            <a:pPr marL="12700" marR="5080" indent="24130" algn="ctr">
              <a:lnSpc>
                <a:spcPct val="94200"/>
              </a:lnSpc>
              <a:spcBef>
                <a:spcPts val="225"/>
              </a:spcBef>
            </a:pPr>
            <a:r>
              <a:rPr sz="2000" spc="-10" dirty="0">
                <a:solidFill>
                  <a:srgbClr val="FFFFFF"/>
                </a:solidFill>
                <a:latin typeface="Arial"/>
                <a:cs typeface="Arial"/>
              </a:rPr>
              <a:t>Per-</a:t>
            </a:r>
            <a:r>
              <a:rPr sz="2000" spc="-25" dirty="0">
                <a:solidFill>
                  <a:srgbClr val="FFFFFF"/>
                </a:solidFill>
                <a:latin typeface="Arial"/>
                <a:cs typeface="Arial"/>
              </a:rPr>
              <a:t>SM </a:t>
            </a:r>
            <a:r>
              <a:rPr sz="2000" spc="-10" dirty="0">
                <a:solidFill>
                  <a:srgbClr val="FFFFFF"/>
                </a:solidFill>
                <a:latin typeface="Arial"/>
                <a:cs typeface="Arial"/>
              </a:rPr>
              <a:t>Shared Memory</a:t>
            </a:r>
            <a:endParaRPr sz="2000" dirty="0">
              <a:latin typeface="Arial"/>
              <a:cs typeface="Arial"/>
            </a:endParaRPr>
          </a:p>
        </p:txBody>
      </p:sp>
      <p:sp>
        <p:nvSpPr>
          <p:cNvPr id="9" name="object 9"/>
          <p:cNvSpPr txBox="1">
            <a:spLocks noGrp="1"/>
          </p:cNvSpPr>
          <p:nvPr>
            <p:ph type="title"/>
          </p:nvPr>
        </p:nvSpPr>
        <p:spPr>
          <a:xfrm>
            <a:off x="614045" y="697737"/>
            <a:ext cx="6929755" cy="463525"/>
          </a:xfrm>
          <a:prstGeom prst="rect">
            <a:avLst/>
          </a:prstGeom>
        </p:spPr>
        <p:txBody>
          <a:bodyPr vert="horz" wrap="square" lIns="0" tIns="12065" rIns="0" bIns="0" rtlCol="0">
            <a:spAutoFit/>
          </a:bodyPr>
          <a:lstStyle/>
          <a:p>
            <a:pPr marL="12700">
              <a:spcBef>
                <a:spcPts val="95"/>
              </a:spcBef>
            </a:pPr>
            <a:r>
              <a:rPr sz="2933" cap="small" dirty="0">
                <a:solidFill>
                  <a:schemeClr val="dk2"/>
                </a:solidFill>
              </a:rPr>
              <a:t>Multiple Device Memory Scopes</a:t>
            </a:r>
          </a:p>
        </p:txBody>
      </p:sp>
      <p:sp>
        <p:nvSpPr>
          <p:cNvPr id="10" name="object 10"/>
          <p:cNvSpPr txBox="1"/>
          <p:nvPr/>
        </p:nvSpPr>
        <p:spPr>
          <a:xfrm>
            <a:off x="614044" y="1552086"/>
            <a:ext cx="4826000" cy="1563370"/>
          </a:xfrm>
          <a:prstGeom prst="rect">
            <a:avLst/>
          </a:prstGeom>
        </p:spPr>
        <p:txBody>
          <a:bodyPr vert="horz" wrap="square" lIns="0" tIns="86360" rIns="0" bIns="0" rtlCol="0">
            <a:spAutoFit/>
          </a:bodyPr>
          <a:lstStyle/>
          <a:p>
            <a:pPr marL="196215" indent="-183515">
              <a:spcBef>
                <a:spcPts val="680"/>
              </a:spcBef>
              <a:buClr>
                <a:srgbClr val="4F80BC"/>
              </a:buClr>
              <a:buSzPct val="85416"/>
              <a:buChar char="•"/>
              <a:tabLst>
                <a:tab pos="196215" algn="l"/>
              </a:tabLst>
            </a:pPr>
            <a:r>
              <a:rPr sz="2400" spc="-10" dirty="0">
                <a:latin typeface="Arial"/>
                <a:cs typeface="Arial"/>
              </a:rPr>
              <a:t>Per-</a:t>
            </a:r>
            <a:r>
              <a:rPr sz="2400" dirty="0">
                <a:latin typeface="Arial"/>
                <a:cs typeface="Arial"/>
              </a:rPr>
              <a:t>thread</a:t>
            </a:r>
            <a:r>
              <a:rPr sz="2400" spc="-55" dirty="0">
                <a:latin typeface="Arial"/>
                <a:cs typeface="Arial"/>
              </a:rPr>
              <a:t> </a:t>
            </a:r>
            <a:r>
              <a:rPr sz="2400" i="1" dirty="0">
                <a:latin typeface="Arial"/>
                <a:cs typeface="Arial"/>
              </a:rPr>
              <a:t>local</a:t>
            </a:r>
            <a:r>
              <a:rPr sz="2400" i="1" spc="-25" dirty="0">
                <a:latin typeface="Arial"/>
                <a:cs typeface="Arial"/>
              </a:rPr>
              <a:t> </a:t>
            </a:r>
            <a:r>
              <a:rPr sz="2400" spc="-10" dirty="0">
                <a:latin typeface="Arial"/>
                <a:cs typeface="Arial"/>
              </a:rPr>
              <a:t>memory</a:t>
            </a:r>
            <a:endParaRPr sz="2400" dirty="0">
              <a:latin typeface="Arial"/>
              <a:cs typeface="Arial"/>
            </a:endParaRPr>
          </a:p>
          <a:p>
            <a:pPr marL="469900" lvl="1" indent="-182880">
              <a:spcBef>
                <a:spcPts val="484"/>
              </a:spcBef>
              <a:buClr>
                <a:srgbClr val="4F80BC"/>
              </a:buClr>
              <a:buSzPct val="85000"/>
              <a:buChar char="•"/>
              <a:tabLst>
                <a:tab pos="469900" algn="l"/>
              </a:tabLst>
            </a:pPr>
            <a:r>
              <a:rPr sz="2000" dirty="0">
                <a:latin typeface="Arial"/>
                <a:cs typeface="Arial"/>
              </a:rPr>
              <a:t>Each</a:t>
            </a:r>
            <a:r>
              <a:rPr sz="2000" spc="-25" dirty="0">
                <a:latin typeface="Arial"/>
                <a:cs typeface="Arial"/>
              </a:rPr>
              <a:t> </a:t>
            </a:r>
            <a:r>
              <a:rPr sz="2000" dirty="0">
                <a:latin typeface="Arial"/>
                <a:cs typeface="Arial"/>
              </a:rPr>
              <a:t>thread</a:t>
            </a:r>
            <a:r>
              <a:rPr sz="2000" spc="-30" dirty="0">
                <a:latin typeface="Arial"/>
                <a:cs typeface="Arial"/>
              </a:rPr>
              <a:t> </a:t>
            </a:r>
            <a:r>
              <a:rPr sz="2000" dirty="0">
                <a:latin typeface="Arial"/>
                <a:cs typeface="Arial"/>
              </a:rPr>
              <a:t>has</a:t>
            </a:r>
            <a:r>
              <a:rPr sz="2000" spc="-35" dirty="0">
                <a:latin typeface="Arial"/>
                <a:cs typeface="Arial"/>
              </a:rPr>
              <a:t> </a:t>
            </a:r>
            <a:r>
              <a:rPr sz="2000" dirty="0">
                <a:latin typeface="Arial"/>
                <a:cs typeface="Arial"/>
              </a:rPr>
              <a:t>its</a:t>
            </a:r>
            <a:r>
              <a:rPr sz="2000" spc="-5" dirty="0">
                <a:latin typeface="Arial"/>
                <a:cs typeface="Arial"/>
              </a:rPr>
              <a:t> </a:t>
            </a:r>
            <a:r>
              <a:rPr sz="2000" dirty="0">
                <a:latin typeface="Arial"/>
                <a:cs typeface="Arial"/>
              </a:rPr>
              <a:t>own</a:t>
            </a:r>
            <a:r>
              <a:rPr sz="2000" spc="-20" dirty="0">
                <a:latin typeface="Arial"/>
                <a:cs typeface="Arial"/>
              </a:rPr>
              <a:t> </a:t>
            </a:r>
            <a:r>
              <a:rPr sz="2000" dirty="0">
                <a:latin typeface="Arial"/>
                <a:cs typeface="Arial"/>
              </a:rPr>
              <a:t>local</a:t>
            </a:r>
            <a:r>
              <a:rPr sz="2000" spc="-10" dirty="0">
                <a:latin typeface="Arial"/>
                <a:cs typeface="Arial"/>
              </a:rPr>
              <a:t> memory.</a:t>
            </a:r>
            <a:endParaRPr sz="2000" dirty="0">
              <a:latin typeface="Arial"/>
              <a:cs typeface="Arial"/>
            </a:endParaRPr>
          </a:p>
          <a:p>
            <a:pPr marL="469900" lvl="1" indent="-182880">
              <a:spcBef>
                <a:spcPts val="480"/>
              </a:spcBef>
              <a:buClr>
                <a:srgbClr val="4F80BC"/>
              </a:buClr>
              <a:buSzPct val="85000"/>
              <a:buChar char="•"/>
              <a:tabLst>
                <a:tab pos="469900" algn="l"/>
              </a:tabLst>
            </a:pPr>
            <a:r>
              <a:rPr sz="2000" dirty="0">
                <a:latin typeface="Arial"/>
                <a:cs typeface="Arial"/>
              </a:rPr>
              <a:t>Stores</a:t>
            </a:r>
            <a:r>
              <a:rPr sz="2000" spc="-35" dirty="0">
                <a:latin typeface="Arial"/>
                <a:cs typeface="Arial"/>
              </a:rPr>
              <a:t> </a:t>
            </a:r>
            <a:r>
              <a:rPr sz="2000" dirty="0">
                <a:latin typeface="Arial"/>
                <a:cs typeface="Arial"/>
              </a:rPr>
              <a:t>private</a:t>
            </a:r>
            <a:r>
              <a:rPr sz="2000" spc="-30" dirty="0">
                <a:latin typeface="Arial"/>
                <a:cs typeface="Arial"/>
              </a:rPr>
              <a:t> </a:t>
            </a:r>
            <a:r>
              <a:rPr sz="2000" dirty="0">
                <a:latin typeface="Arial"/>
                <a:cs typeface="Arial"/>
              </a:rPr>
              <a:t>data</a:t>
            </a:r>
            <a:r>
              <a:rPr sz="2000" spc="-25" dirty="0">
                <a:latin typeface="Arial"/>
                <a:cs typeface="Arial"/>
              </a:rPr>
              <a:t> </a:t>
            </a:r>
            <a:r>
              <a:rPr sz="2000" dirty="0">
                <a:latin typeface="Arial"/>
                <a:cs typeface="Arial"/>
              </a:rPr>
              <a:t>(in</a:t>
            </a:r>
            <a:r>
              <a:rPr sz="2000" spc="-10" dirty="0">
                <a:latin typeface="Arial"/>
                <a:cs typeface="Arial"/>
              </a:rPr>
              <a:t> </a:t>
            </a:r>
            <a:r>
              <a:rPr sz="2000" spc="-10" dirty="0">
                <a:solidFill>
                  <a:srgbClr val="C00000"/>
                </a:solidFill>
                <a:latin typeface="Arial"/>
                <a:cs typeface="Arial"/>
              </a:rPr>
              <a:t>registers</a:t>
            </a:r>
            <a:r>
              <a:rPr sz="2000" spc="-10" dirty="0">
                <a:latin typeface="Arial"/>
                <a:cs typeface="Arial"/>
              </a:rPr>
              <a:t>)</a:t>
            </a:r>
            <a:endParaRPr sz="2000" dirty="0">
              <a:latin typeface="Arial"/>
              <a:cs typeface="Arial"/>
            </a:endParaRPr>
          </a:p>
          <a:p>
            <a:pPr marL="469900" lvl="1" indent="-182880">
              <a:spcBef>
                <a:spcPts val="480"/>
              </a:spcBef>
              <a:buClr>
                <a:srgbClr val="4F80BC"/>
              </a:buClr>
              <a:buSzPct val="85000"/>
              <a:buChar char="•"/>
              <a:tabLst>
                <a:tab pos="469900" algn="l"/>
              </a:tabLst>
            </a:pPr>
            <a:r>
              <a:rPr sz="2000" dirty="0">
                <a:latin typeface="Arial"/>
                <a:cs typeface="Arial"/>
              </a:rPr>
              <a:t>Accessible</a:t>
            </a:r>
            <a:r>
              <a:rPr sz="2000" spc="-50" dirty="0">
                <a:latin typeface="Arial"/>
                <a:cs typeface="Arial"/>
              </a:rPr>
              <a:t> </a:t>
            </a:r>
            <a:r>
              <a:rPr sz="2000" dirty="0">
                <a:latin typeface="Arial"/>
                <a:cs typeface="Arial"/>
              </a:rPr>
              <a:t>to</a:t>
            </a:r>
            <a:r>
              <a:rPr sz="2000" spc="-35" dirty="0">
                <a:latin typeface="Arial"/>
                <a:cs typeface="Arial"/>
              </a:rPr>
              <a:t> </a:t>
            </a:r>
            <a:r>
              <a:rPr sz="2000" dirty="0">
                <a:latin typeface="Arial"/>
                <a:cs typeface="Arial"/>
              </a:rPr>
              <a:t>a</a:t>
            </a:r>
            <a:r>
              <a:rPr sz="2000" spc="-20" dirty="0">
                <a:latin typeface="Arial"/>
                <a:cs typeface="Arial"/>
              </a:rPr>
              <a:t> </a:t>
            </a:r>
            <a:r>
              <a:rPr sz="2000" dirty="0">
                <a:latin typeface="Arial"/>
                <a:cs typeface="Arial"/>
              </a:rPr>
              <a:t>single</a:t>
            </a:r>
            <a:r>
              <a:rPr sz="2000" spc="-30" dirty="0">
                <a:latin typeface="Arial"/>
                <a:cs typeface="Arial"/>
              </a:rPr>
              <a:t> </a:t>
            </a:r>
            <a:r>
              <a:rPr sz="2000" dirty="0">
                <a:latin typeface="Arial"/>
                <a:cs typeface="Arial"/>
              </a:rPr>
              <a:t>thread</a:t>
            </a:r>
            <a:r>
              <a:rPr sz="2000" spc="-40" dirty="0">
                <a:latin typeface="Arial"/>
                <a:cs typeface="Arial"/>
              </a:rPr>
              <a:t> </a:t>
            </a:r>
            <a:r>
              <a:rPr sz="2000" spc="-20" dirty="0">
                <a:latin typeface="Arial"/>
                <a:cs typeface="Arial"/>
              </a:rPr>
              <a:t>only</a:t>
            </a:r>
            <a:endParaRPr sz="2000" dirty="0">
              <a:latin typeface="Arial"/>
              <a:cs typeface="Arial"/>
            </a:endParaRPr>
          </a:p>
        </p:txBody>
      </p:sp>
      <p:sp>
        <p:nvSpPr>
          <p:cNvPr id="11" name="object 11"/>
          <p:cNvSpPr txBox="1"/>
          <p:nvPr/>
        </p:nvSpPr>
        <p:spPr>
          <a:xfrm>
            <a:off x="614044" y="2971800"/>
            <a:ext cx="4022090" cy="2626360"/>
          </a:xfrm>
          <a:prstGeom prst="rect">
            <a:avLst/>
          </a:prstGeom>
        </p:spPr>
        <p:txBody>
          <a:bodyPr vert="horz" wrap="square" lIns="0" tIns="86360" rIns="0" bIns="0" rtlCol="0">
            <a:spAutoFit/>
          </a:bodyPr>
          <a:lstStyle/>
          <a:p>
            <a:pPr marL="196215" indent="-183515">
              <a:spcBef>
                <a:spcPts val="680"/>
              </a:spcBef>
              <a:buClr>
                <a:srgbClr val="4F80BC"/>
              </a:buClr>
              <a:buSzPct val="85416"/>
              <a:buChar char="•"/>
              <a:tabLst>
                <a:tab pos="196215" algn="l"/>
              </a:tabLst>
            </a:pPr>
            <a:endParaRPr lang="en-US" sz="2400" dirty="0">
              <a:latin typeface="Arial"/>
              <a:cs typeface="Arial"/>
            </a:endParaRPr>
          </a:p>
          <a:p>
            <a:pPr marL="196215" indent="-183515">
              <a:spcBef>
                <a:spcPts val="680"/>
              </a:spcBef>
              <a:buClr>
                <a:srgbClr val="4F80BC"/>
              </a:buClr>
              <a:buSzPct val="85416"/>
              <a:buChar char="•"/>
              <a:tabLst>
                <a:tab pos="196215" algn="l"/>
              </a:tabLst>
            </a:pPr>
            <a:r>
              <a:rPr sz="2400" dirty="0">
                <a:latin typeface="Arial"/>
                <a:cs typeface="Arial"/>
              </a:rPr>
              <a:t>Device</a:t>
            </a:r>
            <a:r>
              <a:rPr sz="2400" spc="-35" dirty="0">
                <a:latin typeface="Arial"/>
                <a:cs typeface="Arial"/>
              </a:rPr>
              <a:t> </a:t>
            </a:r>
            <a:r>
              <a:rPr sz="2400" dirty="0">
                <a:latin typeface="Arial"/>
                <a:cs typeface="Arial"/>
              </a:rPr>
              <a:t>/</a:t>
            </a:r>
            <a:r>
              <a:rPr sz="2400" spc="-80" dirty="0">
                <a:latin typeface="Arial"/>
                <a:cs typeface="Arial"/>
              </a:rPr>
              <a:t> </a:t>
            </a:r>
            <a:r>
              <a:rPr sz="2400" i="1" dirty="0">
                <a:latin typeface="Arial"/>
                <a:cs typeface="Arial"/>
              </a:rPr>
              <a:t>global</a:t>
            </a:r>
            <a:r>
              <a:rPr sz="2400" i="1" spc="-20" dirty="0">
                <a:latin typeface="Arial"/>
                <a:cs typeface="Arial"/>
              </a:rPr>
              <a:t> </a:t>
            </a:r>
            <a:r>
              <a:rPr sz="2400" spc="-10" dirty="0">
                <a:latin typeface="Arial"/>
                <a:cs typeface="Arial"/>
              </a:rPr>
              <a:t>memory</a:t>
            </a:r>
            <a:endParaRPr sz="2400" dirty="0">
              <a:latin typeface="Arial"/>
              <a:cs typeface="Arial"/>
            </a:endParaRPr>
          </a:p>
          <a:p>
            <a:pPr marL="469900" lvl="1" indent="-182880">
              <a:spcBef>
                <a:spcPts val="484"/>
              </a:spcBef>
              <a:buClr>
                <a:srgbClr val="4F80BC"/>
              </a:buClr>
              <a:buSzPct val="85000"/>
              <a:buChar char="•"/>
              <a:tabLst>
                <a:tab pos="469900" algn="l"/>
              </a:tabLst>
            </a:pPr>
            <a:r>
              <a:rPr sz="2000" dirty="0">
                <a:latin typeface="Arial"/>
                <a:cs typeface="Arial"/>
              </a:rPr>
              <a:t>Accessible</a:t>
            </a:r>
            <a:r>
              <a:rPr sz="2000" spc="-45" dirty="0">
                <a:latin typeface="Arial"/>
                <a:cs typeface="Arial"/>
              </a:rPr>
              <a:t> </a:t>
            </a:r>
            <a:r>
              <a:rPr sz="2000" dirty="0">
                <a:latin typeface="Arial"/>
                <a:cs typeface="Arial"/>
              </a:rPr>
              <a:t>to</a:t>
            </a:r>
            <a:r>
              <a:rPr sz="2000" spc="-30" dirty="0">
                <a:latin typeface="Arial"/>
                <a:cs typeface="Arial"/>
              </a:rPr>
              <a:t> </a:t>
            </a:r>
            <a:r>
              <a:rPr sz="2000" dirty="0">
                <a:latin typeface="Arial"/>
                <a:cs typeface="Arial"/>
              </a:rPr>
              <a:t>any</a:t>
            </a:r>
            <a:r>
              <a:rPr sz="2000" spc="-20" dirty="0">
                <a:latin typeface="Arial"/>
                <a:cs typeface="Arial"/>
              </a:rPr>
              <a:t> </a:t>
            </a:r>
            <a:r>
              <a:rPr sz="2000" spc="-10" dirty="0">
                <a:latin typeface="Arial"/>
                <a:cs typeface="Arial"/>
              </a:rPr>
              <a:t>thread</a:t>
            </a:r>
            <a:endParaRPr sz="2000" dirty="0">
              <a:latin typeface="Arial"/>
              <a:cs typeface="Arial"/>
            </a:endParaRPr>
          </a:p>
          <a:p>
            <a:pPr marL="195580" indent="-182880">
              <a:spcBef>
                <a:spcPts val="575"/>
              </a:spcBef>
              <a:buClr>
                <a:srgbClr val="4F80BC"/>
              </a:buClr>
              <a:buSzPct val="85416"/>
              <a:buChar char="•"/>
              <a:tabLst>
                <a:tab pos="195580" algn="l"/>
              </a:tabLst>
            </a:pPr>
            <a:endParaRPr lang="en-US" sz="2400" spc="-20" dirty="0">
              <a:latin typeface="Arial"/>
              <a:cs typeface="Arial"/>
            </a:endParaRPr>
          </a:p>
          <a:p>
            <a:pPr marL="195580" indent="-182880">
              <a:spcBef>
                <a:spcPts val="575"/>
              </a:spcBef>
              <a:buClr>
                <a:srgbClr val="4F80BC"/>
              </a:buClr>
              <a:buSzPct val="85416"/>
              <a:buChar char="•"/>
              <a:tabLst>
                <a:tab pos="195580" algn="l"/>
              </a:tabLst>
            </a:pPr>
            <a:endParaRPr lang="en-US" sz="2400" spc="-20" dirty="0">
              <a:latin typeface="Arial"/>
              <a:cs typeface="Arial"/>
            </a:endParaRPr>
          </a:p>
          <a:p>
            <a:pPr marL="195580" indent="-182880">
              <a:spcBef>
                <a:spcPts val="575"/>
              </a:spcBef>
              <a:buClr>
                <a:srgbClr val="4F80BC"/>
              </a:buClr>
              <a:buSzPct val="85416"/>
              <a:buChar char="•"/>
              <a:tabLst>
                <a:tab pos="195580" algn="l"/>
              </a:tabLst>
            </a:pPr>
            <a:r>
              <a:rPr sz="2400" spc="-20" dirty="0">
                <a:latin typeface="Arial"/>
                <a:cs typeface="Arial"/>
              </a:rPr>
              <a:t>Per-</a:t>
            </a:r>
            <a:r>
              <a:rPr sz="2400" dirty="0">
                <a:latin typeface="Arial"/>
                <a:cs typeface="Arial"/>
              </a:rPr>
              <a:t>SM</a:t>
            </a:r>
            <a:r>
              <a:rPr sz="2400" spc="-30" dirty="0">
                <a:latin typeface="Arial"/>
                <a:cs typeface="Arial"/>
              </a:rPr>
              <a:t> </a:t>
            </a:r>
            <a:r>
              <a:rPr sz="2400" i="1" dirty="0">
                <a:latin typeface="Arial"/>
                <a:cs typeface="Arial"/>
              </a:rPr>
              <a:t>shared</a:t>
            </a:r>
            <a:r>
              <a:rPr sz="2400" i="1" spc="-5" dirty="0">
                <a:latin typeface="Arial"/>
                <a:cs typeface="Arial"/>
              </a:rPr>
              <a:t> </a:t>
            </a:r>
            <a:r>
              <a:rPr sz="2400" spc="-10" dirty="0">
                <a:latin typeface="Arial"/>
                <a:cs typeface="Arial"/>
              </a:rPr>
              <a:t>memory</a:t>
            </a:r>
            <a:endParaRPr sz="2400" dirty="0">
              <a:latin typeface="Arial"/>
              <a:cs typeface="Arial"/>
            </a:endParaRPr>
          </a:p>
        </p:txBody>
      </p:sp>
      <p:sp>
        <p:nvSpPr>
          <p:cNvPr id="12" name="object 12"/>
          <p:cNvSpPr txBox="1"/>
          <p:nvPr/>
        </p:nvSpPr>
        <p:spPr>
          <a:xfrm>
            <a:off x="888666" y="5578015"/>
            <a:ext cx="4977130" cy="1061720"/>
          </a:xfrm>
          <a:prstGeom prst="rect">
            <a:avLst/>
          </a:prstGeom>
        </p:spPr>
        <p:txBody>
          <a:bodyPr vert="horz" wrap="square" lIns="0" tIns="73025" rIns="0" bIns="0" rtlCol="0">
            <a:spAutoFit/>
          </a:bodyPr>
          <a:lstStyle/>
          <a:p>
            <a:pPr marL="195580" indent="-182880">
              <a:spcBef>
                <a:spcPts val="575"/>
              </a:spcBef>
              <a:buClr>
                <a:srgbClr val="4F80BC"/>
              </a:buClr>
              <a:buSzPct val="85000"/>
              <a:buChar char="•"/>
              <a:tabLst>
                <a:tab pos="195580" algn="l"/>
              </a:tabLst>
            </a:pPr>
            <a:r>
              <a:rPr sz="2000" dirty="0">
                <a:latin typeface="Arial"/>
                <a:cs typeface="Arial"/>
              </a:rPr>
              <a:t>Each</a:t>
            </a:r>
            <a:r>
              <a:rPr sz="2000" spc="-15" dirty="0">
                <a:latin typeface="Arial"/>
                <a:cs typeface="Arial"/>
              </a:rPr>
              <a:t> </a:t>
            </a:r>
            <a:r>
              <a:rPr sz="2000" dirty="0">
                <a:latin typeface="Arial"/>
                <a:cs typeface="Arial"/>
              </a:rPr>
              <a:t>block</a:t>
            </a:r>
            <a:r>
              <a:rPr sz="2000" spc="-25" dirty="0">
                <a:latin typeface="Arial"/>
                <a:cs typeface="Arial"/>
              </a:rPr>
              <a:t> </a:t>
            </a:r>
            <a:r>
              <a:rPr sz="2000" dirty="0">
                <a:latin typeface="Arial"/>
                <a:cs typeface="Arial"/>
              </a:rPr>
              <a:t>has</a:t>
            </a:r>
            <a:r>
              <a:rPr sz="2000" spc="-5" dirty="0">
                <a:latin typeface="Arial"/>
                <a:cs typeface="Arial"/>
              </a:rPr>
              <a:t> </a:t>
            </a:r>
            <a:r>
              <a:rPr sz="2000" dirty="0">
                <a:latin typeface="Arial"/>
                <a:cs typeface="Arial"/>
              </a:rPr>
              <a:t>its own</a:t>
            </a:r>
            <a:r>
              <a:rPr sz="2000" spc="-5" dirty="0">
                <a:latin typeface="Arial"/>
                <a:cs typeface="Arial"/>
              </a:rPr>
              <a:t> </a:t>
            </a:r>
            <a:r>
              <a:rPr sz="2000" dirty="0">
                <a:solidFill>
                  <a:srgbClr val="C00000"/>
                </a:solidFill>
                <a:latin typeface="Arial"/>
                <a:cs typeface="Arial"/>
              </a:rPr>
              <a:t>shared</a:t>
            </a:r>
            <a:r>
              <a:rPr sz="2000" spc="-35" dirty="0">
                <a:solidFill>
                  <a:srgbClr val="C00000"/>
                </a:solidFill>
                <a:latin typeface="Arial"/>
                <a:cs typeface="Arial"/>
              </a:rPr>
              <a:t> </a:t>
            </a:r>
            <a:r>
              <a:rPr sz="2000" spc="-10" dirty="0">
                <a:solidFill>
                  <a:srgbClr val="C00000"/>
                </a:solidFill>
                <a:latin typeface="Arial"/>
                <a:cs typeface="Arial"/>
              </a:rPr>
              <a:t>memory</a:t>
            </a:r>
            <a:endParaRPr sz="2000">
              <a:latin typeface="Arial"/>
              <a:cs typeface="Arial"/>
            </a:endParaRPr>
          </a:p>
          <a:p>
            <a:pPr marL="195580" indent="-182880">
              <a:spcBef>
                <a:spcPts val="480"/>
              </a:spcBef>
              <a:buClr>
                <a:srgbClr val="4F80BC"/>
              </a:buClr>
              <a:buSzPct val="85000"/>
              <a:buChar char="•"/>
              <a:tabLst>
                <a:tab pos="195580" algn="l"/>
              </a:tabLst>
            </a:pPr>
            <a:r>
              <a:rPr sz="2000" dirty="0">
                <a:latin typeface="Arial"/>
                <a:cs typeface="Arial"/>
              </a:rPr>
              <a:t>Stores</a:t>
            </a:r>
            <a:r>
              <a:rPr sz="2000" spc="-35" dirty="0">
                <a:latin typeface="Arial"/>
                <a:cs typeface="Arial"/>
              </a:rPr>
              <a:t> </a:t>
            </a:r>
            <a:r>
              <a:rPr sz="2000" dirty="0">
                <a:latin typeface="Arial"/>
                <a:cs typeface="Arial"/>
              </a:rPr>
              <a:t>data</a:t>
            </a:r>
            <a:r>
              <a:rPr sz="2000" spc="-30" dirty="0">
                <a:latin typeface="Arial"/>
                <a:cs typeface="Arial"/>
              </a:rPr>
              <a:t> </a:t>
            </a:r>
            <a:r>
              <a:rPr sz="2000" dirty="0">
                <a:latin typeface="Arial"/>
                <a:cs typeface="Arial"/>
              </a:rPr>
              <a:t>accessible</a:t>
            </a:r>
            <a:r>
              <a:rPr sz="2000" spc="-55" dirty="0">
                <a:latin typeface="Arial"/>
                <a:cs typeface="Arial"/>
              </a:rPr>
              <a:t> </a:t>
            </a:r>
            <a:r>
              <a:rPr sz="2000" dirty="0">
                <a:latin typeface="Arial"/>
                <a:cs typeface="Arial"/>
              </a:rPr>
              <a:t>to</a:t>
            </a:r>
            <a:r>
              <a:rPr sz="2000" spc="-35" dirty="0">
                <a:latin typeface="Arial"/>
                <a:cs typeface="Arial"/>
              </a:rPr>
              <a:t> </a:t>
            </a:r>
            <a:r>
              <a:rPr sz="2000" dirty="0">
                <a:latin typeface="Arial"/>
                <a:cs typeface="Arial"/>
              </a:rPr>
              <a:t>all</a:t>
            </a:r>
            <a:r>
              <a:rPr sz="2000" spc="-10" dirty="0">
                <a:latin typeface="Arial"/>
                <a:cs typeface="Arial"/>
              </a:rPr>
              <a:t> </a:t>
            </a:r>
            <a:r>
              <a:rPr sz="2000" dirty="0">
                <a:latin typeface="Arial"/>
                <a:cs typeface="Arial"/>
              </a:rPr>
              <a:t>threads</a:t>
            </a:r>
            <a:r>
              <a:rPr sz="2000" spc="-45" dirty="0">
                <a:latin typeface="Arial"/>
                <a:cs typeface="Arial"/>
              </a:rPr>
              <a:t> </a:t>
            </a:r>
            <a:r>
              <a:rPr sz="2000" dirty="0">
                <a:latin typeface="Arial"/>
                <a:cs typeface="Arial"/>
              </a:rPr>
              <a:t>in</a:t>
            </a:r>
            <a:r>
              <a:rPr sz="2000" spc="-15" dirty="0">
                <a:latin typeface="Arial"/>
                <a:cs typeface="Arial"/>
              </a:rPr>
              <a:t> </a:t>
            </a:r>
            <a:r>
              <a:rPr sz="2000" spc="-25" dirty="0">
                <a:latin typeface="Arial"/>
                <a:cs typeface="Arial"/>
              </a:rPr>
              <a:t>the</a:t>
            </a:r>
            <a:endParaRPr sz="2000">
              <a:latin typeface="Arial"/>
              <a:cs typeface="Arial"/>
            </a:endParaRPr>
          </a:p>
          <a:p>
            <a:pPr marL="194945"/>
            <a:r>
              <a:rPr sz="2000" dirty="0">
                <a:latin typeface="Arial"/>
                <a:cs typeface="Arial"/>
              </a:rPr>
              <a:t>same</a:t>
            </a:r>
            <a:r>
              <a:rPr sz="2000" spc="-25" dirty="0">
                <a:latin typeface="Arial"/>
                <a:cs typeface="Arial"/>
              </a:rPr>
              <a:t> </a:t>
            </a:r>
            <a:r>
              <a:rPr sz="2000" spc="-10" dirty="0">
                <a:latin typeface="Arial"/>
                <a:cs typeface="Arial"/>
              </a:rPr>
              <a:t>block.</a:t>
            </a:r>
            <a:endParaRPr sz="2000">
              <a:latin typeface="Arial"/>
              <a:cs typeface="Arial"/>
            </a:endParaRPr>
          </a:p>
        </p:txBody>
      </p:sp>
      <p:sp>
        <p:nvSpPr>
          <p:cNvPr id="13" name="object 13"/>
          <p:cNvSpPr txBox="1"/>
          <p:nvPr/>
        </p:nvSpPr>
        <p:spPr>
          <a:xfrm>
            <a:off x="6214488" y="3185541"/>
            <a:ext cx="781050" cy="258404"/>
          </a:xfrm>
          <a:prstGeom prst="rect">
            <a:avLst/>
          </a:prstGeom>
        </p:spPr>
        <p:txBody>
          <a:bodyPr vert="horz" wrap="square" lIns="0" tIns="12065" rIns="0" bIns="0" rtlCol="0">
            <a:spAutoFit/>
          </a:bodyPr>
          <a:lstStyle/>
          <a:p>
            <a:pPr marL="12700">
              <a:spcBef>
                <a:spcPts val="95"/>
              </a:spcBef>
            </a:pPr>
            <a:r>
              <a:rPr sz="1600" dirty="0">
                <a:latin typeface="Arial"/>
                <a:cs typeface="Arial"/>
              </a:rPr>
              <a:t>Kernel</a:t>
            </a:r>
            <a:r>
              <a:rPr sz="1600" spc="-50" dirty="0">
                <a:latin typeface="Arial"/>
                <a:cs typeface="Arial"/>
              </a:rPr>
              <a:t> 0</a:t>
            </a:r>
            <a:endParaRPr sz="1600">
              <a:latin typeface="Arial"/>
              <a:cs typeface="Arial"/>
            </a:endParaRPr>
          </a:p>
        </p:txBody>
      </p:sp>
      <p:sp>
        <p:nvSpPr>
          <p:cNvPr id="14" name="object 14"/>
          <p:cNvSpPr txBox="1"/>
          <p:nvPr/>
        </p:nvSpPr>
        <p:spPr>
          <a:xfrm>
            <a:off x="6214488" y="4121913"/>
            <a:ext cx="781050" cy="258404"/>
          </a:xfrm>
          <a:prstGeom prst="rect">
            <a:avLst/>
          </a:prstGeom>
        </p:spPr>
        <p:txBody>
          <a:bodyPr vert="horz" wrap="square" lIns="0" tIns="12065" rIns="0" bIns="0" rtlCol="0">
            <a:spAutoFit/>
          </a:bodyPr>
          <a:lstStyle/>
          <a:p>
            <a:pPr marL="12700">
              <a:spcBef>
                <a:spcPts val="95"/>
              </a:spcBef>
            </a:pPr>
            <a:r>
              <a:rPr sz="1600" dirty="0">
                <a:latin typeface="Arial"/>
                <a:cs typeface="Arial"/>
              </a:rPr>
              <a:t>Kernel</a:t>
            </a:r>
            <a:r>
              <a:rPr sz="1600" spc="-50" dirty="0">
                <a:latin typeface="Arial"/>
                <a:cs typeface="Arial"/>
              </a:rPr>
              <a:t> 1</a:t>
            </a:r>
            <a:endParaRPr sz="1600">
              <a:latin typeface="Arial"/>
              <a:cs typeface="Arial"/>
            </a:endParaRPr>
          </a:p>
        </p:txBody>
      </p:sp>
      <p:grpSp>
        <p:nvGrpSpPr>
          <p:cNvPr id="15" name="object 15"/>
          <p:cNvGrpSpPr/>
          <p:nvPr/>
        </p:nvGrpSpPr>
        <p:grpSpPr>
          <a:xfrm>
            <a:off x="6172200" y="3443475"/>
            <a:ext cx="2377440" cy="576580"/>
            <a:chOff x="5025390" y="3443475"/>
            <a:chExt cx="2377440" cy="576580"/>
          </a:xfrm>
        </p:grpSpPr>
        <p:sp>
          <p:nvSpPr>
            <p:cNvPr id="16" name="object 16"/>
            <p:cNvSpPr/>
            <p:nvPr/>
          </p:nvSpPr>
          <p:spPr>
            <a:xfrm>
              <a:off x="5025390" y="3443475"/>
              <a:ext cx="2377440" cy="576580"/>
            </a:xfrm>
            <a:custGeom>
              <a:avLst/>
              <a:gdLst/>
              <a:ahLst/>
              <a:cxnLst/>
              <a:rect l="l" t="t" r="r" b="b"/>
              <a:pathLst>
                <a:path w="2377440" h="576579">
                  <a:moveTo>
                    <a:pt x="2377440" y="0"/>
                  </a:moveTo>
                  <a:lnTo>
                    <a:pt x="0" y="0"/>
                  </a:lnTo>
                  <a:lnTo>
                    <a:pt x="0" y="576074"/>
                  </a:lnTo>
                  <a:lnTo>
                    <a:pt x="2377440" y="576074"/>
                  </a:lnTo>
                  <a:lnTo>
                    <a:pt x="2377440" y="0"/>
                  </a:lnTo>
                  <a:close/>
                </a:path>
              </a:pathLst>
            </a:custGeom>
            <a:solidFill>
              <a:srgbClr val="C0504D"/>
            </a:solidFill>
          </p:spPr>
          <p:txBody>
            <a:bodyPr wrap="square" lIns="0" tIns="0" rIns="0" bIns="0" rtlCol="0"/>
            <a:lstStyle/>
            <a:p>
              <a:endParaRPr/>
            </a:p>
          </p:txBody>
        </p:sp>
        <p:pic>
          <p:nvPicPr>
            <p:cNvPr id="17" name="object 17"/>
            <p:cNvPicPr/>
            <p:nvPr/>
          </p:nvPicPr>
          <p:blipFill>
            <a:blip r:embed="rId4" cstate="print"/>
            <a:stretch>
              <a:fillRect/>
            </a:stretch>
          </p:blipFill>
          <p:spPr>
            <a:xfrm>
              <a:off x="5093017" y="3511102"/>
              <a:ext cx="440819" cy="440819"/>
            </a:xfrm>
            <a:prstGeom prst="rect">
              <a:avLst/>
            </a:prstGeom>
          </p:spPr>
        </p:pic>
        <p:pic>
          <p:nvPicPr>
            <p:cNvPr id="18" name="object 18"/>
            <p:cNvPicPr/>
            <p:nvPr/>
          </p:nvPicPr>
          <p:blipFill>
            <a:blip r:embed="rId5" cstate="print"/>
            <a:stretch>
              <a:fillRect/>
            </a:stretch>
          </p:blipFill>
          <p:spPr>
            <a:xfrm>
              <a:off x="5595937" y="3511102"/>
              <a:ext cx="442342" cy="440819"/>
            </a:xfrm>
            <a:prstGeom prst="rect">
              <a:avLst/>
            </a:prstGeom>
          </p:spPr>
        </p:pic>
        <p:pic>
          <p:nvPicPr>
            <p:cNvPr id="19" name="object 19"/>
            <p:cNvPicPr/>
            <p:nvPr/>
          </p:nvPicPr>
          <p:blipFill>
            <a:blip r:embed="rId6" cstate="print"/>
            <a:stretch>
              <a:fillRect/>
            </a:stretch>
          </p:blipFill>
          <p:spPr>
            <a:xfrm>
              <a:off x="6100381" y="3511102"/>
              <a:ext cx="442342" cy="440819"/>
            </a:xfrm>
            <a:prstGeom prst="rect">
              <a:avLst/>
            </a:prstGeom>
          </p:spPr>
        </p:pic>
        <p:pic>
          <p:nvPicPr>
            <p:cNvPr id="20" name="object 20"/>
            <p:cNvPicPr/>
            <p:nvPr/>
          </p:nvPicPr>
          <p:blipFill>
            <a:blip r:embed="rId7" cstate="print"/>
            <a:stretch>
              <a:fillRect/>
            </a:stretch>
          </p:blipFill>
          <p:spPr>
            <a:xfrm>
              <a:off x="6892861" y="3511102"/>
              <a:ext cx="440819" cy="440819"/>
            </a:xfrm>
            <a:prstGeom prst="rect">
              <a:avLst/>
            </a:prstGeom>
          </p:spPr>
        </p:pic>
      </p:grpSp>
      <p:sp>
        <p:nvSpPr>
          <p:cNvPr id="21" name="object 21"/>
          <p:cNvSpPr txBox="1"/>
          <p:nvPr/>
        </p:nvSpPr>
        <p:spPr>
          <a:xfrm>
            <a:off x="9340976" y="3714579"/>
            <a:ext cx="1555624" cy="1283557"/>
          </a:xfrm>
          <a:prstGeom prst="rect">
            <a:avLst/>
          </a:prstGeom>
          <a:solidFill>
            <a:srgbClr val="4F80BC"/>
          </a:solidFill>
          <a:ln w="26424">
            <a:solidFill>
              <a:srgbClr val="385D89"/>
            </a:solidFill>
          </a:ln>
        </p:spPr>
        <p:txBody>
          <a:bodyPr vert="horz" wrap="square" lIns="0" tIns="0" rIns="0" bIns="0" rtlCol="0" anchor="ctr">
            <a:spAutoFit/>
          </a:bodyPr>
          <a:lstStyle/>
          <a:p>
            <a:pPr>
              <a:spcBef>
                <a:spcPts val="1335"/>
              </a:spcBef>
            </a:pPr>
            <a:endParaRPr sz="1300" dirty="0">
              <a:latin typeface="Times New Roman"/>
              <a:cs typeface="Times New Roman"/>
            </a:endParaRPr>
          </a:p>
          <a:p>
            <a:pPr marL="26670" marR="16510" algn="ctr">
              <a:lnSpc>
                <a:spcPct val="88100"/>
              </a:lnSpc>
            </a:pPr>
            <a:endParaRPr lang="en-US" spc="-10" dirty="0">
              <a:solidFill>
                <a:srgbClr val="FFFFFF"/>
              </a:solidFill>
              <a:latin typeface="Arial"/>
              <a:cs typeface="Arial"/>
            </a:endParaRPr>
          </a:p>
          <a:p>
            <a:pPr marL="26670" marR="16510" algn="ctr">
              <a:lnSpc>
                <a:spcPct val="88100"/>
              </a:lnSpc>
            </a:pPr>
            <a:r>
              <a:rPr spc="-10" dirty="0">
                <a:solidFill>
                  <a:srgbClr val="FFFFFF"/>
                </a:solidFill>
                <a:latin typeface="Arial"/>
                <a:cs typeface="Arial"/>
              </a:rPr>
              <a:t>Global Memory</a:t>
            </a:r>
            <a:endParaRPr lang="en-US" spc="-10" dirty="0">
              <a:solidFill>
                <a:srgbClr val="FFFFFF"/>
              </a:solidFill>
              <a:latin typeface="Arial"/>
              <a:cs typeface="Arial"/>
            </a:endParaRPr>
          </a:p>
          <a:p>
            <a:pPr marL="26670" marR="16510" algn="ctr">
              <a:lnSpc>
                <a:spcPct val="88100"/>
              </a:lnSpc>
            </a:pPr>
            <a:endParaRPr lang="en-NL" sz="1300" spc="-10" dirty="0">
              <a:solidFill>
                <a:srgbClr val="FFFFFF"/>
              </a:solidFill>
              <a:latin typeface="Arial"/>
              <a:cs typeface="Arial"/>
            </a:endParaRPr>
          </a:p>
          <a:p>
            <a:pPr marL="26670" marR="16510" algn="ctr">
              <a:lnSpc>
                <a:spcPct val="88100"/>
              </a:lnSpc>
            </a:pPr>
            <a:endParaRPr sz="1300" dirty="0">
              <a:latin typeface="Arial"/>
              <a:cs typeface="Arial"/>
            </a:endParaRPr>
          </a:p>
        </p:txBody>
      </p:sp>
      <p:sp>
        <p:nvSpPr>
          <p:cNvPr id="22" name="object 22"/>
          <p:cNvSpPr txBox="1"/>
          <p:nvPr/>
        </p:nvSpPr>
        <p:spPr>
          <a:xfrm>
            <a:off x="6172200" y="3443476"/>
            <a:ext cx="2377440" cy="380873"/>
          </a:xfrm>
          <a:prstGeom prst="rect">
            <a:avLst/>
          </a:prstGeom>
          <a:ln w="26424">
            <a:solidFill>
              <a:srgbClr val="8B3836"/>
            </a:solidFill>
          </a:ln>
        </p:spPr>
        <p:txBody>
          <a:bodyPr vert="horz" wrap="square" lIns="0" tIns="102870" rIns="0" bIns="0" rtlCol="0">
            <a:spAutoFit/>
          </a:bodyPr>
          <a:lstStyle/>
          <a:p>
            <a:pPr marR="536575" algn="r">
              <a:spcBef>
                <a:spcPts val="810"/>
              </a:spcBef>
            </a:pPr>
            <a:r>
              <a:rPr spc="-50" dirty="0">
                <a:latin typeface="Arial"/>
                <a:cs typeface="Arial"/>
              </a:rPr>
              <a:t>…</a:t>
            </a:r>
            <a:endParaRPr>
              <a:latin typeface="Arial"/>
              <a:cs typeface="Arial"/>
            </a:endParaRPr>
          </a:p>
        </p:txBody>
      </p:sp>
      <p:grpSp>
        <p:nvGrpSpPr>
          <p:cNvPr id="23" name="object 23"/>
          <p:cNvGrpSpPr/>
          <p:nvPr/>
        </p:nvGrpSpPr>
        <p:grpSpPr>
          <a:xfrm>
            <a:off x="8679684" y="3503417"/>
            <a:ext cx="531495" cy="457834"/>
            <a:chOff x="7532873" y="3503417"/>
            <a:chExt cx="531495" cy="457834"/>
          </a:xfrm>
        </p:grpSpPr>
        <p:sp>
          <p:nvSpPr>
            <p:cNvPr id="24" name="object 24"/>
            <p:cNvSpPr/>
            <p:nvPr/>
          </p:nvSpPr>
          <p:spPr>
            <a:xfrm>
              <a:off x="7546085" y="3516629"/>
              <a:ext cx="504825" cy="431800"/>
            </a:xfrm>
            <a:custGeom>
              <a:avLst/>
              <a:gdLst/>
              <a:ahLst/>
              <a:cxnLst/>
              <a:rect l="l" t="t" r="r" b="b"/>
              <a:pathLst>
                <a:path w="504825" h="431800">
                  <a:moveTo>
                    <a:pt x="252222" y="0"/>
                  </a:moveTo>
                  <a:lnTo>
                    <a:pt x="192659" y="164719"/>
                  </a:lnTo>
                  <a:lnTo>
                    <a:pt x="0" y="164719"/>
                  </a:lnTo>
                  <a:lnTo>
                    <a:pt x="155829" y="266573"/>
                  </a:lnTo>
                  <a:lnTo>
                    <a:pt x="96393" y="431292"/>
                  </a:lnTo>
                  <a:lnTo>
                    <a:pt x="252222" y="329438"/>
                  </a:lnTo>
                  <a:lnTo>
                    <a:pt x="408051" y="431292"/>
                  </a:lnTo>
                  <a:lnTo>
                    <a:pt x="348615" y="266573"/>
                  </a:lnTo>
                  <a:lnTo>
                    <a:pt x="504444" y="164719"/>
                  </a:lnTo>
                  <a:lnTo>
                    <a:pt x="311785" y="164719"/>
                  </a:lnTo>
                  <a:lnTo>
                    <a:pt x="252222" y="0"/>
                  </a:lnTo>
                  <a:close/>
                </a:path>
              </a:pathLst>
            </a:custGeom>
            <a:solidFill>
              <a:srgbClr val="4F80BC"/>
            </a:solidFill>
          </p:spPr>
          <p:txBody>
            <a:bodyPr wrap="square" lIns="0" tIns="0" rIns="0" bIns="0" rtlCol="0"/>
            <a:lstStyle/>
            <a:p>
              <a:endParaRPr/>
            </a:p>
          </p:txBody>
        </p:sp>
        <p:sp>
          <p:nvSpPr>
            <p:cNvPr id="25" name="object 25"/>
            <p:cNvSpPr/>
            <p:nvPr/>
          </p:nvSpPr>
          <p:spPr>
            <a:xfrm>
              <a:off x="7546085" y="3516629"/>
              <a:ext cx="504825" cy="431800"/>
            </a:xfrm>
            <a:custGeom>
              <a:avLst/>
              <a:gdLst/>
              <a:ahLst/>
              <a:cxnLst/>
              <a:rect l="l" t="t" r="r" b="b"/>
              <a:pathLst>
                <a:path w="504825" h="431800">
                  <a:moveTo>
                    <a:pt x="0" y="164719"/>
                  </a:moveTo>
                  <a:lnTo>
                    <a:pt x="192659" y="164719"/>
                  </a:lnTo>
                  <a:lnTo>
                    <a:pt x="252222" y="0"/>
                  </a:lnTo>
                  <a:lnTo>
                    <a:pt x="311785" y="164719"/>
                  </a:lnTo>
                  <a:lnTo>
                    <a:pt x="504444" y="164719"/>
                  </a:lnTo>
                  <a:lnTo>
                    <a:pt x="348615" y="266573"/>
                  </a:lnTo>
                  <a:lnTo>
                    <a:pt x="408051" y="431292"/>
                  </a:lnTo>
                  <a:lnTo>
                    <a:pt x="252222" y="329438"/>
                  </a:lnTo>
                  <a:lnTo>
                    <a:pt x="96393" y="431292"/>
                  </a:lnTo>
                  <a:lnTo>
                    <a:pt x="155829" y="266573"/>
                  </a:lnTo>
                  <a:lnTo>
                    <a:pt x="0" y="164719"/>
                  </a:lnTo>
                  <a:close/>
                </a:path>
              </a:pathLst>
            </a:custGeom>
            <a:ln w="26424">
              <a:solidFill>
                <a:srgbClr val="385D89"/>
              </a:solidFill>
            </a:ln>
          </p:spPr>
          <p:txBody>
            <a:bodyPr wrap="square" lIns="0" tIns="0" rIns="0" bIns="0" rtlCol="0"/>
            <a:lstStyle/>
            <a:p>
              <a:endParaRPr/>
            </a:p>
          </p:txBody>
        </p:sp>
      </p:grpSp>
      <p:grpSp>
        <p:nvGrpSpPr>
          <p:cNvPr id="26" name="object 26"/>
          <p:cNvGrpSpPr/>
          <p:nvPr/>
        </p:nvGrpSpPr>
        <p:grpSpPr>
          <a:xfrm>
            <a:off x="6172200" y="4380735"/>
            <a:ext cx="2377440" cy="576580"/>
            <a:chOff x="5025390" y="4380735"/>
            <a:chExt cx="2377440" cy="576580"/>
          </a:xfrm>
        </p:grpSpPr>
        <p:sp>
          <p:nvSpPr>
            <p:cNvPr id="27" name="object 27"/>
            <p:cNvSpPr/>
            <p:nvPr/>
          </p:nvSpPr>
          <p:spPr>
            <a:xfrm>
              <a:off x="5025390" y="4380735"/>
              <a:ext cx="2377440" cy="576580"/>
            </a:xfrm>
            <a:custGeom>
              <a:avLst/>
              <a:gdLst/>
              <a:ahLst/>
              <a:cxnLst/>
              <a:rect l="l" t="t" r="r" b="b"/>
              <a:pathLst>
                <a:path w="2377440" h="576579">
                  <a:moveTo>
                    <a:pt x="2377440" y="0"/>
                  </a:moveTo>
                  <a:lnTo>
                    <a:pt x="0" y="0"/>
                  </a:lnTo>
                  <a:lnTo>
                    <a:pt x="0" y="576074"/>
                  </a:lnTo>
                  <a:lnTo>
                    <a:pt x="2377440" y="576074"/>
                  </a:lnTo>
                  <a:lnTo>
                    <a:pt x="2377440" y="0"/>
                  </a:lnTo>
                  <a:close/>
                </a:path>
              </a:pathLst>
            </a:custGeom>
            <a:solidFill>
              <a:srgbClr val="C0504D"/>
            </a:solidFill>
          </p:spPr>
          <p:txBody>
            <a:bodyPr wrap="square" lIns="0" tIns="0" rIns="0" bIns="0" rtlCol="0"/>
            <a:lstStyle/>
            <a:p>
              <a:endParaRPr/>
            </a:p>
          </p:txBody>
        </p:sp>
        <p:pic>
          <p:nvPicPr>
            <p:cNvPr id="28" name="object 28"/>
            <p:cNvPicPr/>
            <p:nvPr/>
          </p:nvPicPr>
          <p:blipFill>
            <a:blip r:embed="rId8" cstate="print"/>
            <a:stretch>
              <a:fillRect/>
            </a:stretch>
          </p:blipFill>
          <p:spPr>
            <a:xfrm>
              <a:off x="5093017" y="4446838"/>
              <a:ext cx="440819" cy="440819"/>
            </a:xfrm>
            <a:prstGeom prst="rect">
              <a:avLst/>
            </a:prstGeom>
          </p:spPr>
        </p:pic>
        <p:pic>
          <p:nvPicPr>
            <p:cNvPr id="29" name="object 29"/>
            <p:cNvPicPr/>
            <p:nvPr/>
          </p:nvPicPr>
          <p:blipFill>
            <a:blip r:embed="rId9" cstate="print"/>
            <a:stretch>
              <a:fillRect/>
            </a:stretch>
          </p:blipFill>
          <p:spPr>
            <a:xfrm>
              <a:off x="5595937" y="4446838"/>
              <a:ext cx="442342" cy="440819"/>
            </a:xfrm>
            <a:prstGeom prst="rect">
              <a:avLst/>
            </a:prstGeom>
          </p:spPr>
        </p:pic>
        <p:pic>
          <p:nvPicPr>
            <p:cNvPr id="30" name="object 30"/>
            <p:cNvPicPr/>
            <p:nvPr/>
          </p:nvPicPr>
          <p:blipFill>
            <a:blip r:embed="rId10" cstate="print"/>
            <a:stretch>
              <a:fillRect/>
            </a:stretch>
          </p:blipFill>
          <p:spPr>
            <a:xfrm>
              <a:off x="6100381" y="4446838"/>
              <a:ext cx="442342" cy="440819"/>
            </a:xfrm>
            <a:prstGeom prst="rect">
              <a:avLst/>
            </a:prstGeom>
          </p:spPr>
        </p:pic>
        <p:pic>
          <p:nvPicPr>
            <p:cNvPr id="31" name="object 31"/>
            <p:cNvPicPr/>
            <p:nvPr/>
          </p:nvPicPr>
          <p:blipFill>
            <a:blip r:embed="rId11" cstate="print"/>
            <a:stretch>
              <a:fillRect/>
            </a:stretch>
          </p:blipFill>
          <p:spPr>
            <a:xfrm>
              <a:off x="6892861" y="4446838"/>
              <a:ext cx="440819" cy="440819"/>
            </a:xfrm>
            <a:prstGeom prst="rect">
              <a:avLst/>
            </a:prstGeom>
          </p:spPr>
        </p:pic>
      </p:grpSp>
      <p:sp>
        <p:nvSpPr>
          <p:cNvPr id="32" name="object 32"/>
          <p:cNvSpPr txBox="1"/>
          <p:nvPr/>
        </p:nvSpPr>
        <p:spPr>
          <a:xfrm>
            <a:off x="6172200" y="4380736"/>
            <a:ext cx="2377440" cy="379591"/>
          </a:xfrm>
          <a:prstGeom prst="rect">
            <a:avLst/>
          </a:prstGeom>
          <a:ln w="26424">
            <a:solidFill>
              <a:srgbClr val="8B3836"/>
            </a:solidFill>
          </a:ln>
        </p:spPr>
        <p:txBody>
          <a:bodyPr vert="horz" wrap="square" lIns="0" tIns="101600" rIns="0" bIns="0" rtlCol="0">
            <a:spAutoFit/>
          </a:bodyPr>
          <a:lstStyle/>
          <a:p>
            <a:pPr marR="535940" algn="r">
              <a:spcBef>
                <a:spcPts val="800"/>
              </a:spcBef>
            </a:pPr>
            <a:r>
              <a:rPr spc="-50" dirty="0">
                <a:latin typeface="Arial"/>
                <a:cs typeface="Arial"/>
              </a:rPr>
              <a:t>…</a:t>
            </a:r>
            <a:endParaRPr>
              <a:latin typeface="Arial"/>
              <a:cs typeface="Arial"/>
            </a:endParaRPr>
          </a:p>
        </p:txBody>
      </p:sp>
      <p:grpSp>
        <p:nvGrpSpPr>
          <p:cNvPr id="33" name="object 33"/>
          <p:cNvGrpSpPr/>
          <p:nvPr/>
        </p:nvGrpSpPr>
        <p:grpSpPr>
          <a:xfrm>
            <a:off x="8679684" y="4439153"/>
            <a:ext cx="531495" cy="457834"/>
            <a:chOff x="7532873" y="4439153"/>
            <a:chExt cx="531495" cy="457834"/>
          </a:xfrm>
        </p:grpSpPr>
        <p:sp>
          <p:nvSpPr>
            <p:cNvPr id="34" name="object 34"/>
            <p:cNvSpPr/>
            <p:nvPr/>
          </p:nvSpPr>
          <p:spPr>
            <a:xfrm>
              <a:off x="7546085" y="4452365"/>
              <a:ext cx="504825" cy="431800"/>
            </a:xfrm>
            <a:custGeom>
              <a:avLst/>
              <a:gdLst/>
              <a:ahLst/>
              <a:cxnLst/>
              <a:rect l="l" t="t" r="r" b="b"/>
              <a:pathLst>
                <a:path w="504825" h="431800">
                  <a:moveTo>
                    <a:pt x="252222" y="0"/>
                  </a:moveTo>
                  <a:lnTo>
                    <a:pt x="192659" y="164719"/>
                  </a:lnTo>
                  <a:lnTo>
                    <a:pt x="0" y="164719"/>
                  </a:lnTo>
                  <a:lnTo>
                    <a:pt x="155829" y="266573"/>
                  </a:lnTo>
                  <a:lnTo>
                    <a:pt x="96393" y="431292"/>
                  </a:lnTo>
                  <a:lnTo>
                    <a:pt x="252222" y="329438"/>
                  </a:lnTo>
                  <a:lnTo>
                    <a:pt x="408051" y="431292"/>
                  </a:lnTo>
                  <a:lnTo>
                    <a:pt x="348615" y="266573"/>
                  </a:lnTo>
                  <a:lnTo>
                    <a:pt x="504444" y="164719"/>
                  </a:lnTo>
                  <a:lnTo>
                    <a:pt x="311785" y="164719"/>
                  </a:lnTo>
                  <a:lnTo>
                    <a:pt x="252222" y="0"/>
                  </a:lnTo>
                  <a:close/>
                </a:path>
              </a:pathLst>
            </a:custGeom>
            <a:solidFill>
              <a:srgbClr val="4F80BC"/>
            </a:solidFill>
          </p:spPr>
          <p:txBody>
            <a:bodyPr wrap="square" lIns="0" tIns="0" rIns="0" bIns="0" rtlCol="0"/>
            <a:lstStyle/>
            <a:p>
              <a:endParaRPr/>
            </a:p>
          </p:txBody>
        </p:sp>
        <p:sp>
          <p:nvSpPr>
            <p:cNvPr id="35" name="object 35"/>
            <p:cNvSpPr/>
            <p:nvPr/>
          </p:nvSpPr>
          <p:spPr>
            <a:xfrm>
              <a:off x="7546085" y="4452365"/>
              <a:ext cx="504825" cy="431800"/>
            </a:xfrm>
            <a:custGeom>
              <a:avLst/>
              <a:gdLst/>
              <a:ahLst/>
              <a:cxnLst/>
              <a:rect l="l" t="t" r="r" b="b"/>
              <a:pathLst>
                <a:path w="504825" h="431800">
                  <a:moveTo>
                    <a:pt x="0" y="164719"/>
                  </a:moveTo>
                  <a:lnTo>
                    <a:pt x="192659" y="164719"/>
                  </a:lnTo>
                  <a:lnTo>
                    <a:pt x="252222" y="0"/>
                  </a:lnTo>
                  <a:lnTo>
                    <a:pt x="311785" y="164719"/>
                  </a:lnTo>
                  <a:lnTo>
                    <a:pt x="504444" y="164719"/>
                  </a:lnTo>
                  <a:lnTo>
                    <a:pt x="348615" y="266573"/>
                  </a:lnTo>
                  <a:lnTo>
                    <a:pt x="408051" y="431292"/>
                  </a:lnTo>
                  <a:lnTo>
                    <a:pt x="252222" y="329438"/>
                  </a:lnTo>
                  <a:lnTo>
                    <a:pt x="96393" y="431292"/>
                  </a:lnTo>
                  <a:lnTo>
                    <a:pt x="155829" y="266573"/>
                  </a:lnTo>
                  <a:lnTo>
                    <a:pt x="0" y="164719"/>
                  </a:lnTo>
                  <a:close/>
                </a:path>
              </a:pathLst>
            </a:custGeom>
            <a:ln w="26424">
              <a:solidFill>
                <a:srgbClr val="385D89"/>
              </a:solidFill>
            </a:ln>
          </p:spPr>
          <p:txBody>
            <a:bodyPr wrap="square" lIns="0" tIns="0" rIns="0" bIns="0" rtlCol="0"/>
            <a:lstStyle/>
            <a:p>
              <a:endParaRPr/>
            </a:p>
          </p:txBody>
        </p:sp>
      </p:grpSp>
      <p:sp>
        <p:nvSpPr>
          <p:cNvPr id="36" name="object 4">
            <a:extLst>
              <a:ext uri="{FF2B5EF4-FFF2-40B4-BE49-F238E27FC236}">
                <a16:creationId xmlns:a16="http://schemas.microsoft.com/office/drawing/2014/main" id="{897EFA21-A30B-5125-1980-5B06A1DB4149}"/>
              </a:ext>
            </a:extLst>
          </p:cNvPr>
          <p:cNvSpPr txBox="1"/>
          <p:nvPr/>
        </p:nvSpPr>
        <p:spPr>
          <a:xfrm>
            <a:off x="7183078" y="1835714"/>
            <a:ext cx="2292858" cy="282770"/>
          </a:xfrm>
          <a:prstGeom prst="rect">
            <a:avLst/>
          </a:prstGeom>
          <a:solidFill>
            <a:srgbClr val="92D050"/>
          </a:solidFill>
          <a:ln w="26424">
            <a:solidFill>
              <a:srgbClr val="385D89"/>
            </a:solidFill>
          </a:ln>
        </p:spPr>
        <p:txBody>
          <a:bodyPr vert="horz" wrap="square" lIns="0" tIns="51435" rIns="0" bIns="0" rtlCol="0">
            <a:spAutoFit/>
          </a:bodyPr>
          <a:lstStyle/>
          <a:p>
            <a:pPr marL="251460" marR="240665" indent="176530">
              <a:lnSpc>
                <a:spcPts val="1839"/>
              </a:lnSpc>
              <a:spcBef>
                <a:spcPts val="405"/>
              </a:spcBef>
            </a:pPr>
            <a:r>
              <a:rPr lang="en-US" dirty="0">
                <a:solidFill>
                  <a:srgbClr val="FFFFFF"/>
                </a:solidFill>
                <a:latin typeface="Arial"/>
                <a:cs typeface="Arial"/>
              </a:rPr>
              <a:t>Registers</a:t>
            </a:r>
            <a:endParaRPr dirty="0">
              <a:latin typeface="Arial"/>
              <a:cs typeface="Arial"/>
            </a:endParaRPr>
          </a:p>
        </p:txBody>
      </p:sp>
      <p:sp>
        <p:nvSpPr>
          <p:cNvPr id="37" name="object 5">
            <a:extLst>
              <a:ext uri="{FF2B5EF4-FFF2-40B4-BE49-F238E27FC236}">
                <a16:creationId xmlns:a16="http://schemas.microsoft.com/office/drawing/2014/main" id="{B65FDD52-40B9-F649-4E00-27BC9D60D1C3}"/>
              </a:ext>
            </a:extLst>
          </p:cNvPr>
          <p:cNvSpPr/>
          <p:nvPr/>
        </p:nvSpPr>
        <p:spPr>
          <a:xfrm>
            <a:off x="6599429" y="1981200"/>
            <a:ext cx="584200" cy="79375"/>
          </a:xfrm>
          <a:custGeom>
            <a:avLst/>
            <a:gdLst/>
            <a:ahLst/>
            <a:cxnLst/>
            <a:rect l="l" t="t" r="r" b="b"/>
            <a:pathLst>
              <a:path w="584200" h="79375">
                <a:moveTo>
                  <a:pt x="79248" y="0"/>
                </a:moveTo>
                <a:lnTo>
                  <a:pt x="0" y="39624"/>
                </a:lnTo>
                <a:lnTo>
                  <a:pt x="79248" y="79248"/>
                </a:lnTo>
                <a:lnTo>
                  <a:pt x="79248" y="52833"/>
                </a:lnTo>
                <a:lnTo>
                  <a:pt x="66040" y="52833"/>
                </a:lnTo>
                <a:lnTo>
                  <a:pt x="66040" y="26416"/>
                </a:lnTo>
                <a:lnTo>
                  <a:pt x="79248" y="26416"/>
                </a:lnTo>
                <a:lnTo>
                  <a:pt x="79248" y="0"/>
                </a:lnTo>
                <a:close/>
              </a:path>
              <a:path w="584200" h="79375">
                <a:moveTo>
                  <a:pt x="504444" y="0"/>
                </a:moveTo>
                <a:lnTo>
                  <a:pt x="504444" y="79248"/>
                </a:lnTo>
                <a:lnTo>
                  <a:pt x="557273" y="52833"/>
                </a:lnTo>
                <a:lnTo>
                  <a:pt x="517654" y="52833"/>
                </a:lnTo>
                <a:lnTo>
                  <a:pt x="517654" y="26416"/>
                </a:lnTo>
                <a:lnTo>
                  <a:pt x="557276" y="26416"/>
                </a:lnTo>
                <a:lnTo>
                  <a:pt x="504444" y="0"/>
                </a:lnTo>
                <a:close/>
              </a:path>
              <a:path w="584200" h="79375">
                <a:moveTo>
                  <a:pt x="79248" y="26416"/>
                </a:moveTo>
                <a:lnTo>
                  <a:pt x="66040" y="26416"/>
                </a:lnTo>
                <a:lnTo>
                  <a:pt x="66040" y="52833"/>
                </a:lnTo>
                <a:lnTo>
                  <a:pt x="79248" y="52833"/>
                </a:lnTo>
                <a:lnTo>
                  <a:pt x="79248" y="26416"/>
                </a:lnTo>
                <a:close/>
              </a:path>
              <a:path w="584200" h="79375">
                <a:moveTo>
                  <a:pt x="504444" y="26416"/>
                </a:moveTo>
                <a:lnTo>
                  <a:pt x="79248" y="26416"/>
                </a:lnTo>
                <a:lnTo>
                  <a:pt x="79248" y="52833"/>
                </a:lnTo>
                <a:lnTo>
                  <a:pt x="504444" y="52833"/>
                </a:lnTo>
                <a:lnTo>
                  <a:pt x="504444" y="26416"/>
                </a:lnTo>
                <a:close/>
              </a:path>
              <a:path w="584200" h="79375">
                <a:moveTo>
                  <a:pt x="557276" y="26416"/>
                </a:moveTo>
                <a:lnTo>
                  <a:pt x="517654" y="26416"/>
                </a:lnTo>
                <a:lnTo>
                  <a:pt x="517654" y="52833"/>
                </a:lnTo>
                <a:lnTo>
                  <a:pt x="557273" y="52833"/>
                </a:lnTo>
                <a:lnTo>
                  <a:pt x="583692" y="39624"/>
                </a:lnTo>
                <a:lnTo>
                  <a:pt x="557276" y="26416"/>
                </a:lnTo>
                <a:close/>
              </a:path>
            </a:pathLst>
          </a:custGeom>
          <a:solidFill>
            <a:srgbClr val="385D89"/>
          </a:solidFill>
        </p:spPr>
        <p:txBody>
          <a:bodyPr wrap="square" lIns="0" tIns="0" rIns="0" bIns="0" rtlCol="0"/>
          <a:lstStyle/>
          <a:p>
            <a:endParaRPr/>
          </a:p>
        </p:txBody>
      </p:sp>
      <p:sp>
        <p:nvSpPr>
          <p:cNvPr id="38" name="TextBox 37">
            <a:extLst>
              <a:ext uri="{FF2B5EF4-FFF2-40B4-BE49-F238E27FC236}">
                <a16:creationId xmlns:a16="http://schemas.microsoft.com/office/drawing/2014/main" id="{9A65C8AA-1411-ED64-2912-8AB3FFB96A80}"/>
              </a:ext>
            </a:extLst>
          </p:cNvPr>
          <p:cNvSpPr txBox="1"/>
          <p:nvPr/>
        </p:nvSpPr>
        <p:spPr>
          <a:xfrm>
            <a:off x="9825242" y="1749152"/>
            <a:ext cx="992579" cy="369332"/>
          </a:xfrm>
          <a:prstGeom prst="rect">
            <a:avLst/>
          </a:prstGeom>
          <a:noFill/>
        </p:spPr>
        <p:txBody>
          <a:bodyPr wrap="none" rtlCol="0">
            <a:spAutoFit/>
          </a:bodyPr>
          <a:lstStyle/>
          <a:p>
            <a:r>
              <a:rPr lang="en-NL" dirty="0"/>
              <a:t>On-chip</a:t>
            </a:r>
          </a:p>
        </p:txBody>
      </p:sp>
      <p:sp>
        <p:nvSpPr>
          <p:cNvPr id="39" name="TextBox 38">
            <a:extLst>
              <a:ext uri="{FF2B5EF4-FFF2-40B4-BE49-F238E27FC236}">
                <a16:creationId xmlns:a16="http://schemas.microsoft.com/office/drawing/2014/main" id="{B066CBE6-3023-91ED-A46B-46E0FAD01B59}"/>
              </a:ext>
            </a:extLst>
          </p:cNvPr>
          <p:cNvSpPr txBox="1"/>
          <p:nvPr/>
        </p:nvSpPr>
        <p:spPr>
          <a:xfrm>
            <a:off x="9825242" y="2193762"/>
            <a:ext cx="2121093" cy="369332"/>
          </a:xfrm>
          <a:prstGeom prst="rect">
            <a:avLst/>
          </a:prstGeom>
          <a:noFill/>
        </p:spPr>
        <p:txBody>
          <a:bodyPr wrap="none" rtlCol="0">
            <a:spAutoFit/>
          </a:bodyPr>
          <a:lstStyle/>
          <a:p>
            <a:r>
              <a:rPr lang="en-NL" dirty="0"/>
              <a:t>Off-chip, uncached</a:t>
            </a:r>
          </a:p>
        </p:txBody>
      </p:sp>
      <p:sp>
        <p:nvSpPr>
          <p:cNvPr id="40" name="TextBox 39">
            <a:extLst>
              <a:ext uri="{FF2B5EF4-FFF2-40B4-BE49-F238E27FC236}">
                <a16:creationId xmlns:a16="http://schemas.microsoft.com/office/drawing/2014/main" id="{53FECF7B-B257-68EC-A46E-1966AF3BDDE2}"/>
              </a:ext>
            </a:extLst>
          </p:cNvPr>
          <p:cNvSpPr txBox="1"/>
          <p:nvPr/>
        </p:nvSpPr>
        <p:spPr>
          <a:xfrm>
            <a:off x="10730614" y="5924209"/>
            <a:ext cx="992579" cy="369332"/>
          </a:xfrm>
          <a:prstGeom prst="rect">
            <a:avLst/>
          </a:prstGeom>
          <a:noFill/>
        </p:spPr>
        <p:txBody>
          <a:bodyPr wrap="none" rtlCol="0">
            <a:spAutoFit/>
          </a:bodyPr>
          <a:lstStyle/>
          <a:p>
            <a:r>
              <a:rPr lang="en-NL" dirty="0"/>
              <a:t>On-chip</a:t>
            </a:r>
          </a:p>
        </p:txBody>
      </p:sp>
      <p:sp>
        <p:nvSpPr>
          <p:cNvPr id="41" name="TextBox 40">
            <a:extLst>
              <a:ext uri="{FF2B5EF4-FFF2-40B4-BE49-F238E27FC236}">
                <a16:creationId xmlns:a16="http://schemas.microsoft.com/office/drawing/2014/main" id="{41813DD5-0DE4-AC42-8ACF-F6F15DAD8448}"/>
              </a:ext>
            </a:extLst>
          </p:cNvPr>
          <p:cNvSpPr txBox="1"/>
          <p:nvPr/>
        </p:nvSpPr>
        <p:spPr>
          <a:xfrm>
            <a:off x="9584538" y="3258809"/>
            <a:ext cx="2121093" cy="369332"/>
          </a:xfrm>
          <a:prstGeom prst="rect">
            <a:avLst/>
          </a:prstGeom>
          <a:noFill/>
        </p:spPr>
        <p:txBody>
          <a:bodyPr wrap="none" rtlCol="0">
            <a:spAutoFit/>
          </a:bodyPr>
          <a:lstStyle/>
          <a:p>
            <a:r>
              <a:rPr lang="en-NL" dirty="0"/>
              <a:t>Off-chip, uncached</a:t>
            </a:r>
          </a:p>
        </p:txBody>
      </p:sp>
    </p:spTree>
    <p:extLst>
      <p:ext uri="{BB962C8B-B14F-4D97-AF65-F5344CB8AC3E}">
        <p14:creationId xmlns:p14="http://schemas.microsoft.com/office/powerpoint/2010/main" val="35179197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7372" y="587382"/>
            <a:ext cx="6051276" cy="463525"/>
          </a:xfrm>
          <a:prstGeom prst="rect">
            <a:avLst/>
          </a:prstGeom>
        </p:spPr>
        <p:txBody>
          <a:bodyPr vert="horz" wrap="square" lIns="0" tIns="12065" rIns="0" bIns="0" rtlCol="0">
            <a:spAutoFit/>
          </a:bodyPr>
          <a:lstStyle/>
          <a:p>
            <a:pPr marL="12700">
              <a:spcBef>
                <a:spcPts val="95"/>
              </a:spcBef>
            </a:pPr>
            <a:r>
              <a:rPr sz="2933" cap="small" dirty="0">
                <a:solidFill>
                  <a:schemeClr val="dk2"/>
                </a:solidFill>
              </a:rPr>
              <a:t>Memory spaces: </a:t>
            </a:r>
            <a:r>
              <a:rPr lang="en-US" sz="2933" cap="small" dirty="0">
                <a:solidFill>
                  <a:schemeClr val="dk2"/>
                </a:solidFill>
              </a:rPr>
              <a:t>Per thread</a:t>
            </a:r>
            <a:endParaRPr sz="2933" cap="small" dirty="0">
              <a:solidFill>
                <a:schemeClr val="dk2"/>
              </a:solidFill>
            </a:endParaRPr>
          </a:p>
        </p:txBody>
      </p:sp>
      <p:sp>
        <p:nvSpPr>
          <p:cNvPr id="3" name="object 3"/>
          <p:cNvSpPr txBox="1"/>
          <p:nvPr/>
        </p:nvSpPr>
        <p:spPr>
          <a:xfrm>
            <a:off x="1638400" y="1596261"/>
            <a:ext cx="8722995" cy="4674357"/>
          </a:xfrm>
          <a:prstGeom prst="rect">
            <a:avLst/>
          </a:prstGeom>
        </p:spPr>
        <p:txBody>
          <a:bodyPr vert="horz" wrap="square" lIns="0" tIns="54610" rIns="0" bIns="0" rtlCol="0">
            <a:spAutoFit/>
          </a:bodyPr>
          <a:lstStyle/>
          <a:p>
            <a:pPr marL="12700">
              <a:spcBef>
                <a:spcPts val="430"/>
              </a:spcBef>
            </a:pPr>
            <a:r>
              <a:rPr sz="2200" b="1" spc="-10" dirty="0">
                <a:latin typeface="Arial"/>
                <a:cs typeface="Arial"/>
              </a:rPr>
              <a:t>Example:</a:t>
            </a:r>
            <a:endParaRPr sz="2200" dirty="0">
              <a:latin typeface="Arial"/>
              <a:cs typeface="Arial"/>
            </a:endParaRPr>
          </a:p>
          <a:p>
            <a:pPr marL="621665" marR="13970" indent="-609600">
              <a:lnSpc>
                <a:spcPts val="2880"/>
              </a:lnSpc>
              <a:spcBef>
                <a:spcPts val="5"/>
              </a:spcBef>
              <a:tabLst>
                <a:tab pos="316865" algn="l"/>
                <a:tab pos="1231265" algn="l"/>
                <a:tab pos="1536065" algn="l"/>
                <a:tab pos="1681480" algn="l"/>
                <a:tab pos="1993900" algn="l"/>
                <a:tab pos="2451100" algn="l"/>
                <a:tab pos="3670300" algn="l"/>
                <a:tab pos="3975100" algn="l"/>
                <a:tab pos="4127500" algn="l"/>
                <a:tab pos="4432300" algn="l"/>
                <a:tab pos="4584700" algn="l"/>
                <a:tab pos="5041900" algn="l"/>
                <a:tab pos="5194300" algn="l"/>
                <a:tab pos="5346700" algn="l"/>
                <a:tab pos="6108700" algn="l"/>
                <a:tab pos="6718300" algn="l"/>
                <a:tab pos="7023734" algn="l"/>
                <a:tab pos="7175500" algn="l"/>
                <a:tab pos="7632700" algn="l"/>
                <a:tab pos="7938134" algn="l"/>
                <a:tab pos="8242300" algn="l"/>
              </a:tabLst>
            </a:pPr>
            <a:r>
              <a:rPr sz="2000" u="sng" dirty="0">
                <a:uFill>
                  <a:solidFill>
                    <a:srgbClr val="000000"/>
                  </a:solidFill>
                </a:uFill>
                <a:latin typeface="Times New Roman"/>
                <a:cs typeface="Times New Roman"/>
              </a:rPr>
              <a:t>	</a:t>
            </a:r>
            <a:r>
              <a:rPr sz="2000" b="1" spc="-10" dirty="0">
                <a:latin typeface="Courier New"/>
                <a:cs typeface="Courier New"/>
              </a:rPr>
              <a:t>global</a:t>
            </a:r>
            <a:r>
              <a:rPr sz="2000" u="sng" dirty="0">
                <a:uFill>
                  <a:solidFill>
                    <a:srgbClr val="000000"/>
                  </a:solidFill>
                </a:uFill>
                <a:latin typeface="Times New Roman"/>
                <a:cs typeface="Times New Roman"/>
              </a:rPr>
              <a:t>			</a:t>
            </a:r>
            <a:r>
              <a:rPr sz="2000" b="1" spc="-20" dirty="0">
                <a:latin typeface="Courier New"/>
                <a:cs typeface="Courier New"/>
              </a:rPr>
              <a:t>void</a:t>
            </a:r>
            <a:r>
              <a:rPr sz="2000" dirty="0">
                <a:latin typeface="Times New Roman"/>
                <a:cs typeface="Times New Roman"/>
              </a:rPr>
              <a:t>	</a:t>
            </a:r>
            <a:r>
              <a:rPr sz="2000" b="1" spc="-10" dirty="0">
                <a:latin typeface="Courier New"/>
                <a:cs typeface="Courier New"/>
              </a:rPr>
              <a:t>aKernel(float</a:t>
            </a:r>
            <a:r>
              <a:rPr sz="2000" dirty="0">
                <a:latin typeface="Times New Roman"/>
                <a:cs typeface="Times New Roman"/>
              </a:rPr>
              <a:t>	</a:t>
            </a:r>
            <a:r>
              <a:rPr sz="2000" b="1" spc="-25" dirty="0">
                <a:latin typeface="Courier New"/>
                <a:cs typeface="Courier New"/>
              </a:rPr>
              <a:t>*C,</a:t>
            </a:r>
            <a:r>
              <a:rPr sz="2000" dirty="0">
                <a:latin typeface="Times New Roman"/>
                <a:cs typeface="Times New Roman"/>
              </a:rPr>
              <a:t>	</a:t>
            </a:r>
            <a:r>
              <a:rPr sz="2000" b="1" spc="-10" dirty="0">
                <a:latin typeface="Courier New"/>
                <a:cs typeface="Courier New"/>
              </a:rPr>
              <a:t>float</a:t>
            </a:r>
            <a:r>
              <a:rPr sz="2000" dirty="0">
                <a:latin typeface="Times New Roman"/>
                <a:cs typeface="Times New Roman"/>
              </a:rPr>
              <a:t>	</a:t>
            </a:r>
            <a:r>
              <a:rPr sz="2000" b="1" spc="-25" dirty="0">
                <a:latin typeface="Courier New"/>
                <a:cs typeface="Courier New"/>
              </a:rPr>
              <a:t>*A,</a:t>
            </a:r>
            <a:r>
              <a:rPr sz="2000" dirty="0">
                <a:latin typeface="Times New Roman"/>
                <a:cs typeface="Times New Roman"/>
              </a:rPr>
              <a:t>	</a:t>
            </a:r>
            <a:r>
              <a:rPr sz="2000" b="1" spc="-10" dirty="0">
                <a:latin typeface="Courier New"/>
                <a:cs typeface="Courier New"/>
              </a:rPr>
              <a:t>float</a:t>
            </a:r>
            <a:r>
              <a:rPr sz="2000" dirty="0">
                <a:latin typeface="Times New Roman"/>
                <a:cs typeface="Times New Roman"/>
              </a:rPr>
              <a:t>	</a:t>
            </a:r>
            <a:r>
              <a:rPr sz="2000" b="1" spc="-25" dirty="0">
                <a:latin typeface="Courier New"/>
                <a:cs typeface="Courier New"/>
              </a:rPr>
              <a:t>*B)</a:t>
            </a:r>
            <a:r>
              <a:rPr sz="2000" dirty="0">
                <a:latin typeface="Times New Roman"/>
                <a:cs typeface="Times New Roman"/>
              </a:rPr>
              <a:t>	</a:t>
            </a:r>
            <a:r>
              <a:rPr sz="2000" b="1" spc="-50" dirty="0">
                <a:latin typeface="Courier New"/>
                <a:cs typeface="Courier New"/>
              </a:rPr>
              <a:t>{</a:t>
            </a:r>
            <a:r>
              <a:rPr sz="2000" spc="-50" dirty="0">
                <a:latin typeface="Times New Roman"/>
                <a:cs typeface="Times New Roman"/>
              </a:rPr>
              <a:t> </a:t>
            </a:r>
            <a:r>
              <a:rPr sz="2000" b="1" spc="-25" dirty="0">
                <a:latin typeface="Courier New"/>
                <a:cs typeface="Courier New"/>
              </a:rPr>
              <a:t>int</a:t>
            </a:r>
            <a:r>
              <a:rPr sz="2000" dirty="0">
                <a:latin typeface="Times New Roman"/>
                <a:cs typeface="Times New Roman"/>
              </a:rPr>
              <a:t>	</a:t>
            </a:r>
            <a:r>
              <a:rPr sz="2000" b="1" spc="-25" dirty="0">
                <a:solidFill>
                  <a:srgbClr val="C00000"/>
                </a:solidFill>
                <a:latin typeface="Courier New"/>
                <a:cs typeface="Courier New"/>
              </a:rPr>
              <a:t>tx</a:t>
            </a:r>
            <a:r>
              <a:rPr sz="2000" dirty="0">
                <a:solidFill>
                  <a:srgbClr val="C00000"/>
                </a:solidFill>
                <a:latin typeface="Times New Roman"/>
                <a:cs typeface="Times New Roman"/>
              </a:rPr>
              <a:t>		</a:t>
            </a:r>
            <a:r>
              <a:rPr sz="2000" spc="-450" dirty="0">
                <a:solidFill>
                  <a:srgbClr val="C00000"/>
                </a:solidFill>
                <a:latin typeface="Times New Roman"/>
                <a:cs typeface="Times New Roman"/>
              </a:rPr>
              <a:t> </a:t>
            </a:r>
            <a:r>
              <a:rPr sz="2000" b="1" dirty="0">
                <a:latin typeface="Courier New"/>
                <a:cs typeface="Courier New"/>
              </a:rPr>
              <a:t>=</a:t>
            </a:r>
            <a:r>
              <a:rPr sz="2000" dirty="0">
                <a:latin typeface="Times New Roman"/>
                <a:cs typeface="Times New Roman"/>
              </a:rPr>
              <a:t>	</a:t>
            </a:r>
            <a:r>
              <a:rPr sz="2000" b="1" spc="-10" dirty="0">
                <a:latin typeface="Courier New"/>
                <a:cs typeface="Courier New"/>
              </a:rPr>
              <a:t>threadIdx.x;</a:t>
            </a:r>
            <a:r>
              <a:rPr sz="2000" dirty="0">
                <a:latin typeface="Times New Roman"/>
                <a:cs typeface="Times New Roman"/>
              </a:rPr>
              <a:t>	</a:t>
            </a:r>
            <a:r>
              <a:rPr sz="2000" b="1" spc="-25" dirty="0">
                <a:latin typeface="Courier New"/>
                <a:cs typeface="Courier New"/>
              </a:rPr>
              <a:t>//</a:t>
            </a:r>
            <a:r>
              <a:rPr sz="2000" dirty="0">
                <a:latin typeface="Times New Roman"/>
                <a:cs typeface="Times New Roman"/>
              </a:rPr>
              <a:t>	</a:t>
            </a:r>
            <a:r>
              <a:rPr sz="2000" b="1" spc="-10" dirty="0">
                <a:latin typeface="Courier New"/>
                <a:cs typeface="Courier New"/>
              </a:rPr>
              <a:t>local</a:t>
            </a:r>
            <a:r>
              <a:rPr lang="en-US" sz="2000" b="1" spc="-10" dirty="0">
                <a:latin typeface="Courier New"/>
                <a:cs typeface="Courier New"/>
              </a:rPr>
              <a:t> </a:t>
            </a:r>
            <a:r>
              <a:rPr sz="2000" dirty="0">
                <a:latin typeface="Times New Roman"/>
                <a:cs typeface="Times New Roman"/>
              </a:rPr>
              <a:t>	</a:t>
            </a:r>
            <a:r>
              <a:rPr sz="2000" b="1" spc="-10" dirty="0">
                <a:latin typeface="Courier New"/>
                <a:cs typeface="Courier New"/>
              </a:rPr>
              <a:t>variable</a:t>
            </a:r>
            <a:r>
              <a:rPr sz="2000" dirty="0">
                <a:latin typeface="Times New Roman"/>
                <a:cs typeface="Times New Roman"/>
              </a:rPr>
              <a:t>	</a:t>
            </a:r>
            <a:r>
              <a:rPr sz="2000" b="1" spc="-25" dirty="0">
                <a:latin typeface="Courier New"/>
                <a:cs typeface="Courier New"/>
              </a:rPr>
              <a:t>in</a:t>
            </a:r>
            <a:r>
              <a:rPr sz="2000" dirty="0">
                <a:latin typeface="Times New Roman"/>
                <a:cs typeface="Times New Roman"/>
              </a:rPr>
              <a:t>	</a:t>
            </a:r>
            <a:r>
              <a:rPr lang="en-US" sz="2000" dirty="0">
                <a:latin typeface="Times New Roman"/>
                <a:cs typeface="Times New Roman"/>
              </a:rPr>
              <a:t> </a:t>
            </a:r>
            <a:r>
              <a:rPr sz="2000" b="1" spc="-10" dirty="0">
                <a:latin typeface="Courier New"/>
                <a:cs typeface="Courier New"/>
              </a:rPr>
              <a:t>registers</a:t>
            </a:r>
            <a:r>
              <a:rPr sz="2000" spc="-10" dirty="0">
                <a:latin typeface="Times New Roman"/>
                <a:cs typeface="Times New Roman"/>
              </a:rPr>
              <a:t> </a:t>
            </a:r>
            <a:r>
              <a:rPr sz="2000" b="1" spc="-10" dirty="0">
                <a:latin typeface="Courier New"/>
                <a:cs typeface="Courier New"/>
              </a:rPr>
              <a:t>float</a:t>
            </a:r>
            <a:r>
              <a:rPr sz="2000" dirty="0">
                <a:latin typeface="Times New Roman"/>
                <a:cs typeface="Times New Roman"/>
              </a:rPr>
              <a:t>	</a:t>
            </a:r>
            <a:r>
              <a:rPr sz="2000" b="1" spc="-10" dirty="0">
                <a:solidFill>
                  <a:srgbClr val="C00000"/>
                </a:solidFill>
                <a:latin typeface="Courier New"/>
                <a:cs typeface="Courier New"/>
              </a:rPr>
              <a:t>local_sum</a:t>
            </a:r>
            <a:r>
              <a:rPr sz="2000" b="1" spc="-10" dirty="0">
                <a:latin typeface="Courier New"/>
                <a:cs typeface="Courier New"/>
              </a:rPr>
              <a:t>[4];</a:t>
            </a:r>
            <a:r>
              <a:rPr sz="2000" dirty="0">
                <a:latin typeface="Times New Roman"/>
                <a:cs typeface="Times New Roman"/>
              </a:rPr>
              <a:t>	</a:t>
            </a:r>
            <a:r>
              <a:rPr sz="2000" b="1" spc="-25" dirty="0">
                <a:latin typeface="Courier New"/>
                <a:cs typeface="Courier New"/>
              </a:rPr>
              <a:t>//</a:t>
            </a:r>
            <a:r>
              <a:rPr sz="2000" dirty="0">
                <a:latin typeface="Times New Roman"/>
                <a:cs typeface="Times New Roman"/>
              </a:rPr>
              <a:t>		</a:t>
            </a:r>
            <a:r>
              <a:rPr sz="2000" b="1" spc="-10" dirty="0">
                <a:latin typeface="Courier New"/>
                <a:cs typeface="Courier New"/>
              </a:rPr>
              <a:t>small</a:t>
            </a:r>
            <a:r>
              <a:rPr sz="2000" dirty="0">
                <a:latin typeface="Times New Roman"/>
                <a:cs typeface="Times New Roman"/>
              </a:rPr>
              <a:t>	</a:t>
            </a:r>
            <a:r>
              <a:rPr sz="2000" b="1" spc="-10" dirty="0">
                <a:latin typeface="Courier New"/>
                <a:cs typeface="Courier New"/>
              </a:rPr>
              <a:t>compile-</a:t>
            </a:r>
            <a:r>
              <a:rPr sz="2000" b="1" spc="-20" dirty="0">
                <a:latin typeface="Courier New"/>
                <a:cs typeface="Courier New"/>
              </a:rPr>
              <a:t>time</a:t>
            </a:r>
            <a:r>
              <a:rPr sz="2000" dirty="0">
                <a:latin typeface="Times New Roman"/>
                <a:cs typeface="Times New Roman"/>
              </a:rPr>
              <a:t>	</a:t>
            </a:r>
            <a:r>
              <a:rPr sz="2000" b="1" spc="-10" dirty="0">
                <a:latin typeface="Courier New"/>
                <a:cs typeface="Courier New"/>
              </a:rPr>
              <a:t>sized</a:t>
            </a:r>
            <a:r>
              <a:rPr sz="2000" dirty="0">
                <a:latin typeface="Times New Roman"/>
                <a:cs typeface="Times New Roman"/>
              </a:rPr>
              <a:t>	</a:t>
            </a:r>
            <a:r>
              <a:rPr sz="2000" b="1" spc="-10" dirty="0">
                <a:latin typeface="Courier New"/>
                <a:cs typeface="Courier New"/>
              </a:rPr>
              <a:t>array</a:t>
            </a:r>
            <a:endParaRPr sz="2000" dirty="0">
              <a:latin typeface="Courier New"/>
              <a:cs typeface="Courier New"/>
            </a:endParaRPr>
          </a:p>
          <a:p>
            <a:pPr marL="12700">
              <a:spcBef>
                <a:spcPts val="305"/>
              </a:spcBef>
            </a:pPr>
            <a:r>
              <a:rPr sz="2000" b="1" spc="-50" dirty="0">
                <a:latin typeface="Courier New"/>
                <a:cs typeface="Courier New"/>
              </a:rPr>
              <a:t>}</a:t>
            </a:r>
            <a:endParaRPr sz="2000" dirty="0">
              <a:latin typeface="Courier New"/>
              <a:cs typeface="Courier New"/>
            </a:endParaRPr>
          </a:p>
          <a:p>
            <a:pPr>
              <a:spcBef>
                <a:spcPts val="1600"/>
              </a:spcBef>
            </a:pPr>
            <a:endParaRPr sz="2000" dirty="0">
              <a:latin typeface="Courier New"/>
              <a:cs typeface="Courier New"/>
            </a:endParaRPr>
          </a:p>
          <a:p>
            <a:pPr marL="12700"/>
            <a:r>
              <a:rPr sz="2200" b="1" spc="-10" dirty="0">
                <a:latin typeface="Arial"/>
                <a:cs typeface="Arial"/>
              </a:rPr>
              <a:t>Registers:</a:t>
            </a:r>
            <a:endParaRPr sz="2200" dirty="0">
              <a:latin typeface="Arial"/>
              <a:cs typeface="Arial"/>
            </a:endParaRPr>
          </a:p>
          <a:p>
            <a:pPr marL="194945" indent="-182245">
              <a:spcBef>
                <a:spcPts val="530"/>
              </a:spcBef>
              <a:buClr>
                <a:srgbClr val="4F80BC"/>
              </a:buClr>
              <a:buSzPct val="84090"/>
              <a:buChar char="•"/>
              <a:tabLst>
                <a:tab pos="194945" algn="l"/>
              </a:tabLst>
            </a:pPr>
            <a:r>
              <a:rPr sz="2200" spc="-10" dirty="0">
                <a:latin typeface="Arial"/>
                <a:cs typeface="Arial"/>
              </a:rPr>
              <a:t>Thread-</a:t>
            </a:r>
            <a:r>
              <a:rPr sz="2200" dirty="0">
                <a:latin typeface="Arial"/>
                <a:cs typeface="Arial"/>
              </a:rPr>
              <a:t>local</a:t>
            </a:r>
            <a:r>
              <a:rPr sz="2200" spc="-40" dirty="0">
                <a:latin typeface="Arial"/>
                <a:cs typeface="Arial"/>
              </a:rPr>
              <a:t> </a:t>
            </a:r>
            <a:r>
              <a:rPr sz="2200" dirty="0">
                <a:latin typeface="Arial"/>
                <a:cs typeface="Arial"/>
              </a:rPr>
              <a:t>scalars</a:t>
            </a:r>
            <a:r>
              <a:rPr sz="2200" spc="-55" dirty="0">
                <a:latin typeface="Arial"/>
                <a:cs typeface="Arial"/>
              </a:rPr>
              <a:t> </a:t>
            </a:r>
            <a:r>
              <a:rPr sz="2200" dirty="0">
                <a:latin typeface="Arial"/>
                <a:cs typeface="Arial"/>
              </a:rPr>
              <a:t>or</a:t>
            </a:r>
            <a:r>
              <a:rPr sz="2200" spc="-35" dirty="0">
                <a:latin typeface="Arial"/>
                <a:cs typeface="Arial"/>
              </a:rPr>
              <a:t> </a:t>
            </a:r>
            <a:r>
              <a:rPr sz="2200" dirty="0">
                <a:latin typeface="Arial"/>
                <a:cs typeface="Arial"/>
              </a:rPr>
              <a:t>small</a:t>
            </a:r>
            <a:r>
              <a:rPr sz="2200" spc="-50" dirty="0">
                <a:latin typeface="Arial"/>
                <a:cs typeface="Arial"/>
              </a:rPr>
              <a:t> </a:t>
            </a:r>
            <a:r>
              <a:rPr sz="2200" dirty="0">
                <a:latin typeface="Arial"/>
                <a:cs typeface="Arial"/>
              </a:rPr>
              <a:t>constant</a:t>
            </a:r>
            <a:r>
              <a:rPr sz="2200" spc="-50" dirty="0">
                <a:latin typeface="Arial"/>
                <a:cs typeface="Arial"/>
              </a:rPr>
              <a:t> </a:t>
            </a:r>
            <a:r>
              <a:rPr sz="2200" dirty="0">
                <a:latin typeface="Arial"/>
                <a:cs typeface="Arial"/>
              </a:rPr>
              <a:t>size</a:t>
            </a:r>
            <a:r>
              <a:rPr sz="2200" spc="-50" dirty="0">
                <a:latin typeface="Arial"/>
                <a:cs typeface="Arial"/>
              </a:rPr>
              <a:t> </a:t>
            </a:r>
            <a:r>
              <a:rPr sz="2200" dirty="0">
                <a:latin typeface="Arial"/>
                <a:cs typeface="Arial"/>
              </a:rPr>
              <a:t>arrays</a:t>
            </a:r>
            <a:r>
              <a:rPr sz="2200" spc="-40" dirty="0">
                <a:latin typeface="Arial"/>
                <a:cs typeface="Arial"/>
              </a:rPr>
              <a:t> </a:t>
            </a:r>
            <a:r>
              <a:rPr sz="2200" dirty="0">
                <a:latin typeface="Arial"/>
                <a:cs typeface="Arial"/>
              </a:rPr>
              <a:t>stored</a:t>
            </a:r>
            <a:r>
              <a:rPr sz="2200" spc="-35" dirty="0">
                <a:latin typeface="Arial"/>
                <a:cs typeface="Arial"/>
              </a:rPr>
              <a:t> </a:t>
            </a:r>
            <a:r>
              <a:rPr sz="2200" dirty="0">
                <a:latin typeface="Arial"/>
                <a:cs typeface="Arial"/>
              </a:rPr>
              <a:t>as</a:t>
            </a:r>
            <a:r>
              <a:rPr sz="2200" spc="-40" dirty="0">
                <a:latin typeface="Arial"/>
                <a:cs typeface="Arial"/>
              </a:rPr>
              <a:t> </a:t>
            </a:r>
            <a:r>
              <a:rPr sz="2200" spc="-10" dirty="0">
                <a:latin typeface="Arial"/>
                <a:cs typeface="Arial"/>
              </a:rPr>
              <a:t>registers</a:t>
            </a:r>
            <a:endParaRPr sz="2200" dirty="0">
              <a:latin typeface="Arial"/>
              <a:cs typeface="Arial"/>
            </a:endParaRPr>
          </a:p>
          <a:p>
            <a:pPr marL="194945" indent="-182245">
              <a:spcBef>
                <a:spcPts val="530"/>
              </a:spcBef>
              <a:buClr>
                <a:srgbClr val="4F80BC"/>
              </a:buClr>
              <a:buSzPct val="84090"/>
              <a:buChar char="•"/>
              <a:tabLst>
                <a:tab pos="194945" algn="l"/>
              </a:tabLst>
            </a:pPr>
            <a:r>
              <a:rPr sz="2200" dirty="0">
                <a:latin typeface="Arial"/>
                <a:cs typeface="Arial"/>
              </a:rPr>
              <a:t>Implicit</a:t>
            </a:r>
            <a:r>
              <a:rPr sz="2200" spc="-65" dirty="0">
                <a:latin typeface="Arial"/>
                <a:cs typeface="Arial"/>
              </a:rPr>
              <a:t> </a:t>
            </a:r>
            <a:r>
              <a:rPr sz="2200" dirty="0">
                <a:latin typeface="Arial"/>
                <a:cs typeface="Arial"/>
              </a:rPr>
              <a:t>in</a:t>
            </a:r>
            <a:r>
              <a:rPr sz="2200" spc="-65" dirty="0">
                <a:latin typeface="Arial"/>
                <a:cs typeface="Arial"/>
              </a:rPr>
              <a:t> </a:t>
            </a:r>
            <a:r>
              <a:rPr sz="2200" dirty="0">
                <a:latin typeface="Arial"/>
                <a:cs typeface="Arial"/>
              </a:rPr>
              <a:t>the</a:t>
            </a:r>
            <a:r>
              <a:rPr sz="2200" spc="-60" dirty="0">
                <a:latin typeface="Arial"/>
                <a:cs typeface="Arial"/>
              </a:rPr>
              <a:t> </a:t>
            </a:r>
            <a:r>
              <a:rPr sz="2200" dirty="0">
                <a:latin typeface="Arial"/>
                <a:cs typeface="Arial"/>
              </a:rPr>
              <a:t>programming</a:t>
            </a:r>
            <a:r>
              <a:rPr sz="2200" spc="-30" dirty="0">
                <a:latin typeface="Arial"/>
                <a:cs typeface="Arial"/>
              </a:rPr>
              <a:t> </a:t>
            </a:r>
            <a:r>
              <a:rPr sz="2200" spc="-10" dirty="0">
                <a:latin typeface="Arial"/>
                <a:cs typeface="Arial"/>
              </a:rPr>
              <a:t>model</a:t>
            </a:r>
            <a:endParaRPr sz="2200" dirty="0">
              <a:latin typeface="Arial"/>
              <a:cs typeface="Arial"/>
            </a:endParaRPr>
          </a:p>
          <a:p>
            <a:pPr marL="194945" indent="-182245">
              <a:spcBef>
                <a:spcPts val="530"/>
              </a:spcBef>
              <a:buClr>
                <a:srgbClr val="4F80BC"/>
              </a:buClr>
              <a:buSzPct val="84090"/>
              <a:buChar char="•"/>
              <a:tabLst>
                <a:tab pos="194945" algn="l"/>
              </a:tabLst>
            </a:pPr>
            <a:r>
              <a:rPr lang="en-GB" sz="2200" dirty="0">
                <a:latin typeface="Arial"/>
                <a:cs typeface="Arial"/>
              </a:rPr>
              <a:t>Not</a:t>
            </a:r>
            <a:r>
              <a:rPr lang="en-GB" sz="2200" spc="-50" dirty="0">
                <a:latin typeface="Arial"/>
                <a:cs typeface="Arial"/>
              </a:rPr>
              <a:t> </a:t>
            </a:r>
            <a:r>
              <a:rPr lang="en-GB" sz="2200" dirty="0">
                <a:latin typeface="Arial"/>
                <a:cs typeface="Arial"/>
              </a:rPr>
              <a:t>persistent:</a:t>
            </a:r>
            <a:r>
              <a:rPr lang="en-GB" sz="2200" spc="-55" dirty="0">
                <a:latin typeface="Arial"/>
                <a:cs typeface="Arial"/>
              </a:rPr>
              <a:t> </a:t>
            </a:r>
            <a:r>
              <a:rPr lang="en-GB" sz="2200" dirty="0">
                <a:latin typeface="Arial"/>
                <a:cs typeface="Arial"/>
              </a:rPr>
              <a:t>kernel</a:t>
            </a:r>
            <a:r>
              <a:rPr lang="en-GB" sz="2200" spc="-45" dirty="0">
                <a:latin typeface="Arial"/>
                <a:cs typeface="Arial"/>
              </a:rPr>
              <a:t> </a:t>
            </a:r>
            <a:r>
              <a:rPr lang="en-GB" sz="2200" dirty="0">
                <a:latin typeface="Arial"/>
                <a:cs typeface="Arial"/>
              </a:rPr>
              <a:t>ends,</a:t>
            </a:r>
            <a:r>
              <a:rPr lang="en-GB" sz="2200" spc="-55" dirty="0">
                <a:latin typeface="Arial"/>
                <a:cs typeface="Arial"/>
              </a:rPr>
              <a:t> </a:t>
            </a:r>
            <a:r>
              <a:rPr lang="en-GB" sz="2200" dirty="0">
                <a:latin typeface="Arial"/>
                <a:cs typeface="Arial"/>
              </a:rPr>
              <a:t>data</a:t>
            </a:r>
            <a:r>
              <a:rPr lang="en-GB" sz="2200" spc="-40" dirty="0">
                <a:latin typeface="Arial"/>
                <a:cs typeface="Arial"/>
              </a:rPr>
              <a:t> </a:t>
            </a:r>
            <a:r>
              <a:rPr lang="en-GB" sz="2200" dirty="0">
                <a:latin typeface="Arial"/>
                <a:cs typeface="Arial"/>
              </a:rPr>
              <a:t>is</a:t>
            </a:r>
            <a:r>
              <a:rPr lang="en-GB" sz="2200" spc="-50" dirty="0">
                <a:latin typeface="Arial"/>
                <a:cs typeface="Arial"/>
              </a:rPr>
              <a:t> </a:t>
            </a:r>
            <a:r>
              <a:rPr lang="en-GB" sz="2200" spc="-20" dirty="0">
                <a:latin typeface="Arial"/>
                <a:cs typeface="Arial"/>
              </a:rPr>
              <a:t>lost</a:t>
            </a:r>
            <a:endParaRPr lang="en-GB" sz="2200" dirty="0">
              <a:latin typeface="Arial"/>
              <a:cs typeface="Arial"/>
            </a:endParaRPr>
          </a:p>
          <a:p>
            <a:pPr marL="194945" indent="-182245">
              <a:spcBef>
                <a:spcPts val="525"/>
              </a:spcBef>
              <a:buClr>
                <a:srgbClr val="4F80BC"/>
              </a:buClr>
              <a:buSzPct val="84090"/>
              <a:buChar char="•"/>
              <a:tabLst>
                <a:tab pos="194945" algn="l"/>
              </a:tabLst>
            </a:pPr>
            <a:r>
              <a:rPr sz="2200" dirty="0">
                <a:latin typeface="Arial"/>
                <a:cs typeface="Arial"/>
              </a:rPr>
              <a:t>Does</a:t>
            </a:r>
            <a:r>
              <a:rPr sz="2200" spc="-45" dirty="0">
                <a:latin typeface="Arial"/>
                <a:cs typeface="Arial"/>
              </a:rPr>
              <a:t> </a:t>
            </a:r>
            <a:r>
              <a:rPr sz="2200" dirty="0">
                <a:latin typeface="Arial"/>
                <a:cs typeface="Arial"/>
              </a:rPr>
              <a:t>not</a:t>
            </a:r>
            <a:r>
              <a:rPr sz="2200" spc="-30" dirty="0">
                <a:latin typeface="Arial"/>
                <a:cs typeface="Arial"/>
              </a:rPr>
              <a:t> </a:t>
            </a:r>
            <a:r>
              <a:rPr sz="2200" dirty="0">
                <a:latin typeface="Arial"/>
                <a:cs typeface="Arial"/>
              </a:rPr>
              <a:t>fit</a:t>
            </a:r>
            <a:r>
              <a:rPr sz="2200" spc="-35" dirty="0">
                <a:latin typeface="Arial"/>
                <a:cs typeface="Arial"/>
              </a:rPr>
              <a:t> </a:t>
            </a:r>
            <a:r>
              <a:rPr sz="2200" dirty="0">
                <a:latin typeface="Arial"/>
                <a:cs typeface="Arial"/>
              </a:rPr>
              <a:t>(max</a:t>
            </a:r>
            <a:r>
              <a:rPr sz="2200" spc="-15" dirty="0">
                <a:latin typeface="Arial"/>
                <a:cs typeface="Arial"/>
              </a:rPr>
              <a:t> </a:t>
            </a:r>
            <a:r>
              <a:rPr sz="2200" dirty="0">
                <a:latin typeface="Arial"/>
                <a:cs typeface="Arial"/>
              </a:rPr>
              <a:t>255</a:t>
            </a:r>
            <a:r>
              <a:rPr sz="2200" spc="-40" dirty="0">
                <a:latin typeface="Arial"/>
                <a:cs typeface="Arial"/>
              </a:rPr>
              <a:t> </a:t>
            </a:r>
            <a:r>
              <a:rPr sz="2200" dirty="0">
                <a:latin typeface="Arial"/>
                <a:cs typeface="Arial"/>
              </a:rPr>
              <a:t>per</a:t>
            </a:r>
            <a:r>
              <a:rPr sz="2200" spc="-30" dirty="0">
                <a:latin typeface="Arial"/>
                <a:cs typeface="Arial"/>
              </a:rPr>
              <a:t> </a:t>
            </a:r>
            <a:r>
              <a:rPr sz="2200" spc="-10" dirty="0">
                <a:latin typeface="Arial"/>
                <a:cs typeface="Arial"/>
              </a:rPr>
              <a:t>thread)?</a:t>
            </a:r>
            <a:endParaRPr sz="2200" dirty="0">
              <a:latin typeface="Arial"/>
              <a:cs typeface="Arial"/>
            </a:endParaRPr>
          </a:p>
          <a:p>
            <a:pPr marL="470534" lvl="1" indent="-183515">
              <a:spcBef>
                <a:spcPts val="470"/>
              </a:spcBef>
              <a:buClr>
                <a:srgbClr val="4F80BC"/>
              </a:buClr>
              <a:buSzPct val="84210"/>
              <a:buChar char="•"/>
              <a:tabLst>
                <a:tab pos="470534" algn="l"/>
              </a:tabLst>
            </a:pPr>
            <a:r>
              <a:rPr sz="1900" dirty="0">
                <a:latin typeface="Arial"/>
                <a:cs typeface="Arial"/>
              </a:rPr>
              <a:t>Spilled</a:t>
            </a:r>
            <a:r>
              <a:rPr sz="1900" spc="-20" dirty="0">
                <a:latin typeface="Arial"/>
                <a:cs typeface="Arial"/>
              </a:rPr>
              <a:t> </a:t>
            </a:r>
            <a:r>
              <a:rPr sz="1900" dirty="0">
                <a:latin typeface="Arial"/>
                <a:cs typeface="Arial"/>
              </a:rPr>
              <a:t>to</a:t>
            </a:r>
            <a:r>
              <a:rPr sz="1900" spc="-45" dirty="0">
                <a:latin typeface="Arial"/>
                <a:cs typeface="Arial"/>
              </a:rPr>
              <a:t> </a:t>
            </a:r>
            <a:r>
              <a:rPr lang="en-GB" sz="1900" dirty="0">
                <a:latin typeface="Arial"/>
                <a:cs typeface="Arial"/>
              </a:rPr>
              <a:t>device</a:t>
            </a:r>
            <a:r>
              <a:rPr sz="1900" spc="-25" dirty="0">
                <a:latin typeface="Arial"/>
                <a:cs typeface="Arial"/>
              </a:rPr>
              <a:t> </a:t>
            </a:r>
            <a:r>
              <a:rPr sz="1900" dirty="0">
                <a:latin typeface="Arial"/>
                <a:cs typeface="Arial"/>
              </a:rPr>
              <a:t>memory</a:t>
            </a:r>
            <a:r>
              <a:rPr sz="1900" spc="-10" dirty="0">
                <a:latin typeface="Arial"/>
                <a:cs typeface="Arial"/>
              </a:rPr>
              <a:t> </a:t>
            </a:r>
            <a:r>
              <a:rPr sz="1900" dirty="0">
                <a:latin typeface="Wingdings"/>
                <a:cs typeface="Wingdings"/>
              </a:rPr>
              <a:t></a:t>
            </a:r>
            <a:r>
              <a:rPr sz="1900" spc="10" dirty="0">
                <a:latin typeface="Times New Roman"/>
                <a:cs typeface="Times New Roman"/>
              </a:rPr>
              <a:t> </a:t>
            </a:r>
            <a:r>
              <a:rPr sz="1900" dirty="0">
                <a:latin typeface="Arial"/>
                <a:cs typeface="Arial"/>
              </a:rPr>
              <a:t>SLOW</a:t>
            </a:r>
            <a:r>
              <a:rPr sz="1900" spc="-50" dirty="0">
                <a:latin typeface="Arial"/>
                <a:cs typeface="Arial"/>
              </a:rPr>
              <a:t> !</a:t>
            </a:r>
            <a:endParaRPr lang="en-US" sz="1900" dirty="0">
              <a:latin typeface="Arial"/>
              <a:cs typeface="Arial"/>
            </a:endParaRPr>
          </a:p>
        </p:txBody>
      </p:sp>
      <p:pic>
        <p:nvPicPr>
          <p:cNvPr id="8" name="object 2">
            <a:extLst>
              <a:ext uri="{FF2B5EF4-FFF2-40B4-BE49-F238E27FC236}">
                <a16:creationId xmlns:a16="http://schemas.microsoft.com/office/drawing/2014/main" id="{6D9F0683-7EAE-2EE4-EFB8-E89EDF34B743}"/>
              </a:ext>
            </a:extLst>
          </p:cNvPr>
          <p:cNvPicPr/>
          <p:nvPr/>
        </p:nvPicPr>
        <p:blipFill>
          <a:blip r:embed="rId2" cstate="print"/>
          <a:stretch>
            <a:fillRect/>
          </a:stretch>
        </p:blipFill>
        <p:spPr>
          <a:xfrm>
            <a:off x="8599299" y="976884"/>
            <a:ext cx="131445" cy="836930"/>
          </a:xfrm>
          <a:prstGeom prst="rect">
            <a:avLst/>
          </a:prstGeom>
        </p:spPr>
      </p:pic>
      <p:sp>
        <p:nvSpPr>
          <p:cNvPr id="9" name="object 3">
            <a:extLst>
              <a:ext uri="{FF2B5EF4-FFF2-40B4-BE49-F238E27FC236}">
                <a16:creationId xmlns:a16="http://schemas.microsoft.com/office/drawing/2014/main" id="{E52E99B9-42D9-A16E-D1B7-79F38E53CE46}"/>
              </a:ext>
            </a:extLst>
          </p:cNvPr>
          <p:cNvSpPr txBox="1"/>
          <p:nvPr/>
        </p:nvSpPr>
        <p:spPr>
          <a:xfrm>
            <a:off x="8257540" y="685800"/>
            <a:ext cx="750570" cy="299720"/>
          </a:xfrm>
          <a:prstGeom prst="rect">
            <a:avLst/>
          </a:prstGeom>
        </p:spPr>
        <p:txBody>
          <a:bodyPr vert="horz" wrap="square" lIns="0" tIns="12700" rIns="0" bIns="0" rtlCol="0">
            <a:spAutoFit/>
          </a:bodyPr>
          <a:lstStyle/>
          <a:p>
            <a:pPr marL="12700">
              <a:spcBef>
                <a:spcPts val="100"/>
              </a:spcBef>
            </a:pPr>
            <a:r>
              <a:rPr spc="-10" dirty="0">
                <a:latin typeface="Arial"/>
                <a:cs typeface="Arial"/>
              </a:rPr>
              <a:t>Thread</a:t>
            </a:r>
            <a:endParaRPr>
              <a:latin typeface="Arial"/>
              <a:cs typeface="Arial"/>
            </a:endParaRPr>
          </a:p>
        </p:txBody>
      </p:sp>
      <p:sp>
        <p:nvSpPr>
          <p:cNvPr id="10" name="object 4">
            <a:extLst>
              <a:ext uri="{FF2B5EF4-FFF2-40B4-BE49-F238E27FC236}">
                <a16:creationId xmlns:a16="http://schemas.microsoft.com/office/drawing/2014/main" id="{9A7C151B-450F-CFCF-18AC-78CDBB255B62}"/>
              </a:ext>
            </a:extLst>
          </p:cNvPr>
          <p:cNvSpPr txBox="1"/>
          <p:nvPr/>
        </p:nvSpPr>
        <p:spPr>
          <a:xfrm>
            <a:off x="9289542" y="1381761"/>
            <a:ext cx="2292858" cy="282770"/>
          </a:xfrm>
          <a:prstGeom prst="rect">
            <a:avLst/>
          </a:prstGeom>
          <a:solidFill>
            <a:srgbClr val="4F80BC"/>
          </a:solidFill>
          <a:ln w="26424">
            <a:solidFill>
              <a:srgbClr val="385D89"/>
            </a:solidFill>
          </a:ln>
        </p:spPr>
        <p:txBody>
          <a:bodyPr vert="horz" wrap="square" lIns="0" tIns="51435" rIns="0" bIns="0" rtlCol="0">
            <a:spAutoFit/>
          </a:bodyPr>
          <a:lstStyle/>
          <a:p>
            <a:pPr marL="251460" marR="240665" indent="176530">
              <a:lnSpc>
                <a:spcPts val="1839"/>
              </a:lnSpc>
              <a:spcBef>
                <a:spcPts val="405"/>
              </a:spcBef>
            </a:pPr>
            <a:r>
              <a:rPr dirty="0">
                <a:solidFill>
                  <a:srgbClr val="FFFFFF"/>
                </a:solidFill>
                <a:latin typeface="Arial"/>
                <a:cs typeface="Arial"/>
              </a:rPr>
              <a:t>Local</a:t>
            </a:r>
            <a:r>
              <a:rPr lang="en-US" dirty="0">
                <a:solidFill>
                  <a:srgbClr val="FFFFFF"/>
                </a:solidFill>
                <a:latin typeface="Arial"/>
                <a:cs typeface="Arial"/>
              </a:rPr>
              <a:t> </a:t>
            </a:r>
            <a:r>
              <a:rPr spc="-10" dirty="0">
                <a:solidFill>
                  <a:srgbClr val="FFFFFF"/>
                </a:solidFill>
                <a:latin typeface="Arial"/>
                <a:cs typeface="Arial"/>
              </a:rPr>
              <a:t>Memory</a:t>
            </a:r>
            <a:endParaRPr dirty="0">
              <a:latin typeface="Arial"/>
              <a:cs typeface="Arial"/>
            </a:endParaRPr>
          </a:p>
        </p:txBody>
      </p:sp>
      <p:sp>
        <p:nvSpPr>
          <p:cNvPr id="11" name="object 5">
            <a:extLst>
              <a:ext uri="{FF2B5EF4-FFF2-40B4-BE49-F238E27FC236}">
                <a16:creationId xmlns:a16="http://schemas.microsoft.com/office/drawing/2014/main" id="{2D6DC3ED-6E01-DF87-AB4D-723D4131842E}"/>
              </a:ext>
            </a:extLst>
          </p:cNvPr>
          <p:cNvSpPr/>
          <p:nvPr/>
        </p:nvSpPr>
        <p:spPr>
          <a:xfrm>
            <a:off x="8705342" y="1490214"/>
            <a:ext cx="584200" cy="79375"/>
          </a:xfrm>
          <a:custGeom>
            <a:avLst/>
            <a:gdLst/>
            <a:ahLst/>
            <a:cxnLst/>
            <a:rect l="l" t="t" r="r" b="b"/>
            <a:pathLst>
              <a:path w="584200" h="79375">
                <a:moveTo>
                  <a:pt x="79248" y="0"/>
                </a:moveTo>
                <a:lnTo>
                  <a:pt x="0" y="39624"/>
                </a:lnTo>
                <a:lnTo>
                  <a:pt x="79248" y="79248"/>
                </a:lnTo>
                <a:lnTo>
                  <a:pt x="79248" y="52833"/>
                </a:lnTo>
                <a:lnTo>
                  <a:pt x="66040" y="52833"/>
                </a:lnTo>
                <a:lnTo>
                  <a:pt x="66040" y="26416"/>
                </a:lnTo>
                <a:lnTo>
                  <a:pt x="79248" y="26416"/>
                </a:lnTo>
                <a:lnTo>
                  <a:pt x="79248" y="0"/>
                </a:lnTo>
                <a:close/>
              </a:path>
              <a:path w="584200" h="79375">
                <a:moveTo>
                  <a:pt x="504444" y="0"/>
                </a:moveTo>
                <a:lnTo>
                  <a:pt x="504444" y="79248"/>
                </a:lnTo>
                <a:lnTo>
                  <a:pt x="557273" y="52833"/>
                </a:lnTo>
                <a:lnTo>
                  <a:pt x="517654" y="52833"/>
                </a:lnTo>
                <a:lnTo>
                  <a:pt x="517654" y="26416"/>
                </a:lnTo>
                <a:lnTo>
                  <a:pt x="557276" y="26416"/>
                </a:lnTo>
                <a:lnTo>
                  <a:pt x="504444" y="0"/>
                </a:lnTo>
                <a:close/>
              </a:path>
              <a:path w="584200" h="79375">
                <a:moveTo>
                  <a:pt x="79248" y="26416"/>
                </a:moveTo>
                <a:lnTo>
                  <a:pt x="66040" y="26416"/>
                </a:lnTo>
                <a:lnTo>
                  <a:pt x="66040" y="52833"/>
                </a:lnTo>
                <a:lnTo>
                  <a:pt x="79248" y="52833"/>
                </a:lnTo>
                <a:lnTo>
                  <a:pt x="79248" y="26416"/>
                </a:lnTo>
                <a:close/>
              </a:path>
              <a:path w="584200" h="79375">
                <a:moveTo>
                  <a:pt x="504444" y="26416"/>
                </a:moveTo>
                <a:lnTo>
                  <a:pt x="79248" y="26416"/>
                </a:lnTo>
                <a:lnTo>
                  <a:pt x="79248" y="52833"/>
                </a:lnTo>
                <a:lnTo>
                  <a:pt x="504444" y="52833"/>
                </a:lnTo>
                <a:lnTo>
                  <a:pt x="504444" y="26416"/>
                </a:lnTo>
                <a:close/>
              </a:path>
              <a:path w="584200" h="79375">
                <a:moveTo>
                  <a:pt x="557276" y="26416"/>
                </a:moveTo>
                <a:lnTo>
                  <a:pt x="517654" y="26416"/>
                </a:lnTo>
                <a:lnTo>
                  <a:pt x="517654" y="52833"/>
                </a:lnTo>
                <a:lnTo>
                  <a:pt x="557273" y="52833"/>
                </a:lnTo>
                <a:lnTo>
                  <a:pt x="583692" y="39624"/>
                </a:lnTo>
                <a:lnTo>
                  <a:pt x="557276" y="26416"/>
                </a:lnTo>
                <a:close/>
              </a:path>
            </a:pathLst>
          </a:custGeom>
          <a:solidFill>
            <a:srgbClr val="385D89"/>
          </a:solidFill>
        </p:spPr>
        <p:txBody>
          <a:bodyPr wrap="square" lIns="0" tIns="0" rIns="0" bIns="0" rtlCol="0"/>
          <a:lstStyle/>
          <a:p>
            <a:endParaRPr/>
          </a:p>
        </p:txBody>
      </p:sp>
      <p:sp>
        <p:nvSpPr>
          <p:cNvPr id="12" name="object 4">
            <a:extLst>
              <a:ext uri="{FF2B5EF4-FFF2-40B4-BE49-F238E27FC236}">
                <a16:creationId xmlns:a16="http://schemas.microsoft.com/office/drawing/2014/main" id="{3FCA6F26-00EE-6072-AB12-E664B85213E2}"/>
              </a:ext>
            </a:extLst>
          </p:cNvPr>
          <p:cNvSpPr txBox="1"/>
          <p:nvPr/>
        </p:nvSpPr>
        <p:spPr>
          <a:xfrm>
            <a:off x="9268418" y="955097"/>
            <a:ext cx="2292858" cy="282770"/>
          </a:xfrm>
          <a:prstGeom prst="rect">
            <a:avLst/>
          </a:prstGeom>
          <a:solidFill>
            <a:srgbClr val="92D050"/>
          </a:solidFill>
          <a:ln w="26424">
            <a:solidFill>
              <a:srgbClr val="385D89"/>
            </a:solidFill>
          </a:ln>
        </p:spPr>
        <p:txBody>
          <a:bodyPr vert="horz" wrap="square" lIns="0" tIns="51435" rIns="0" bIns="0" rtlCol="0">
            <a:spAutoFit/>
          </a:bodyPr>
          <a:lstStyle/>
          <a:p>
            <a:pPr marL="251460" marR="240665" indent="176530">
              <a:lnSpc>
                <a:spcPts val="1839"/>
              </a:lnSpc>
              <a:spcBef>
                <a:spcPts val="405"/>
              </a:spcBef>
            </a:pPr>
            <a:r>
              <a:rPr lang="en-US" dirty="0">
                <a:solidFill>
                  <a:srgbClr val="FFFFFF"/>
                </a:solidFill>
                <a:latin typeface="Arial"/>
                <a:cs typeface="Arial"/>
              </a:rPr>
              <a:t>Registers</a:t>
            </a:r>
            <a:endParaRPr dirty="0">
              <a:latin typeface="Arial"/>
              <a:cs typeface="Arial"/>
            </a:endParaRPr>
          </a:p>
        </p:txBody>
      </p:sp>
      <p:sp>
        <p:nvSpPr>
          <p:cNvPr id="13" name="object 5">
            <a:extLst>
              <a:ext uri="{FF2B5EF4-FFF2-40B4-BE49-F238E27FC236}">
                <a16:creationId xmlns:a16="http://schemas.microsoft.com/office/drawing/2014/main" id="{9B804179-0F63-EF06-3FF7-C030AC777063}"/>
              </a:ext>
            </a:extLst>
          </p:cNvPr>
          <p:cNvSpPr/>
          <p:nvPr/>
        </p:nvSpPr>
        <p:spPr>
          <a:xfrm>
            <a:off x="8684769" y="1100583"/>
            <a:ext cx="584200" cy="79375"/>
          </a:xfrm>
          <a:custGeom>
            <a:avLst/>
            <a:gdLst/>
            <a:ahLst/>
            <a:cxnLst/>
            <a:rect l="l" t="t" r="r" b="b"/>
            <a:pathLst>
              <a:path w="584200" h="79375">
                <a:moveTo>
                  <a:pt x="79248" y="0"/>
                </a:moveTo>
                <a:lnTo>
                  <a:pt x="0" y="39624"/>
                </a:lnTo>
                <a:lnTo>
                  <a:pt x="79248" y="79248"/>
                </a:lnTo>
                <a:lnTo>
                  <a:pt x="79248" y="52833"/>
                </a:lnTo>
                <a:lnTo>
                  <a:pt x="66040" y="52833"/>
                </a:lnTo>
                <a:lnTo>
                  <a:pt x="66040" y="26416"/>
                </a:lnTo>
                <a:lnTo>
                  <a:pt x="79248" y="26416"/>
                </a:lnTo>
                <a:lnTo>
                  <a:pt x="79248" y="0"/>
                </a:lnTo>
                <a:close/>
              </a:path>
              <a:path w="584200" h="79375">
                <a:moveTo>
                  <a:pt x="504444" y="0"/>
                </a:moveTo>
                <a:lnTo>
                  <a:pt x="504444" y="79248"/>
                </a:lnTo>
                <a:lnTo>
                  <a:pt x="557273" y="52833"/>
                </a:lnTo>
                <a:lnTo>
                  <a:pt x="517654" y="52833"/>
                </a:lnTo>
                <a:lnTo>
                  <a:pt x="517654" y="26416"/>
                </a:lnTo>
                <a:lnTo>
                  <a:pt x="557276" y="26416"/>
                </a:lnTo>
                <a:lnTo>
                  <a:pt x="504444" y="0"/>
                </a:lnTo>
                <a:close/>
              </a:path>
              <a:path w="584200" h="79375">
                <a:moveTo>
                  <a:pt x="79248" y="26416"/>
                </a:moveTo>
                <a:lnTo>
                  <a:pt x="66040" y="26416"/>
                </a:lnTo>
                <a:lnTo>
                  <a:pt x="66040" y="52833"/>
                </a:lnTo>
                <a:lnTo>
                  <a:pt x="79248" y="52833"/>
                </a:lnTo>
                <a:lnTo>
                  <a:pt x="79248" y="26416"/>
                </a:lnTo>
                <a:close/>
              </a:path>
              <a:path w="584200" h="79375">
                <a:moveTo>
                  <a:pt x="504444" y="26416"/>
                </a:moveTo>
                <a:lnTo>
                  <a:pt x="79248" y="26416"/>
                </a:lnTo>
                <a:lnTo>
                  <a:pt x="79248" y="52833"/>
                </a:lnTo>
                <a:lnTo>
                  <a:pt x="504444" y="52833"/>
                </a:lnTo>
                <a:lnTo>
                  <a:pt x="504444" y="26416"/>
                </a:lnTo>
                <a:close/>
              </a:path>
              <a:path w="584200" h="79375">
                <a:moveTo>
                  <a:pt x="557276" y="26416"/>
                </a:moveTo>
                <a:lnTo>
                  <a:pt x="517654" y="26416"/>
                </a:lnTo>
                <a:lnTo>
                  <a:pt x="517654" y="52833"/>
                </a:lnTo>
                <a:lnTo>
                  <a:pt x="557273" y="52833"/>
                </a:lnTo>
                <a:lnTo>
                  <a:pt x="583692" y="39624"/>
                </a:lnTo>
                <a:lnTo>
                  <a:pt x="557276" y="26416"/>
                </a:lnTo>
                <a:close/>
              </a:path>
            </a:pathLst>
          </a:custGeom>
          <a:solidFill>
            <a:srgbClr val="385D89"/>
          </a:solidFill>
        </p:spPr>
        <p:txBody>
          <a:bodyPr wrap="square" lIns="0" tIns="0" rIns="0" bIns="0" rtlCol="0"/>
          <a:lstStyle/>
          <a:p>
            <a:endParaRPr/>
          </a:p>
        </p:txBody>
      </p:sp>
    </p:spTree>
    <p:extLst>
      <p:ext uri="{BB962C8B-B14F-4D97-AF65-F5344CB8AC3E}">
        <p14:creationId xmlns:p14="http://schemas.microsoft.com/office/powerpoint/2010/main" val="17785362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85800" y="3009450"/>
            <a:ext cx="8903335" cy="3296287"/>
          </a:xfrm>
          <a:prstGeom prst="rect">
            <a:avLst/>
          </a:prstGeom>
        </p:spPr>
        <p:txBody>
          <a:bodyPr vert="horz" wrap="square" lIns="0" tIns="12700" rIns="0" bIns="0" rtlCol="0">
            <a:spAutoFit/>
          </a:bodyPr>
          <a:lstStyle/>
          <a:p>
            <a:pPr marL="12700">
              <a:spcBef>
                <a:spcPts val="100"/>
              </a:spcBef>
            </a:pPr>
            <a:r>
              <a:rPr sz="2400" spc="-10" dirty="0">
                <a:latin typeface="Arial"/>
                <a:cs typeface="Arial"/>
              </a:rPr>
              <a:t>Example:</a:t>
            </a:r>
            <a:endParaRPr sz="2400" dirty="0">
              <a:latin typeface="Arial"/>
              <a:cs typeface="Arial"/>
            </a:endParaRPr>
          </a:p>
          <a:p>
            <a:pPr>
              <a:spcBef>
                <a:spcPts val="105"/>
              </a:spcBef>
            </a:pPr>
            <a:endParaRPr sz="2400" dirty="0">
              <a:latin typeface="Arial"/>
              <a:cs typeface="Arial"/>
            </a:endParaRPr>
          </a:p>
          <a:p>
            <a:pPr marL="12700">
              <a:tabLst>
                <a:tab pos="286385" algn="l"/>
                <a:tab pos="1512570" algn="l"/>
                <a:tab pos="2196465" algn="l"/>
                <a:tab pos="4928235" algn="l"/>
                <a:tab pos="5473700" algn="l"/>
                <a:tab pos="5883275" algn="l"/>
                <a:tab pos="6156325" algn="l"/>
                <a:tab pos="7112000" algn="l"/>
                <a:tab pos="7522209" algn="l"/>
                <a:tab pos="8477885" algn="l"/>
              </a:tabLst>
            </a:pPr>
            <a:r>
              <a:rPr u="sng" dirty="0">
                <a:uFill>
                  <a:solidFill>
                    <a:srgbClr val="000000"/>
                  </a:solidFill>
                </a:uFill>
                <a:latin typeface="Times New Roman"/>
                <a:cs typeface="Times New Roman"/>
              </a:rPr>
              <a:t>	</a:t>
            </a:r>
            <a:r>
              <a:rPr b="1" spc="-10" dirty="0">
                <a:latin typeface="Courier New"/>
                <a:cs typeface="Courier New"/>
              </a:rPr>
              <a:t>global</a:t>
            </a:r>
            <a:r>
              <a:rPr u="sng" dirty="0">
                <a:uFill>
                  <a:solidFill>
                    <a:srgbClr val="000000"/>
                  </a:solidFill>
                </a:uFill>
                <a:latin typeface="Times New Roman"/>
                <a:cs typeface="Times New Roman"/>
              </a:rPr>
              <a:t>	</a:t>
            </a:r>
            <a:r>
              <a:rPr b="1" spc="-20" dirty="0">
                <a:latin typeface="Courier New"/>
                <a:cs typeface="Courier New"/>
              </a:rPr>
              <a:t>void</a:t>
            </a:r>
            <a:r>
              <a:rPr dirty="0">
                <a:latin typeface="Times New Roman"/>
                <a:cs typeface="Times New Roman"/>
              </a:rPr>
              <a:t>	</a:t>
            </a:r>
            <a:r>
              <a:rPr b="1" spc="-10" dirty="0">
                <a:latin typeface="Courier New"/>
                <a:cs typeface="Courier New"/>
              </a:rPr>
              <a:t>matmul_kernel(float</a:t>
            </a:r>
            <a:r>
              <a:rPr dirty="0">
                <a:latin typeface="Times New Roman"/>
                <a:cs typeface="Times New Roman"/>
              </a:rPr>
              <a:t>	</a:t>
            </a:r>
            <a:r>
              <a:rPr b="1" spc="-25" dirty="0">
                <a:latin typeface="Courier New"/>
                <a:cs typeface="Courier New"/>
              </a:rPr>
              <a:t>*C,</a:t>
            </a:r>
            <a:r>
              <a:rPr dirty="0">
                <a:latin typeface="Times New Roman"/>
                <a:cs typeface="Times New Roman"/>
              </a:rPr>
              <a:t>	</a:t>
            </a:r>
            <a:r>
              <a:rPr b="1" spc="-25" dirty="0">
                <a:latin typeface="Courier New"/>
                <a:cs typeface="Courier New"/>
              </a:rPr>
              <a:t>//</a:t>
            </a:r>
            <a:r>
              <a:rPr dirty="0">
                <a:latin typeface="Times New Roman"/>
                <a:cs typeface="Times New Roman"/>
              </a:rPr>
              <a:t>	</a:t>
            </a:r>
            <a:r>
              <a:rPr b="1" spc="-50" dirty="0">
                <a:latin typeface="Courier New"/>
                <a:cs typeface="Courier New"/>
              </a:rPr>
              <a:t>C</a:t>
            </a:r>
            <a:r>
              <a:rPr dirty="0">
                <a:latin typeface="Times New Roman"/>
                <a:cs typeface="Times New Roman"/>
              </a:rPr>
              <a:t>	</a:t>
            </a:r>
            <a:r>
              <a:rPr b="1" spc="-10" dirty="0">
                <a:latin typeface="Courier New"/>
                <a:cs typeface="Courier New"/>
              </a:rPr>
              <a:t>points</a:t>
            </a:r>
            <a:r>
              <a:rPr dirty="0">
                <a:latin typeface="Times New Roman"/>
                <a:cs typeface="Times New Roman"/>
              </a:rPr>
              <a:t>	</a:t>
            </a:r>
            <a:r>
              <a:rPr b="1" spc="-25" dirty="0">
                <a:latin typeface="Courier New"/>
                <a:cs typeface="Courier New"/>
              </a:rPr>
              <a:t>to</a:t>
            </a:r>
            <a:r>
              <a:rPr dirty="0">
                <a:latin typeface="Times New Roman"/>
                <a:cs typeface="Times New Roman"/>
              </a:rPr>
              <a:t>	</a:t>
            </a:r>
            <a:r>
              <a:rPr b="1" spc="-10" dirty="0">
                <a:latin typeface="Courier New"/>
                <a:cs typeface="Courier New"/>
              </a:rPr>
              <a:t>device</a:t>
            </a:r>
            <a:r>
              <a:rPr dirty="0">
                <a:latin typeface="Times New Roman"/>
                <a:cs typeface="Times New Roman"/>
              </a:rPr>
              <a:t>	</a:t>
            </a:r>
            <a:r>
              <a:rPr b="1" spc="-25" dirty="0">
                <a:latin typeface="Courier New"/>
                <a:cs typeface="Courier New"/>
              </a:rPr>
              <a:t>mem</a:t>
            </a:r>
            <a:endParaRPr dirty="0">
              <a:latin typeface="Courier New"/>
              <a:cs typeface="Courier New"/>
            </a:endParaRPr>
          </a:p>
          <a:p>
            <a:pPr marL="4080510" marR="34290">
              <a:lnSpc>
                <a:spcPct val="120000"/>
              </a:lnSpc>
              <a:spcBef>
                <a:spcPts val="5"/>
              </a:spcBef>
              <a:tabLst>
                <a:tab pos="4899025" algn="l"/>
                <a:tab pos="5445760" algn="l"/>
                <a:tab pos="5854700" algn="l"/>
                <a:tab pos="6129020" algn="l"/>
                <a:tab pos="7084059" algn="l"/>
                <a:tab pos="7493000" algn="l"/>
                <a:tab pos="8448675" algn="l"/>
              </a:tabLst>
            </a:pPr>
            <a:r>
              <a:rPr b="1" spc="-10" dirty="0">
                <a:latin typeface="Courier New"/>
                <a:cs typeface="Courier New"/>
              </a:rPr>
              <a:t>float</a:t>
            </a:r>
            <a:r>
              <a:rPr dirty="0">
                <a:latin typeface="Times New Roman"/>
                <a:cs typeface="Times New Roman"/>
              </a:rPr>
              <a:t>	</a:t>
            </a:r>
            <a:r>
              <a:rPr b="1" spc="-25" dirty="0">
                <a:latin typeface="Courier New"/>
                <a:cs typeface="Courier New"/>
              </a:rPr>
              <a:t>*A,</a:t>
            </a:r>
            <a:r>
              <a:rPr dirty="0">
                <a:latin typeface="Times New Roman"/>
                <a:cs typeface="Times New Roman"/>
              </a:rPr>
              <a:t>	</a:t>
            </a:r>
            <a:r>
              <a:rPr b="1" spc="-25" dirty="0">
                <a:latin typeface="Courier New"/>
                <a:cs typeface="Courier New"/>
              </a:rPr>
              <a:t>//</a:t>
            </a:r>
            <a:r>
              <a:rPr dirty="0">
                <a:latin typeface="Times New Roman"/>
                <a:cs typeface="Times New Roman"/>
              </a:rPr>
              <a:t>	</a:t>
            </a:r>
            <a:r>
              <a:rPr b="1" spc="-50" dirty="0">
                <a:latin typeface="Courier New"/>
                <a:cs typeface="Courier New"/>
              </a:rPr>
              <a:t>A</a:t>
            </a:r>
            <a:r>
              <a:rPr dirty="0">
                <a:latin typeface="Times New Roman"/>
                <a:cs typeface="Times New Roman"/>
              </a:rPr>
              <a:t>	</a:t>
            </a:r>
            <a:r>
              <a:rPr b="1" spc="-10" dirty="0">
                <a:latin typeface="Courier New"/>
                <a:cs typeface="Courier New"/>
              </a:rPr>
              <a:t>points</a:t>
            </a:r>
            <a:r>
              <a:rPr dirty="0">
                <a:latin typeface="Times New Roman"/>
                <a:cs typeface="Times New Roman"/>
              </a:rPr>
              <a:t>	</a:t>
            </a:r>
            <a:r>
              <a:rPr b="1" spc="-25" dirty="0">
                <a:latin typeface="Courier New"/>
                <a:cs typeface="Courier New"/>
              </a:rPr>
              <a:t>to</a:t>
            </a:r>
            <a:r>
              <a:rPr dirty="0">
                <a:latin typeface="Times New Roman"/>
                <a:cs typeface="Times New Roman"/>
              </a:rPr>
              <a:t>	</a:t>
            </a:r>
            <a:r>
              <a:rPr b="1" spc="-10" dirty="0">
                <a:latin typeface="Courier New"/>
                <a:cs typeface="Courier New"/>
              </a:rPr>
              <a:t>device</a:t>
            </a:r>
            <a:r>
              <a:rPr dirty="0">
                <a:latin typeface="Times New Roman"/>
                <a:cs typeface="Times New Roman"/>
              </a:rPr>
              <a:t>	</a:t>
            </a:r>
            <a:r>
              <a:rPr b="1" spc="-25" dirty="0">
                <a:latin typeface="Courier New"/>
                <a:cs typeface="Courier New"/>
              </a:rPr>
              <a:t>mem</a:t>
            </a:r>
            <a:r>
              <a:rPr spc="-25" dirty="0">
                <a:latin typeface="Times New Roman"/>
                <a:cs typeface="Times New Roman"/>
              </a:rPr>
              <a:t> </a:t>
            </a:r>
            <a:r>
              <a:rPr b="1" spc="-10" dirty="0">
                <a:latin typeface="Courier New"/>
                <a:cs typeface="Courier New"/>
              </a:rPr>
              <a:t>float</a:t>
            </a:r>
            <a:r>
              <a:rPr dirty="0">
                <a:latin typeface="Times New Roman"/>
                <a:cs typeface="Times New Roman"/>
              </a:rPr>
              <a:t>	</a:t>
            </a:r>
            <a:r>
              <a:rPr b="1" spc="-25" dirty="0">
                <a:latin typeface="Courier New"/>
                <a:cs typeface="Courier New"/>
              </a:rPr>
              <a:t>*B)</a:t>
            </a:r>
            <a:r>
              <a:rPr dirty="0">
                <a:latin typeface="Times New Roman"/>
                <a:cs typeface="Times New Roman"/>
              </a:rPr>
              <a:t>	</a:t>
            </a:r>
            <a:r>
              <a:rPr b="1" spc="-25" dirty="0">
                <a:latin typeface="Courier New"/>
                <a:cs typeface="Courier New"/>
              </a:rPr>
              <a:t>//</a:t>
            </a:r>
            <a:r>
              <a:rPr dirty="0">
                <a:latin typeface="Times New Roman"/>
                <a:cs typeface="Times New Roman"/>
              </a:rPr>
              <a:t>	</a:t>
            </a:r>
            <a:r>
              <a:rPr b="1" spc="-50" dirty="0">
                <a:latin typeface="Courier New"/>
                <a:cs typeface="Courier New"/>
              </a:rPr>
              <a:t>B</a:t>
            </a:r>
            <a:r>
              <a:rPr dirty="0">
                <a:latin typeface="Times New Roman"/>
                <a:cs typeface="Times New Roman"/>
              </a:rPr>
              <a:t>	</a:t>
            </a:r>
            <a:r>
              <a:rPr b="1" spc="-10" dirty="0">
                <a:latin typeface="Courier New"/>
                <a:cs typeface="Courier New"/>
              </a:rPr>
              <a:t>points</a:t>
            </a:r>
            <a:r>
              <a:rPr dirty="0">
                <a:latin typeface="Times New Roman"/>
                <a:cs typeface="Times New Roman"/>
              </a:rPr>
              <a:t>	</a:t>
            </a:r>
            <a:r>
              <a:rPr b="1" spc="-25" dirty="0">
                <a:latin typeface="Courier New"/>
                <a:cs typeface="Courier New"/>
              </a:rPr>
              <a:t>to</a:t>
            </a:r>
            <a:r>
              <a:rPr dirty="0">
                <a:latin typeface="Times New Roman"/>
                <a:cs typeface="Times New Roman"/>
              </a:rPr>
              <a:t>	</a:t>
            </a:r>
            <a:r>
              <a:rPr b="1" spc="-10" dirty="0">
                <a:latin typeface="Courier New"/>
                <a:cs typeface="Courier New"/>
              </a:rPr>
              <a:t>device</a:t>
            </a:r>
            <a:r>
              <a:rPr dirty="0">
                <a:latin typeface="Times New Roman"/>
                <a:cs typeface="Times New Roman"/>
              </a:rPr>
              <a:t>	</a:t>
            </a:r>
            <a:r>
              <a:rPr b="1" spc="-25" dirty="0">
                <a:latin typeface="Courier New"/>
                <a:cs typeface="Courier New"/>
              </a:rPr>
              <a:t>mem</a:t>
            </a:r>
            <a:endParaRPr dirty="0">
              <a:latin typeface="Courier New"/>
              <a:cs typeface="Courier New"/>
            </a:endParaRPr>
          </a:p>
          <a:p>
            <a:pPr marL="12700"/>
            <a:r>
              <a:rPr dirty="0">
                <a:latin typeface="Arial"/>
                <a:cs typeface="Arial"/>
              </a:rPr>
              <a:t>Device</a:t>
            </a:r>
            <a:r>
              <a:rPr spc="-20" dirty="0">
                <a:latin typeface="Arial"/>
                <a:cs typeface="Arial"/>
              </a:rPr>
              <a:t> </a:t>
            </a:r>
            <a:r>
              <a:rPr spc="-10" dirty="0">
                <a:latin typeface="Arial"/>
                <a:cs typeface="Arial"/>
              </a:rPr>
              <a:t>memory</a:t>
            </a:r>
            <a:endParaRPr dirty="0">
              <a:latin typeface="Arial"/>
              <a:cs typeface="Arial"/>
            </a:endParaRPr>
          </a:p>
          <a:p>
            <a:pPr marL="193675" indent="-180975">
              <a:spcBef>
                <a:spcPts val="434"/>
              </a:spcBef>
              <a:buClr>
                <a:srgbClr val="4F80BC"/>
              </a:buClr>
              <a:buSzPct val="83333"/>
              <a:buFont typeface="Arial"/>
              <a:buChar char="•"/>
              <a:tabLst>
                <a:tab pos="193675" algn="l"/>
              </a:tabLst>
            </a:pPr>
            <a:r>
              <a:rPr b="1" dirty="0">
                <a:latin typeface="Arial"/>
                <a:cs typeface="Arial"/>
              </a:rPr>
              <a:t>Allocated</a:t>
            </a:r>
            <a:r>
              <a:rPr b="1" spc="25" dirty="0">
                <a:latin typeface="Arial"/>
                <a:cs typeface="Arial"/>
              </a:rPr>
              <a:t> </a:t>
            </a:r>
            <a:r>
              <a:rPr b="1" dirty="0">
                <a:latin typeface="Arial"/>
                <a:cs typeface="Arial"/>
              </a:rPr>
              <a:t>by</a:t>
            </a:r>
            <a:r>
              <a:rPr b="1" spc="-30" dirty="0">
                <a:latin typeface="Arial"/>
                <a:cs typeface="Arial"/>
              </a:rPr>
              <a:t> </a:t>
            </a:r>
            <a:r>
              <a:rPr b="1" dirty="0">
                <a:latin typeface="Arial"/>
                <a:cs typeface="Arial"/>
              </a:rPr>
              <a:t>the</a:t>
            </a:r>
            <a:r>
              <a:rPr b="1" spc="-20" dirty="0">
                <a:latin typeface="Arial"/>
                <a:cs typeface="Arial"/>
              </a:rPr>
              <a:t> </a:t>
            </a:r>
            <a:r>
              <a:rPr b="1" dirty="0">
                <a:latin typeface="Arial"/>
                <a:cs typeface="Arial"/>
              </a:rPr>
              <a:t>host</a:t>
            </a:r>
            <a:r>
              <a:rPr b="1" spc="-35" dirty="0">
                <a:latin typeface="Arial"/>
                <a:cs typeface="Arial"/>
              </a:rPr>
              <a:t> </a:t>
            </a:r>
            <a:r>
              <a:rPr b="1" dirty="0">
                <a:latin typeface="Arial"/>
                <a:cs typeface="Arial"/>
              </a:rPr>
              <a:t>program</a:t>
            </a:r>
            <a:r>
              <a:rPr b="1" spc="-15" dirty="0">
                <a:latin typeface="Arial"/>
                <a:cs typeface="Arial"/>
              </a:rPr>
              <a:t> </a:t>
            </a:r>
            <a:r>
              <a:rPr b="1" dirty="0">
                <a:latin typeface="Arial"/>
                <a:cs typeface="Arial"/>
              </a:rPr>
              <a:t>using</a:t>
            </a:r>
            <a:r>
              <a:rPr b="1" spc="-10" dirty="0">
                <a:latin typeface="Arial"/>
                <a:cs typeface="Arial"/>
              </a:rPr>
              <a:t> </a:t>
            </a:r>
            <a:r>
              <a:rPr spc="-10" dirty="0">
                <a:latin typeface="Arial"/>
                <a:cs typeface="Arial"/>
              </a:rPr>
              <a:t>cudaMalloc()</a:t>
            </a:r>
            <a:endParaRPr dirty="0">
              <a:latin typeface="Arial"/>
              <a:cs typeface="Arial"/>
            </a:endParaRPr>
          </a:p>
          <a:p>
            <a:pPr marL="193675" indent="-180975">
              <a:spcBef>
                <a:spcPts val="430"/>
              </a:spcBef>
              <a:buClr>
                <a:srgbClr val="4F80BC"/>
              </a:buClr>
              <a:buSzPct val="83333"/>
              <a:buFont typeface="Arial"/>
              <a:buChar char="•"/>
              <a:tabLst>
                <a:tab pos="193675" algn="l"/>
              </a:tabLst>
            </a:pPr>
            <a:r>
              <a:rPr b="1" dirty="0">
                <a:latin typeface="Arial"/>
                <a:cs typeface="Arial"/>
              </a:rPr>
              <a:t>Initialized</a:t>
            </a:r>
            <a:r>
              <a:rPr b="1" spc="-35" dirty="0">
                <a:latin typeface="Arial"/>
                <a:cs typeface="Arial"/>
              </a:rPr>
              <a:t> </a:t>
            </a:r>
            <a:r>
              <a:rPr b="1" dirty="0">
                <a:latin typeface="Arial"/>
                <a:cs typeface="Arial"/>
              </a:rPr>
              <a:t>by</a:t>
            </a:r>
            <a:r>
              <a:rPr b="1" spc="-15" dirty="0">
                <a:latin typeface="Arial"/>
                <a:cs typeface="Arial"/>
              </a:rPr>
              <a:t> </a:t>
            </a:r>
            <a:r>
              <a:rPr b="1" dirty="0">
                <a:latin typeface="Arial"/>
                <a:cs typeface="Arial"/>
              </a:rPr>
              <a:t>the</a:t>
            </a:r>
            <a:r>
              <a:rPr b="1" spc="-20" dirty="0">
                <a:latin typeface="Arial"/>
                <a:cs typeface="Arial"/>
              </a:rPr>
              <a:t> </a:t>
            </a:r>
            <a:r>
              <a:rPr b="1" dirty="0">
                <a:latin typeface="Arial"/>
                <a:cs typeface="Arial"/>
              </a:rPr>
              <a:t>host</a:t>
            </a:r>
            <a:r>
              <a:rPr b="1" spc="-15" dirty="0">
                <a:latin typeface="Arial"/>
                <a:cs typeface="Arial"/>
              </a:rPr>
              <a:t> </a:t>
            </a:r>
            <a:r>
              <a:rPr b="1" dirty="0">
                <a:latin typeface="Arial"/>
                <a:cs typeface="Arial"/>
              </a:rPr>
              <a:t>program</a:t>
            </a:r>
            <a:r>
              <a:rPr b="1" spc="-15" dirty="0">
                <a:latin typeface="Arial"/>
                <a:cs typeface="Arial"/>
              </a:rPr>
              <a:t> </a:t>
            </a:r>
            <a:r>
              <a:rPr b="1" dirty="0">
                <a:latin typeface="Arial"/>
                <a:cs typeface="Arial"/>
              </a:rPr>
              <a:t>using</a:t>
            </a:r>
            <a:r>
              <a:rPr b="1" spc="-10" dirty="0">
                <a:latin typeface="Arial"/>
                <a:cs typeface="Arial"/>
              </a:rPr>
              <a:t> </a:t>
            </a:r>
            <a:r>
              <a:rPr dirty="0">
                <a:latin typeface="Arial"/>
                <a:cs typeface="Arial"/>
              </a:rPr>
              <a:t>cudaMemcpy()</a:t>
            </a:r>
            <a:r>
              <a:rPr spc="35" dirty="0">
                <a:latin typeface="Arial"/>
                <a:cs typeface="Arial"/>
              </a:rPr>
              <a:t> </a:t>
            </a:r>
            <a:r>
              <a:rPr b="1" dirty="0">
                <a:latin typeface="Arial"/>
                <a:cs typeface="Arial"/>
              </a:rPr>
              <a:t>or</a:t>
            </a:r>
            <a:r>
              <a:rPr b="1" spc="-25" dirty="0">
                <a:latin typeface="Arial"/>
                <a:cs typeface="Arial"/>
              </a:rPr>
              <a:t> </a:t>
            </a:r>
            <a:r>
              <a:rPr b="1" dirty="0">
                <a:latin typeface="Arial"/>
                <a:cs typeface="Arial"/>
              </a:rPr>
              <a:t>previous</a:t>
            </a:r>
            <a:r>
              <a:rPr b="1" spc="25" dirty="0">
                <a:latin typeface="Arial"/>
                <a:cs typeface="Arial"/>
              </a:rPr>
              <a:t> </a:t>
            </a:r>
            <a:r>
              <a:rPr b="1" spc="-10" dirty="0">
                <a:latin typeface="Arial"/>
                <a:cs typeface="Arial"/>
              </a:rPr>
              <a:t>kernels</a:t>
            </a:r>
            <a:endParaRPr dirty="0">
              <a:latin typeface="Arial"/>
              <a:cs typeface="Arial"/>
            </a:endParaRPr>
          </a:p>
          <a:p>
            <a:pPr marL="193675" indent="-180975">
              <a:spcBef>
                <a:spcPts val="434"/>
              </a:spcBef>
              <a:buClr>
                <a:srgbClr val="4F80BC"/>
              </a:buClr>
              <a:buSzPct val="83333"/>
              <a:buChar char="•"/>
              <a:tabLst>
                <a:tab pos="193675" algn="l"/>
              </a:tabLst>
            </a:pPr>
            <a:r>
              <a:rPr dirty="0">
                <a:latin typeface="Arial"/>
                <a:cs typeface="Arial"/>
              </a:rPr>
              <a:t>Persistent</a:t>
            </a:r>
            <a:r>
              <a:rPr spc="-25" dirty="0">
                <a:latin typeface="Arial"/>
                <a:cs typeface="Arial"/>
              </a:rPr>
              <a:t> </a:t>
            </a:r>
            <a:r>
              <a:rPr dirty="0">
                <a:latin typeface="Arial"/>
                <a:cs typeface="Arial"/>
              </a:rPr>
              <a:t>=</a:t>
            </a:r>
            <a:r>
              <a:rPr spc="-15" dirty="0">
                <a:latin typeface="Arial"/>
                <a:cs typeface="Arial"/>
              </a:rPr>
              <a:t> </a:t>
            </a:r>
            <a:r>
              <a:rPr dirty="0">
                <a:latin typeface="Arial"/>
                <a:cs typeface="Arial"/>
              </a:rPr>
              <a:t>the</a:t>
            </a:r>
            <a:r>
              <a:rPr spc="-15" dirty="0">
                <a:latin typeface="Arial"/>
                <a:cs typeface="Arial"/>
              </a:rPr>
              <a:t> </a:t>
            </a:r>
            <a:r>
              <a:rPr dirty="0">
                <a:latin typeface="Arial"/>
                <a:cs typeface="Arial"/>
              </a:rPr>
              <a:t>values</a:t>
            </a:r>
            <a:r>
              <a:rPr spc="-5" dirty="0">
                <a:latin typeface="Arial"/>
                <a:cs typeface="Arial"/>
              </a:rPr>
              <a:t> </a:t>
            </a:r>
            <a:r>
              <a:rPr dirty="0">
                <a:latin typeface="Arial"/>
                <a:cs typeface="Arial"/>
              </a:rPr>
              <a:t>are</a:t>
            </a:r>
            <a:r>
              <a:rPr spc="-25" dirty="0">
                <a:latin typeface="Arial"/>
                <a:cs typeface="Arial"/>
              </a:rPr>
              <a:t> </a:t>
            </a:r>
            <a:r>
              <a:rPr dirty="0">
                <a:latin typeface="Arial"/>
                <a:cs typeface="Arial"/>
              </a:rPr>
              <a:t>retained</a:t>
            </a:r>
            <a:r>
              <a:rPr spc="-15" dirty="0">
                <a:latin typeface="Arial"/>
                <a:cs typeface="Arial"/>
              </a:rPr>
              <a:t> </a:t>
            </a:r>
            <a:r>
              <a:rPr dirty="0">
                <a:latin typeface="Arial"/>
                <a:cs typeface="Arial"/>
              </a:rPr>
              <a:t>between</a:t>
            </a:r>
            <a:r>
              <a:rPr spc="40" dirty="0">
                <a:latin typeface="Arial"/>
                <a:cs typeface="Arial"/>
              </a:rPr>
              <a:t> </a:t>
            </a:r>
            <a:r>
              <a:rPr spc="-10" dirty="0">
                <a:latin typeface="Arial"/>
                <a:cs typeface="Arial"/>
              </a:rPr>
              <a:t>kernels</a:t>
            </a:r>
            <a:endParaRPr dirty="0">
              <a:latin typeface="Arial"/>
              <a:cs typeface="Arial"/>
            </a:endParaRPr>
          </a:p>
          <a:p>
            <a:pPr marL="193675" indent="-180975">
              <a:spcBef>
                <a:spcPts val="430"/>
              </a:spcBef>
              <a:buClr>
                <a:srgbClr val="4F80BC"/>
              </a:buClr>
              <a:buSzPct val="83333"/>
              <a:buFont typeface="Arial"/>
              <a:buChar char="•"/>
              <a:tabLst>
                <a:tab pos="193675" algn="l"/>
              </a:tabLst>
            </a:pPr>
            <a:r>
              <a:rPr b="1" dirty="0">
                <a:solidFill>
                  <a:srgbClr val="C00000"/>
                </a:solidFill>
                <a:latin typeface="Arial"/>
                <a:cs typeface="Arial"/>
              </a:rPr>
              <a:t>Not</a:t>
            </a:r>
            <a:r>
              <a:rPr b="1" spc="-20" dirty="0">
                <a:solidFill>
                  <a:srgbClr val="C00000"/>
                </a:solidFill>
                <a:latin typeface="Arial"/>
                <a:cs typeface="Arial"/>
              </a:rPr>
              <a:t> </a:t>
            </a:r>
            <a:r>
              <a:rPr b="1" dirty="0">
                <a:solidFill>
                  <a:srgbClr val="C00000"/>
                </a:solidFill>
                <a:latin typeface="Arial"/>
                <a:cs typeface="Arial"/>
              </a:rPr>
              <a:t>coherent</a:t>
            </a:r>
            <a:r>
              <a:rPr dirty="0">
                <a:latin typeface="Arial"/>
                <a:cs typeface="Arial"/>
              </a:rPr>
              <a:t>,</a:t>
            </a:r>
            <a:r>
              <a:rPr spc="-15" dirty="0">
                <a:latin typeface="Arial"/>
                <a:cs typeface="Arial"/>
              </a:rPr>
              <a:t> </a:t>
            </a:r>
            <a:r>
              <a:rPr b="1" dirty="0">
                <a:latin typeface="Arial"/>
                <a:cs typeface="Arial"/>
              </a:rPr>
              <a:t>writes</a:t>
            </a:r>
            <a:r>
              <a:rPr b="1" spc="-50" dirty="0">
                <a:latin typeface="Arial"/>
                <a:cs typeface="Arial"/>
              </a:rPr>
              <a:t> </a:t>
            </a:r>
            <a:r>
              <a:rPr dirty="0">
                <a:latin typeface="Arial"/>
                <a:cs typeface="Arial"/>
              </a:rPr>
              <a:t>by</a:t>
            </a:r>
            <a:r>
              <a:rPr spc="-5" dirty="0">
                <a:latin typeface="Arial"/>
                <a:cs typeface="Arial"/>
              </a:rPr>
              <a:t> </a:t>
            </a:r>
            <a:r>
              <a:rPr dirty="0">
                <a:latin typeface="Arial"/>
                <a:cs typeface="Arial"/>
              </a:rPr>
              <a:t>other</a:t>
            </a:r>
            <a:r>
              <a:rPr spc="5" dirty="0">
                <a:latin typeface="Arial"/>
                <a:cs typeface="Arial"/>
              </a:rPr>
              <a:t> </a:t>
            </a:r>
            <a:r>
              <a:rPr dirty="0">
                <a:latin typeface="Arial"/>
                <a:cs typeface="Arial"/>
              </a:rPr>
              <a:t>threads might</a:t>
            </a:r>
            <a:r>
              <a:rPr spc="5" dirty="0">
                <a:latin typeface="Arial"/>
                <a:cs typeface="Arial"/>
              </a:rPr>
              <a:t> </a:t>
            </a:r>
            <a:r>
              <a:rPr dirty="0">
                <a:latin typeface="Arial"/>
                <a:cs typeface="Arial"/>
              </a:rPr>
              <a:t>not</a:t>
            </a:r>
            <a:r>
              <a:rPr spc="5" dirty="0">
                <a:latin typeface="Arial"/>
                <a:cs typeface="Arial"/>
              </a:rPr>
              <a:t> </a:t>
            </a:r>
            <a:r>
              <a:rPr dirty="0">
                <a:latin typeface="Arial"/>
                <a:cs typeface="Arial"/>
              </a:rPr>
              <a:t>be</a:t>
            </a:r>
            <a:r>
              <a:rPr spc="-20" dirty="0">
                <a:latin typeface="Arial"/>
                <a:cs typeface="Arial"/>
              </a:rPr>
              <a:t> </a:t>
            </a:r>
            <a:r>
              <a:rPr dirty="0">
                <a:latin typeface="Arial"/>
                <a:cs typeface="Arial"/>
              </a:rPr>
              <a:t>visible</a:t>
            </a:r>
            <a:r>
              <a:rPr spc="-60" dirty="0">
                <a:latin typeface="Arial"/>
                <a:cs typeface="Arial"/>
              </a:rPr>
              <a:t> </a:t>
            </a:r>
            <a:r>
              <a:rPr b="1" dirty="0">
                <a:solidFill>
                  <a:srgbClr val="C00000"/>
                </a:solidFill>
                <a:latin typeface="Arial"/>
                <a:cs typeface="Arial"/>
              </a:rPr>
              <a:t>until</a:t>
            </a:r>
            <a:r>
              <a:rPr b="1" spc="-15" dirty="0">
                <a:solidFill>
                  <a:srgbClr val="C00000"/>
                </a:solidFill>
                <a:latin typeface="Arial"/>
                <a:cs typeface="Arial"/>
              </a:rPr>
              <a:t> </a:t>
            </a:r>
            <a:r>
              <a:rPr b="1" dirty="0">
                <a:solidFill>
                  <a:srgbClr val="C00000"/>
                </a:solidFill>
                <a:latin typeface="Arial"/>
                <a:cs typeface="Arial"/>
              </a:rPr>
              <a:t>kernel</a:t>
            </a:r>
            <a:r>
              <a:rPr b="1" spc="-5" dirty="0">
                <a:solidFill>
                  <a:srgbClr val="C00000"/>
                </a:solidFill>
                <a:latin typeface="Arial"/>
                <a:cs typeface="Arial"/>
              </a:rPr>
              <a:t> </a:t>
            </a:r>
            <a:r>
              <a:rPr b="1" dirty="0">
                <a:solidFill>
                  <a:srgbClr val="C00000"/>
                </a:solidFill>
                <a:latin typeface="Arial"/>
                <a:cs typeface="Arial"/>
              </a:rPr>
              <a:t>has</a:t>
            </a:r>
            <a:r>
              <a:rPr b="1" spc="-15" dirty="0">
                <a:solidFill>
                  <a:srgbClr val="C00000"/>
                </a:solidFill>
                <a:latin typeface="Arial"/>
                <a:cs typeface="Arial"/>
              </a:rPr>
              <a:t> </a:t>
            </a:r>
            <a:r>
              <a:rPr b="1" spc="-10" dirty="0">
                <a:solidFill>
                  <a:srgbClr val="C00000"/>
                </a:solidFill>
                <a:latin typeface="Arial"/>
                <a:cs typeface="Arial"/>
              </a:rPr>
              <a:t>finished</a:t>
            </a:r>
            <a:r>
              <a:rPr spc="-10" dirty="0">
                <a:latin typeface="Arial"/>
                <a:cs typeface="Arial"/>
              </a:rPr>
              <a:t>!</a:t>
            </a:r>
            <a:endParaRPr dirty="0">
              <a:latin typeface="Arial"/>
              <a:cs typeface="Arial"/>
            </a:endParaRPr>
          </a:p>
        </p:txBody>
      </p:sp>
      <p:sp>
        <p:nvSpPr>
          <p:cNvPr id="4" name="object 4"/>
          <p:cNvSpPr txBox="1"/>
          <p:nvPr/>
        </p:nvSpPr>
        <p:spPr>
          <a:xfrm>
            <a:off x="6698360" y="2352175"/>
            <a:ext cx="781050" cy="258404"/>
          </a:xfrm>
          <a:prstGeom prst="rect">
            <a:avLst/>
          </a:prstGeom>
        </p:spPr>
        <p:txBody>
          <a:bodyPr vert="horz" wrap="square" lIns="0" tIns="12065" rIns="0" bIns="0" rtlCol="0">
            <a:spAutoFit/>
          </a:bodyPr>
          <a:lstStyle/>
          <a:p>
            <a:pPr marL="12700">
              <a:spcBef>
                <a:spcPts val="95"/>
              </a:spcBef>
            </a:pPr>
            <a:r>
              <a:rPr sz="1600" dirty="0">
                <a:latin typeface="Arial"/>
                <a:cs typeface="Arial"/>
              </a:rPr>
              <a:t>Kernel</a:t>
            </a:r>
            <a:r>
              <a:rPr sz="1600" spc="-50" dirty="0">
                <a:latin typeface="Arial"/>
                <a:cs typeface="Arial"/>
              </a:rPr>
              <a:t> 1</a:t>
            </a:r>
            <a:endParaRPr sz="1600">
              <a:latin typeface="Arial"/>
              <a:cs typeface="Arial"/>
            </a:endParaRPr>
          </a:p>
        </p:txBody>
      </p:sp>
      <p:grpSp>
        <p:nvGrpSpPr>
          <p:cNvPr id="5" name="object 5"/>
          <p:cNvGrpSpPr/>
          <p:nvPr/>
        </p:nvGrpSpPr>
        <p:grpSpPr>
          <a:xfrm>
            <a:off x="6642857" y="1662055"/>
            <a:ext cx="2402840" cy="602615"/>
            <a:chOff x="5118857" y="1328672"/>
            <a:chExt cx="2402840" cy="602615"/>
          </a:xfrm>
        </p:grpSpPr>
        <p:sp>
          <p:nvSpPr>
            <p:cNvPr id="6" name="object 6"/>
            <p:cNvSpPr/>
            <p:nvPr/>
          </p:nvSpPr>
          <p:spPr>
            <a:xfrm>
              <a:off x="5132070" y="1341884"/>
              <a:ext cx="2376170" cy="576580"/>
            </a:xfrm>
            <a:custGeom>
              <a:avLst/>
              <a:gdLst/>
              <a:ahLst/>
              <a:cxnLst/>
              <a:rect l="l" t="t" r="r" b="b"/>
              <a:pathLst>
                <a:path w="2376170" h="576580">
                  <a:moveTo>
                    <a:pt x="2375916" y="0"/>
                  </a:moveTo>
                  <a:lnTo>
                    <a:pt x="0" y="0"/>
                  </a:lnTo>
                  <a:lnTo>
                    <a:pt x="0" y="576069"/>
                  </a:lnTo>
                  <a:lnTo>
                    <a:pt x="2375916" y="576069"/>
                  </a:lnTo>
                  <a:lnTo>
                    <a:pt x="2375916" y="0"/>
                  </a:lnTo>
                  <a:close/>
                </a:path>
              </a:pathLst>
            </a:custGeom>
            <a:solidFill>
              <a:srgbClr val="C0504D"/>
            </a:solidFill>
          </p:spPr>
          <p:txBody>
            <a:bodyPr wrap="square" lIns="0" tIns="0" rIns="0" bIns="0" rtlCol="0"/>
            <a:lstStyle/>
            <a:p>
              <a:endParaRPr/>
            </a:p>
          </p:txBody>
        </p:sp>
        <p:sp>
          <p:nvSpPr>
            <p:cNvPr id="7" name="object 7"/>
            <p:cNvSpPr/>
            <p:nvPr/>
          </p:nvSpPr>
          <p:spPr>
            <a:xfrm>
              <a:off x="5132070" y="1341884"/>
              <a:ext cx="2376170" cy="576580"/>
            </a:xfrm>
            <a:custGeom>
              <a:avLst/>
              <a:gdLst/>
              <a:ahLst/>
              <a:cxnLst/>
              <a:rect l="l" t="t" r="r" b="b"/>
              <a:pathLst>
                <a:path w="2376170" h="576580">
                  <a:moveTo>
                    <a:pt x="0" y="576069"/>
                  </a:moveTo>
                  <a:lnTo>
                    <a:pt x="2375916" y="576069"/>
                  </a:lnTo>
                  <a:lnTo>
                    <a:pt x="2375916" y="0"/>
                  </a:lnTo>
                  <a:lnTo>
                    <a:pt x="0" y="0"/>
                  </a:lnTo>
                  <a:lnTo>
                    <a:pt x="0" y="576069"/>
                  </a:lnTo>
                  <a:close/>
                </a:path>
              </a:pathLst>
            </a:custGeom>
            <a:ln w="26424">
              <a:solidFill>
                <a:srgbClr val="8B3836"/>
              </a:solidFill>
            </a:ln>
          </p:spPr>
          <p:txBody>
            <a:bodyPr wrap="square" lIns="0" tIns="0" rIns="0" bIns="0" rtlCol="0"/>
            <a:lstStyle/>
            <a:p>
              <a:endParaRPr/>
            </a:p>
          </p:txBody>
        </p:sp>
        <p:pic>
          <p:nvPicPr>
            <p:cNvPr id="8" name="object 8"/>
            <p:cNvPicPr/>
            <p:nvPr/>
          </p:nvPicPr>
          <p:blipFill>
            <a:blip r:embed="rId2" cstate="print"/>
            <a:stretch>
              <a:fillRect/>
            </a:stretch>
          </p:blipFill>
          <p:spPr>
            <a:xfrm>
              <a:off x="5198173" y="1407984"/>
              <a:ext cx="442342" cy="442342"/>
            </a:xfrm>
            <a:prstGeom prst="rect">
              <a:avLst/>
            </a:prstGeom>
          </p:spPr>
        </p:pic>
        <p:pic>
          <p:nvPicPr>
            <p:cNvPr id="9" name="object 9"/>
            <p:cNvPicPr/>
            <p:nvPr/>
          </p:nvPicPr>
          <p:blipFill>
            <a:blip r:embed="rId3" cstate="print"/>
            <a:stretch>
              <a:fillRect/>
            </a:stretch>
          </p:blipFill>
          <p:spPr>
            <a:xfrm>
              <a:off x="5702617" y="1407984"/>
              <a:ext cx="442342" cy="442342"/>
            </a:xfrm>
            <a:prstGeom prst="rect">
              <a:avLst/>
            </a:prstGeom>
          </p:spPr>
        </p:pic>
        <p:pic>
          <p:nvPicPr>
            <p:cNvPr id="10" name="object 10"/>
            <p:cNvPicPr/>
            <p:nvPr/>
          </p:nvPicPr>
          <p:blipFill>
            <a:blip r:embed="rId4" cstate="print"/>
            <a:stretch>
              <a:fillRect/>
            </a:stretch>
          </p:blipFill>
          <p:spPr>
            <a:xfrm>
              <a:off x="6207061" y="1407984"/>
              <a:ext cx="440819" cy="442342"/>
            </a:xfrm>
            <a:prstGeom prst="rect">
              <a:avLst/>
            </a:prstGeom>
          </p:spPr>
        </p:pic>
        <p:pic>
          <p:nvPicPr>
            <p:cNvPr id="11" name="object 11"/>
            <p:cNvPicPr/>
            <p:nvPr/>
          </p:nvPicPr>
          <p:blipFill>
            <a:blip r:embed="rId5" cstate="print"/>
            <a:stretch>
              <a:fillRect/>
            </a:stretch>
          </p:blipFill>
          <p:spPr>
            <a:xfrm>
              <a:off x="6999541" y="1407984"/>
              <a:ext cx="440819" cy="442342"/>
            </a:xfrm>
            <a:prstGeom prst="rect">
              <a:avLst/>
            </a:prstGeom>
          </p:spPr>
        </p:pic>
      </p:grpSp>
      <p:sp>
        <p:nvSpPr>
          <p:cNvPr id="12" name="object 12"/>
          <p:cNvSpPr txBox="1"/>
          <p:nvPr/>
        </p:nvSpPr>
        <p:spPr>
          <a:xfrm>
            <a:off x="6698360" y="1322587"/>
            <a:ext cx="1803400" cy="741680"/>
          </a:xfrm>
          <a:prstGeom prst="rect">
            <a:avLst/>
          </a:prstGeom>
        </p:spPr>
        <p:txBody>
          <a:bodyPr vert="horz" wrap="square" lIns="0" tIns="105410" rIns="0" bIns="0" rtlCol="0">
            <a:spAutoFit/>
          </a:bodyPr>
          <a:lstStyle/>
          <a:p>
            <a:pPr marL="12700">
              <a:spcBef>
                <a:spcPts val="830"/>
              </a:spcBef>
            </a:pPr>
            <a:r>
              <a:rPr sz="1600" dirty="0">
                <a:latin typeface="Arial"/>
                <a:cs typeface="Arial"/>
              </a:rPr>
              <a:t>Kernel</a:t>
            </a:r>
            <a:r>
              <a:rPr sz="1600" spc="-50" dirty="0">
                <a:latin typeface="Arial"/>
                <a:cs typeface="Arial"/>
              </a:rPr>
              <a:t> 0</a:t>
            </a:r>
            <a:endParaRPr sz="1600">
              <a:latin typeface="Arial"/>
              <a:cs typeface="Arial"/>
            </a:endParaRPr>
          </a:p>
          <a:p>
            <a:pPr marR="5080" algn="r">
              <a:spcBef>
                <a:spcPts val="825"/>
              </a:spcBef>
            </a:pPr>
            <a:r>
              <a:rPr spc="-50" dirty="0">
                <a:latin typeface="Arial"/>
                <a:cs typeface="Arial"/>
              </a:rPr>
              <a:t>…</a:t>
            </a:r>
            <a:endParaRPr>
              <a:latin typeface="Arial"/>
              <a:cs typeface="Arial"/>
            </a:endParaRPr>
          </a:p>
        </p:txBody>
      </p:sp>
      <p:sp>
        <p:nvSpPr>
          <p:cNvPr id="16" name="object 16"/>
          <p:cNvSpPr txBox="1"/>
          <p:nvPr/>
        </p:nvSpPr>
        <p:spPr>
          <a:xfrm>
            <a:off x="9794494" y="2089412"/>
            <a:ext cx="810895" cy="572135"/>
          </a:xfrm>
          <a:prstGeom prst="rect">
            <a:avLst/>
          </a:prstGeom>
        </p:spPr>
        <p:txBody>
          <a:bodyPr vert="horz" wrap="square" lIns="0" tIns="35560" rIns="0" bIns="0" rtlCol="0">
            <a:spAutoFit/>
          </a:bodyPr>
          <a:lstStyle/>
          <a:p>
            <a:pPr marL="12700" marR="5080" algn="ctr">
              <a:lnSpc>
                <a:spcPct val="88100"/>
              </a:lnSpc>
              <a:spcBef>
                <a:spcPts val="280"/>
              </a:spcBef>
            </a:pPr>
            <a:r>
              <a:rPr sz="1300" spc="-10" dirty="0">
                <a:solidFill>
                  <a:srgbClr val="FFFFFF"/>
                </a:solidFill>
                <a:latin typeface="Arial"/>
                <a:cs typeface="Arial"/>
              </a:rPr>
              <a:t>Per-device Global Memory</a:t>
            </a:r>
            <a:endParaRPr sz="1300">
              <a:latin typeface="Arial"/>
              <a:cs typeface="Arial"/>
            </a:endParaRPr>
          </a:p>
        </p:txBody>
      </p:sp>
      <p:grpSp>
        <p:nvGrpSpPr>
          <p:cNvPr id="17" name="object 17"/>
          <p:cNvGrpSpPr/>
          <p:nvPr/>
        </p:nvGrpSpPr>
        <p:grpSpPr>
          <a:xfrm>
            <a:off x="9163554" y="1733679"/>
            <a:ext cx="531495" cy="459740"/>
            <a:chOff x="7639553" y="1400297"/>
            <a:chExt cx="531495" cy="459740"/>
          </a:xfrm>
        </p:grpSpPr>
        <p:sp>
          <p:nvSpPr>
            <p:cNvPr id="18" name="object 18"/>
            <p:cNvSpPr/>
            <p:nvPr/>
          </p:nvSpPr>
          <p:spPr>
            <a:xfrm>
              <a:off x="7652766" y="1413509"/>
              <a:ext cx="504825" cy="433070"/>
            </a:xfrm>
            <a:custGeom>
              <a:avLst/>
              <a:gdLst/>
              <a:ahLst/>
              <a:cxnLst/>
              <a:rect l="l" t="t" r="r" b="b"/>
              <a:pathLst>
                <a:path w="504825" h="433069">
                  <a:moveTo>
                    <a:pt x="252222" y="0"/>
                  </a:moveTo>
                  <a:lnTo>
                    <a:pt x="192659" y="165354"/>
                  </a:lnTo>
                  <a:lnTo>
                    <a:pt x="0" y="165354"/>
                  </a:lnTo>
                  <a:lnTo>
                    <a:pt x="155829" y="267462"/>
                  </a:lnTo>
                  <a:lnTo>
                    <a:pt x="96393" y="432816"/>
                  </a:lnTo>
                  <a:lnTo>
                    <a:pt x="252222" y="330581"/>
                  </a:lnTo>
                  <a:lnTo>
                    <a:pt x="408051" y="432816"/>
                  </a:lnTo>
                  <a:lnTo>
                    <a:pt x="348615" y="267462"/>
                  </a:lnTo>
                  <a:lnTo>
                    <a:pt x="504444" y="165354"/>
                  </a:lnTo>
                  <a:lnTo>
                    <a:pt x="311785" y="165354"/>
                  </a:lnTo>
                  <a:lnTo>
                    <a:pt x="252222" y="0"/>
                  </a:lnTo>
                  <a:close/>
                </a:path>
              </a:pathLst>
            </a:custGeom>
            <a:solidFill>
              <a:srgbClr val="4F80BC"/>
            </a:solidFill>
          </p:spPr>
          <p:txBody>
            <a:bodyPr wrap="square" lIns="0" tIns="0" rIns="0" bIns="0" rtlCol="0"/>
            <a:lstStyle/>
            <a:p>
              <a:endParaRPr/>
            </a:p>
          </p:txBody>
        </p:sp>
        <p:sp>
          <p:nvSpPr>
            <p:cNvPr id="19" name="object 19"/>
            <p:cNvSpPr/>
            <p:nvPr/>
          </p:nvSpPr>
          <p:spPr>
            <a:xfrm>
              <a:off x="7652766" y="1413509"/>
              <a:ext cx="504825" cy="433070"/>
            </a:xfrm>
            <a:custGeom>
              <a:avLst/>
              <a:gdLst/>
              <a:ahLst/>
              <a:cxnLst/>
              <a:rect l="l" t="t" r="r" b="b"/>
              <a:pathLst>
                <a:path w="504825" h="433069">
                  <a:moveTo>
                    <a:pt x="0" y="165354"/>
                  </a:moveTo>
                  <a:lnTo>
                    <a:pt x="192659" y="165354"/>
                  </a:lnTo>
                  <a:lnTo>
                    <a:pt x="252222" y="0"/>
                  </a:lnTo>
                  <a:lnTo>
                    <a:pt x="311785" y="165354"/>
                  </a:lnTo>
                  <a:lnTo>
                    <a:pt x="504444" y="165354"/>
                  </a:lnTo>
                  <a:lnTo>
                    <a:pt x="348615" y="267462"/>
                  </a:lnTo>
                  <a:lnTo>
                    <a:pt x="408051" y="432816"/>
                  </a:lnTo>
                  <a:lnTo>
                    <a:pt x="252222" y="330581"/>
                  </a:lnTo>
                  <a:lnTo>
                    <a:pt x="96393" y="432816"/>
                  </a:lnTo>
                  <a:lnTo>
                    <a:pt x="155829" y="267462"/>
                  </a:lnTo>
                  <a:lnTo>
                    <a:pt x="0" y="165354"/>
                  </a:lnTo>
                  <a:close/>
                </a:path>
              </a:pathLst>
            </a:custGeom>
            <a:ln w="26424">
              <a:solidFill>
                <a:srgbClr val="385D89"/>
              </a:solidFill>
            </a:ln>
          </p:spPr>
          <p:txBody>
            <a:bodyPr wrap="square" lIns="0" tIns="0" rIns="0" bIns="0" rtlCol="0"/>
            <a:lstStyle/>
            <a:p>
              <a:endParaRPr/>
            </a:p>
          </p:txBody>
        </p:sp>
      </p:grpSp>
      <p:grpSp>
        <p:nvGrpSpPr>
          <p:cNvPr id="20" name="object 20"/>
          <p:cNvGrpSpPr/>
          <p:nvPr/>
        </p:nvGrpSpPr>
        <p:grpSpPr>
          <a:xfrm>
            <a:off x="6642857" y="2597785"/>
            <a:ext cx="2402840" cy="602615"/>
            <a:chOff x="5118857" y="2264402"/>
            <a:chExt cx="2402840" cy="602615"/>
          </a:xfrm>
        </p:grpSpPr>
        <p:sp>
          <p:nvSpPr>
            <p:cNvPr id="21" name="object 21"/>
            <p:cNvSpPr/>
            <p:nvPr/>
          </p:nvSpPr>
          <p:spPr>
            <a:xfrm>
              <a:off x="5132070" y="2277615"/>
              <a:ext cx="2376170" cy="576580"/>
            </a:xfrm>
            <a:custGeom>
              <a:avLst/>
              <a:gdLst/>
              <a:ahLst/>
              <a:cxnLst/>
              <a:rect l="l" t="t" r="r" b="b"/>
              <a:pathLst>
                <a:path w="2376170" h="576580">
                  <a:moveTo>
                    <a:pt x="2375916" y="0"/>
                  </a:moveTo>
                  <a:lnTo>
                    <a:pt x="0" y="0"/>
                  </a:lnTo>
                  <a:lnTo>
                    <a:pt x="0" y="576074"/>
                  </a:lnTo>
                  <a:lnTo>
                    <a:pt x="2375916" y="576074"/>
                  </a:lnTo>
                  <a:lnTo>
                    <a:pt x="2375916" y="0"/>
                  </a:lnTo>
                  <a:close/>
                </a:path>
              </a:pathLst>
            </a:custGeom>
            <a:solidFill>
              <a:srgbClr val="C0504D"/>
            </a:solidFill>
          </p:spPr>
          <p:txBody>
            <a:bodyPr wrap="square" lIns="0" tIns="0" rIns="0" bIns="0" rtlCol="0"/>
            <a:lstStyle/>
            <a:p>
              <a:endParaRPr/>
            </a:p>
          </p:txBody>
        </p:sp>
        <p:sp>
          <p:nvSpPr>
            <p:cNvPr id="22" name="object 22"/>
            <p:cNvSpPr/>
            <p:nvPr/>
          </p:nvSpPr>
          <p:spPr>
            <a:xfrm>
              <a:off x="5132070" y="2277615"/>
              <a:ext cx="2376170" cy="576580"/>
            </a:xfrm>
            <a:custGeom>
              <a:avLst/>
              <a:gdLst/>
              <a:ahLst/>
              <a:cxnLst/>
              <a:rect l="l" t="t" r="r" b="b"/>
              <a:pathLst>
                <a:path w="2376170" h="576580">
                  <a:moveTo>
                    <a:pt x="0" y="576074"/>
                  </a:moveTo>
                  <a:lnTo>
                    <a:pt x="2375916" y="576074"/>
                  </a:lnTo>
                  <a:lnTo>
                    <a:pt x="2375916" y="0"/>
                  </a:lnTo>
                  <a:lnTo>
                    <a:pt x="0" y="0"/>
                  </a:lnTo>
                  <a:lnTo>
                    <a:pt x="0" y="576074"/>
                  </a:lnTo>
                  <a:close/>
                </a:path>
              </a:pathLst>
            </a:custGeom>
            <a:ln w="26424">
              <a:solidFill>
                <a:srgbClr val="8B3836"/>
              </a:solidFill>
            </a:ln>
          </p:spPr>
          <p:txBody>
            <a:bodyPr wrap="square" lIns="0" tIns="0" rIns="0" bIns="0" rtlCol="0"/>
            <a:lstStyle/>
            <a:p>
              <a:endParaRPr/>
            </a:p>
          </p:txBody>
        </p:sp>
        <p:pic>
          <p:nvPicPr>
            <p:cNvPr id="23" name="object 23"/>
            <p:cNvPicPr/>
            <p:nvPr/>
          </p:nvPicPr>
          <p:blipFill>
            <a:blip r:embed="rId6" cstate="print"/>
            <a:stretch>
              <a:fillRect/>
            </a:stretch>
          </p:blipFill>
          <p:spPr>
            <a:xfrm>
              <a:off x="5198173" y="2343720"/>
              <a:ext cx="442342" cy="442342"/>
            </a:xfrm>
            <a:prstGeom prst="rect">
              <a:avLst/>
            </a:prstGeom>
          </p:spPr>
        </p:pic>
        <p:pic>
          <p:nvPicPr>
            <p:cNvPr id="24" name="object 24"/>
            <p:cNvPicPr/>
            <p:nvPr/>
          </p:nvPicPr>
          <p:blipFill>
            <a:blip r:embed="rId7" cstate="print"/>
            <a:stretch>
              <a:fillRect/>
            </a:stretch>
          </p:blipFill>
          <p:spPr>
            <a:xfrm>
              <a:off x="5702617" y="2343720"/>
              <a:ext cx="442342" cy="442342"/>
            </a:xfrm>
            <a:prstGeom prst="rect">
              <a:avLst/>
            </a:prstGeom>
          </p:spPr>
        </p:pic>
        <p:pic>
          <p:nvPicPr>
            <p:cNvPr id="25" name="object 25"/>
            <p:cNvPicPr/>
            <p:nvPr/>
          </p:nvPicPr>
          <p:blipFill>
            <a:blip r:embed="rId8" cstate="print"/>
            <a:stretch>
              <a:fillRect/>
            </a:stretch>
          </p:blipFill>
          <p:spPr>
            <a:xfrm>
              <a:off x="6207061" y="2343720"/>
              <a:ext cx="440819" cy="442342"/>
            </a:xfrm>
            <a:prstGeom prst="rect">
              <a:avLst/>
            </a:prstGeom>
          </p:spPr>
        </p:pic>
        <p:pic>
          <p:nvPicPr>
            <p:cNvPr id="26" name="object 26"/>
            <p:cNvPicPr/>
            <p:nvPr/>
          </p:nvPicPr>
          <p:blipFill>
            <a:blip r:embed="rId9" cstate="print"/>
            <a:stretch>
              <a:fillRect/>
            </a:stretch>
          </p:blipFill>
          <p:spPr>
            <a:xfrm>
              <a:off x="6999541" y="2343720"/>
              <a:ext cx="440819" cy="442342"/>
            </a:xfrm>
            <a:prstGeom prst="rect">
              <a:avLst/>
            </a:prstGeom>
          </p:spPr>
        </p:pic>
      </p:grpSp>
      <p:sp>
        <p:nvSpPr>
          <p:cNvPr id="27" name="object 27"/>
          <p:cNvSpPr txBox="1"/>
          <p:nvPr/>
        </p:nvSpPr>
        <p:spPr>
          <a:xfrm>
            <a:off x="8247633" y="2700535"/>
            <a:ext cx="254000" cy="299720"/>
          </a:xfrm>
          <a:prstGeom prst="rect">
            <a:avLst/>
          </a:prstGeom>
        </p:spPr>
        <p:txBody>
          <a:bodyPr vert="horz" wrap="square" lIns="0" tIns="12700" rIns="0" bIns="0" rtlCol="0">
            <a:spAutoFit/>
          </a:bodyPr>
          <a:lstStyle/>
          <a:p>
            <a:pPr marL="12700">
              <a:spcBef>
                <a:spcPts val="100"/>
              </a:spcBef>
            </a:pPr>
            <a:r>
              <a:rPr spc="-50" dirty="0">
                <a:latin typeface="Arial"/>
                <a:cs typeface="Arial"/>
              </a:rPr>
              <a:t>…</a:t>
            </a:r>
            <a:endParaRPr>
              <a:latin typeface="Arial"/>
              <a:cs typeface="Arial"/>
            </a:endParaRPr>
          </a:p>
        </p:txBody>
      </p:sp>
      <p:grpSp>
        <p:nvGrpSpPr>
          <p:cNvPr id="28" name="object 28"/>
          <p:cNvGrpSpPr/>
          <p:nvPr/>
        </p:nvGrpSpPr>
        <p:grpSpPr>
          <a:xfrm>
            <a:off x="9163554" y="2669415"/>
            <a:ext cx="531495" cy="459740"/>
            <a:chOff x="7639553" y="2336033"/>
            <a:chExt cx="531495" cy="459740"/>
          </a:xfrm>
        </p:grpSpPr>
        <p:sp>
          <p:nvSpPr>
            <p:cNvPr id="29" name="object 29"/>
            <p:cNvSpPr/>
            <p:nvPr/>
          </p:nvSpPr>
          <p:spPr>
            <a:xfrm>
              <a:off x="7652766" y="2349246"/>
              <a:ext cx="504825" cy="433070"/>
            </a:xfrm>
            <a:custGeom>
              <a:avLst/>
              <a:gdLst/>
              <a:ahLst/>
              <a:cxnLst/>
              <a:rect l="l" t="t" r="r" b="b"/>
              <a:pathLst>
                <a:path w="504825" h="433069">
                  <a:moveTo>
                    <a:pt x="252222" y="0"/>
                  </a:moveTo>
                  <a:lnTo>
                    <a:pt x="192659" y="165354"/>
                  </a:lnTo>
                  <a:lnTo>
                    <a:pt x="0" y="165354"/>
                  </a:lnTo>
                  <a:lnTo>
                    <a:pt x="155829" y="267462"/>
                  </a:lnTo>
                  <a:lnTo>
                    <a:pt x="96393" y="432816"/>
                  </a:lnTo>
                  <a:lnTo>
                    <a:pt x="252222" y="330581"/>
                  </a:lnTo>
                  <a:lnTo>
                    <a:pt x="408051" y="432816"/>
                  </a:lnTo>
                  <a:lnTo>
                    <a:pt x="348615" y="267462"/>
                  </a:lnTo>
                  <a:lnTo>
                    <a:pt x="504444" y="165354"/>
                  </a:lnTo>
                  <a:lnTo>
                    <a:pt x="311785" y="165354"/>
                  </a:lnTo>
                  <a:lnTo>
                    <a:pt x="252222" y="0"/>
                  </a:lnTo>
                  <a:close/>
                </a:path>
              </a:pathLst>
            </a:custGeom>
            <a:solidFill>
              <a:srgbClr val="4F80BC"/>
            </a:solidFill>
          </p:spPr>
          <p:txBody>
            <a:bodyPr wrap="square" lIns="0" tIns="0" rIns="0" bIns="0" rtlCol="0"/>
            <a:lstStyle/>
            <a:p>
              <a:endParaRPr/>
            </a:p>
          </p:txBody>
        </p:sp>
        <p:sp>
          <p:nvSpPr>
            <p:cNvPr id="30" name="object 30"/>
            <p:cNvSpPr/>
            <p:nvPr/>
          </p:nvSpPr>
          <p:spPr>
            <a:xfrm>
              <a:off x="7652766" y="2349246"/>
              <a:ext cx="504825" cy="433070"/>
            </a:xfrm>
            <a:custGeom>
              <a:avLst/>
              <a:gdLst/>
              <a:ahLst/>
              <a:cxnLst/>
              <a:rect l="l" t="t" r="r" b="b"/>
              <a:pathLst>
                <a:path w="504825" h="433069">
                  <a:moveTo>
                    <a:pt x="0" y="165354"/>
                  </a:moveTo>
                  <a:lnTo>
                    <a:pt x="192659" y="165354"/>
                  </a:lnTo>
                  <a:lnTo>
                    <a:pt x="252222" y="0"/>
                  </a:lnTo>
                  <a:lnTo>
                    <a:pt x="311785" y="165354"/>
                  </a:lnTo>
                  <a:lnTo>
                    <a:pt x="504444" y="165354"/>
                  </a:lnTo>
                  <a:lnTo>
                    <a:pt x="348615" y="267462"/>
                  </a:lnTo>
                  <a:lnTo>
                    <a:pt x="408051" y="432816"/>
                  </a:lnTo>
                  <a:lnTo>
                    <a:pt x="252222" y="330581"/>
                  </a:lnTo>
                  <a:lnTo>
                    <a:pt x="96393" y="432816"/>
                  </a:lnTo>
                  <a:lnTo>
                    <a:pt x="155829" y="267462"/>
                  </a:lnTo>
                  <a:lnTo>
                    <a:pt x="0" y="165354"/>
                  </a:lnTo>
                  <a:close/>
                </a:path>
              </a:pathLst>
            </a:custGeom>
            <a:ln w="26424">
              <a:solidFill>
                <a:srgbClr val="385D89"/>
              </a:solidFill>
            </a:ln>
          </p:spPr>
          <p:txBody>
            <a:bodyPr wrap="square" lIns="0" tIns="0" rIns="0" bIns="0" rtlCol="0"/>
            <a:lstStyle/>
            <a:p>
              <a:endParaRPr/>
            </a:p>
          </p:txBody>
        </p:sp>
      </p:grpSp>
      <p:sp>
        <p:nvSpPr>
          <p:cNvPr id="55" name="object 21">
            <a:extLst>
              <a:ext uri="{FF2B5EF4-FFF2-40B4-BE49-F238E27FC236}">
                <a16:creationId xmlns:a16="http://schemas.microsoft.com/office/drawing/2014/main" id="{8C74C675-B8BD-2AF1-79EA-7D918737C94B}"/>
              </a:ext>
            </a:extLst>
          </p:cNvPr>
          <p:cNvSpPr txBox="1"/>
          <p:nvPr/>
        </p:nvSpPr>
        <p:spPr>
          <a:xfrm>
            <a:off x="9940479" y="1741367"/>
            <a:ext cx="1555624" cy="1283557"/>
          </a:xfrm>
          <a:prstGeom prst="rect">
            <a:avLst/>
          </a:prstGeom>
          <a:solidFill>
            <a:srgbClr val="4F80BC"/>
          </a:solidFill>
          <a:ln w="26424">
            <a:solidFill>
              <a:srgbClr val="385D89"/>
            </a:solidFill>
          </a:ln>
        </p:spPr>
        <p:txBody>
          <a:bodyPr vert="horz" wrap="square" lIns="0" tIns="0" rIns="0" bIns="0" rtlCol="0" anchor="ctr">
            <a:spAutoFit/>
          </a:bodyPr>
          <a:lstStyle/>
          <a:p>
            <a:pPr>
              <a:spcBef>
                <a:spcPts val="1335"/>
              </a:spcBef>
            </a:pPr>
            <a:endParaRPr sz="1300" dirty="0">
              <a:latin typeface="Times New Roman"/>
              <a:cs typeface="Times New Roman"/>
            </a:endParaRPr>
          </a:p>
          <a:p>
            <a:pPr marL="26670" marR="16510" algn="ctr">
              <a:lnSpc>
                <a:spcPct val="88100"/>
              </a:lnSpc>
            </a:pPr>
            <a:endParaRPr lang="en-US" spc="-10" dirty="0">
              <a:solidFill>
                <a:srgbClr val="FFFFFF"/>
              </a:solidFill>
              <a:latin typeface="Arial"/>
              <a:cs typeface="Arial"/>
            </a:endParaRPr>
          </a:p>
          <a:p>
            <a:pPr marL="26670" marR="16510" algn="ctr">
              <a:lnSpc>
                <a:spcPct val="88100"/>
              </a:lnSpc>
            </a:pPr>
            <a:r>
              <a:rPr spc="-10" dirty="0">
                <a:solidFill>
                  <a:srgbClr val="FFFFFF"/>
                </a:solidFill>
                <a:latin typeface="Arial"/>
                <a:cs typeface="Arial"/>
              </a:rPr>
              <a:t>Global Memory</a:t>
            </a:r>
            <a:endParaRPr lang="en-US" spc="-10" dirty="0">
              <a:solidFill>
                <a:srgbClr val="FFFFFF"/>
              </a:solidFill>
              <a:latin typeface="Arial"/>
              <a:cs typeface="Arial"/>
            </a:endParaRPr>
          </a:p>
          <a:p>
            <a:pPr marL="26670" marR="16510" algn="ctr">
              <a:lnSpc>
                <a:spcPct val="88100"/>
              </a:lnSpc>
            </a:pPr>
            <a:endParaRPr lang="en-NL" sz="1300" spc="-10" dirty="0">
              <a:solidFill>
                <a:srgbClr val="FFFFFF"/>
              </a:solidFill>
              <a:latin typeface="Arial"/>
              <a:cs typeface="Arial"/>
            </a:endParaRPr>
          </a:p>
          <a:p>
            <a:pPr marL="26670" marR="16510" algn="ctr">
              <a:lnSpc>
                <a:spcPct val="88100"/>
              </a:lnSpc>
            </a:pPr>
            <a:endParaRPr sz="1300" dirty="0">
              <a:latin typeface="Arial"/>
              <a:cs typeface="Arial"/>
            </a:endParaRPr>
          </a:p>
        </p:txBody>
      </p:sp>
      <p:sp>
        <p:nvSpPr>
          <p:cNvPr id="31" name="object 2">
            <a:extLst>
              <a:ext uri="{FF2B5EF4-FFF2-40B4-BE49-F238E27FC236}">
                <a16:creationId xmlns:a16="http://schemas.microsoft.com/office/drawing/2014/main" id="{397D8807-8991-555B-E138-82F79CDAB25A}"/>
              </a:ext>
            </a:extLst>
          </p:cNvPr>
          <p:cNvSpPr txBox="1">
            <a:spLocks noGrp="1"/>
          </p:cNvSpPr>
          <p:nvPr>
            <p:ph type="title"/>
          </p:nvPr>
        </p:nvSpPr>
        <p:spPr>
          <a:xfrm>
            <a:off x="950125" y="678204"/>
            <a:ext cx="6276492" cy="464807"/>
          </a:xfrm>
          <a:prstGeom prst="rect">
            <a:avLst/>
          </a:prstGeom>
        </p:spPr>
        <p:txBody>
          <a:bodyPr vert="horz" wrap="square" lIns="0" tIns="13335" rIns="0" bIns="0" rtlCol="0">
            <a:spAutoFit/>
          </a:bodyPr>
          <a:lstStyle/>
          <a:p>
            <a:pPr marL="12700">
              <a:spcBef>
                <a:spcPts val="105"/>
              </a:spcBef>
            </a:pPr>
            <a:r>
              <a:rPr sz="2933" cap="small" dirty="0">
                <a:solidFill>
                  <a:schemeClr val="dk2"/>
                </a:solidFill>
              </a:rPr>
              <a:t>Memory spaces: </a:t>
            </a:r>
            <a:r>
              <a:rPr lang="en-US" sz="2933" cap="small" dirty="0">
                <a:solidFill>
                  <a:schemeClr val="dk2"/>
                </a:solidFill>
              </a:rPr>
              <a:t>DEVICE</a:t>
            </a:r>
            <a:r>
              <a:rPr sz="2933" cap="small" dirty="0">
                <a:solidFill>
                  <a:schemeClr val="dk2"/>
                </a:solidFill>
              </a:rPr>
              <a:t> memory</a:t>
            </a:r>
          </a:p>
        </p:txBody>
      </p:sp>
    </p:spTree>
    <p:extLst>
      <p:ext uri="{BB962C8B-B14F-4D97-AF65-F5344CB8AC3E}">
        <p14:creationId xmlns:p14="http://schemas.microsoft.com/office/powerpoint/2010/main" val="30774934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17067" y="369571"/>
            <a:ext cx="5659120" cy="513715"/>
          </a:xfrm>
          <a:prstGeom prst="rect">
            <a:avLst/>
          </a:prstGeom>
        </p:spPr>
        <p:txBody>
          <a:bodyPr vert="horz" wrap="square" lIns="0" tIns="13335" rIns="0" bIns="0" rtlCol="0">
            <a:spAutoFit/>
          </a:bodyPr>
          <a:lstStyle/>
          <a:p>
            <a:pPr marL="12700">
              <a:spcBef>
                <a:spcPts val="105"/>
              </a:spcBef>
            </a:pPr>
            <a:r>
              <a:rPr sz="3200" spc="-95" dirty="0"/>
              <a:t>Memory</a:t>
            </a:r>
            <a:r>
              <a:rPr sz="3200" spc="-195" dirty="0"/>
              <a:t> </a:t>
            </a:r>
            <a:r>
              <a:rPr sz="3200" spc="-95" dirty="0"/>
              <a:t>spaces:</a:t>
            </a:r>
            <a:r>
              <a:rPr sz="3200" spc="-200" dirty="0"/>
              <a:t> </a:t>
            </a:r>
            <a:r>
              <a:rPr sz="3200" spc="-95" dirty="0"/>
              <a:t>Shared</a:t>
            </a:r>
            <a:r>
              <a:rPr sz="3200" spc="-190" dirty="0"/>
              <a:t> </a:t>
            </a:r>
            <a:r>
              <a:rPr sz="3200" spc="-50" dirty="0"/>
              <a:t>memory</a:t>
            </a:r>
            <a:endParaRPr sz="3200" dirty="0"/>
          </a:p>
        </p:txBody>
      </p:sp>
      <p:sp>
        <p:nvSpPr>
          <p:cNvPr id="3" name="object 3"/>
          <p:cNvSpPr txBox="1"/>
          <p:nvPr/>
        </p:nvSpPr>
        <p:spPr>
          <a:xfrm>
            <a:off x="1617068" y="1208025"/>
            <a:ext cx="926465" cy="285115"/>
          </a:xfrm>
          <a:prstGeom prst="rect">
            <a:avLst/>
          </a:prstGeom>
        </p:spPr>
        <p:txBody>
          <a:bodyPr vert="horz" wrap="square" lIns="0" tIns="13335" rIns="0" bIns="0" rtlCol="0">
            <a:spAutoFit/>
          </a:bodyPr>
          <a:lstStyle/>
          <a:p>
            <a:pPr marL="12700">
              <a:spcBef>
                <a:spcPts val="105"/>
              </a:spcBef>
            </a:pPr>
            <a:r>
              <a:rPr sz="1700" spc="-10" dirty="0">
                <a:latin typeface="Arial"/>
                <a:cs typeface="Arial"/>
              </a:rPr>
              <a:t>Example:</a:t>
            </a:r>
            <a:endParaRPr sz="1700">
              <a:latin typeface="Arial"/>
              <a:cs typeface="Arial"/>
            </a:endParaRPr>
          </a:p>
        </p:txBody>
      </p:sp>
      <p:sp>
        <p:nvSpPr>
          <p:cNvPr id="4" name="object 4"/>
          <p:cNvSpPr txBox="1"/>
          <p:nvPr/>
        </p:nvSpPr>
        <p:spPr>
          <a:xfrm>
            <a:off x="645020" y="1749320"/>
            <a:ext cx="7965440" cy="285115"/>
          </a:xfrm>
          <a:prstGeom prst="rect">
            <a:avLst/>
          </a:prstGeom>
        </p:spPr>
        <p:txBody>
          <a:bodyPr vert="horz" wrap="square" lIns="0" tIns="13335" rIns="0" bIns="0" rtlCol="0">
            <a:spAutoFit/>
          </a:bodyPr>
          <a:lstStyle/>
          <a:p>
            <a:pPr marL="12700">
              <a:spcBef>
                <a:spcPts val="105"/>
              </a:spcBef>
              <a:tabLst>
                <a:tab pos="271145" algn="l"/>
                <a:tab pos="1430020" algn="l"/>
                <a:tab pos="2096135" algn="l"/>
                <a:tab pos="4699000" algn="l"/>
                <a:tab pos="5219700" algn="l"/>
                <a:tab pos="6000115" algn="l"/>
                <a:tab pos="6520815" algn="l"/>
                <a:tab pos="7301230" algn="l"/>
                <a:tab pos="7822565" algn="l"/>
              </a:tabLst>
            </a:pPr>
            <a:r>
              <a:rPr sz="1700" u="sng" dirty="0">
                <a:uFill>
                  <a:solidFill>
                    <a:srgbClr val="000000"/>
                  </a:solidFill>
                </a:uFill>
                <a:latin typeface="Times New Roman"/>
                <a:cs typeface="Times New Roman"/>
              </a:rPr>
              <a:t>	</a:t>
            </a:r>
            <a:r>
              <a:rPr sz="1700" b="1" spc="-10" dirty="0">
                <a:latin typeface="Courier New"/>
                <a:cs typeface="Courier New"/>
              </a:rPr>
              <a:t>global</a:t>
            </a:r>
            <a:r>
              <a:rPr sz="1700" u="sng" dirty="0">
                <a:uFill>
                  <a:solidFill>
                    <a:srgbClr val="000000"/>
                  </a:solidFill>
                </a:uFill>
                <a:latin typeface="Times New Roman"/>
                <a:cs typeface="Times New Roman"/>
              </a:rPr>
              <a:t>	</a:t>
            </a:r>
            <a:r>
              <a:rPr sz="1700" spc="-310" dirty="0">
                <a:latin typeface="Times New Roman"/>
                <a:cs typeface="Times New Roman"/>
              </a:rPr>
              <a:t> </a:t>
            </a:r>
            <a:r>
              <a:rPr sz="1700" b="1" dirty="0">
                <a:latin typeface="Courier New"/>
                <a:cs typeface="Courier New"/>
              </a:rPr>
              <a:t>void</a:t>
            </a:r>
            <a:r>
              <a:rPr sz="1700" dirty="0">
                <a:latin typeface="Times New Roman"/>
                <a:cs typeface="Times New Roman"/>
              </a:rPr>
              <a:t>	</a:t>
            </a:r>
            <a:r>
              <a:rPr sz="1700" b="1" spc="-10" dirty="0">
                <a:latin typeface="Courier New"/>
                <a:cs typeface="Courier New"/>
              </a:rPr>
              <a:t>matmul_kernel(float</a:t>
            </a:r>
            <a:r>
              <a:rPr sz="1700" dirty="0">
                <a:latin typeface="Times New Roman"/>
                <a:cs typeface="Times New Roman"/>
              </a:rPr>
              <a:t>	</a:t>
            </a:r>
            <a:r>
              <a:rPr sz="1700" b="1" spc="-25" dirty="0">
                <a:latin typeface="Courier New"/>
                <a:cs typeface="Courier New"/>
              </a:rPr>
              <a:t>*C,</a:t>
            </a:r>
            <a:r>
              <a:rPr sz="1700" dirty="0">
                <a:latin typeface="Times New Roman"/>
                <a:cs typeface="Times New Roman"/>
              </a:rPr>
              <a:t>	</a:t>
            </a:r>
            <a:r>
              <a:rPr sz="1700" b="1" spc="-10" dirty="0">
                <a:latin typeface="Courier New"/>
                <a:cs typeface="Courier New"/>
              </a:rPr>
              <a:t>float</a:t>
            </a:r>
            <a:r>
              <a:rPr sz="1700" dirty="0">
                <a:latin typeface="Times New Roman"/>
                <a:cs typeface="Times New Roman"/>
              </a:rPr>
              <a:t>	</a:t>
            </a:r>
            <a:r>
              <a:rPr sz="1700" b="1" spc="-25" dirty="0">
                <a:latin typeface="Courier New"/>
                <a:cs typeface="Courier New"/>
              </a:rPr>
              <a:t>*A,</a:t>
            </a:r>
            <a:r>
              <a:rPr sz="1700" dirty="0">
                <a:latin typeface="Times New Roman"/>
                <a:cs typeface="Times New Roman"/>
              </a:rPr>
              <a:t>	</a:t>
            </a:r>
            <a:r>
              <a:rPr sz="1700" b="1" spc="-10" dirty="0">
                <a:latin typeface="Courier New"/>
                <a:cs typeface="Courier New"/>
              </a:rPr>
              <a:t>float</a:t>
            </a:r>
            <a:r>
              <a:rPr sz="1700" dirty="0">
                <a:latin typeface="Times New Roman"/>
                <a:cs typeface="Times New Roman"/>
              </a:rPr>
              <a:t>	</a:t>
            </a:r>
            <a:r>
              <a:rPr sz="1700" b="1" spc="-25" dirty="0">
                <a:latin typeface="Courier New"/>
                <a:cs typeface="Courier New"/>
              </a:rPr>
              <a:t>*B)</a:t>
            </a:r>
            <a:r>
              <a:rPr sz="1700" dirty="0">
                <a:latin typeface="Times New Roman"/>
                <a:cs typeface="Times New Roman"/>
              </a:rPr>
              <a:t>	</a:t>
            </a:r>
            <a:r>
              <a:rPr sz="1700" b="1" spc="-50" dirty="0">
                <a:latin typeface="Courier New"/>
                <a:cs typeface="Courier New"/>
              </a:rPr>
              <a:t>{</a:t>
            </a:r>
            <a:endParaRPr sz="1700" dirty="0">
              <a:latin typeface="Courier New"/>
              <a:cs typeface="Courier New"/>
            </a:endParaRPr>
          </a:p>
        </p:txBody>
      </p:sp>
      <p:graphicFrame>
        <p:nvGraphicFramePr>
          <p:cNvPr id="5" name="object 5"/>
          <p:cNvGraphicFramePr>
            <a:graphicFrameLocks noGrp="1"/>
          </p:cNvGraphicFramePr>
          <p:nvPr>
            <p:extLst>
              <p:ext uri="{D42A27DB-BD31-4B8C-83A1-F6EECF244321}">
                <p14:modId xmlns:p14="http://schemas.microsoft.com/office/powerpoint/2010/main" val="1084697213"/>
              </p:ext>
            </p:extLst>
          </p:nvPr>
        </p:nvGraphicFramePr>
        <p:xfrm>
          <a:off x="1141437" y="2145771"/>
          <a:ext cx="8392795" cy="1327785"/>
        </p:xfrm>
        <a:graphic>
          <a:graphicData uri="http://schemas.openxmlformats.org/drawingml/2006/table">
            <a:tbl>
              <a:tblPr firstRow="1" bandRow="1">
                <a:tableStyleId>{2D5ABB26-0587-4C30-8999-92F81FD0307C}</a:tableStyleId>
              </a:tblPr>
              <a:tblGrid>
                <a:gridCol w="6993255">
                  <a:extLst>
                    <a:ext uri="{9D8B030D-6E8A-4147-A177-3AD203B41FA5}">
                      <a16:colId xmlns:a16="http://schemas.microsoft.com/office/drawing/2014/main" val="20000"/>
                    </a:ext>
                  </a:extLst>
                </a:gridCol>
                <a:gridCol w="910590">
                  <a:extLst>
                    <a:ext uri="{9D8B030D-6E8A-4147-A177-3AD203B41FA5}">
                      <a16:colId xmlns:a16="http://schemas.microsoft.com/office/drawing/2014/main" val="20001"/>
                    </a:ext>
                  </a:extLst>
                </a:gridCol>
                <a:gridCol w="488950">
                  <a:extLst>
                    <a:ext uri="{9D8B030D-6E8A-4147-A177-3AD203B41FA5}">
                      <a16:colId xmlns:a16="http://schemas.microsoft.com/office/drawing/2014/main" val="20002"/>
                    </a:ext>
                  </a:extLst>
                </a:gridCol>
              </a:tblGrid>
              <a:tr h="216429">
                <a:tc>
                  <a:txBody>
                    <a:bodyPr/>
                    <a:lstStyle/>
                    <a:p>
                      <a:pPr marR="26034" algn="ctr">
                        <a:lnSpc>
                          <a:spcPct val="100000"/>
                        </a:lnSpc>
                        <a:tabLst>
                          <a:tab pos="258445" algn="l"/>
                          <a:tab pos="1417320" algn="l"/>
                          <a:tab pos="2212975" algn="l"/>
                          <a:tab pos="5464810" algn="l"/>
                          <a:tab pos="5856605" algn="l"/>
                          <a:tab pos="6636384" algn="l"/>
                        </a:tabLst>
                      </a:pPr>
                      <a:r>
                        <a:rPr sz="1800" u="sng" dirty="0">
                          <a:solidFill>
                            <a:srgbClr val="FF0000"/>
                          </a:solidFill>
                          <a:uFill>
                            <a:solidFill>
                              <a:srgbClr val="000000"/>
                            </a:solidFill>
                          </a:uFill>
                          <a:latin typeface="Times New Roman"/>
                          <a:cs typeface="Times New Roman"/>
                        </a:rPr>
                        <a:t>	</a:t>
                      </a:r>
                      <a:r>
                        <a:rPr sz="1800" b="1" u="none" spc="-10" dirty="0">
                          <a:solidFill>
                            <a:srgbClr val="FF0000"/>
                          </a:solidFill>
                          <a:latin typeface="Courier New"/>
                          <a:cs typeface="Courier New"/>
                        </a:rPr>
                        <a:t>shared</a:t>
                      </a:r>
                      <a:r>
                        <a:rPr lang="en-US" sz="1800" b="1" u="none" spc="-10" dirty="0">
                          <a:solidFill>
                            <a:srgbClr val="FF0000"/>
                          </a:solidFill>
                          <a:uFill>
                            <a:solidFill>
                              <a:srgbClr val="000000"/>
                            </a:solidFill>
                          </a:uFill>
                          <a:latin typeface="Times New Roman"/>
                          <a:cs typeface="Times New Roman"/>
                        </a:rPr>
                        <a:t>__  </a:t>
                      </a:r>
                      <a:r>
                        <a:rPr sz="1800" b="1" u="none" spc="-10" dirty="0">
                          <a:latin typeface="Courier New"/>
                          <a:cs typeface="Courier New"/>
                        </a:rPr>
                        <a:t>float</a:t>
                      </a:r>
                      <a:r>
                        <a:rPr sz="1800" dirty="0">
                          <a:latin typeface="Times New Roman"/>
                          <a:cs typeface="Times New Roman"/>
                        </a:rPr>
                        <a:t>	</a:t>
                      </a:r>
                      <a:r>
                        <a:rPr sz="1800" b="1" spc="-10" dirty="0">
                          <a:latin typeface="Courier New"/>
                          <a:cs typeface="Courier New"/>
                        </a:rPr>
                        <a:t>sh_A[THREAD_BLOCK_SIZE];</a:t>
                      </a:r>
                      <a:r>
                        <a:rPr sz="1800" dirty="0">
                          <a:latin typeface="Times New Roman"/>
                          <a:cs typeface="Times New Roman"/>
                        </a:rPr>
                        <a:t>	</a:t>
                      </a:r>
                      <a:r>
                        <a:rPr sz="1800" b="1" spc="-25" dirty="0">
                          <a:latin typeface="Courier New"/>
                          <a:cs typeface="Courier New"/>
                        </a:rPr>
                        <a:t>//</a:t>
                      </a:r>
                      <a:r>
                        <a:rPr sz="1800" dirty="0">
                          <a:latin typeface="Times New Roman"/>
                          <a:cs typeface="Times New Roman"/>
                        </a:rPr>
                        <a:t>	</a:t>
                      </a:r>
                      <a:r>
                        <a:rPr sz="1800" b="1" spc="-10" dirty="0">
                          <a:latin typeface="Courier New"/>
                          <a:cs typeface="Courier New"/>
                        </a:rPr>
                        <a:t>array</a:t>
                      </a:r>
                      <a:r>
                        <a:rPr sz="1800" dirty="0">
                          <a:latin typeface="Times New Roman"/>
                          <a:cs typeface="Times New Roman"/>
                        </a:rPr>
                        <a:t>	</a:t>
                      </a:r>
                      <a:r>
                        <a:rPr sz="1800" b="1" spc="-25" dirty="0">
                          <a:latin typeface="Courier New"/>
                          <a:cs typeface="Courier New"/>
                        </a:rPr>
                        <a:t>in</a:t>
                      </a:r>
                      <a:endParaRPr sz="1800" dirty="0">
                        <a:latin typeface="Courier New"/>
                        <a:cs typeface="Courier New"/>
                      </a:endParaRPr>
                    </a:p>
                  </a:txBody>
                  <a:tcPr marL="0" marR="0" marT="0" marB="0"/>
                </a:tc>
                <a:tc>
                  <a:txBody>
                    <a:bodyPr/>
                    <a:lstStyle/>
                    <a:p>
                      <a:pPr algn="ctr">
                        <a:lnSpc>
                          <a:spcPct val="100000"/>
                        </a:lnSpc>
                      </a:pPr>
                      <a:r>
                        <a:rPr sz="1800" b="1" spc="-10" dirty="0">
                          <a:latin typeface="Courier New"/>
                          <a:cs typeface="Courier New"/>
                        </a:rPr>
                        <a:t>shared</a:t>
                      </a:r>
                      <a:endParaRPr sz="1800">
                        <a:latin typeface="Courier New"/>
                        <a:cs typeface="Courier New"/>
                      </a:endParaRPr>
                    </a:p>
                  </a:txBody>
                  <a:tcPr marL="0" marR="0" marT="0" marB="0"/>
                </a:tc>
                <a:tc>
                  <a:txBody>
                    <a:bodyPr/>
                    <a:lstStyle/>
                    <a:p>
                      <a:pPr marL="31115" algn="ctr">
                        <a:lnSpc>
                          <a:spcPts val="1760"/>
                        </a:lnSpc>
                      </a:pPr>
                      <a:r>
                        <a:rPr sz="1700" b="1" spc="-25" dirty="0">
                          <a:latin typeface="Courier New"/>
                          <a:cs typeface="Courier New"/>
                        </a:rPr>
                        <a:t>mem</a:t>
                      </a:r>
                      <a:endParaRPr sz="1700">
                        <a:latin typeface="Courier New"/>
                        <a:cs typeface="Courier New"/>
                      </a:endParaRPr>
                    </a:p>
                  </a:txBody>
                  <a:tcPr marL="0" marR="0" marT="0" marB="0"/>
                </a:tc>
                <a:extLst>
                  <a:ext uri="{0D108BD9-81ED-4DB2-BD59-A6C34878D82A}">
                    <a16:rowId xmlns:a16="http://schemas.microsoft.com/office/drawing/2014/main" val="10000"/>
                  </a:ext>
                </a:extLst>
              </a:tr>
              <a:tr h="602509">
                <a:tc>
                  <a:txBody>
                    <a:bodyPr/>
                    <a:lstStyle/>
                    <a:p>
                      <a:pPr marL="31750">
                        <a:lnSpc>
                          <a:spcPct val="100000"/>
                        </a:lnSpc>
                        <a:spcBef>
                          <a:spcPts val="750"/>
                        </a:spcBef>
                        <a:tabLst>
                          <a:tab pos="421640" algn="l"/>
                          <a:tab pos="942340" algn="l"/>
                          <a:tab pos="1983105" algn="l"/>
                          <a:tab pos="2633980" algn="l"/>
                          <a:tab pos="3806825" algn="l"/>
                          <a:tab pos="4196715" algn="l"/>
                          <a:tab pos="4847590" algn="l"/>
                          <a:tab pos="5368925" algn="l"/>
                          <a:tab pos="5629275" algn="l"/>
                          <a:tab pos="6409055" algn="l"/>
                        </a:tabLst>
                      </a:pPr>
                      <a:r>
                        <a:rPr sz="1800" b="1" spc="-25" dirty="0">
                          <a:latin typeface="Courier New"/>
                          <a:cs typeface="Courier New"/>
                        </a:rPr>
                        <a:t>//</a:t>
                      </a:r>
                      <a:r>
                        <a:rPr sz="1800" dirty="0">
                          <a:latin typeface="Times New Roman"/>
                          <a:cs typeface="Times New Roman"/>
                        </a:rPr>
                        <a:t>	</a:t>
                      </a:r>
                      <a:r>
                        <a:rPr sz="1800" b="1" spc="-25" dirty="0">
                          <a:solidFill>
                            <a:srgbClr val="C00000"/>
                          </a:solidFill>
                          <a:latin typeface="Courier New"/>
                          <a:cs typeface="Courier New"/>
                        </a:rPr>
                        <a:t>all</a:t>
                      </a:r>
                      <a:r>
                        <a:rPr sz="1800" dirty="0">
                          <a:solidFill>
                            <a:srgbClr val="C00000"/>
                          </a:solidFill>
                          <a:latin typeface="Times New Roman"/>
                          <a:cs typeface="Times New Roman"/>
                        </a:rPr>
                        <a:t>	</a:t>
                      </a:r>
                      <a:r>
                        <a:rPr sz="1800" b="1" spc="-10" dirty="0">
                          <a:solidFill>
                            <a:srgbClr val="C00000"/>
                          </a:solidFill>
                          <a:latin typeface="Courier New"/>
                          <a:cs typeface="Courier New"/>
                        </a:rPr>
                        <a:t>threads</a:t>
                      </a:r>
                      <a:r>
                        <a:rPr sz="1800" dirty="0">
                          <a:solidFill>
                            <a:srgbClr val="C00000"/>
                          </a:solidFill>
                          <a:latin typeface="Times New Roman"/>
                          <a:cs typeface="Times New Roman"/>
                        </a:rPr>
                        <a:t>	</a:t>
                      </a:r>
                      <a:r>
                        <a:rPr sz="1800" b="1" spc="-20" dirty="0">
                          <a:solidFill>
                            <a:srgbClr val="C00000"/>
                          </a:solidFill>
                          <a:latin typeface="Courier New"/>
                          <a:cs typeface="Courier New"/>
                        </a:rPr>
                        <a:t>work</a:t>
                      </a:r>
                      <a:r>
                        <a:rPr sz="1800" dirty="0">
                          <a:solidFill>
                            <a:srgbClr val="C00000"/>
                          </a:solidFill>
                          <a:latin typeface="Times New Roman"/>
                          <a:cs typeface="Times New Roman"/>
                        </a:rPr>
                        <a:t>	</a:t>
                      </a:r>
                      <a:r>
                        <a:rPr sz="1800" b="1" spc="-10" dirty="0">
                          <a:solidFill>
                            <a:srgbClr val="C00000"/>
                          </a:solidFill>
                          <a:latin typeface="Courier New"/>
                          <a:cs typeface="Courier New"/>
                        </a:rPr>
                        <a:t>together</a:t>
                      </a:r>
                      <a:r>
                        <a:rPr sz="1800" dirty="0">
                          <a:solidFill>
                            <a:srgbClr val="C00000"/>
                          </a:solidFill>
                          <a:latin typeface="Times New Roman"/>
                          <a:cs typeface="Times New Roman"/>
                        </a:rPr>
                        <a:t>	</a:t>
                      </a:r>
                      <a:r>
                        <a:rPr sz="1800" b="1" spc="-25" dirty="0">
                          <a:latin typeface="Courier New"/>
                          <a:cs typeface="Courier New"/>
                        </a:rPr>
                        <a:t>to</a:t>
                      </a:r>
                      <a:r>
                        <a:rPr sz="1800" dirty="0">
                          <a:latin typeface="Times New Roman"/>
                          <a:cs typeface="Times New Roman"/>
                        </a:rPr>
                        <a:t>	</a:t>
                      </a:r>
                      <a:r>
                        <a:rPr sz="1800" b="1" spc="-20" dirty="0">
                          <a:latin typeface="Courier New"/>
                          <a:cs typeface="Courier New"/>
                        </a:rPr>
                        <a:t>load</a:t>
                      </a:r>
                      <a:r>
                        <a:rPr sz="1800" dirty="0">
                          <a:latin typeface="Times New Roman"/>
                          <a:cs typeface="Times New Roman"/>
                        </a:rPr>
                        <a:t>	</a:t>
                      </a:r>
                      <a:r>
                        <a:rPr sz="1800" b="1" spc="-25" dirty="0">
                          <a:latin typeface="Courier New"/>
                          <a:cs typeface="Courier New"/>
                        </a:rPr>
                        <a:t>the</a:t>
                      </a:r>
                      <a:r>
                        <a:rPr sz="1800" dirty="0">
                          <a:latin typeface="Times New Roman"/>
                          <a:cs typeface="Times New Roman"/>
                        </a:rPr>
                        <a:t>	</a:t>
                      </a:r>
                      <a:r>
                        <a:rPr sz="1800" b="1" spc="-50" dirty="0">
                          <a:latin typeface="Courier New"/>
                          <a:cs typeface="Courier New"/>
                        </a:rPr>
                        <a:t>A</a:t>
                      </a:r>
                      <a:r>
                        <a:rPr sz="1800" dirty="0">
                          <a:latin typeface="Times New Roman"/>
                          <a:cs typeface="Times New Roman"/>
                        </a:rPr>
                        <a:t>	</a:t>
                      </a:r>
                      <a:r>
                        <a:rPr sz="1800" b="1" spc="-10" dirty="0">
                          <a:latin typeface="Courier New"/>
                          <a:cs typeface="Courier New"/>
                        </a:rPr>
                        <a:t>array</a:t>
                      </a:r>
                      <a:r>
                        <a:rPr sz="1800" dirty="0">
                          <a:latin typeface="Times New Roman"/>
                          <a:cs typeface="Times New Roman"/>
                        </a:rPr>
                        <a:t>	</a:t>
                      </a:r>
                      <a:r>
                        <a:rPr sz="1800" b="1" spc="-20" dirty="0">
                          <a:latin typeface="Courier New"/>
                          <a:cs typeface="Courier New"/>
                        </a:rPr>
                        <a:t>into</a:t>
                      </a:r>
                      <a:endParaRPr sz="1800" dirty="0">
                        <a:latin typeface="Courier New"/>
                        <a:cs typeface="Courier New"/>
                      </a:endParaRPr>
                    </a:p>
                    <a:p>
                      <a:pPr marL="31750">
                        <a:lnSpc>
                          <a:spcPct val="100000"/>
                        </a:lnSpc>
                        <a:tabLst>
                          <a:tab pos="2373630" algn="l"/>
                          <a:tab pos="2633980" algn="l"/>
                        </a:tabLst>
                      </a:pPr>
                      <a:r>
                        <a:rPr sz="2000" b="1" spc="-10" dirty="0">
                          <a:solidFill>
                            <a:srgbClr val="C00000"/>
                          </a:solidFill>
                          <a:latin typeface="Courier New"/>
                          <a:cs typeface="Courier New"/>
                        </a:rPr>
                        <a:t>sh_A[threadIdx.x]</a:t>
                      </a:r>
                      <a:r>
                        <a:rPr sz="2000" dirty="0">
                          <a:solidFill>
                            <a:srgbClr val="C00000"/>
                          </a:solidFill>
                          <a:latin typeface="Times New Roman"/>
                          <a:cs typeface="Times New Roman"/>
                        </a:rPr>
                        <a:t>	</a:t>
                      </a:r>
                      <a:r>
                        <a:rPr sz="2000" b="1" spc="-50" dirty="0">
                          <a:solidFill>
                            <a:srgbClr val="C00000"/>
                          </a:solidFill>
                          <a:latin typeface="Courier New"/>
                          <a:cs typeface="Courier New"/>
                        </a:rPr>
                        <a:t>=</a:t>
                      </a:r>
                      <a:r>
                        <a:rPr sz="2000" dirty="0">
                          <a:solidFill>
                            <a:srgbClr val="C00000"/>
                          </a:solidFill>
                          <a:latin typeface="Times New Roman"/>
                          <a:cs typeface="Times New Roman"/>
                        </a:rPr>
                        <a:t>	</a:t>
                      </a:r>
                      <a:r>
                        <a:rPr sz="2000" b="1" spc="-10" dirty="0">
                          <a:solidFill>
                            <a:srgbClr val="C00000"/>
                          </a:solidFill>
                          <a:latin typeface="Courier New"/>
                          <a:cs typeface="Courier New"/>
                        </a:rPr>
                        <a:t>A[threadIdx.x];</a:t>
                      </a:r>
                      <a:endParaRPr sz="2000" dirty="0">
                        <a:solidFill>
                          <a:srgbClr val="C00000"/>
                        </a:solidFill>
                        <a:latin typeface="Courier New"/>
                        <a:cs typeface="Courier New"/>
                      </a:endParaRPr>
                    </a:p>
                  </a:txBody>
                  <a:tcPr marL="0" marR="0" marT="95250" marB="0"/>
                </a:tc>
                <a:tc>
                  <a:txBody>
                    <a:bodyPr/>
                    <a:lstStyle/>
                    <a:p>
                      <a:pPr marL="635" algn="ctr">
                        <a:lnSpc>
                          <a:spcPct val="100000"/>
                        </a:lnSpc>
                        <a:spcBef>
                          <a:spcPts val="750"/>
                        </a:spcBef>
                      </a:pPr>
                      <a:r>
                        <a:rPr sz="1800" b="1" spc="-10" dirty="0">
                          <a:latin typeface="Courier New"/>
                          <a:cs typeface="Courier New"/>
                        </a:rPr>
                        <a:t>shared</a:t>
                      </a:r>
                      <a:endParaRPr sz="1800">
                        <a:latin typeface="Courier New"/>
                        <a:cs typeface="Courier New"/>
                      </a:endParaRPr>
                    </a:p>
                  </a:txBody>
                  <a:tcPr marL="0" marR="0" marT="95250" marB="0"/>
                </a:tc>
                <a:tc>
                  <a:txBody>
                    <a:bodyPr/>
                    <a:lstStyle/>
                    <a:p>
                      <a:pPr marL="35560" algn="ctr">
                        <a:lnSpc>
                          <a:spcPct val="100000"/>
                        </a:lnSpc>
                        <a:spcBef>
                          <a:spcPts val="750"/>
                        </a:spcBef>
                      </a:pPr>
                      <a:r>
                        <a:rPr sz="1700" b="1" spc="-25" dirty="0">
                          <a:latin typeface="Courier New"/>
                          <a:cs typeface="Courier New"/>
                        </a:rPr>
                        <a:t>mem</a:t>
                      </a:r>
                      <a:endParaRPr sz="1700" dirty="0">
                        <a:latin typeface="Courier New"/>
                        <a:cs typeface="Courier New"/>
                      </a:endParaRPr>
                    </a:p>
                  </a:txBody>
                  <a:tcPr marL="0" marR="0" marT="95250" marB="0"/>
                </a:tc>
                <a:extLst>
                  <a:ext uri="{0D108BD9-81ED-4DB2-BD59-A6C34878D82A}">
                    <a16:rowId xmlns:a16="http://schemas.microsoft.com/office/drawing/2014/main" val="10001"/>
                  </a:ext>
                </a:extLst>
              </a:tr>
              <a:tr h="379095">
                <a:tc>
                  <a:txBody>
                    <a:bodyPr/>
                    <a:lstStyle/>
                    <a:p>
                      <a:pPr marR="26670" algn="ctr">
                        <a:lnSpc>
                          <a:spcPct val="100000"/>
                        </a:lnSpc>
                        <a:spcBef>
                          <a:spcPts val="775"/>
                        </a:spcBef>
                        <a:tabLst>
                          <a:tab pos="258445" algn="l"/>
                          <a:tab pos="2212340" algn="l"/>
                          <a:tab pos="2601595" algn="l"/>
                          <a:tab pos="3253104" algn="l"/>
                          <a:tab pos="3773804" algn="l"/>
                          <a:tab pos="4295140" algn="l"/>
                          <a:tab pos="5335905" algn="l"/>
                          <a:tab pos="5725160" algn="l"/>
                          <a:tab pos="6247130" algn="l"/>
                        </a:tabLst>
                      </a:pPr>
                      <a:r>
                        <a:rPr sz="1800" u="sng" dirty="0">
                          <a:solidFill>
                            <a:srgbClr val="FF0000"/>
                          </a:solidFill>
                          <a:uFill>
                            <a:solidFill>
                              <a:srgbClr val="000000"/>
                            </a:solidFill>
                          </a:uFill>
                          <a:latin typeface="Times New Roman"/>
                          <a:cs typeface="Times New Roman"/>
                        </a:rPr>
                        <a:t>	</a:t>
                      </a:r>
                      <a:r>
                        <a:rPr sz="1800" b="1" spc="-10" dirty="0">
                          <a:solidFill>
                            <a:srgbClr val="FF0000"/>
                          </a:solidFill>
                          <a:latin typeface="Courier New"/>
                          <a:cs typeface="Courier New"/>
                        </a:rPr>
                        <a:t>syncthreads();</a:t>
                      </a:r>
                      <a:r>
                        <a:rPr sz="1800" dirty="0">
                          <a:latin typeface="Times New Roman"/>
                          <a:cs typeface="Times New Roman"/>
                        </a:rPr>
                        <a:t>	</a:t>
                      </a:r>
                      <a:r>
                        <a:rPr sz="1800" b="1" spc="-25" dirty="0">
                          <a:latin typeface="Courier New"/>
                          <a:cs typeface="Courier New"/>
                        </a:rPr>
                        <a:t>//</a:t>
                      </a:r>
                      <a:r>
                        <a:rPr sz="1800" dirty="0">
                          <a:latin typeface="Times New Roman"/>
                          <a:cs typeface="Times New Roman"/>
                        </a:rPr>
                        <a:t>	</a:t>
                      </a:r>
                      <a:r>
                        <a:rPr sz="1800" b="1" spc="-20" dirty="0">
                          <a:latin typeface="Courier New"/>
                          <a:cs typeface="Courier New"/>
                        </a:rPr>
                        <a:t>wait</a:t>
                      </a:r>
                      <a:r>
                        <a:rPr sz="1800" dirty="0">
                          <a:latin typeface="Times New Roman"/>
                          <a:cs typeface="Times New Roman"/>
                        </a:rPr>
                        <a:t>	</a:t>
                      </a:r>
                      <a:r>
                        <a:rPr sz="1800" b="1" spc="-25" dirty="0">
                          <a:latin typeface="Courier New"/>
                          <a:cs typeface="Courier New"/>
                        </a:rPr>
                        <a:t>for</a:t>
                      </a:r>
                      <a:r>
                        <a:rPr sz="1800" dirty="0">
                          <a:latin typeface="Times New Roman"/>
                          <a:cs typeface="Times New Roman"/>
                        </a:rPr>
                        <a:t>	</a:t>
                      </a:r>
                      <a:r>
                        <a:rPr sz="1800" b="1" spc="-25" dirty="0">
                          <a:latin typeface="Courier New"/>
                          <a:cs typeface="Courier New"/>
                        </a:rPr>
                        <a:t>all</a:t>
                      </a:r>
                      <a:r>
                        <a:rPr sz="1800" dirty="0">
                          <a:latin typeface="Times New Roman"/>
                          <a:cs typeface="Times New Roman"/>
                        </a:rPr>
                        <a:t>	</a:t>
                      </a:r>
                      <a:r>
                        <a:rPr sz="1800" b="1" spc="-10" dirty="0">
                          <a:latin typeface="Courier New"/>
                          <a:cs typeface="Courier New"/>
                        </a:rPr>
                        <a:t>threads</a:t>
                      </a:r>
                      <a:r>
                        <a:rPr sz="1800" dirty="0">
                          <a:latin typeface="Times New Roman"/>
                          <a:cs typeface="Times New Roman"/>
                        </a:rPr>
                        <a:t>	</a:t>
                      </a:r>
                      <a:r>
                        <a:rPr sz="1800" b="1" spc="-25" dirty="0">
                          <a:latin typeface="Courier New"/>
                          <a:cs typeface="Courier New"/>
                        </a:rPr>
                        <a:t>in</a:t>
                      </a:r>
                      <a:r>
                        <a:rPr sz="1800" dirty="0">
                          <a:latin typeface="Times New Roman"/>
                          <a:cs typeface="Times New Roman"/>
                        </a:rPr>
                        <a:t>	</a:t>
                      </a:r>
                      <a:r>
                        <a:rPr sz="1800" b="1" spc="-25" dirty="0">
                          <a:latin typeface="Courier New"/>
                          <a:cs typeface="Courier New"/>
                        </a:rPr>
                        <a:t>the</a:t>
                      </a:r>
                      <a:r>
                        <a:rPr sz="1800" dirty="0">
                          <a:latin typeface="Times New Roman"/>
                          <a:cs typeface="Times New Roman"/>
                        </a:rPr>
                        <a:t>	</a:t>
                      </a:r>
                      <a:r>
                        <a:rPr sz="1800" b="1" spc="-10" dirty="0">
                          <a:latin typeface="Courier New"/>
                          <a:cs typeface="Courier New"/>
                        </a:rPr>
                        <a:t>block</a:t>
                      </a:r>
                      <a:endParaRPr sz="1800" dirty="0">
                        <a:latin typeface="Courier New"/>
                        <a:cs typeface="Courier New"/>
                      </a:endParaRPr>
                    </a:p>
                  </a:txBody>
                  <a:tcPr marL="0" marR="0" marT="98425" marB="0"/>
                </a:tc>
                <a:tc>
                  <a:txBody>
                    <a:bodyPr/>
                    <a:lstStyle/>
                    <a:p>
                      <a:pPr>
                        <a:lnSpc>
                          <a:spcPct val="100000"/>
                        </a:lnSpc>
                      </a:pPr>
                      <a:endParaRPr sz="1800" dirty="0">
                        <a:latin typeface="Times New Roman"/>
                        <a:cs typeface="Times New Roman"/>
                      </a:endParaRPr>
                    </a:p>
                  </a:txBody>
                  <a:tcPr marL="0" marR="0" marT="0" marB="0"/>
                </a:tc>
                <a:tc>
                  <a:txBody>
                    <a:bodyPr/>
                    <a:lstStyle/>
                    <a:p>
                      <a:pPr>
                        <a:lnSpc>
                          <a:spcPct val="100000"/>
                        </a:lnSpc>
                      </a:pPr>
                      <a:endParaRPr sz="1700" dirty="0">
                        <a:latin typeface="Times New Roman"/>
                        <a:cs typeface="Times New Roman"/>
                      </a:endParaRPr>
                    </a:p>
                  </a:txBody>
                  <a:tcPr marL="0" marR="0" marT="0" marB="0"/>
                </a:tc>
                <a:extLst>
                  <a:ext uri="{0D108BD9-81ED-4DB2-BD59-A6C34878D82A}">
                    <a16:rowId xmlns:a16="http://schemas.microsoft.com/office/drawing/2014/main" val="10002"/>
                  </a:ext>
                </a:extLst>
              </a:tr>
            </a:tbl>
          </a:graphicData>
        </a:graphic>
      </p:graphicFrame>
      <p:sp>
        <p:nvSpPr>
          <p:cNvPr id="6" name="object 6"/>
          <p:cNvSpPr txBox="1"/>
          <p:nvPr/>
        </p:nvSpPr>
        <p:spPr>
          <a:xfrm>
            <a:off x="533400" y="3587069"/>
            <a:ext cx="11658600" cy="2893741"/>
          </a:xfrm>
          <a:prstGeom prst="rect">
            <a:avLst/>
          </a:prstGeom>
        </p:spPr>
        <p:txBody>
          <a:bodyPr vert="horz" wrap="square" lIns="0" tIns="12700" rIns="0" bIns="0" rtlCol="0">
            <a:spAutoFit/>
          </a:bodyPr>
          <a:lstStyle/>
          <a:p>
            <a:pPr marL="273050" algn="l">
              <a:lnSpc>
                <a:spcPts val="1835"/>
              </a:lnSpc>
              <a:tabLst>
                <a:tab pos="662305" algn="l"/>
                <a:tab pos="1184275" algn="l"/>
                <a:tab pos="2224405" algn="l"/>
                <a:tab pos="2614295" algn="l"/>
                <a:tab pos="3265170" algn="l"/>
                <a:tab pos="4176395" algn="l"/>
                <a:tab pos="4958080" algn="l"/>
                <a:tab pos="5479415" algn="l"/>
                <a:tab pos="6130290" algn="l"/>
                <a:tab pos="6649720" algn="l"/>
              </a:tabLst>
            </a:pPr>
            <a:r>
              <a:rPr lang="en-US" b="1" spc="-25" dirty="0">
                <a:latin typeface="Courier New" panose="02070309020205020404" pitchFamily="49" charset="0"/>
                <a:cs typeface="Courier New" panose="02070309020205020404" pitchFamily="49" charset="0"/>
              </a:rPr>
              <a:t>  </a:t>
            </a:r>
            <a:r>
              <a:rPr b="1" spc="-25" dirty="0">
                <a:latin typeface="Courier New" panose="02070309020205020404" pitchFamily="49" charset="0"/>
                <a:cs typeface="Courier New" panose="02070309020205020404" pitchFamily="49" charset="0"/>
              </a:rPr>
              <a:t>//</a:t>
            </a:r>
            <a:r>
              <a:rPr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Now </a:t>
            </a:r>
            <a:r>
              <a:rPr lang="en-US" dirty="0" err="1">
                <a:latin typeface="Courier New" panose="02070309020205020404" pitchFamily="49" charset="0"/>
                <a:cs typeface="Courier New" panose="02070309020205020404" pitchFamily="49" charset="0"/>
              </a:rPr>
              <a:t>sh_A</a:t>
            </a:r>
            <a:r>
              <a:rPr lang="en-US" dirty="0">
                <a:latin typeface="Courier New" panose="02070309020205020404" pitchFamily="49" charset="0"/>
                <a:cs typeface="Courier New" panose="02070309020205020404" pitchFamily="49" charset="0"/>
              </a:rPr>
              <a:t> can be used. </a:t>
            </a:r>
            <a:r>
              <a:rPr spc="-25" dirty="0">
                <a:latin typeface="Courier New" panose="02070309020205020404" pitchFamily="49" charset="0"/>
                <a:cs typeface="Courier New" panose="02070309020205020404" pitchFamily="49" charset="0"/>
              </a:rPr>
              <a:t>All</a:t>
            </a:r>
            <a:r>
              <a:rPr lang="en-US" spc="-25" dirty="0">
                <a:latin typeface="Courier New" panose="02070309020205020404" pitchFamily="49" charset="0"/>
                <a:cs typeface="Courier New" panose="02070309020205020404" pitchFamily="49" charset="0"/>
              </a:rPr>
              <a:t> </a:t>
            </a:r>
            <a:r>
              <a:rPr spc="-10" dirty="0">
                <a:latin typeface="Courier New" panose="02070309020205020404" pitchFamily="49" charset="0"/>
                <a:cs typeface="Courier New" panose="02070309020205020404" pitchFamily="49" charset="0"/>
              </a:rPr>
              <a:t>threads</a:t>
            </a:r>
            <a:r>
              <a:rPr lang="en-US" spc="-10" dirty="0">
                <a:latin typeface="Courier New" panose="02070309020205020404" pitchFamily="49" charset="0"/>
                <a:cs typeface="Courier New" panose="02070309020205020404" pitchFamily="49" charset="0"/>
              </a:rPr>
              <a:t> </a:t>
            </a:r>
            <a:r>
              <a:rPr spc="-25" dirty="0">
                <a:latin typeface="Courier New" panose="02070309020205020404" pitchFamily="49" charset="0"/>
                <a:cs typeface="Courier New" panose="02070309020205020404" pitchFamily="49" charset="0"/>
              </a:rPr>
              <a:t>in</a:t>
            </a:r>
            <a:r>
              <a:rPr lang="en-US" spc="-25" dirty="0">
                <a:latin typeface="Courier New" panose="02070309020205020404" pitchFamily="49" charset="0"/>
                <a:cs typeface="Courier New" panose="02070309020205020404" pitchFamily="49" charset="0"/>
              </a:rPr>
              <a:t> </a:t>
            </a:r>
            <a:r>
              <a:rPr spc="-20" dirty="0">
                <a:latin typeface="Courier New" panose="02070309020205020404" pitchFamily="49" charset="0"/>
                <a:cs typeface="Courier New" panose="02070309020205020404" pitchFamily="49" charset="0"/>
              </a:rPr>
              <a:t>this</a:t>
            </a:r>
            <a:r>
              <a:rPr lang="en-US" spc="-20" dirty="0">
                <a:latin typeface="Courier New" panose="02070309020205020404" pitchFamily="49" charset="0"/>
                <a:cs typeface="Courier New" panose="02070309020205020404" pitchFamily="49" charset="0"/>
              </a:rPr>
              <a:t> </a:t>
            </a:r>
            <a:r>
              <a:rPr spc="-10" dirty="0">
                <a:latin typeface="Courier New" panose="02070309020205020404" pitchFamily="49" charset="0"/>
                <a:cs typeface="Courier New" panose="02070309020205020404" pitchFamily="49" charset="0"/>
              </a:rPr>
              <a:t>thread</a:t>
            </a:r>
            <a:r>
              <a:rPr lang="en-US" spc="-10" dirty="0">
                <a:latin typeface="Courier New" panose="02070309020205020404" pitchFamily="49" charset="0"/>
                <a:cs typeface="Courier New" panose="02070309020205020404" pitchFamily="49" charset="0"/>
              </a:rPr>
              <a:t> </a:t>
            </a:r>
            <a:r>
              <a:rPr spc="-10" dirty="0">
                <a:latin typeface="Courier New" panose="02070309020205020404" pitchFamily="49" charset="0"/>
                <a:cs typeface="Courier New" panose="02070309020205020404" pitchFamily="49" charset="0"/>
              </a:rPr>
              <a:t>block</a:t>
            </a:r>
            <a:r>
              <a:rPr lang="en-US" spc="-10" dirty="0">
                <a:latin typeface="Courier New" panose="02070309020205020404" pitchFamily="49" charset="0"/>
                <a:cs typeface="Courier New" panose="02070309020205020404" pitchFamily="49" charset="0"/>
              </a:rPr>
              <a:t> </a:t>
            </a:r>
            <a:r>
              <a:rPr spc="-25" dirty="0">
                <a:latin typeface="Courier New" panose="02070309020205020404" pitchFamily="49" charset="0"/>
                <a:cs typeface="Courier New" panose="02070309020205020404" pitchFamily="49" charset="0"/>
              </a:rPr>
              <a:t>can</a:t>
            </a:r>
            <a:r>
              <a:rPr lang="en-US" spc="-25" dirty="0">
                <a:latin typeface="Courier New" panose="02070309020205020404" pitchFamily="49" charset="0"/>
                <a:cs typeface="Courier New" panose="02070309020205020404" pitchFamily="49" charset="0"/>
              </a:rPr>
              <a:t> </a:t>
            </a:r>
            <a:r>
              <a:rPr spc="-20" dirty="0">
                <a:latin typeface="Courier New" panose="02070309020205020404" pitchFamily="49" charset="0"/>
                <a:cs typeface="Courier New" panose="02070309020205020404" pitchFamily="49" charset="0"/>
              </a:rPr>
              <a:t>read</a:t>
            </a:r>
            <a:r>
              <a:rPr lang="en-US" spc="-20" dirty="0">
                <a:latin typeface="Courier New" panose="02070309020205020404" pitchFamily="49" charset="0"/>
                <a:cs typeface="Courier New" panose="02070309020205020404" pitchFamily="49" charset="0"/>
              </a:rPr>
              <a:t> </a:t>
            </a:r>
            <a:r>
              <a:rPr spc="-25" dirty="0">
                <a:latin typeface="Courier New" panose="02070309020205020404" pitchFamily="49" charset="0"/>
                <a:cs typeface="Courier New" panose="02070309020205020404" pitchFamily="49" charset="0"/>
              </a:rPr>
              <a:t>all</a:t>
            </a:r>
            <a:r>
              <a:rPr lang="en-US" spc="-25" dirty="0">
                <a:latin typeface="Courier New" panose="02070309020205020404" pitchFamily="49" charset="0"/>
                <a:cs typeface="Courier New" panose="02070309020205020404" pitchFamily="49" charset="0"/>
              </a:rPr>
              <a:t> </a:t>
            </a:r>
            <a:r>
              <a:rPr spc="-10" dirty="0">
                <a:latin typeface="Courier New" panose="02070309020205020404" pitchFamily="49" charset="0"/>
                <a:cs typeface="Courier New" panose="02070309020205020404" pitchFamily="49" charset="0"/>
              </a:rPr>
              <a:t>elements</a:t>
            </a:r>
            <a:endParaRPr dirty="0">
              <a:latin typeface="Courier New" panose="02070309020205020404" pitchFamily="49" charset="0"/>
              <a:cs typeface="Courier New" panose="02070309020205020404" pitchFamily="49" charset="0"/>
            </a:endParaRPr>
          </a:p>
          <a:p>
            <a:pPr marL="12700"/>
            <a:r>
              <a:rPr lang="en-US" b="1" spc="-50" dirty="0">
                <a:latin typeface="Courier New" panose="02070309020205020404" pitchFamily="49" charset="0"/>
                <a:cs typeface="Courier New" panose="02070309020205020404" pitchFamily="49" charset="0"/>
              </a:rPr>
              <a:t> </a:t>
            </a:r>
            <a:r>
              <a:rPr b="1" spc="-50" dirty="0">
                <a:latin typeface="Courier New" panose="02070309020205020404" pitchFamily="49" charset="0"/>
                <a:cs typeface="Courier New" panose="02070309020205020404" pitchFamily="49" charset="0"/>
              </a:rPr>
              <a:t>}</a:t>
            </a:r>
            <a:endParaRPr dirty="0">
              <a:latin typeface="Courier New" panose="02070309020205020404" pitchFamily="49" charset="0"/>
              <a:cs typeface="Courier New" panose="02070309020205020404" pitchFamily="49" charset="0"/>
            </a:endParaRPr>
          </a:p>
          <a:p>
            <a:pPr>
              <a:spcBef>
                <a:spcPts val="465"/>
              </a:spcBef>
            </a:pPr>
            <a:endParaRPr sz="1700" dirty="0">
              <a:latin typeface="Courier New"/>
              <a:cs typeface="Courier New"/>
            </a:endParaRPr>
          </a:p>
          <a:p>
            <a:pPr marL="194310" indent="-181610">
              <a:buClr>
                <a:srgbClr val="4F80BC"/>
              </a:buClr>
              <a:buSzPct val="85294"/>
              <a:buChar char="•"/>
              <a:tabLst>
                <a:tab pos="194310" algn="l"/>
                <a:tab pos="3942079" algn="l"/>
                <a:tab pos="5045710" algn="l"/>
              </a:tabLst>
            </a:pPr>
            <a:r>
              <a:rPr sz="2000" spc="-10" dirty="0">
                <a:latin typeface="Arial"/>
                <a:cs typeface="Arial"/>
              </a:rPr>
              <a:t>Variables </a:t>
            </a:r>
            <a:r>
              <a:rPr sz="2000" dirty="0">
                <a:latin typeface="Arial"/>
                <a:cs typeface="Arial"/>
              </a:rPr>
              <a:t>have to be declared using </a:t>
            </a:r>
            <a:r>
              <a:rPr lang="en-US" sz="2000" b="1" u="sng" dirty="0">
                <a:uFill>
                  <a:solidFill>
                    <a:srgbClr val="000000"/>
                  </a:solidFill>
                </a:uFill>
                <a:latin typeface="Times New Roman"/>
                <a:cs typeface="Times New Roman"/>
              </a:rPr>
              <a:t>__</a:t>
            </a:r>
            <a:r>
              <a:rPr sz="2000" b="1" spc="-10" dirty="0">
                <a:latin typeface="Courier New"/>
                <a:cs typeface="Courier New"/>
              </a:rPr>
              <a:t>shared</a:t>
            </a:r>
            <a:r>
              <a:rPr lang="en-US" sz="2000" b="1" u="sng" spc="-10" dirty="0">
                <a:uFill>
                  <a:solidFill>
                    <a:srgbClr val="000000"/>
                  </a:solidFill>
                </a:uFill>
                <a:latin typeface="Times New Roman"/>
                <a:cs typeface="Times New Roman"/>
              </a:rPr>
              <a:t>__</a:t>
            </a:r>
            <a:r>
              <a:rPr lang="en-US" sz="2000" b="1" spc="-10" dirty="0">
                <a:latin typeface="Arial"/>
                <a:cs typeface="Arial"/>
              </a:rPr>
              <a:t> </a:t>
            </a:r>
            <a:r>
              <a:rPr lang="en-US" sz="2000" spc="-10" dirty="0">
                <a:latin typeface="Arial"/>
                <a:cs typeface="Arial"/>
              </a:rPr>
              <a:t>q</a:t>
            </a:r>
            <a:r>
              <a:rPr sz="2000" spc="-10" dirty="0">
                <a:latin typeface="Arial"/>
                <a:cs typeface="Arial"/>
              </a:rPr>
              <a:t>ualifier,</a:t>
            </a:r>
            <a:r>
              <a:rPr sz="2000" spc="-35" dirty="0">
                <a:latin typeface="Arial"/>
                <a:cs typeface="Arial"/>
              </a:rPr>
              <a:t> </a:t>
            </a:r>
            <a:r>
              <a:rPr sz="2000" dirty="0">
                <a:latin typeface="Arial"/>
                <a:cs typeface="Arial"/>
              </a:rPr>
              <a:t>size</a:t>
            </a:r>
            <a:r>
              <a:rPr sz="2000" spc="-25" dirty="0">
                <a:latin typeface="Arial"/>
                <a:cs typeface="Arial"/>
              </a:rPr>
              <a:t> </a:t>
            </a:r>
            <a:r>
              <a:rPr sz="2000" dirty="0">
                <a:latin typeface="Arial"/>
                <a:cs typeface="Arial"/>
              </a:rPr>
              <a:t>known</a:t>
            </a:r>
            <a:r>
              <a:rPr sz="2000" spc="-10" dirty="0">
                <a:latin typeface="Arial"/>
                <a:cs typeface="Arial"/>
              </a:rPr>
              <a:t> </a:t>
            </a:r>
            <a:r>
              <a:rPr sz="2000" dirty="0">
                <a:latin typeface="Arial"/>
                <a:cs typeface="Arial"/>
              </a:rPr>
              <a:t>at</a:t>
            </a:r>
            <a:r>
              <a:rPr sz="2000" spc="-25" dirty="0">
                <a:latin typeface="Arial"/>
                <a:cs typeface="Arial"/>
              </a:rPr>
              <a:t> </a:t>
            </a:r>
            <a:r>
              <a:rPr sz="2000" dirty="0">
                <a:latin typeface="Arial"/>
                <a:cs typeface="Arial"/>
              </a:rPr>
              <a:t>compile</a:t>
            </a:r>
            <a:r>
              <a:rPr sz="2000" spc="-25" dirty="0">
                <a:latin typeface="Arial"/>
                <a:cs typeface="Arial"/>
              </a:rPr>
              <a:t> </a:t>
            </a:r>
            <a:r>
              <a:rPr sz="2000" spc="-20" dirty="0">
                <a:latin typeface="Arial"/>
                <a:cs typeface="Arial"/>
              </a:rPr>
              <a:t>time</a:t>
            </a:r>
            <a:endParaRPr sz="2000" dirty="0">
              <a:latin typeface="Arial"/>
              <a:cs typeface="Arial"/>
            </a:endParaRPr>
          </a:p>
          <a:p>
            <a:pPr marL="194310" indent="-181610">
              <a:spcBef>
                <a:spcPts val="520"/>
              </a:spcBef>
              <a:buClr>
                <a:srgbClr val="4F80BC"/>
              </a:buClr>
              <a:buSzPct val="85294"/>
              <a:buChar char="•"/>
              <a:tabLst>
                <a:tab pos="194310" algn="l"/>
              </a:tabLst>
            </a:pPr>
            <a:r>
              <a:rPr sz="2000" dirty="0">
                <a:latin typeface="Arial"/>
                <a:cs typeface="Arial"/>
              </a:rPr>
              <a:t>In</a:t>
            </a:r>
            <a:r>
              <a:rPr sz="2000" spc="-20" dirty="0">
                <a:latin typeface="Arial"/>
                <a:cs typeface="Arial"/>
              </a:rPr>
              <a:t> </a:t>
            </a:r>
            <a:r>
              <a:rPr sz="2000" dirty="0">
                <a:latin typeface="Arial"/>
                <a:cs typeface="Arial"/>
              </a:rPr>
              <a:t>the</a:t>
            </a:r>
            <a:r>
              <a:rPr sz="2000" spc="-10" dirty="0">
                <a:latin typeface="Arial"/>
                <a:cs typeface="Arial"/>
              </a:rPr>
              <a:t> </a:t>
            </a:r>
            <a:r>
              <a:rPr sz="2000" dirty="0">
                <a:latin typeface="Arial"/>
                <a:cs typeface="Arial"/>
              </a:rPr>
              <a:t>scope</a:t>
            </a:r>
            <a:r>
              <a:rPr sz="2000" spc="-20" dirty="0">
                <a:latin typeface="Arial"/>
                <a:cs typeface="Arial"/>
              </a:rPr>
              <a:t> </a:t>
            </a:r>
            <a:r>
              <a:rPr sz="2000" dirty="0">
                <a:latin typeface="Arial"/>
                <a:cs typeface="Arial"/>
              </a:rPr>
              <a:t>of</a:t>
            </a:r>
            <a:r>
              <a:rPr sz="2000" spc="-20" dirty="0">
                <a:latin typeface="Arial"/>
                <a:cs typeface="Arial"/>
              </a:rPr>
              <a:t> </a:t>
            </a:r>
            <a:r>
              <a:rPr sz="2000" dirty="0">
                <a:solidFill>
                  <a:srgbClr val="C00000"/>
                </a:solidFill>
                <a:latin typeface="Arial"/>
                <a:cs typeface="Arial"/>
              </a:rPr>
              <a:t>thread</a:t>
            </a:r>
            <a:r>
              <a:rPr sz="2000" spc="-10" dirty="0">
                <a:solidFill>
                  <a:srgbClr val="C00000"/>
                </a:solidFill>
                <a:latin typeface="Arial"/>
                <a:cs typeface="Arial"/>
              </a:rPr>
              <a:t> </a:t>
            </a:r>
            <a:r>
              <a:rPr sz="2000" dirty="0">
                <a:solidFill>
                  <a:srgbClr val="C00000"/>
                </a:solidFill>
                <a:latin typeface="Arial"/>
                <a:cs typeface="Arial"/>
              </a:rPr>
              <a:t>block</a:t>
            </a:r>
            <a:r>
              <a:rPr sz="2000" dirty="0">
                <a:latin typeface="Arial"/>
                <a:cs typeface="Arial"/>
              </a:rPr>
              <a:t>,</a:t>
            </a:r>
            <a:r>
              <a:rPr sz="2000" spc="-35" dirty="0">
                <a:latin typeface="Arial"/>
                <a:cs typeface="Arial"/>
              </a:rPr>
              <a:t> </a:t>
            </a:r>
            <a:r>
              <a:rPr sz="2000" dirty="0">
                <a:latin typeface="Arial"/>
                <a:cs typeface="Arial"/>
              </a:rPr>
              <a:t>all</a:t>
            </a:r>
            <a:r>
              <a:rPr sz="2000" spc="-35" dirty="0">
                <a:latin typeface="Arial"/>
                <a:cs typeface="Arial"/>
              </a:rPr>
              <a:t> </a:t>
            </a:r>
            <a:r>
              <a:rPr sz="2000" dirty="0">
                <a:latin typeface="Arial"/>
                <a:cs typeface="Arial"/>
              </a:rPr>
              <a:t>threads</a:t>
            </a:r>
            <a:r>
              <a:rPr sz="2000" spc="-10" dirty="0">
                <a:latin typeface="Arial"/>
                <a:cs typeface="Arial"/>
              </a:rPr>
              <a:t> </a:t>
            </a:r>
            <a:r>
              <a:rPr sz="2000" dirty="0">
                <a:latin typeface="Arial"/>
                <a:cs typeface="Arial"/>
              </a:rPr>
              <a:t>in</a:t>
            </a:r>
            <a:r>
              <a:rPr sz="2000" spc="-30" dirty="0">
                <a:latin typeface="Arial"/>
                <a:cs typeface="Arial"/>
              </a:rPr>
              <a:t> </a:t>
            </a:r>
            <a:r>
              <a:rPr sz="2000" dirty="0">
                <a:latin typeface="Arial"/>
                <a:cs typeface="Arial"/>
              </a:rPr>
              <a:t>this</a:t>
            </a:r>
            <a:r>
              <a:rPr sz="2000" spc="-30" dirty="0">
                <a:latin typeface="Arial"/>
                <a:cs typeface="Arial"/>
              </a:rPr>
              <a:t> </a:t>
            </a:r>
            <a:r>
              <a:rPr sz="2000" dirty="0">
                <a:latin typeface="Arial"/>
                <a:cs typeface="Arial"/>
              </a:rPr>
              <a:t>thread</a:t>
            </a:r>
            <a:r>
              <a:rPr sz="2000" spc="-5" dirty="0">
                <a:latin typeface="Arial"/>
                <a:cs typeface="Arial"/>
              </a:rPr>
              <a:t> </a:t>
            </a:r>
            <a:r>
              <a:rPr sz="2000" dirty="0">
                <a:latin typeface="Arial"/>
                <a:cs typeface="Arial"/>
              </a:rPr>
              <a:t>block</a:t>
            </a:r>
            <a:r>
              <a:rPr sz="2000" spc="-30" dirty="0">
                <a:latin typeface="Arial"/>
                <a:cs typeface="Arial"/>
              </a:rPr>
              <a:t> </a:t>
            </a:r>
            <a:r>
              <a:rPr sz="2000" dirty="0">
                <a:latin typeface="Arial"/>
                <a:cs typeface="Arial"/>
              </a:rPr>
              <a:t>see</a:t>
            </a:r>
            <a:r>
              <a:rPr sz="2000" spc="-20" dirty="0">
                <a:latin typeface="Arial"/>
                <a:cs typeface="Arial"/>
              </a:rPr>
              <a:t> </a:t>
            </a:r>
            <a:r>
              <a:rPr sz="2000" dirty="0">
                <a:latin typeface="Arial"/>
                <a:cs typeface="Arial"/>
              </a:rPr>
              <a:t>the</a:t>
            </a:r>
            <a:r>
              <a:rPr sz="2000" spc="-20" dirty="0">
                <a:latin typeface="Arial"/>
                <a:cs typeface="Arial"/>
              </a:rPr>
              <a:t> </a:t>
            </a:r>
            <a:r>
              <a:rPr sz="2000" dirty="0">
                <a:latin typeface="Arial"/>
                <a:cs typeface="Arial"/>
              </a:rPr>
              <a:t>same</a:t>
            </a:r>
            <a:r>
              <a:rPr sz="2000" spc="-25" dirty="0">
                <a:latin typeface="Arial"/>
                <a:cs typeface="Arial"/>
              </a:rPr>
              <a:t> </a:t>
            </a:r>
            <a:r>
              <a:rPr sz="2000" dirty="0">
                <a:latin typeface="Arial"/>
                <a:cs typeface="Arial"/>
              </a:rPr>
              <a:t>piece</a:t>
            </a:r>
            <a:r>
              <a:rPr sz="2000" spc="-20" dirty="0">
                <a:latin typeface="Arial"/>
                <a:cs typeface="Arial"/>
              </a:rPr>
              <a:t> </a:t>
            </a:r>
            <a:r>
              <a:rPr sz="2000" dirty="0">
                <a:latin typeface="Arial"/>
                <a:cs typeface="Arial"/>
              </a:rPr>
              <a:t>of</a:t>
            </a:r>
            <a:r>
              <a:rPr sz="2000" spc="-30" dirty="0">
                <a:latin typeface="Arial"/>
                <a:cs typeface="Arial"/>
              </a:rPr>
              <a:t> </a:t>
            </a:r>
            <a:r>
              <a:rPr sz="2000" spc="-10" dirty="0">
                <a:latin typeface="Arial"/>
                <a:cs typeface="Arial"/>
              </a:rPr>
              <a:t>memory</a:t>
            </a:r>
            <a:endParaRPr sz="2000" dirty="0">
              <a:latin typeface="Arial"/>
              <a:cs typeface="Arial"/>
            </a:endParaRPr>
          </a:p>
          <a:p>
            <a:pPr marL="194310" indent="-181610">
              <a:spcBef>
                <a:spcPts val="405"/>
              </a:spcBef>
              <a:buClr>
                <a:srgbClr val="4F80BC"/>
              </a:buClr>
              <a:buSzPct val="85294"/>
              <a:buChar char="•"/>
              <a:tabLst>
                <a:tab pos="194310" algn="l"/>
              </a:tabLst>
            </a:pPr>
            <a:r>
              <a:rPr sz="2000" dirty="0">
                <a:latin typeface="Arial"/>
                <a:cs typeface="Arial"/>
              </a:rPr>
              <a:t>Not</a:t>
            </a:r>
            <a:r>
              <a:rPr sz="2000" spc="-50" dirty="0">
                <a:latin typeface="Arial"/>
                <a:cs typeface="Arial"/>
              </a:rPr>
              <a:t> </a:t>
            </a:r>
            <a:r>
              <a:rPr sz="2000" dirty="0">
                <a:latin typeface="Arial"/>
                <a:cs typeface="Arial"/>
              </a:rPr>
              <a:t>initialized,</a:t>
            </a:r>
            <a:r>
              <a:rPr sz="2000" spc="-60" dirty="0">
                <a:latin typeface="Arial"/>
                <a:cs typeface="Arial"/>
              </a:rPr>
              <a:t> </a:t>
            </a:r>
            <a:r>
              <a:rPr sz="2000" dirty="0">
                <a:latin typeface="Arial"/>
                <a:cs typeface="Arial"/>
              </a:rPr>
              <a:t>threads</a:t>
            </a:r>
            <a:r>
              <a:rPr sz="2000" spc="-40" dirty="0">
                <a:latin typeface="Arial"/>
                <a:cs typeface="Arial"/>
              </a:rPr>
              <a:t> </a:t>
            </a:r>
            <a:r>
              <a:rPr sz="2000" dirty="0">
                <a:latin typeface="Arial"/>
                <a:cs typeface="Arial"/>
              </a:rPr>
              <a:t>have</a:t>
            </a:r>
            <a:r>
              <a:rPr sz="2000" spc="-35" dirty="0">
                <a:latin typeface="Arial"/>
                <a:cs typeface="Arial"/>
              </a:rPr>
              <a:t> </a:t>
            </a:r>
            <a:r>
              <a:rPr sz="2000" dirty="0">
                <a:latin typeface="Arial"/>
                <a:cs typeface="Arial"/>
              </a:rPr>
              <a:t>to</a:t>
            </a:r>
            <a:r>
              <a:rPr sz="2000" spc="-25" dirty="0">
                <a:latin typeface="Arial"/>
                <a:cs typeface="Arial"/>
              </a:rPr>
              <a:t> </a:t>
            </a:r>
            <a:r>
              <a:rPr sz="2000" dirty="0">
                <a:latin typeface="Arial"/>
                <a:cs typeface="Arial"/>
              </a:rPr>
              <a:t>fill</a:t>
            </a:r>
            <a:r>
              <a:rPr sz="2000" spc="-50" dirty="0">
                <a:latin typeface="Arial"/>
                <a:cs typeface="Arial"/>
              </a:rPr>
              <a:t> </a:t>
            </a:r>
            <a:r>
              <a:rPr sz="2000" dirty="0">
                <a:latin typeface="Arial"/>
                <a:cs typeface="Arial"/>
              </a:rPr>
              <a:t>shared</a:t>
            </a:r>
            <a:r>
              <a:rPr sz="2000" spc="-40" dirty="0">
                <a:latin typeface="Arial"/>
                <a:cs typeface="Arial"/>
              </a:rPr>
              <a:t> </a:t>
            </a:r>
            <a:r>
              <a:rPr sz="2000" dirty="0">
                <a:latin typeface="Arial"/>
                <a:cs typeface="Arial"/>
              </a:rPr>
              <a:t>memory</a:t>
            </a:r>
            <a:r>
              <a:rPr sz="2000" spc="-45" dirty="0">
                <a:latin typeface="Arial"/>
                <a:cs typeface="Arial"/>
              </a:rPr>
              <a:t> </a:t>
            </a:r>
            <a:r>
              <a:rPr sz="2000" dirty="0">
                <a:latin typeface="Arial"/>
                <a:cs typeface="Arial"/>
              </a:rPr>
              <a:t>with</a:t>
            </a:r>
            <a:r>
              <a:rPr sz="2000" spc="-35" dirty="0">
                <a:latin typeface="Arial"/>
                <a:cs typeface="Arial"/>
              </a:rPr>
              <a:t> </a:t>
            </a:r>
            <a:r>
              <a:rPr sz="2000" dirty="0">
                <a:latin typeface="Arial"/>
                <a:cs typeface="Arial"/>
              </a:rPr>
              <a:t>meaningful</a:t>
            </a:r>
            <a:r>
              <a:rPr sz="2000" spc="-30" dirty="0">
                <a:latin typeface="Arial"/>
                <a:cs typeface="Arial"/>
              </a:rPr>
              <a:t> </a:t>
            </a:r>
            <a:r>
              <a:rPr sz="2000" spc="-10" dirty="0">
                <a:latin typeface="Arial"/>
                <a:cs typeface="Arial"/>
              </a:rPr>
              <a:t>values</a:t>
            </a:r>
            <a:endParaRPr sz="2000" dirty="0">
              <a:latin typeface="Arial"/>
              <a:cs typeface="Arial"/>
            </a:endParaRPr>
          </a:p>
          <a:p>
            <a:pPr marL="194310" indent="-181610">
              <a:spcBef>
                <a:spcPts val="409"/>
              </a:spcBef>
              <a:buClr>
                <a:srgbClr val="4F80BC"/>
              </a:buClr>
              <a:buSzPct val="85294"/>
              <a:buChar char="•"/>
              <a:tabLst>
                <a:tab pos="194310" algn="l"/>
              </a:tabLst>
            </a:pPr>
            <a:r>
              <a:rPr sz="2000" dirty="0">
                <a:latin typeface="Arial"/>
                <a:cs typeface="Arial"/>
              </a:rPr>
              <a:t>Not</a:t>
            </a:r>
            <a:r>
              <a:rPr sz="2000" spc="-25" dirty="0">
                <a:latin typeface="Arial"/>
                <a:cs typeface="Arial"/>
              </a:rPr>
              <a:t> </a:t>
            </a:r>
            <a:r>
              <a:rPr sz="2000" dirty="0">
                <a:latin typeface="Arial"/>
                <a:cs typeface="Arial"/>
              </a:rPr>
              <a:t>persistent,</a:t>
            </a:r>
            <a:r>
              <a:rPr sz="2000" spc="-5" dirty="0">
                <a:latin typeface="Arial"/>
                <a:cs typeface="Arial"/>
              </a:rPr>
              <a:t> </a:t>
            </a:r>
            <a:r>
              <a:rPr sz="2000" dirty="0">
                <a:latin typeface="Arial"/>
                <a:cs typeface="Arial"/>
              </a:rPr>
              <a:t>after</a:t>
            </a:r>
            <a:r>
              <a:rPr sz="2000" spc="-5" dirty="0">
                <a:latin typeface="Arial"/>
                <a:cs typeface="Arial"/>
              </a:rPr>
              <a:t> </a:t>
            </a:r>
            <a:r>
              <a:rPr sz="2000" dirty="0">
                <a:latin typeface="Arial"/>
                <a:cs typeface="Arial"/>
              </a:rPr>
              <a:t>the kernel</a:t>
            </a:r>
            <a:r>
              <a:rPr sz="2000" spc="-15" dirty="0">
                <a:latin typeface="Arial"/>
                <a:cs typeface="Arial"/>
              </a:rPr>
              <a:t> </a:t>
            </a:r>
            <a:r>
              <a:rPr sz="2000" dirty="0">
                <a:latin typeface="Arial"/>
                <a:cs typeface="Arial"/>
              </a:rPr>
              <a:t>has</a:t>
            </a:r>
            <a:r>
              <a:rPr sz="2000" spc="-20" dirty="0">
                <a:latin typeface="Arial"/>
                <a:cs typeface="Arial"/>
              </a:rPr>
              <a:t> </a:t>
            </a:r>
            <a:r>
              <a:rPr sz="2000" dirty="0">
                <a:latin typeface="Arial"/>
                <a:cs typeface="Arial"/>
              </a:rPr>
              <a:t>finished,</a:t>
            </a:r>
            <a:r>
              <a:rPr sz="2000" spc="-15" dirty="0">
                <a:latin typeface="Arial"/>
                <a:cs typeface="Arial"/>
              </a:rPr>
              <a:t> </a:t>
            </a:r>
            <a:r>
              <a:rPr sz="2000" dirty="0">
                <a:latin typeface="Arial"/>
                <a:cs typeface="Arial"/>
              </a:rPr>
              <a:t>values</a:t>
            </a:r>
            <a:r>
              <a:rPr sz="2000" spc="-20" dirty="0">
                <a:latin typeface="Arial"/>
                <a:cs typeface="Arial"/>
              </a:rPr>
              <a:t> </a:t>
            </a:r>
            <a:r>
              <a:rPr sz="2000" dirty="0">
                <a:latin typeface="Arial"/>
                <a:cs typeface="Arial"/>
              </a:rPr>
              <a:t>in</a:t>
            </a:r>
            <a:r>
              <a:rPr sz="2000" spc="-20" dirty="0">
                <a:latin typeface="Arial"/>
                <a:cs typeface="Arial"/>
              </a:rPr>
              <a:t> </a:t>
            </a:r>
            <a:r>
              <a:rPr sz="2000" dirty="0">
                <a:latin typeface="Arial"/>
                <a:cs typeface="Arial"/>
              </a:rPr>
              <a:t>shared</a:t>
            </a:r>
            <a:r>
              <a:rPr sz="2000" spc="-15" dirty="0">
                <a:latin typeface="Arial"/>
                <a:cs typeface="Arial"/>
              </a:rPr>
              <a:t> </a:t>
            </a:r>
            <a:r>
              <a:rPr sz="2000" dirty="0">
                <a:latin typeface="Arial"/>
                <a:cs typeface="Arial"/>
              </a:rPr>
              <a:t>memory</a:t>
            </a:r>
            <a:r>
              <a:rPr sz="2000" spc="-25" dirty="0">
                <a:latin typeface="Arial"/>
                <a:cs typeface="Arial"/>
              </a:rPr>
              <a:t> </a:t>
            </a:r>
            <a:r>
              <a:rPr sz="2000" dirty="0">
                <a:latin typeface="Arial"/>
                <a:cs typeface="Arial"/>
              </a:rPr>
              <a:t>are</a:t>
            </a:r>
            <a:r>
              <a:rPr sz="2000" spc="-15" dirty="0">
                <a:latin typeface="Arial"/>
                <a:cs typeface="Arial"/>
              </a:rPr>
              <a:t> </a:t>
            </a:r>
            <a:r>
              <a:rPr sz="2000" spc="-20" dirty="0">
                <a:latin typeface="Arial"/>
                <a:cs typeface="Arial"/>
              </a:rPr>
              <a:t>lost</a:t>
            </a:r>
            <a:endParaRPr sz="2000" dirty="0">
              <a:latin typeface="Arial"/>
              <a:cs typeface="Arial"/>
            </a:endParaRPr>
          </a:p>
          <a:p>
            <a:pPr marL="193675" marR="503555" indent="-181610">
              <a:lnSpc>
                <a:spcPct val="105300"/>
              </a:lnSpc>
              <a:spcBef>
                <a:spcPts val="195"/>
              </a:spcBef>
              <a:buClr>
                <a:srgbClr val="4F80BC"/>
              </a:buClr>
              <a:buSzPct val="85294"/>
              <a:buFont typeface="Arial"/>
              <a:buChar char="•"/>
              <a:tabLst>
                <a:tab pos="194945" algn="l"/>
                <a:tab pos="1906905" algn="l"/>
              </a:tabLst>
            </a:pPr>
            <a:r>
              <a:rPr sz="2000" b="1" dirty="0">
                <a:solidFill>
                  <a:srgbClr val="C00000"/>
                </a:solidFill>
                <a:latin typeface="Arial"/>
                <a:cs typeface="Arial"/>
              </a:rPr>
              <a:t>Not coherent</a:t>
            </a:r>
            <a:r>
              <a:rPr sz="2000" dirty="0">
                <a:latin typeface="Arial"/>
                <a:cs typeface="Arial"/>
              </a:rPr>
              <a:t>, </a:t>
            </a:r>
            <a:r>
              <a:rPr sz="2000" u="sng" dirty="0">
                <a:uFill>
                  <a:solidFill>
                    <a:srgbClr val="000000"/>
                  </a:solidFill>
                </a:uFill>
                <a:latin typeface="Times New Roman"/>
                <a:cs typeface="Times New Roman"/>
              </a:rPr>
              <a:t>	</a:t>
            </a:r>
            <a:r>
              <a:rPr sz="2000" b="1" dirty="0">
                <a:latin typeface="Courier New"/>
                <a:cs typeface="Courier New"/>
              </a:rPr>
              <a:t>syncthreads()</a:t>
            </a:r>
            <a:r>
              <a:rPr sz="2000" spc="75" dirty="0">
                <a:latin typeface="Times New Roman"/>
                <a:cs typeface="Times New Roman"/>
              </a:rPr>
              <a:t> </a:t>
            </a:r>
            <a:r>
              <a:rPr sz="2000" dirty="0">
                <a:latin typeface="Arial"/>
                <a:cs typeface="Arial"/>
              </a:rPr>
              <a:t>is</a:t>
            </a:r>
            <a:r>
              <a:rPr sz="2000" spc="-35" dirty="0">
                <a:latin typeface="Arial"/>
                <a:cs typeface="Arial"/>
              </a:rPr>
              <a:t> </a:t>
            </a:r>
            <a:r>
              <a:rPr sz="2000" dirty="0">
                <a:latin typeface="Arial"/>
                <a:cs typeface="Arial"/>
              </a:rPr>
              <a:t>required</a:t>
            </a:r>
            <a:r>
              <a:rPr sz="2000" spc="-35" dirty="0">
                <a:latin typeface="Arial"/>
                <a:cs typeface="Arial"/>
              </a:rPr>
              <a:t> </a:t>
            </a:r>
            <a:r>
              <a:rPr sz="2000" dirty="0">
                <a:latin typeface="Arial"/>
                <a:cs typeface="Arial"/>
              </a:rPr>
              <a:t>to</a:t>
            </a:r>
            <a:r>
              <a:rPr sz="2000" spc="-25" dirty="0">
                <a:latin typeface="Arial"/>
                <a:cs typeface="Arial"/>
              </a:rPr>
              <a:t> </a:t>
            </a:r>
            <a:r>
              <a:rPr sz="2000" dirty="0">
                <a:solidFill>
                  <a:srgbClr val="C00000"/>
                </a:solidFill>
                <a:latin typeface="Arial"/>
                <a:cs typeface="Arial"/>
              </a:rPr>
              <a:t>make</a:t>
            </a:r>
            <a:r>
              <a:rPr sz="2000" spc="-20" dirty="0">
                <a:solidFill>
                  <a:srgbClr val="C00000"/>
                </a:solidFill>
                <a:latin typeface="Arial"/>
                <a:cs typeface="Arial"/>
              </a:rPr>
              <a:t> </a:t>
            </a:r>
            <a:r>
              <a:rPr sz="2000" dirty="0">
                <a:solidFill>
                  <a:srgbClr val="C00000"/>
                </a:solidFill>
                <a:latin typeface="Arial"/>
                <a:cs typeface="Arial"/>
              </a:rPr>
              <a:t>writes</a:t>
            </a:r>
            <a:r>
              <a:rPr sz="2000" spc="-25" dirty="0">
                <a:solidFill>
                  <a:srgbClr val="C00000"/>
                </a:solidFill>
                <a:latin typeface="Arial"/>
                <a:cs typeface="Arial"/>
              </a:rPr>
              <a:t> </a:t>
            </a:r>
            <a:r>
              <a:rPr sz="2000" dirty="0">
                <a:solidFill>
                  <a:srgbClr val="C00000"/>
                </a:solidFill>
                <a:latin typeface="Arial"/>
                <a:cs typeface="Arial"/>
              </a:rPr>
              <a:t>visible</a:t>
            </a:r>
            <a:r>
              <a:rPr sz="2000" spc="-65" dirty="0">
                <a:solidFill>
                  <a:srgbClr val="C00000"/>
                </a:solidFill>
                <a:latin typeface="Arial"/>
                <a:cs typeface="Arial"/>
              </a:rPr>
              <a:t> </a:t>
            </a:r>
            <a:r>
              <a:rPr sz="2000" dirty="0">
                <a:latin typeface="Arial"/>
                <a:cs typeface="Arial"/>
              </a:rPr>
              <a:t>to</a:t>
            </a:r>
            <a:r>
              <a:rPr sz="2000" spc="-30" dirty="0">
                <a:latin typeface="Arial"/>
                <a:cs typeface="Arial"/>
              </a:rPr>
              <a:t> </a:t>
            </a:r>
            <a:r>
              <a:rPr sz="2000" dirty="0">
                <a:latin typeface="Arial"/>
                <a:cs typeface="Arial"/>
              </a:rPr>
              <a:t>other</a:t>
            </a:r>
            <a:r>
              <a:rPr sz="2000" spc="-35" dirty="0">
                <a:latin typeface="Arial"/>
                <a:cs typeface="Arial"/>
              </a:rPr>
              <a:t> </a:t>
            </a:r>
            <a:r>
              <a:rPr sz="2000" spc="-10" dirty="0">
                <a:latin typeface="Arial"/>
                <a:cs typeface="Arial"/>
              </a:rPr>
              <a:t>threads </a:t>
            </a:r>
            <a:r>
              <a:rPr sz="2000" dirty="0">
                <a:latin typeface="Arial"/>
                <a:cs typeface="Arial"/>
              </a:rPr>
              <a:t>within</a:t>
            </a:r>
            <a:r>
              <a:rPr sz="2000" spc="-40" dirty="0">
                <a:latin typeface="Arial"/>
                <a:cs typeface="Arial"/>
              </a:rPr>
              <a:t> </a:t>
            </a:r>
            <a:r>
              <a:rPr sz="2000" dirty="0">
                <a:latin typeface="Arial"/>
                <a:cs typeface="Arial"/>
              </a:rPr>
              <a:t>the</a:t>
            </a:r>
            <a:r>
              <a:rPr sz="2000" spc="-30" dirty="0">
                <a:latin typeface="Arial"/>
                <a:cs typeface="Arial"/>
              </a:rPr>
              <a:t> </a:t>
            </a:r>
            <a:r>
              <a:rPr sz="2000" dirty="0">
                <a:latin typeface="Arial"/>
                <a:cs typeface="Arial"/>
              </a:rPr>
              <a:t>thread</a:t>
            </a:r>
            <a:r>
              <a:rPr sz="2000" spc="-45" dirty="0">
                <a:latin typeface="Arial"/>
                <a:cs typeface="Arial"/>
              </a:rPr>
              <a:t> </a:t>
            </a:r>
            <a:r>
              <a:rPr sz="2000" spc="-10" dirty="0">
                <a:latin typeface="Arial"/>
                <a:cs typeface="Arial"/>
              </a:rPr>
              <a:t>block</a:t>
            </a:r>
            <a:endParaRPr sz="2000" dirty="0">
              <a:latin typeface="Arial"/>
              <a:cs typeface="Arial"/>
            </a:endParaRPr>
          </a:p>
        </p:txBody>
      </p:sp>
      <p:pic>
        <p:nvPicPr>
          <p:cNvPr id="7" name="object 7"/>
          <p:cNvPicPr/>
          <p:nvPr/>
        </p:nvPicPr>
        <p:blipFill>
          <a:blip r:embed="rId2" cstate="print"/>
          <a:stretch>
            <a:fillRect/>
          </a:stretch>
        </p:blipFill>
        <p:spPr>
          <a:xfrm>
            <a:off x="8617717" y="699581"/>
            <a:ext cx="2972248" cy="1016887"/>
          </a:xfrm>
          <a:prstGeom prst="rect">
            <a:avLst/>
          </a:prstGeom>
        </p:spPr>
      </p:pic>
      <p:sp>
        <p:nvSpPr>
          <p:cNvPr id="8" name="object 8"/>
          <p:cNvSpPr txBox="1"/>
          <p:nvPr/>
        </p:nvSpPr>
        <p:spPr>
          <a:xfrm>
            <a:off x="8617717" y="369571"/>
            <a:ext cx="583565" cy="300355"/>
          </a:xfrm>
          <a:prstGeom prst="rect">
            <a:avLst/>
          </a:prstGeom>
        </p:spPr>
        <p:txBody>
          <a:bodyPr vert="horz" wrap="square" lIns="0" tIns="12700" rIns="0" bIns="0" rtlCol="0">
            <a:spAutoFit/>
          </a:bodyPr>
          <a:lstStyle/>
          <a:p>
            <a:pPr marL="12700">
              <a:spcBef>
                <a:spcPts val="100"/>
              </a:spcBef>
            </a:pPr>
            <a:r>
              <a:rPr spc="-10" dirty="0">
                <a:latin typeface="Arial"/>
                <a:cs typeface="Arial"/>
              </a:rPr>
              <a:t>Block</a:t>
            </a:r>
            <a:endParaRPr dirty="0">
              <a:latin typeface="Arial"/>
              <a:cs typeface="Arial"/>
            </a:endParaRPr>
          </a:p>
        </p:txBody>
      </p:sp>
      <p:sp>
        <p:nvSpPr>
          <p:cNvPr id="9" name="object 9"/>
          <p:cNvSpPr txBox="1"/>
          <p:nvPr/>
        </p:nvSpPr>
        <p:spPr>
          <a:xfrm>
            <a:off x="10503535" y="783793"/>
            <a:ext cx="850265" cy="817244"/>
          </a:xfrm>
          <a:prstGeom prst="rect">
            <a:avLst/>
          </a:prstGeom>
        </p:spPr>
        <p:txBody>
          <a:bodyPr vert="horz" wrap="square" lIns="0" tIns="28575" rIns="0" bIns="0" rtlCol="0">
            <a:spAutoFit/>
          </a:bodyPr>
          <a:lstStyle/>
          <a:p>
            <a:pPr marL="12700" marR="5080" indent="24130" algn="just">
              <a:lnSpc>
                <a:spcPct val="94200"/>
              </a:lnSpc>
              <a:spcBef>
                <a:spcPts val="225"/>
              </a:spcBef>
            </a:pPr>
            <a:r>
              <a:rPr spc="-10" dirty="0">
                <a:solidFill>
                  <a:srgbClr val="FFFFFF"/>
                </a:solidFill>
                <a:latin typeface="Arial"/>
                <a:cs typeface="Arial"/>
              </a:rPr>
              <a:t>Per-</a:t>
            </a:r>
            <a:r>
              <a:rPr spc="-25" dirty="0">
                <a:solidFill>
                  <a:srgbClr val="FFFFFF"/>
                </a:solidFill>
                <a:latin typeface="Arial"/>
                <a:cs typeface="Arial"/>
              </a:rPr>
              <a:t>SM </a:t>
            </a:r>
            <a:r>
              <a:rPr spc="-10" dirty="0">
                <a:solidFill>
                  <a:srgbClr val="FFFFFF"/>
                </a:solidFill>
                <a:latin typeface="Arial"/>
                <a:cs typeface="Arial"/>
              </a:rPr>
              <a:t>Shared Memory</a:t>
            </a:r>
            <a:endParaRPr dirty="0">
              <a:latin typeface="Arial"/>
              <a:cs typeface="Arial"/>
            </a:endParaRPr>
          </a:p>
        </p:txBody>
      </p:sp>
    </p:spTree>
    <p:extLst>
      <p:ext uri="{BB962C8B-B14F-4D97-AF65-F5344CB8AC3E}">
        <p14:creationId xmlns:p14="http://schemas.microsoft.com/office/powerpoint/2010/main" val="4647296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D7B4D-5984-8646-E69F-17651D580ED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1F2E09D-44E7-29F7-01C4-82275AADB82C}"/>
              </a:ext>
            </a:extLst>
          </p:cNvPr>
          <p:cNvSpPr txBox="1">
            <a:spLocks noGrp="1"/>
          </p:cNvSpPr>
          <p:nvPr>
            <p:ph type="title"/>
          </p:nvPr>
        </p:nvSpPr>
        <p:spPr>
          <a:xfrm>
            <a:off x="1357746" y="783793"/>
            <a:ext cx="6276492" cy="464807"/>
          </a:xfrm>
          <a:prstGeom prst="rect">
            <a:avLst/>
          </a:prstGeom>
        </p:spPr>
        <p:txBody>
          <a:bodyPr vert="horz" wrap="square" lIns="0" tIns="13335" rIns="0" bIns="0" rtlCol="0">
            <a:spAutoFit/>
          </a:bodyPr>
          <a:lstStyle/>
          <a:p>
            <a:pPr marL="12700">
              <a:spcBef>
                <a:spcPts val="105"/>
              </a:spcBef>
            </a:pPr>
            <a:r>
              <a:rPr sz="2933" cap="small" dirty="0">
                <a:solidFill>
                  <a:schemeClr val="dk2"/>
                </a:solidFill>
              </a:rPr>
              <a:t>Memory spaces: Shared memory</a:t>
            </a:r>
          </a:p>
        </p:txBody>
      </p:sp>
      <p:sp>
        <p:nvSpPr>
          <p:cNvPr id="6" name="object 6">
            <a:extLst>
              <a:ext uri="{FF2B5EF4-FFF2-40B4-BE49-F238E27FC236}">
                <a16:creationId xmlns:a16="http://schemas.microsoft.com/office/drawing/2014/main" id="{6C0154D2-C43C-A881-79AF-4FCC7004188F}"/>
              </a:ext>
            </a:extLst>
          </p:cNvPr>
          <p:cNvSpPr txBox="1"/>
          <p:nvPr/>
        </p:nvSpPr>
        <p:spPr>
          <a:xfrm>
            <a:off x="1617067" y="1905000"/>
            <a:ext cx="10346333" cy="3706143"/>
          </a:xfrm>
          <a:prstGeom prst="rect">
            <a:avLst/>
          </a:prstGeom>
        </p:spPr>
        <p:txBody>
          <a:bodyPr vert="horz" wrap="square" lIns="0" tIns="12700" rIns="0" bIns="0" rtlCol="0">
            <a:spAutoFit/>
          </a:bodyPr>
          <a:lstStyle/>
          <a:p>
            <a:pPr>
              <a:spcBef>
                <a:spcPts val="465"/>
              </a:spcBef>
            </a:pPr>
            <a:endParaRPr lang="en-NL" sz="2400" dirty="0">
              <a:latin typeface="Courier New"/>
              <a:cs typeface="Courier New"/>
            </a:endParaRPr>
          </a:p>
          <a:p>
            <a:pPr marL="194310" indent="-181610">
              <a:buClr>
                <a:srgbClr val="4F80BC"/>
              </a:buClr>
              <a:buSzPct val="85294"/>
              <a:buChar char="•"/>
              <a:tabLst>
                <a:tab pos="194310" algn="l"/>
                <a:tab pos="3942079" algn="l"/>
                <a:tab pos="5045710" algn="l"/>
              </a:tabLst>
            </a:pPr>
            <a:r>
              <a:rPr lang="en-GB" sz="2400" spc="-20" dirty="0">
                <a:latin typeface="Arial"/>
                <a:cs typeface="Arial"/>
              </a:rPr>
              <a:t>On-chip Memory : higher bandwidth and lower latency</a:t>
            </a:r>
          </a:p>
          <a:p>
            <a:pPr marL="194310" indent="-181610">
              <a:buClr>
                <a:srgbClr val="4F80BC"/>
              </a:buClr>
              <a:buSzPct val="85294"/>
              <a:buChar char="•"/>
              <a:tabLst>
                <a:tab pos="194310" algn="l"/>
                <a:tab pos="3942079" algn="l"/>
                <a:tab pos="5045710" algn="l"/>
              </a:tabLst>
            </a:pPr>
            <a:r>
              <a:rPr lang="en-GB" sz="2400" spc="-20" dirty="0">
                <a:latin typeface="Arial"/>
                <a:cs typeface="Arial"/>
              </a:rPr>
              <a:t>Small size :  64-96kB</a:t>
            </a:r>
          </a:p>
          <a:p>
            <a:pPr marL="194310" indent="-181610">
              <a:buClr>
                <a:srgbClr val="4F80BC"/>
              </a:buClr>
              <a:buSzPct val="85294"/>
              <a:buChar char="•"/>
              <a:tabLst>
                <a:tab pos="194310" algn="l"/>
                <a:tab pos="3942079" algn="l"/>
                <a:tab pos="5045710" algn="l"/>
              </a:tabLst>
            </a:pPr>
            <a:r>
              <a:rPr lang="en-GB" sz="2400" spc="-20" dirty="0">
                <a:latin typeface="Arial"/>
                <a:cs typeface="Arial"/>
              </a:rPr>
              <a:t>Allocated per block -  all threads in the block have access to the same shared memory</a:t>
            </a:r>
          </a:p>
          <a:p>
            <a:pPr marL="194310" indent="-181610">
              <a:buClr>
                <a:srgbClr val="4F80BC"/>
              </a:buClr>
              <a:buSzPct val="85294"/>
              <a:buChar char="•"/>
              <a:tabLst>
                <a:tab pos="194310" algn="l"/>
                <a:tab pos="3942079" algn="l"/>
                <a:tab pos="5045710" algn="l"/>
              </a:tabLst>
            </a:pPr>
            <a:r>
              <a:rPr lang="en-GB" sz="2400" spc="-20" dirty="0">
                <a:latin typeface="Arial"/>
                <a:cs typeface="Arial"/>
              </a:rPr>
              <a:t>Often require synchronization</a:t>
            </a:r>
          </a:p>
          <a:p>
            <a:pPr marL="194310" indent="-181610">
              <a:buClr>
                <a:srgbClr val="4F80BC"/>
              </a:buClr>
              <a:buSzPct val="85294"/>
              <a:buChar char="•"/>
              <a:tabLst>
                <a:tab pos="194310" algn="l"/>
                <a:tab pos="3942079" algn="l"/>
                <a:tab pos="5045710" algn="l"/>
              </a:tabLst>
            </a:pPr>
            <a:endParaRPr lang="en-GB" sz="2400" spc="-20" dirty="0">
              <a:latin typeface="Arial"/>
              <a:cs typeface="Arial"/>
            </a:endParaRPr>
          </a:p>
          <a:p>
            <a:pPr marL="194310" indent="-181610">
              <a:buClr>
                <a:srgbClr val="4F80BC"/>
              </a:buClr>
              <a:buSzPct val="85294"/>
              <a:buChar char="•"/>
              <a:tabLst>
                <a:tab pos="194310" algn="l"/>
                <a:tab pos="3942079" algn="l"/>
                <a:tab pos="5045710" algn="l"/>
              </a:tabLst>
            </a:pPr>
            <a:r>
              <a:rPr lang="en-GB" sz="2400" spc="-20" dirty="0">
                <a:latin typeface="Arial"/>
                <a:cs typeface="Arial"/>
              </a:rPr>
              <a:t>Shared memory is further divided into banks for simultaneous data access</a:t>
            </a:r>
          </a:p>
          <a:p>
            <a:pPr marL="194310" indent="-181610">
              <a:buClr>
                <a:srgbClr val="4F80BC"/>
              </a:buClr>
              <a:buSzPct val="85294"/>
              <a:buChar char="•"/>
              <a:tabLst>
                <a:tab pos="194310" algn="l"/>
                <a:tab pos="3942079" algn="l"/>
                <a:tab pos="5045710" algn="l"/>
              </a:tabLst>
            </a:pPr>
            <a:r>
              <a:rPr lang="en-GB" sz="2400" spc="-20" dirty="0">
                <a:latin typeface="Arial"/>
                <a:cs typeface="Arial"/>
              </a:rPr>
              <a:t>Can lead to bank-conflict. </a:t>
            </a:r>
          </a:p>
          <a:p>
            <a:pPr marL="194310" indent="-181610">
              <a:buClr>
                <a:srgbClr val="4F80BC"/>
              </a:buClr>
              <a:buSzPct val="85294"/>
              <a:buChar char="•"/>
              <a:tabLst>
                <a:tab pos="194310" algn="l"/>
                <a:tab pos="3942079" algn="l"/>
                <a:tab pos="5045710" algn="l"/>
              </a:tabLst>
            </a:pPr>
            <a:endParaRPr lang="en-GB" sz="2400" dirty="0">
              <a:latin typeface="Arial"/>
              <a:cs typeface="Arial"/>
            </a:endParaRPr>
          </a:p>
        </p:txBody>
      </p:sp>
      <p:pic>
        <p:nvPicPr>
          <p:cNvPr id="7" name="object 7">
            <a:extLst>
              <a:ext uri="{FF2B5EF4-FFF2-40B4-BE49-F238E27FC236}">
                <a16:creationId xmlns:a16="http://schemas.microsoft.com/office/drawing/2014/main" id="{E1B651E4-8215-D654-7D40-90981EDD5A3E}"/>
              </a:ext>
            </a:extLst>
          </p:cNvPr>
          <p:cNvPicPr/>
          <p:nvPr/>
        </p:nvPicPr>
        <p:blipFill>
          <a:blip r:embed="rId2" cstate="print"/>
          <a:stretch>
            <a:fillRect/>
          </a:stretch>
        </p:blipFill>
        <p:spPr>
          <a:xfrm>
            <a:off x="7696009" y="713043"/>
            <a:ext cx="2972248" cy="1016887"/>
          </a:xfrm>
          <a:prstGeom prst="rect">
            <a:avLst/>
          </a:prstGeom>
        </p:spPr>
      </p:pic>
      <p:sp>
        <p:nvSpPr>
          <p:cNvPr id="8" name="object 8">
            <a:extLst>
              <a:ext uri="{FF2B5EF4-FFF2-40B4-BE49-F238E27FC236}">
                <a16:creationId xmlns:a16="http://schemas.microsoft.com/office/drawing/2014/main" id="{03455259-11C8-F233-78A6-F24C6D67282F}"/>
              </a:ext>
            </a:extLst>
          </p:cNvPr>
          <p:cNvSpPr txBox="1"/>
          <p:nvPr/>
        </p:nvSpPr>
        <p:spPr>
          <a:xfrm>
            <a:off x="7893559" y="360376"/>
            <a:ext cx="583565" cy="300355"/>
          </a:xfrm>
          <a:prstGeom prst="rect">
            <a:avLst/>
          </a:prstGeom>
        </p:spPr>
        <p:txBody>
          <a:bodyPr vert="horz" wrap="square" lIns="0" tIns="12700" rIns="0" bIns="0" rtlCol="0">
            <a:spAutoFit/>
          </a:bodyPr>
          <a:lstStyle/>
          <a:p>
            <a:pPr marL="12700">
              <a:spcBef>
                <a:spcPts val="100"/>
              </a:spcBef>
            </a:pPr>
            <a:r>
              <a:rPr spc="-10" dirty="0">
                <a:latin typeface="Arial"/>
                <a:cs typeface="Arial"/>
              </a:rPr>
              <a:t>Block</a:t>
            </a:r>
            <a:endParaRPr>
              <a:latin typeface="Arial"/>
              <a:cs typeface="Arial"/>
            </a:endParaRPr>
          </a:p>
        </p:txBody>
      </p:sp>
      <p:sp>
        <p:nvSpPr>
          <p:cNvPr id="9" name="object 9">
            <a:extLst>
              <a:ext uri="{FF2B5EF4-FFF2-40B4-BE49-F238E27FC236}">
                <a16:creationId xmlns:a16="http://schemas.microsoft.com/office/drawing/2014/main" id="{8E42E3BA-408A-BB8F-7AB2-A87D1455A7EC}"/>
              </a:ext>
            </a:extLst>
          </p:cNvPr>
          <p:cNvSpPr txBox="1"/>
          <p:nvPr/>
        </p:nvSpPr>
        <p:spPr>
          <a:xfrm>
            <a:off x="9588756" y="783793"/>
            <a:ext cx="850265" cy="817244"/>
          </a:xfrm>
          <a:prstGeom prst="rect">
            <a:avLst/>
          </a:prstGeom>
        </p:spPr>
        <p:txBody>
          <a:bodyPr vert="horz" wrap="square" lIns="0" tIns="28575" rIns="0" bIns="0" rtlCol="0">
            <a:spAutoFit/>
          </a:bodyPr>
          <a:lstStyle/>
          <a:p>
            <a:pPr marL="12700" marR="5080" indent="24130" algn="just">
              <a:lnSpc>
                <a:spcPct val="94200"/>
              </a:lnSpc>
              <a:spcBef>
                <a:spcPts val="225"/>
              </a:spcBef>
            </a:pPr>
            <a:r>
              <a:rPr spc="-10" dirty="0">
                <a:solidFill>
                  <a:srgbClr val="FFFFFF"/>
                </a:solidFill>
                <a:latin typeface="Arial"/>
                <a:cs typeface="Arial"/>
              </a:rPr>
              <a:t>Per-</a:t>
            </a:r>
            <a:r>
              <a:rPr spc="-25" dirty="0">
                <a:solidFill>
                  <a:srgbClr val="FFFFFF"/>
                </a:solidFill>
                <a:latin typeface="Arial"/>
                <a:cs typeface="Arial"/>
              </a:rPr>
              <a:t>SM </a:t>
            </a:r>
            <a:r>
              <a:rPr spc="-10" dirty="0">
                <a:solidFill>
                  <a:srgbClr val="FFFFFF"/>
                </a:solidFill>
                <a:latin typeface="Arial"/>
                <a:cs typeface="Arial"/>
              </a:rPr>
              <a:t>Shared Memory</a:t>
            </a:r>
            <a:endParaRPr>
              <a:latin typeface="Arial"/>
              <a:cs typeface="Arial"/>
            </a:endParaRPr>
          </a:p>
        </p:txBody>
      </p:sp>
    </p:spTree>
    <p:extLst>
      <p:ext uri="{BB962C8B-B14F-4D97-AF65-F5344CB8AC3E}">
        <p14:creationId xmlns:p14="http://schemas.microsoft.com/office/powerpoint/2010/main" val="42504358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CCEC8-D075-DDF1-A629-4F864C94A166}"/>
              </a:ext>
            </a:extLst>
          </p:cNvPr>
          <p:cNvSpPr>
            <a:spLocks noGrp="1"/>
          </p:cNvSpPr>
          <p:nvPr>
            <p:ph type="title"/>
          </p:nvPr>
        </p:nvSpPr>
        <p:spPr/>
        <p:txBody>
          <a:bodyPr/>
          <a:lstStyle/>
          <a:p>
            <a:r>
              <a:rPr lang="en-NL" dirty="0"/>
              <a:t>Revisiting GPU architecture</a:t>
            </a:r>
          </a:p>
        </p:txBody>
      </p:sp>
      <p:pic>
        <p:nvPicPr>
          <p:cNvPr id="4" name="Picture 3">
            <a:extLst>
              <a:ext uri="{FF2B5EF4-FFF2-40B4-BE49-F238E27FC236}">
                <a16:creationId xmlns:a16="http://schemas.microsoft.com/office/drawing/2014/main" id="{1CD1C72C-58F1-FB9E-76A1-995DB254C80B}"/>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47000"/>
                    </a14:imgEffect>
                    <a14:imgEffect>
                      <a14:colorTemperature colorTemp="6089"/>
                    </a14:imgEffect>
                    <a14:imgEffect>
                      <a14:saturation sat="68000"/>
                    </a14:imgEffect>
                    <a14:imgEffect>
                      <a14:brightnessContrast bright="-20000" contrast="43000"/>
                    </a14:imgEffect>
                  </a14:imgLayer>
                </a14:imgProps>
              </a:ext>
            </a:extLst>
          </a:blip>
          <a:stretch>
            <a:fillRect/>
          </a:stretch>
        </p:blipFill>
        <p:spPr>
          <a:xfrm>
            <a:off x="1447800" y="1600200"/>
            <a:ext cx="8911187" cy="4782965"/>
          </a:xfrm>
          <a:prstGeom prst="rect">
            <a:avLst/>
          </a:prstGeom>
        </p:spPr>
      </p:pic>
    </p:spTree>
    <p:extLst>
      <p:ext uri="{BB962C8B-B14F-4D97-AF65-F5344CB8AC3E}">
        <p14:creationId xmlns:p14="http://schemas.microsoft.com/office/powerpoint/2010/main" val="27079439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8500" y="656241"/>
            <a:ext cx="10795000" cy="463525"/>
          </a:xfrm>
          <a:prstGeom prst="rect">
            <a:avLst/>
          </a:prstGeom>
        </p:spPr>
        <p:txBody>
          <a:bodyPr vert="horz" wrap="square" lIns="0" tIns="12065" rIns="0" bIns="0" rtlCol="0">
            <a:spAutoFit/>
          </a:bodyPr>
          <a:lstStyle/>
          <a:p>
            <a:pPr marL="24765">
              <a:spcBef>
                <a:spcPts val="95"/>
              </a:spcBef>
            </a:pPr>
            <a:r>
              <a:rPr sz="2933" cap="small" dirty="0">
                <a:solidFill>
                  <a:schemeClr val="dk2"/>
                </a:solidFill>
              </a:rPr>
              <a:t>Memory spaces: texture memory</a:t>
            </a:r>
          </a:p>
        </p:txBody>
      </p:sp>
      <p:sp>
        <p:nvSpPr>
          <p:cNvPr id="3" name="object 3"/>
          <p:cNvSpPr txBox="1"/>
          <p:nvPr/>
        </p:nvSpPr>
        <p:spPr>
          <a:xfrm>
            <a:off x="533400" y="1552087"/>
            <a:ext cx="10795000" cy="3770263"/>
          </a:xfrm>
          <a:prstGeom prst="rect">
            <a:avLst/>
          </a:prstGeom>
        </p:spPr>
        <p:txBody>
          <a:bodyPr vert="horz" wrap="square" lIns="0" tIns="86360" rIns="0" bIns="0" rtlCol="0">
            <a:spAutoFit/>
          </a:bodyPr>
          <a:lstStyle/>
          <a:p>
            <a:pPr marL="196215" indent="-183515">
              <a:spcBef>
                <a:spcPts val="680"/>
              </a:spcBef>
              <a:buClr>
                <a:srgbClr val="4F80BC"/>
              </a:buClr>
              <a:buSzPct val="85416"/>
              <a:buChar char="•"/>
              <a:tabLst>
                <a:tab pos="196215" algn="l"/>
              </a:tabLst>
            </a:pPr>
            <a:r>
              <a:rPr sz="2400" spc="-10" dirty="0">
                <a:latin typeface="Arial"/>
                <a:cs typeface="Arial"/>
              </a:rPr>
              <a:t>Textures</a:t>
            </a:r>
            <a:endParaRPr sz="2400" dirty="0">
              <a:latin typeface="Arial"/>
              <a:cs typeface="Arial"/>
            </a:endParaRPr>
          </a:p>
          <a:p>
            <a:pPr marL="469900" lvl="1" indent="-182880">
              <a:spcBef>
                <a:spcPts val="484"/>
              </a:spcBef>
              <a:buClr>
                <a:srgbClr val="4F80BC"/>
              </a:buClr>
              <a:buSzPct val="85000"/>
              <a:buChar char="•"/>
              <a:tabLst>
                <a:tab pos="469900" algn="l"/>
              </a:tabLst>
            </a:pPr>
            <a:r>
              <a:rPr sz="2000" spc="-10" dirty="0">
                <a:latin typeface="Arial"/>
                <a:cs typeface="Arial"/>
              </a:rPr>
              <a:t>Read-</a:t>
            </a:r>
            <a:r>
              <a:rPr sz="2000" spc="-20" dirty="0">
                <a:latin typeface="Arial"/>
                <a:cs typeface="Arial"/>
              </a:rPr>
              <a:t>only</a:t>
            </a:r>
            <a:r>
              <a:rPr lang="en-US" sz="2000" spc="-20" dirty="0">
                <a:latin typeface="Arial"/>
                <a:cs typeface="Arial"/>
              </a:rPr>
              <a:t> for GPU </a:t>
            </a:r>
          </a:p>
          <a:p>
            <a:pPr marL="469900" lvl="1" indent="-182880">
              <a:spcBef>
                <a:spcPts val="484"/>
              </a:spcBef>
              <a:buClr>
                <a:srgbClr val="4F80BC"/>
              </a:buClr>
              <a:buSzPct val="85000"/>
              <a:buChar char="•"/>
              <a:tabLst>
                <a:tab pos="469900" algn="l"/>
              </a:tabLst>
            </a:pPr>
            <a:r>
              <a:rPr lang="en-US" sz="2000" spc="-20" dirty="0">
                <a:latin typeface="Arial"/>
                <a:cs typeface="Arial"/>
              </a:rPr>
              <a:t>Initialized by CPU through special constructs</a:t>
            </a:r>
            <a:endParaRPr sz="2000" dirty="0">
              <a:latin typeface="Arial"/>
              <a:cs typeface="Arial"/>
            </a:endParaRPr>
          </a:p>
          <a:p>
            <a:pPr marL="469900" lvl="1" indent="-182880">
              <a:spcBef>
                <a:spcPts val="480"/>
              </a:spcBef>
              <a:buClr>
                <a:srgbClr val="4F80BC"/>
              </a:buClr>
              <a:buSzPct val="85000"/>
              <a:buChar char="•"/>
              <a:tabLst>
                <a:tab pos="469900" algn="l"/>
              </a:tabLst>
            </a:pPr>
            <a:r>
              <a:rPr sz="2000" dirty="0">
                <a:latin typeface="Arial"/>
                <a:cs typeface="Arial"/>
              </a:rPr>
              <a:t>Data</a:t>
            </a:r>
            <a:r>
              <a:rPr sz="2000" spc="-50" dirty="0">
                <a:latin typeface="Arial"/>
                <a:cs typeface="Arial"/>
              </a:rPr>
              <a:t> </a:t>
            </a:r>
            <a:r>
              <a:rPr sz="2000" dirty="0">
                <a:latin typeface="Arial"/>
                <a:cs typeface="Arial"/>
              </a:rPr>
              <a:t>resides</a:t>
            </a:r>
            <a:r>
              <a:rPr sz="2000" spc="-60" dirty="0">
                <a:latin typeface="Arial"/>
                <a:cs typeface="Arial"/>
              </a:rPr>
              <a:t> </a:t>
            </a:r>
            <a:r>
              <a:rPr sz="2000" dirty="0">
                <a:latin typeface="Arial"/>
                <a:cs typeface="Arial"/>
              </a:rPr>
              <a:t>in</a:t>
            </a:r>
            <a:r>
              <a:rPr sz="2000" spc="-25" dirty="0">
                <a:latin typeface="Arial"/>
                <a:cs typeface="Arial"/>
              </a:rPr>
              <a:t> </a:t>
            </a:r>
            <a:r>
              <a:rPr sz="2000" dirty="0">
                <a:latin typeface="Arial"/>
                <a:cs typeface="Arial"/>
              </a:rPr>
              <a:t>device</a:t>
            </a:r>
            <a:r>
              <a:rPr lang="en-US" sz="2000" dirty="0">
                <a:latin typeface="Arial"/>
                <a:cs typeface="Arial"/>
              </a:rPr>
              <a:t> </a:t>
            </a:r>
            <a:r>
              <a:rPr sz="2000" spc="-40" dirty="0">
                <a:latin typeface="Arial"/>
                <a:cs typeface="Arial"/>
              </a:rPr>
              <a:t> </a:t>
            </a:r>
            <a:r>
              <a:rPr sz="2000" spc="-10" dirty="0">
                <a:latin typeface="Arial"/>
                <a:cs typeface="Arial"/>
              </a:rPr>
              <a:t>memory</a:t>
            </a:r>
            <a:endParaRPr sz="2000" dirty="0">
              <a:latin typeface="Arial"/>
              <a:cs typeface="Arial"/>
            </a:endParaRPr>
          </a:p>
          <a:p>
            <a:pPr marL="469900" lvl="1" indent="-182880">
              <a:spcBef>
                <a:spcPts val="480"/>
              </a:spcBef>
              <a:buClr>
                <a:srgbClr val="4F80BC"/>
              </a:buClr>
              <a:buSzPct val="85000"/>
              <a:buChar char="•"/>
              <a:tabLst>
                <a:tab pos="469900" algn="l"/>
              </a:tabLst>
            </a:pPr>
            <a:r>
              <a:rPr sz="2000" dirty="0">
                <a:latin typeface="Arial"/>
                <a:cs typeface="Arial"/>
              </a:rPr>
              <a:t>Different</a:t>
            </a:r>
            <a:r>
              <a:rPr sz="2000" spc="-55" dirty="0">
                <a:latin typeface="Arial"/>
                <a:cs typeface="Arial"/>
              </a:rPr>
              <a:t> </a:t>
            </a:r>
            <a:r>
              <a:rPr sz="2000" dirty="0">
                <a:latin typeface="Arial"/>
                <a:cs typeface="Arial"/>
              </a:rPr>
              <a:t>read</a:t>
            </a:r>
            <a:r>
              <a:rPr sz="2000" spc="-55" dirty="0">
                <a:latin typeface="Arial"/>
                <a:cs typeface="Arial"/>
              </a:rPr>
              <a:t> </a:t>
            </a:r>
            <a:r>
              <a:rPr sz="2000" dirty="0">
                <a:latin typeface="Arial"/>
                <a:cs typeface="Arial"/>
              </a:rPr>
              <a:t>path,</a:t>
            </a:r>
            <a:r>
              <a:rPr sz="2000" spc="-50" dirty="0">
                <a:latin typeface="Arial"/>
                <a:cs typeface="Arial"/>
              </a:rPr>
              <a:t> </a:t>
            </a:r>
            <a:r>
              <a:rPr sz="2000" dirty="0">
                <a:latin typeface="Arial"/>
                <a:cs typeface="Arial"/>
              </a:rPr>
              <a:t>includes</a:t>
            </a:r>
            <a:r>
              <a:rPr sz="2000" spc="-50" dirty="0">
                <a:latin typeface="Arial"/>
                <a:cs typeface="Arial"/>
              </a:rPr>
              <a:t> </a:t>
            </a:r>
            <a:r>
              <a:rPr sz="2000" dirty="0">
                <a:latin typeface="Arial"/>
                <a:cs typeface="Arial"/>
              </a:rPr>
              <a:t>specialized</a:t>
            </a:r>
            <a:r>
              <a:rPr sz="2000" spc="-55" dirty="0">
                <a:latin typeface="Arial"/>
                <a:cs typeface="Arial"/>
              </a:rPr>
              <a:t> </a:t>
            </a:r>
            <a:r>
              <a:rPr sz="2000" spc="-10" dirty="0">
                <a:latin typeface="Arial"/>
                <a:cs typeface="Arial"/>
              </a:rPr>
              <a:t>caches</a:t>
            </a:r>
            <a:r>
              <a:rPr lang="en-US" sz="2000" spc="-10" dirty="0">
                <a:latin typeface="Arial"/>
                <a:cs typeface="Arial"/>
              </a:rPr>
              <a:t> </a:t>
            </a:r>
          </a:p>
          <a:p>
            <a:pPr marL="469900" lvl="1" indent="-182880">
              <a:spcBef>
                <a:spcPts val="480"/>
              </a:spcBef>
              <a:buClr>
                <a:srgbClr val="4F80BC"/>
              </a:buClr>
              <a:buSzPct val="85000"/>
              <a:buChar char="•"/>
              <a:tabLst>
                <a:tab pos="469900" algn="l"/>
              </a:tabLst>
            </a:pPr>
            <a:r>
              <a:rPr lang="en-US" sz="2000" spc="-10" dirty="0">
                <a:latin typeface="Arial"/>
                <a:cs typeface="Arial"/>
              </a:rPr>
              <a:t>Cache misses for textures can have more severe penalty</a:t>
            </a:r>
            <a:endParaRPr sz="2000" dirty="0">
              <a:latin typeface="Arial"/>
              <a:cs typeface="Arial"/>
            </a:endParaRPr>
          </a:p>
          <a:p>
            <a:pPr marL="469900" lvl="1" indent="-182880">
              <a:spcBef>
                <a:spcPts val="480"/>
              </a:spcBef>
              <a:buClr>
                <a:srgbClr val="4F80BC"/>
              </a:buClr>
              <a:buSzPct val="85000"/>
              <a:buChar char="•"/>
              <a:tabLst>
                <a:tab pos="469900" algn="l"/>
              </a:tabLst>
            </a:pPr>
            <a:r>
              <a:rPr lang="en-US" sz="2000" spc="-15" dirty="0" err="1">
                <a:latin typeface="Arial"/>
                <a:cs typeface="Arial"/>
              </a:rPr>
              <a:t>Testure</a:t>
            </a:r>
            <a:r>
              <a:rPr lang="en-US" sz="2000" spc="-15" dirty="0">
                <a:latin typeface="Arial"/>
                <a:cs typeface="Arial"/>
              </a:rPr>
              <a:t> memory is useful for</a:t>
            </a:r>
            <a:r>
              <a:rPr sz="2000" spc="-15" dirty="0">
                <a:latin typeface="Arial"/>
                <a:cs typeface="Arial"/>
              </a:rPr>
              <a:t> </a:t>
            </a:r>
            <a:r>
              <a:rPr sz="2000" dirty="0">
                <a:latin typeface="Arial"/>
                <a:cs typeface="Arial"/>
              </a:rPr>
              <a:t>hardware</a:t>
            </a:r>
            <a:r>
              <a:rPr sz="2000" spc="-30" dirty="0">
                <a:latin typeface="Arial"/>
                <a:cs typeface="Arial"/>
              </a:rPr>
              <a:t> </a:t>
            </a:r>
            <a:r>
              <a:rPr sz="2000" spc="-10" dirty="0">
                <a:latin typeface="Arial"/>
                <a:cs typeface="Arial"/>
              </a:rPr>
              <a:t>interpolation</a:t>
            </a:r>
            <a:r>
              <a:rPr lang="en-US" sz="2000" spc="-10" dirty="0">
                <a:latin typeface="Arial"/>
                <a:cs typeface="Arial"/>
              </a:rPr>
              <a:t> (while handling graphics)</a:t>
            </a:r>
            <a:endParaRPr sz="2000" dirty="0">
              <a:latin typeface="Arial"/>
              <a:cs typeface="Arial"/>
            </a:endParaRPr>
          </a:p>
          <a:p>
            <a:pPr lvl="1">
              <a:spcBef>
                <a:spcPts val="1730"/>
              </a:spcBef>
              <a:buClr>
                <a:srgbClr val="4F80BC"/>
              </a:buClr>
              <a:buFont typeface="Arial"/>
              <a:buChar char="•"/>
            </a:pPr>
            <a:endParaRPr lang="en-US" dirty="0">
              <a:latin typeface="Arial"/>
              <a:cs typeface="Arial"/>
            </a:endParaRPr>
          </a:p>
          <a:p>
            <a:pPr lvl="1">
              <a:spcBef>
                <a:spcPts val="1730"/>
              </a:spcBef>
              <a:buClr>
                <a:srgbClr val="4F80BC"/>
              </a:buClr>
            </a:pPr>
            <a:endParaRPr sz="2400" dirty="0">
              <a:latin typeface="Arial"/>
              <a:cs typeface="Arial"/>
            </a:endParaRPr>
          </a:p>
        </p:txBody>
      </p:sp>
      <p:sp>
        <p:nvSpPr>
          <p:cNvPr id="4" name="object 4"/>
          <p:cNvSpPr txBox="1"/>
          <p:nvPr/>
        </p:nvSpPr>
        <p:spPr>
          <a:xfrm>
            <a:off x="2071826" y="6239967"/>
            <a:ext cx="8428355" cy="574040"/>
          </a:xfrm>
          <a:prstGeom prst="rect">
            <a:avLst/>
          </a:prstGeom>
        </p:spPr>
        <p:txBody>
          <a:bodyPr vert="horz" wrap="square" lIns="0" tIns="12700" rIns="0" bIns="0" rtlCol="0">
            <a:spAutoFit/>
          </a:bodyPr>
          <a:lstStyle/>
          <a:p>
            <a:pPr marL="12700">
              <a:spcBef>
                <a:spcPts val="100"/>
              </a:spcBef>
            </a:pPr>
            <a:r>
              <a:rPr dirty="0">
                <a:latin typeface="Arial"/>
                <a:cs typeface="Arial"/>
              </a:rPr>
              <a:t>*Examples</a:t>
            </a:r>
            <a:r>
              <a:rPr spc="-15" dirty="0">
                <a:latin typeface="Arial"/>
                <a:cs typeface="Arial"/>
              </a:rPr>
              <a:t> </a:t>
            </a:r>
            <a:r>
              <a:rPr spc="-25" dirty="0">
                <a:latin typeface="Arial"/>
                <a:cs typeface="Arial"/>
              </a:rPr>
              <a:t>at:</a:t>
            </a:r>
            <a:endParaRPr>
              <a:latin typeface="Arial"/>
              <a:cs typeface="Arial"/>
            </a:endParaRPr>
          </a:p>
          <a:p>
            <a:pPr marL="12700"/>
            <a:r>
              <a:rPr u="heavy" spc="-10" dirty="0">
                <a:solidFill>
                  <a:srgbClr val="0000FF"/>
                </a:solidFill>
                <a:uFill>
                  <a:solidFill>
                    <a:srgbClr val="0000FF"/>
                  </a:solidFill>
                </a:uFill>
                <a:latin typeface="Arial"/>
                <a:cs typeface="Arial"/>
                <a:hlinkClick r:id="rId3"/>
              </a:rPr>
              <a:t>http://docs.nvidia.com/cuda/cuda-c-programming-guide/index.html#texture-memory</a:t>
            </a:r>
            <a:endParaRPr>
              <a:latin typeface="Arial"/>
              <a:cs typeface="Arial"/>
            </a:endParaRPr>
          </a:p>
        </p:txBody>
      </p:sp>
    </p:spTree>
    <p:extLst>
      <p:ext uri="{BB962C8B-B14F-4D97-AF65-F5344CB8AC3E}">
        <p14:creationId xmlns:p14="http://schemas.microsoft.com/office/powerpoint/2010/main" val="29935912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406401"/>
            <a:ext cx="5334279" cy="464807"/>
          </a:xfrm>
          <a:prstGeom prst="rect">
            <a:avLst/>
          </a:prstGeom>
        </p:spPr>
        <p:txBody>
          <a:bodyPr vert="horz" wrap="square" lIns="0" tIns="13335" rIns="0" bIns="0" rtlCol="0">
            <a:spAutoFit/>
          </a:bodyPr>
          <a:lstStyle/>
          <a:p>
            <a:pPr marL="12700">
              <a:spcBef>
                <a:spcPts val="105"/>
              </a:spcBef>
            </a:pPr>
            <a:r>
              <a:rPr sz="2933" cap="small" dirty="0">
                <a:solidFill>
                  <a:schemeClr val="dk2"/>
                </a:solidFill>
              </a:rPr>
              <a:t>Memory spaces: Constant</a:t>
            </a:r>
          </a:p>
        </p:txBody>
      </p:sp>
      <p:sp>
        <p:nvSpPr>
          <p:cNvPr id="3" name="object 3"/>
          <p:cNvSpPr txBox="1"/>
          <p:nvPr/>
        </p:nvSpPr>
        <p:spPr>
          <a:xfrm>
            <a:off x="1710334" y="1685037"/>
            <a:ext cx="1085215" cy="330835"/>
          </a:xfrm>
          <a:prstGeom prst="rect">
            <a:avLst/>
          </a:prstGeom>
        </p:spPr>
        <p:txBody>
          <a:bodyPr vert="horz" wrap="square" lIns="0" tIns="13335" rIns="0" bIns="0" rtlCol="0">
            <a:spAutoFit/>
          </a:bodyPr>
          <a:lstStyle/>
          <a:p>
            <a:pPr marL="12700">
              <a:spcBef>
                <a:spcPts val="105"/>
              </a:spcBef>
            </a:pPr>
            <a:r>
              <a:rPr sz="2000" spc="-10" dirty="0">
                <a:latin typeface="Arial"/>
                <a:cs typeface="Arial"/>
              </a:rPr>
              <a:t>Example:</a:t>
            </a:r>
            <a:endParaRPr sz="2000" dirty="0">
              <a:latin typeface="Arial"/>
              <a:cs typeface="Arial"/>
            </a:endParaRPr>
          </a:p>
        </p:txBody>
      </p:sp>
      <p:sp>
        <p:nvSpPr>
          <p:cNvPr id="4" name="object 4"/>
          <p:cNvSpPr txBox="1"/>
          <p:nvPr/>
        </p:nvSpPr>
        <p:spPr>
          <a:xfrm>
            <a:off x="554990" y="2286712"/>
            <a:ext cx="5816600" cy="583429"/>
          </a:xfrm>
          <a:prstGeom prst="rect">
            <a:avLst/>
          </a:prstGeom>
        </p:spPr>
        <p:txBody>
          <a:bodyPr vert="horz" wrap="square" lIns="0" tIns="13335" rIns="0" bIns="0" rtlCol="0">
            <a:spAutoFit/>
          </a:bodyPr>
          <a:lstStyle/>
          <a:p>
            <a:pPr marL="12700">
              <a:lnSpc>
                <a:spcPts val="2160"/>
              </a:lnSpc>
              <a:spcBef>
                <a:spcPts val="105"/>
              </a:spcBef>
              <a:tabLst>
                <a:tab pos="469265" algn="l"/>
                <a:tab pos="1688464" algn="l"/>
                <a:tab pos="2298065" algn="l"/>
                <a:tab pos="2755265" algn="l"/>
                <a:tab pos="4584065" algn="l"/>
              </a:tabLst>
            </a:pPr>
            <a:r>
              <a:rPr sz="2000" b="1" spc="-25" dirty="0">
                <a:latin typeface="Courier New"/>
                <a:cs typeface="Courier New"/>
              </a:rPr>
              <a:t>//</a:t>
            </a:r>
            <a:r>
              <a:rPr sz="2000" dirty="0">
                <a:latin typeface="Times New Roman"/>
                <a:cs typeface="Times New Roman"/>
              </a:rPr>
              <a:t>	</a:t>
            </a:r>
            <a:r>
              <a:rPr sz="2000" b="1" spc="-10" dirty="0">
                <a:latin typeface="Courier New"/>
                <a:cs typeface="Courier New"/>
              </a:rPr>
              <a:t>scalars</a:t>
            </a:r>
            <a:r>
              <a:rPr sz="2000" dirty="0">
                <a:latin typeface="Times New Roman"/>
                <a:cs typeface="Times New Roman"/>
              </a:rPr>
              <a:t>	</a:t>
            </a:r>
            <a:r>
              <a:rPr sz="2000" b="1" spc="-25" dirty="0">
                <a:latin typeface="Courier New"/>
                <a:cs typeface="Courier New"/>
              </a:rPr>
              <a:t>can</a:t>
            </a:r>
            <a:r>
              <a:rPr sz="2000" dirty="0">
                <a:latin typeface="Times New Roman"/>
                <a:cs typeface="Times New Roman"/>
              </a:rPr>
              <a:t>	</a:t>
            </a:r>
            <a:r>
              <a:rPr sz="2000" b="1" spc="-25" dirty="0">
                <a:latin typeface="Courier New"/>
                <a:cs typeface="Courier New"/>
              </a:rPr>
              <a:t>be</a:t>
            </a:r>
            <a:r>
              <a:rPr sz="2000" dirty="0">
                <a:latin typeface="Times New Roman"/>
                <a:cs typeface="Times New Roman"/>
              </a:rPr>
              <a:t>	</a:t>
            </a:r>
            <a:r>
              <a:rPr sz="2000" b="1" spc="-10" dirty="0">
                <a:latin typeface="Courier New"/>
                <a:cs typeface="Courier New"/>
              </a:rPr>
              <a:t>initialized</a:t>
            </a:r>
            <a:r>
              <a:rPr sz="2000" dirty="0">
                <a:latin typeface="Times New Roman"/>
                <a:cs typeface="Times New Roman"/>
              </a:rPr>
              <a:t>	</a:t>
            </a:r>
            <a:r>
              <a:rPr sz="2000" b="1" spc="-10" dirty="0">
                <a:latin typeface="Courier New"/>
                <a:cs typeface="Courier New"/>
              </a:rPr>
              <a:t>directly</a:t>
            </a:r>
            <a:endParaRPr sz="2000" dirty="0">
              <a:latin typeface="Courier New"/>
              <a:cs typeface="Courier New"/>
            </a:endParaRPr>
          </a:p>
          <a:p>
            <a:pPr marL="12700">
              <a:lnSpc>
                <a:spcPts val="2160"/>
              </a:lnSpc>
              <a:tabLst>
                <a:tab pos="316865" algn="l"/>
                <a:tab pos="1986280" algn="l"/>
                <a:tab pos="3060065" algn="l"/>
              </a:tabLst>
            </a:pPr>
            <a:r>
              <a:rPr sz="2000" u="sng" dirty="0">
                <a:uFill>
                  <a:solidFill>
                    <a:srgbClr val="000000"/>
                  </a:solidFill>
                </a:uFill>
                <a:latin typeface="Times New Roman"/>
                <a:cs typeface="Times New Roman"/>
              </a:rPr>
              <a:t>	</a:t>
            </a:r>
            <a:r>
              <a:rPr sz="2000" b="1" spc="-10" dirty="0">
                <a:latin typeface="Courier New"/>
                <a:cs typeface="Courier New"/>
              </a:rPr>
              <a:t>constant</a:t>
            </a:r>
            <a:r>
              <a:rPr lang="en-US" sz="2000" b="1" spc="-10" dirty="0">
                <a:uFill>
                  <a:solidFill>
                    <a:srgbClr val="000000"/>
                  </a:solidFill>
                </a:uFill>
                <a:latin typeface="Times New Roman"/>
                <a:cs typeface="Times New Roman"/>
              </a:rPr>
              <a:t>__ </a:t>
            </a:r>
            <a:r>
              <a:rPr sz="2000" b="1" spc="-10" dirty="0">
                <a:latin typeface="Courier New"/>
                <a:cs typeface="Courier New"/>
              </a:rPr>
              <a:t>double</a:t>
            </a:r>
            <a:r>
              <a:rPr sz="2000" dirty="0">
                <a:latin typeface="Times New Roman"/>
                <a:cs typeface="Times New Roman"/>
              </a:rPr>
              <a:t>	</a:t>
            </a:r>
            <a:r>
              <a:rPr sz="2000" b="1" spc="-10" dirty="0">
                <a:latin typeface="Courier New"/>
                <a:cs typeface="Courier New"/>
              </a:rPr>
              <a:t>pi=3.14;</a:t>
            </a:r>
            <a:endParaRPr sz="2000" dirty="0">
              <a:latin typeface="Courier New"/>
              <a:cs typeface="Courier New"/>
            </a:endParaRPr>
          </a:p>
        </p:txBody>
      </p:sp>
      <p:sp>
        <p:nvSpPr>
          <p:cNvPr id="5" name="object 5"/>
          <p:cNvSpPr txBox="1"/>
          <p:nvPr/>
        </p:nvSpPr>
        <p:spPr>
          <a:xfrm>
            <a:off x="554991" y="3079748"/>
            <a:ext cx="8284209" cy="3552896"/>
          </a:xfrm>
          <a:prstGeom prst="rect">
            <a:avLst/>
          </a:prstGeom>
        </p:spPr>
        <p:txBody>
          <a:bodyPr vert="horz" wrap="square" lIns="0" tIns="13335" rIns="0" bIns="0" rtlCol="0">
            <a:spAutoFit/>
          </a:bodyPr>
          <a:lstStyle/>
          <a:p>
            <a:pPr marL="12700">
              <a:lnSpc>
                <a:spcPts val="2160"/>
              </a:lnSpc>
              <a:spcBef>
                <a:spcPts val="105"/>
              </a:spcBef>
              <a:tabLst>
                <a:tab pos="469265" algn="l"/>
                <a:tab pos="1536065" algn="l"/>
                <a:tab pos="2298065" algn="l"/>
                <a:tab pos="2755265" algn="l"/>
                <a:tab pos="4584065" algn="l"/>
                <a:tab pos="5041265" algn="l"/>
                <a:tab pos="5346065" algn="l"/>
                <a:tab pos="6108065" algn="l"/>
              </a:tabLst>
            </a:pPr>
            <a:r>
              <a:rPr sz="2000" b="1" spc="-25" dirty="0">
                <a:latin typeface="Courier New"/>
                <a:cs typeface="Courier New"/>
              </a:rPr>
              <a:t>//</a:t>
            </a:r>
            <a:r>
              <a:rPr sz="2000" dirty="0">
                <a:latin typeface="Times New Roman"/>
                <a:cs typeface="Times New Roman"/>
              </a:rPr>
              <a:t>	</a:t>
            </a:r>
            <a:r>
              <a:rPr sz="2000" b="1" spc="-10" dirty="0">
                <a:latin typeface="Courier New"/>
                <a:cs typeface="Courier New"/>
              </a:rPr>
              <a:t>arrays</a:t>
            </a:r>
            <a:r>
              <a:rPr sz="2000" dirty="0">
                <a:latin typeface="Times New Roman"/>
                <a:cs typeface="Times New Roman"/>
              </a:rPr>
              <a:t>	</a:t>
            </a:r>
            <a:r>
              <a:rPr sz="2000" b="1" spc="-20" dirty="0">
                <a:latin typeface="Courier New"/>
                <a:cs typeface="Courier New"/>
              </a:rPr>
              <a:t>must</a:t>
            </a:r>
            <a:r>
              <a:rPr sz="2000" dirty="0">
                <a:latin typeface="Times New Roman"/>
                <a:cs typeface="Times New Roman"/>
              </a:rPr>
              <a:t>	</a:t>
            </a:r>
            <a:r>
              <a:rPr sz="2000" b="1" spc="-25" dirty="0">
                <a:latin typeface="Courier New"/>
                <a:cs typeface="Courier New"/>
              </a:rPr>
              <a:t>be</a:t>
            </a:r>
            <a:r>
              <a:rPr sz="2000" dirty="0">
                <a:latin typeface="Times New Roman"/>
                <a:cs typeface="Times New Roman"/>
              </a:rPr>
              <a:t>	</a:t>
            </a:r>
            <a:r>
              <a:rPr sz="2000" b="1" spc="-10" dirty="0">
                <a:latin typeface="Courier New"/>
                <a:cs typeface="Courier New"/>
              </a:rPr>
              <a:t>initialized</a:t>
            </a:r>
            <a:r>
              <a:rPr sz="2000" dirty="0">
                <a:latin typeface="Times New Roman"/>
                <a:cs typeface="Times New Roman"/>
              </a:rPr>
              <a:t>	</a:t>
            </a:r>
            <a:r>
              <a:rPr sz="2000" b="1" spc="-25" dirty="0">
                <a:latin typeface="Courier New"/>
                <a:cs typeface="Courier New"/>
              </a:rPr>
              <a:t>by</a:t>
            </a:r>
            <a:r>
              <a:rPr sz="2000" dirty="0">
                <a:latin typeface="Times New Roman"/>
                <a:cs typeface="Times New Roman"/>
              </a:rPr>
              <a:t>	</a:t>
            </a:r>
            <a:r>
              <a:rPr sz="2000" b="1" spc="-50" dirty="0">
                <a:latin typeface="Courier New"/>
                <a:cs typeface="Courier New"/>
              </a:rPr>
              <a:t>a</a:t>
            </a:r>
            <a:r>
              <a:rPr sz="2000" dirty="0">
                <a:latin typeface="Times New Roman"/>
                <a:cs typeface="Times New Roman"/>
              </a:rPr>
              <a:t>	</a:t>
            </a:r>
            <a:r>
              <a:rPr sz="2000" b="1" spc="-20" dirty="0">
                <a:latin typeface="Courier New"/>
                <a:cs typeface="Courier New"/>
              </a:rPr>
              <a:t>host</a:t>
            </a:r>
            <a:r>
              <a:rPr sz="2000" dirty="0">
                <a:latin typeface="Times New Roman"/>
                <a:cs typeface="Times New Roman"/>
              </a:rPr>
              <a:t>	</a:t>
            </a:r>
            <a:r>
              <a:rPr sz="2000" b="1" spc="-10" dirty="0">
                <a:latin typeface="Courier New"/>
                <a:cs typeface="Courier New"/>
              </a:rPr>
              <a:t>function</a:t>
            </a:r>
            <a:endParaRPr sz="2000" dirty="0">
              <a:latin typeface="Courier New"/>
              <a:cs typeface="Courier New"/>
            </a:endParaRPr>
          </a:p>
          <a:p>
            <a:pPr marL="12700">
              <a:lnSpc>
                <a:spcPts val="2160"/>
              </a:lnSpc>
              <a:tabLst>
                <a:tab pos="316865" algn="l"/>
                <a:tab pos="1986280" algn="l"/>
                <a:tab pos="3060065" algn="l"/>
              </a:tabLst>
            </a:pPr>
            <a:r>
              <a:rPr sz="2000" u="sng" dirty="0">
                <a:uFill>
                  <a:solidFill>
                    <a:srgbClr val="000000"/>
                  </a:solidFill>
                </a:uFill>
                <a:latin typeface="Times New Roman"/>
                <a:cs typeface="Times New Roman"/>
              </a:rPr>
              <a:t>	</a:t>
            </a:r>
            <a:r>
              <a:rPr sz="2000" b="1" spc="-10" dirty="0">
                <a:latin typeface="Courier New"/>
                <a:cs typeface="Courier New"/>
              </a:rPr>
              <a:t>constant</a:t>
            </a:r>
            <a:r>
              <a:rPr lang="en-US" sz="2000" b="1" spc="-10" dirty="0">
                <a:uFill>
                  <a:solidFill>
                    <a:srgbClr val="000000"/>
                  </a:solidFill>
                </a:uFill>
                <a:latin typeface="Times New Roman"/>
                <a:cs typeface="Times New Roman"/>
              </a:rPr>
              <a:t>__  </a:t>
            </a:r>
            <a:r>
              <a:rPr sz="2000" b="1" spc="-10" dirty="0">
                <a:latin typeface="Courier New"/>
                <a:cs typeface="Courier New"/>
              </a:rPr>
              <a:t>float2</a:t>
            </a:r>
            <a:r>
              <a:rPr sz="2000" dirty="0">
                <a:latin typeface="Times New Roman"/>
                <a:cs typeface="Times New Roman"/>
              </a:rPr>
              <a:t>	</a:t>
            </a:r>
            <a:r>
              <a:rPr sz="2000" b="1" spc="-10" dirty="0">
                <a:latin typeface="Courier New"/>
                <a:cs typeface="Courier New"/>
              </a:rPr>
              <a:t>vertices[NUM_VERTICES];</a:t>
            </a:r>
            <a:endParaRPr sz="2000" dirty="0">
              <a:latin typeface="Courier New"/>
              <a:cs typeface="Courier New"/>
            </a:endParaRPr>
          </a:p>
          <a:p>
            <a:pPr>
              <a:lnSpc>
                <a:spcPct val="100000"/>
              </a:lnSpc>
            </a:pPr>
            <a:endParaRPr sz="2000" dirty="0">
              <a:latin typeface="Courier New"/>
              <a:cs typeface="Courier New"/>
            </a:endParaRPr>
          </a:p>
          <a:p>
            <a:pPr>
              <a:spcBef>
                <a:spcPts val="484"/>
              </a:spcBef>
            </a:pPr>
            <a:endParaRPr sz="2000" dirty="0">
              <a:latin typeface="Courier New"/>
              <a:cs typeface="Courier New"/>
            </a:endParaRPr>
          </a:p>
          <a:p>
            <a:pPr marL="195580" indent="-182880">
              <a:buClr>
                <a:srgbClr val="4F80BC"/>
              </a:buClr>
              <a:buSzPct val="85000"/>
              <a:buChar char="•"/>
              <a:tabLst>
                <a:tab pos="195580" algn="l"/>
                <a:tab pos="5493385" algn="l"/>
                <a:tab pos="7087870" algn="l"/>
              </a:tabLst>
            </a:pPr>
            <a:r>
              <a:rPr sz="2000" dirty="0">
                <a:latin typeface="Arial"/>
                <a:cs typeface="Arial"/>
              </a:rPr>
              <a:t>Statically defined by the host program</a:t>
            </a:r>
            <a:r>
              <a:rPr sz="2000" spc="-20" dirty="0">
                <a:latin typeface="Arial"/>
                <a:cs typeface="Arial"/>
              </a:rPr>
              <a:t> </a:t>
            </a:r>
            <a:r>
              <a:rPr sz="2000" dirty="0">
                <a:latin typeface="Arial"/>
                <a:cs typeface="Arial"/>
              </a:rPr>
              <a:t>using </a:t>
            </a:r>
            <a:r>
              <a:rPr sz="2000" u="sng" dirty="0">
                <a:uFill>
                  <a:solidFill>
                    <a:srgbClr val="000000"/>
                  </a:solidFill>
                </a:uFill>
                <a:latin typeface="Times New Roman"/>
                <a:cs typeface="Times New Roman"/>
              </a:rPr>
              <a:t>	</a:t>
            </a:r>
            <a:r>
              <a:rPr sz="2000" b="1" spc="-10" dirty="0">
                <a:latin typeface="Courier New"/>
                <a:cs typeface="Courier New"/>
              </a:rPr>
              <a:t>constant</a:t>
            </a:r>
            <a:r>
              <a:rPr sz="2000" u="sng" dirty="0">
                <a:uFill>
                  <a:solidFill>
                    <a:srgbClr val="000000"/>
                  </a:solidFill>
                </a:uFill>
                <a:latin typeface="Times New Roman"/>
                <a:cs typeface="Times New Roman"/>
              </a:rPr>
              <a:t>	</a:t>
            </a:r>
            <a:r>
              <a:rPr sz="2000" spc="-10" dirty="0">
                <a:latin typeface="Arial"/>
                <a:cs typeface="Arial"/>
              </a:rPr>
              <a:t>qualifier</a:t>
            </a:r>
            <a:endParaRPr sz="2000" dirty="0">
              <a:latin typeface="Arial"/>
              <a:cs typeface="Arial"/>
            </a:endParaRPr>
          </a:p>
          <a:p>
            <a:pPr marL="195580" indent="-182880">
              <a:spcBef>
                <a:spcPts val="325"/>
              </a:spcBef>
              <a:buClr>
                <a:srgbClr val="4F80BC"/>
              </a:buClr>
              <a:buSzPct val="85000"/>
              <a:buChar char="•"/>
              <a:tabLst>
                <a:tab pos="195580" algn="l"/>
              </a:tabLst>
            </a:pPr>
            <a:r>
              <a:rPr sz="2000" dirty="0">
                <a:latin typeface="Arial"/>
                <a:cs typeface="Arial"/>
              </a:rPr>
              <a:t>Defined</a:t>
            </a:r>
            <a:r>
              <a:rPr sz="2000" spc="-35" dirty="0">
                <a:latin typeface="Arial"/>
                <a:cs typeface="Arial"/>
              </a:rPr>
              <a:t> </a:t>
            </a:r>
            <a:r>
              <a:rPr sz="2000" dirty="0">
                <a:latin typeface="Arial"/>
                <a:cs typeface="Arial"/>
              </a:rPr>
              <a:t>as</a:t>
            </a:r>
            <a:r>
              <a:rPr sz="2000" spc="-30" dirty="0">
                <a:latin typeface="Arial"/>
                <a:cs typeface="Arial"/>
              </a:rPr>
              <a:t> </a:t>
            </a:r>
            <a:r>
              <a:rPr sz="2000" dirty="0">
                <a:latin typeface="Arial"/>
                <a:cs typeface="Arial"/>
              </a:rPr>
              <a:t>a</a:t>
            </a:r>
            <a:r>
              <a:rPr sz="2000" spc="-30" dirty="0">
                <a:latin typeface="Arial"/>
                <a:cs typeface="Arial"/>
              </a:rPr>
              <a:t> </a:t>
            </a:r>
            <a:r>
              <a:rPr sz="2000" dirty="0">
                <a:latin typeface="Arial"/>
                <a:cs typeface="Arial"/>
              </a:rPr>
              <a:t>global</a:t>
            </a:r>
            <a:r>
              <a:rPr sz="2000" spc="-15" dirty="0">
                <a:latin typeface="Arial"/>
                <a:cs typeface="Arial"/>
              </a:rPr>
              <a:t> </a:t>
            </a:r>
            <a:r>
              <a:rPr sz="2000" dirty="0">
                <a:latin typeface="Arial"/>
                <a:cs typeface="Arial"/>
              </a:rPr>
              <a:t>variable,</a:t>
            </a:r>
            <a:r>
              <a:rPr sz="2000" spc="-35" dirty="0">
                <a:latin typeface="Arial"/>
                <a:cs typeface="Arial"/>
              </a:rPr>
              <a:t> </a:t>
            </a:r>
            <a:r>
              <a:rPr sz="2000" dirty="0">
                <a:latin typeface="Arial"/>
                <a:cs typeface="Arial"/>
              </a:rPr>
              <a:t>visible</a:t>
            </a:r>
            <a:r>
              <a:rPr sz="2000" spc="-15" dirty="0">
                <a:latin typeface="Arial"/>
                <a:cs typeface="Arial"/>
              </a:rPr>
              <a:t> </a:t>
            </a:r>
            <a:r>
              <a:rPr sz="2000" dirty="0">
                <a:latin typeface="Arial"/>
                <a:cs typeface="Arial"/>
              </a:rPr>
              <a:t>only</a:t>
            </a:r>
            <a:r>
              <a:rPr sz="2000" spc="-25" dirty="0">
                <a:latin typeface="Arial"/>
                <a:cs typeface="Arial"/>
              </a:rPr>
              <a:t> </a:t>
            </a:r>
            <a:r>
              <a:rPr sz="2000" dirty="0">
                <a:latin typeface="Arial"/>
                <a:cs typeface="Arial"/>
              </a:rPr>
              <a:t>within</a:t>
            </a:r>
            <a:r>
              <a:rPr sz="2000" spc="-20" dirty="0">
                <a:latin typeface="Arial"/>
                <a:cs typeface="Arial"/>
              </a:rPr>
              <a:t> </a:t>
            </a:r>
            <a:r>
              <a:rPr sz="2000" dirty="0">
                <a:latin typeface="Arial"/>
                <a:cs typeface="Arial"/>
              </a:rPr>
              <a:t>the</a:t>
            </a:r>
            <a:r>
              <a:rPr sz="2000" spc="-35" dirty="0">
                <a:latin typeface="Arial"/>
                <a:cs typeface="Arial"/>
              </a:rPr>
              <a:t> </a:t>
            </a:r>
            <a:r>
              <a:rPr sz="2000" dirty="0">
                <a:latin typeface="Arial"/>
                <a:cs typeface="Arial"/>
              </a:rPr>
              <a:t>same</a:t>
            </a:r>
            <a:r>
              <a:rPr sz="2000" spc="-30" dirty="0">
                <a:latin typeface="Arial"/>
                <a:cs typeface="Arial"/>
              </a:rPr>
              <a:t> </a:t>
            </a:r>
            <a:r>
              <a:rPr sz="2000" dirty="0">
                <a:latin typeface="Arial"/>
                <a:cs typeface="Arial"/>
              </a:rPr>
              <a:t>source</a:t>
            </a:r>
            <a:r>
              <a:rPr sz="2000" spc="-65" dirty="0">
                <a:latin typeface="Arial"/>
                <a:cs typeface="Arial"/>
              </a:rPr>
              <a:t> </a:t>
            </a:r>
            <a:r>
              <a:rPr sz="2000" spc="-20" dirty="0">
                <a:latin typeface="Arial"/>
                <a:cs typeface="Arial"/>
              </a:rPr>
              <a:t>file</a:t>
            </a:r>
            <a:endParaRPr sz="2000" dirty="0">
              <a:latin typeface="Arial"/>
              <a:cs typeface="Arial"/>
            </a:endParaRPr>
          </a:p>
          <a:p>
            <a:pPr marL="195580" indent="-182880">
              <a:spcBef>
                <a:spcPts val="155"/>
              </a:spcBef>
              <a:buClr>
                <a:srgbClr val="4F80BC"/>
              </a:buClr>
              <a:buSzPct val="85000"/>
              <a:buChar char="•"/>
              <a:tabLst>
                <a:tab pos="195580" algn="l"/>
              </a:tabLst>
            </a:pPr>
            <a:r>
              <a:rPr sz="2000" dirty="0">
                <a:latin typeface="Arial"/>
                <a:cs typeface="Arial"/>
              </a:rPr>
              <a:t>Initialized</a:t>
            </a:r>
            <a:r>
              <a:rPr sz="2000" spc="-5" dirty="0">
                <a:latin typeface="Arial"/>
                <a:cs typeface="Arial"/>
              </a:rPr>
              <a:t> </a:t>
            </a:r>
            <a:r>
              <a:rPr sz="2000" dirty="0">
                <a:latin typeface="Arial"/>
                <a:cs typeface="Arial"/>
              </a:rPr>
              <a:t>by</a:t>
            </a:r>
            <a:r>
              <a:rPr sz="2000" spc="-15" dirty="0">
                <a:latin typeface="Arial"/>
                <a:cs typeface="Arial"/>
              </a:rPr>
              <a:t> </a:t>
            </a:r>
            <a:r>
              <a:rPr sz="2000" dirty="0">
                <a:latin typeface="Arial"/>
                <a:cs typeface="Arial"/>
              </a:rPr>
              <a:t>the</a:t>
            </a:r>
            <a:r>
              <a:rPr sz="2000" spc="-20" dirty="0">
                <a:latin typeface="Arial"/>
                <a:cs typeface="Arial"/>
              </a:rPr>
              <a:t> </a:t>
            </a:r>
            <a:r>
              <a:rPr sz="2000" dirty="0">
                <a:latin typeface="Arial"/>
                <a:cs typeface="Arial"/>
              </a:rPr>
              <a:t>host</a:t>
            </a:r>
            <a:r>
              <a:rPr sz="2000" spc="-35" dirty="0">
                <a:latin typeface="Arial"/>
                <a:cs typeface="Arial"/>
              </a:rPr>
              <a:t> </a:t>
            </a:r>
            <a:r>
              <a:rPr sz="2000" dirty="0">
                <a:latin typeface="Arial"/>
                <a:cs typeface="Arial"/>
              </a:rPr>
              <a:t>program</a:t>
            </a:r>
            <a:r>
              <a:rPr sz="2000" spc="-50" dirty="0">
                <a:latin typeface="Arial"/>
                <a:cs typeface="Arial"/>
              </a:rPr>
              <a:t> </a:t>
            </a:r>
            <a:r>
              <a:rPr sz="2000" dirty="0">
                <a:latin typeface="Arial"/>
                <a:cs typeface="Arial"/>
              </a:rPr>
              <a:t>using</a:t>
            </a:r>
            <a:r>
              <a:rPr sz="2000" spc="-20" dirty="0">
                <a:latin typeface="Arial"/>
                <a:cs typeface="Arial"/>
              </a:rPr>
              <a:t> </a:t>
            </a:r>
            <a:r>
              <a:rPr sz="2000" b="1" spc="-10" dirty="0">
                <a:latin typeface="Courier New"/>
                <a:cs typeface="Courier New"/>
              </a:rPr>
              <a:t>cudaMemcpyToSymbol()</a:t>
            </a:r>
            <a:endParaRPr sz="2000" dirty="0">
              <a:latin typeface="Courier New"/>
              <a:cs typeface="Courier New"/>
            </a:endParaRPr>
          </a:p>
          <a:p>
            <a:pPr marL="195580" indent="-182880">
              <a:spcBef>
                <a:spcPts val="325"/>
              </a:spcBef>
              <a:buClr>
                <a:srgbClr val="4F80BC"/>
              </a:buClr>
              <a:buSzPct val="85000"/>
              <a:buChar char="•"/>
              <a:tabLst>
                <a:tab pos="195580" algn="l"/>
              </a:tabLst>
            </a:pPr>
            <a:r>
              <a:rPr sz="2000" spc="-10" dirty="0">
                <a:latin typeface="Arial"/>
                <a:cs typeface="Arial"/>
              </a:rPr>
              <a:t>Read-</a:t>
            </a:r>
            <a:r>
              <a:rPr sz="2000" dirty="0">
                <a:latin typeface="Arial"/>
                <a:cs typeface="Arial"/>
              </a:rPr>
              <a:t>only</a:t>
            </a:r>
            <a:r>
              <a:rPr sz="2000" spc="-35" dirty="0">
                <a:latin typeface="Arial"/>
                <a:cs typeface="Arial"/>
              </a:rPr>
              <a:t> </a:t>
            </a:r>
            <a:r>
              <a:rPr sz="2000" dirty="0">
                <a:latin typeface="Arial"/>
                <a:cs typeface="Arial"/>
              </a:rPr>
              <a:t>to</a:t>
            </a:r>
            <a:r>
              <a:rPr sz="2000" spc="-5" dirty="0">
                <a:latin typeface="Arial"/>
                <a:cs typeface="Arial"/>
              </a:rPr>
              <a:t> </a:t>
            </a:r>
            <a:r>
              <a:rPr sz="2000" dirty="0">
                <a:latin typeface="Arial"/>
                <a:cs typeface="Arial"/>
              </a:rPr>
              <a:t>the</a:t>
            </a:r>
            <a:r>
              <a:rPr sz="2000" spc="-15" dirty="0">
                <a:latin typeface="Arial"/>
                <a:cs typeface="Arial"/>
              </a:rPr>
              <a:t> </a:t>
            </a:r>
            <a:r>
              <a:rPr sz="2000" dirty="0">
                <a:latin typeface="Arial"/>
                <a:cs typeface="Arial"/>
              </a:rPr>
              <a:t>GPU,</a:t>
            </a:r>
            <a:r>
              <a:rPr sz="2000" spc="-15" dirty="0">
                <a:latin typeface="Arial"/>
                <a:cs typeface="Arial"/>
              </a:rPr>
              <a:t> </a:t>
            </a:r>
            <a:r>
              <a:rPr sz="2000" dirty="0">
                <a:latin typeface="Arial"/>
                <a:cs typeface="Arial"/>
              </a:rPr>
              <a:t>and</a:t>
            </a:r>
            <a:r>
              <a:rPr sz="2000" spc="-10" dirty="0">
                <a:latin typeface="Arial"/>
                <a:cs typeface="Arial"/>
              </a:rPr>
              <a:t> </a:t>
            </a:r>
            <a:r>
              <a:rPr sz="2000" dirty="0">
                <a:latin typeface="Arial"/>
                <a:cs typeface="Arial"/>
              </a:rPr>
              <a:t>cannot</a:t>
            </a:r>
            <a:r>
              <a:rPr sz="2000" spc="-25" dirty="0">
                <a:latin typeface="Arial"/>
                <a:cs typeface="Arial"/>
              </a:rPr>
              <a:t> </a:t>
            </a:r>
            <a:r>
              <a:rPr sz="2000" dirty="0">
                <a:latin typeface="Arial"/>
                <a:cs typeface="Arial"/>
              </a:rPr>
              <a:t>be</a:t>
            </a:r>
            <a:r>
              <a:rPr sz="2000" spc="-10" dirty="0">
                <a:latin typeface="Arial"/>
                <a:cs typeface="Arial"/>
              </a:rPr>
              <a:t> </a:t>
            </a:r>
            <a:r>
              <a:rPr sz="2000" dirty="0">
                <a:latin typeface="Arial"/>
                <a:cs typeface="Arial"/>
              </a:rPr>
              <a:t>accessed</a:t>
            </a:r>
            <a:r>
              <a:rPr sz="2000" spc="-35" dirty="0">
                <a:latin typeface="Arial"/>
                <a:cs typeface="Arial"/>
              </a:rPr>
              <a:t> </a:t>
            </a:r>
            <a:r>
              <a:rPr sz="2000" dirty="0">
                <a:latin typeface="Arial"/>
                <a:cs typeface="Arial"/>
              </a:rPr>
              <a:t>directly</a:t>
            </a:r>
            <a:r>
              <a:rPr sz="2000" spc="-20" dirty="0">
                <a:latin typeface="Arial"/>
                <a:cs typeface="Arial"/>
              </a:rPr>
              <a:t> </a:t>
            </a:r>
            <a:r>
              <a:rPr sz="2000" dirty="0">
                <a:latin typeface="Arial"/>
                <a:cs typeface="Arial"/>
              </a:rPr>
              <a:t>by</a:t>
            </a:r>
            <a:r>
              <a:rPr sz="2000" spc="-10" dirty="0">
                <a:latin typeface="Arial"/>
                <a:cs typeface="Arial"/>
              </a:rPr>
              <a:t> </a:t>
            </a:r>
            <a:r>
              <a:rPr sz="2000" dirty="0">
                <a:latin typeface="Arial"/>
                <a:cs typeface="Arial"/>
              </a:rPr>
              <a:t>the</a:t>
            </a:r>
            <a:r>
              <a:rPr sz="2000" spc="-15" dirty="0">
                <a:latin typeface="Arial"/>
                <a:cs typeface="Arial"/>
              </a:rPr>
              <a:t> </a:t>
            </a:r>
            <a:r>
              <a:rPr sz="2000" spc="-20" dirty="0">
                <a:latin typeface="Arial"/>
                <a:cs typeface="Arial"/>
              </a:rPr>
              <a:t>host</a:t>
            </a:r>
            <a:endParaRPr sz="2000" dirty="0">
              <a:latin typeface="Arial"/>
              <a:cs typeface="Arial"/>
            </a:endParaRPr>
          </a:p>
          <a:p>
            <a:pPr marL="194945" marR="5080" indent="-182880">
              <a:lnSpc>
                <a:spcPts val="2160"/>
              </a:lnSpc>
              <a:spcBef>
                <a:spcPts val="515"/>
              </a:spcBef>
              <a:buClr>
                <a:srgbClr val="4F80BC"/>
              </a:buClr>
              <a:buSzPct val="85000"/>
              <a:buChar char="•"/>
              <a:tabLst>
                <a:tab pos="194945" algn="l"/>
              </a:tabLst>
            </a:pPr>
            <a:r>
              <a:rPr sz="2000" spc="-10" dirty="0">
                <a:latin typeface="Arial"/>
                <a:cs typeface="Arial"/>
              </a:rPr>
              <a:t>Values</a:t>
            </a:r>
            <a:r>
              <a:rPr sz="2000" spc="-20" dirty="0">
                <a:latin typeface="Arial"/>
                <a:cs typeface="Arial"/>
              </a:rPr>
              <a:t> </a:t>
            </a:r>
            <a:r>
              <a:rPr sz="2000" dirty="0">
                <a:latin typeface="Arial"/>
                <a:cs typeface="Arial"/>
              </a:rPr>
              <a:t>are</a:t>
            </a:r>
            <a:r>
              <a:rPr sz="2000" spc="-35" dirty="0">
                <a:latin typeface="Arial"/>
                <a:cs typeface="Arial"/>
              </a:rPr>
              <a:t> </a:t>
            </a:r>
            <a:r>
              <a:rPr sz="2000" dirty="0">
                <a:latin typeface="Arial"/>
                <a:cs typeface="Arial"/>
              </a:rPr>
              <a:t>cached</a:t>
            </a:r>
            <a:r>
              <a:rPr sz="2000" spc="-35" dirty="0">
                <a:latin typeface="Arial"/>
                <a:cs typeface="Arial"/>
              </a:rPr>
              <a:t> </a:t>
            </a:r>
            <a:r>
              <a:rPr sz="2000" dirty="0">
                <a:latin typeface="Arial"/>
                <a:cs typeface="Arial"/>
              </a:rPr>
              <a:t>in</a:t>
            </a:r>
            <a:r>
              <a:rPr sz="2000" spc="-5" dirty="0">
                <a:latin typeface="Arial"/>
                <a:cs typeface="Arial"/>
              </a:rPr>
              <a:t> </a:t>
            </a:r>
            <a:r>
              <a:rPr sz="2000" dirty="0">
                <a:latin typeface="Arial"/>
                <a:cs typeface="Arial"/>
              </a:rPr>
              <a:t>a</a:t>
            </a:r>
            <a:r>
              <a:rPr sz="2000" spc="-30" dirty="0">
                <a:latin typeface="Arial"/>
                <a:cs typeface="Arial"/>
              </a:rPr>
              <a:t> </a:t>
            </a:r>
            <a:r>
              <a:rPr sz="2000" dirty="0">
                <a:latin typeface="Arial"/>
                <a:cs typeface="Arial"/>
              </a:rPr>
              <a:t>special</a:t>
            </a:r>
            <a:r>
              <a:rPr sz="2000" spc="-25" dirty="0">
                <a:latin typeface="Arial"/>
                <a:cs typeface="Arial"/>
              </a:rPr>
              <a:t> </a:t>
            </a:r>
            <a:r>
              <a:rPr sz="2000" dirty="0">
                <a:latin typeface="Arial"/>
                <a:cs typeface="Arial"/>
              </a:rPr>
              <a:t>cache</a:t>
            </a:r>
            <a:r>
              <a:rPr sz="2000" spc="-40" dirty="0">
                <a:latin typeface="Arial"/>
                <a:cs typeface="Arial"/>
              </a:rPr>
              <a:t> </a:t>
            </a:r>
            <a:r>
              <a:rPr sz="2000" dirty="0">
                <a:latin typeface="Arial"/>
                <a:cs typeface="Arial"/>
              </a:rPr>
              <a:t>optimized</a:t>
            </a:r>
            <a:r>
              <a:rPr sz="2000" spc="-30" dirty="0">
                <a:latin typeface="Arial"/>
                <a:cs typeface="Arial"/>
              </a:rPr>
              <a:t> </a:t>
            </a:r>
            <a:r>
              <a:rPr sz="2000" dirty="0">
                <a:latin typeface="Arial"/>
                <a:cs typeface="Arial"/>
              </a:rPr>
              <a:t>for</a:t>
            </a:r>
            <a:r>
              <a:rPr sz="2000" spc="-35" dirty="0">
                <a:latin typeface="Arial"/>
                <a:cs typeface="Arial"/>
              </a:rPr>
              <a:t> </a:t>
            </a:r>
            <a:r>
              <a:rPr sz="2000" dirty="0">
                <a:latin typeface="Arial"/>
                <a:cs typeface="Arial"/>
              </a:rPr>
              <a:t>broadcast</a:t>
            </a:r>
            <a:r>
              <a:rPr sz="2000" spc="-55" dirty="0">
                <a:latin typeface="Arial"/>
                <a:cs typeface="Arial"/>
              </a:rPr>
              <a:t> </a:t>
            </a:r>
            <a:r>
              <a:rPr sz="2000" dirty="0">
                <a:latin typeface="Arial"/>
                <a:cs typeface="Arial"/>
              </a:rPr>
              <a:t>access</a:t>
            </a:r>
            <a:r>
              <a:rPr sz="2000" spc="-50" dirty="0">
                <a:latin typeface="Arial"/>
                <a:cs typeface="Arial"/>
              </a:rPr>
              <a:t> </a:t>
            </a:r>
            <a:r>
              <a:rPr sz="2000" spc="-25" dirty="0">
                <a:latin typeface="Arial"/>
                <a:cs typeface="Arial"/>
              </a:rPr>
              <a:t>by </a:t>
            </a:r>
            <a:r>
              <a:rPr sz="2000" dirty="0">
                <a:latin typeface="Arial"/>
                <a:cs typeface="Arial"/>
              </a:rPr>
              <a:t>multiple</a:t>
            </a:r>
            <a:r>
              <a:rPr sz="2000" spc="-25" dirty="0">
                <a:latin typeface="Arial"/>
                <a:cs typeface="Arial"/>
              </a:rPr>
              <a:t> </a:t>
            </a:r>
            <a:r>
              <a:rPr sz="2000" dirty="0">
                <a:latin typeface="Arial"/>
                <a:cs typeface="Arial"/>
              </a:rPr>
              <a:t>threads</a:t>
            </a:r>
            <a:r>
              <a:rPr sz="2000" spc="-55" dirty="0">
                <a:latin typeface="Arial"/>
                <a:cs typeface="Arial"/>
              </a:rPr>
              <a:t> </a:t>
            </a:r>
            <a:r>
              <a:rPr sz="2000" spc="-10" dirty="0">
                <a:latin typeface="Arial"/>
                <a:cs typeface="Arial"/>
              </a:rPr>
              <a:t>simultaneously</a:t>
            </a:r>
            <a:endParaRPr sz="2000" dirty="0">
              <a:latin typeface="Arial"/>
              <a:cs typeface="Arial"/>
            </a:endParaRPr>
          </a:p>
          <a:p>
            <a:pPr marL="195580" indent="-182880">
              <a:spcBef>
                <a:spcPts val="204"/>
              </a:spcBef>
              <a:buClr>
                <a:srgbClr val="4F80BC"/>
              </a:buClr>
              <a:buSzPct val="85000"/>
              <a:buChar char="•"/>
              <a:tabLst>
                <a:tab pos="195580" algn="l"/>
              </a:tabLst>
            </a:pPr>
            <a:r>
              <a:rPr sz="2000" dirty="0">
                <a:latin typeface="Arial"/>
                <a:cs typeface="Arial"/>
              </a:rPr>
              <a:t>Access</a:t>
            </a:r>
            <a:r>
              <a:rPr sz="2000" spc="-45" dirty="0">
                <a:latin typeface="Arial"/>
                <a:cs typeface="Arial"/>
              </a:rPr>
              <a:t> </a:t>
            </a:r>
            <a:r>
              <a:rPr sz="2000" dirty="0">
                <a:latin typeface="Arial"/>
                <a:cs typeface="Arial"/>
              </a:rPr>
              <a:t>should</a:t>
            </a:r>
            <a:r>
              <a:rPr sz="2000" spc="-10" dirty="0">
                <a:latin typeface="Arial"/>
                <a:cs typeface="Arial"/>
              </a:rPr>
              <a:t> </a:t>
            </a:r>
            <a:r>
              <a:rPr sz="2000" dirty="0">
                <a:latin typeface="Arial"/>
                <a:cs typeface="Arial"/>
              </a:rPr>
              <a:t>not</a:t>
            </a:r>
            <a:r>
              <a:rPr sz="2000" spc="-20" dirty="0">
                <a:latin typeface="Arial"/>
                <a:cs typeface="Arial"/>
              </a:rPr>
              <a:t> </a:t>
            </a:r>
            <a:r>
              <a:rPr sz="2000" dirty="0">
                <a:latin typeface="Arial"/>
                <a:cs typeface="Arial"/>
              </a:rPr>
              <a:t>depend</a:t>
            </a:r>
            <a:r>
              <a:rPr sz="2000" spc="-20" dirty="0">
                <a:latin typeface="Arial"/>
                <a:cs typeface="Arial"/>
              </a:rPr>
              <a:t> </a:t>
            </a:r>
            <a:r>
              <a:rPr sz="2000" dirty="0">
                <a:latin typeface="Arial"/>
                <a:cs typeface="Arial"/>
              </a:rPr>
              <a:t>on threadIdx</a:t>
            </a:r>
            <a:r>
              <a:rPr sz="2000" spc="-35" dirty="0">
                <a:latin typeface="Arial"/>
                <a:cs typeface="Arial"/>
              </a:rPr>
              <a:t> </a:t>
            </a:r>
            <a:r>
              <a:rPr sz="2000" dirty="0">
                <a:latin typeface="Arial"/>
                <a:cs typeface="Arial"/>
              </a:rPr>
              <a:t>(works,</a:t>
            </a:r>
            <a:r>
              <a:rPr sz="2000" spc="-40" dirty="0">
                <a:latin typeface="Arial"/>
                <a:cs typeface="Arial"/>
              </a:rPr>
              <a:t> </a:t>
            </a:r>
            <a:r>
              <a:rPr sz="2000" dirty="0">
                <a:latin typeface="Arial"/>
                <a:cs typeface="Arial"/>
              </a:rPr>
              <a:t>but</a:t>
            </a:r>
            <a:r>
              <a:rPr sz="2000" spc="-15" dirty="0">
                <a:latin typeface="Arial"/>
                <a:cs typeface="Arial"/>
              </a:rPr>
              <a:t> </a:t>
            </a:r>
            <a:r>
              <a:rPr sz="2000" spc="-10" dirty="0">
                <a:latin typeface="Arial"/>
                <a:cs typeface="Arial"/>
              </a:rPr>
              <a:t>slow)</a:t>
            </a:r>
            <a:endParaRPr sz="2000" dirty="0">
              <a:latin typeface="Arial"/>
              <a:cs typeface="Arial"/>
            </a:endParaRPr>
          </a:p>
        </p:txBody>
      </p:sp>
      <p:sp>
        <p:nvSpPr>
          <p:cNvPr id="6" name="object 6"/>
          <p:cNvSpPr txBox="1"/>
          <p:nvPr/>
        </p:nvSpPr>
        <p:spPr>
          <a:xfrm>
            <a:off x="6642606" y="461520"/>
            <a:ext cx="782320" cy="258404"/>
          </a:xfrm>
          <a:prstGeom prst="rect">
            <a:avLst/>
          </a:prstGeom>
        </p:spPr>
        <p:txBody>
          <a:bodyPr vert="horz" wrap="square" lIns="0" tIns="12065" rIns="0" bIns="0" rtlCol="0">
            <a:spAutoFit/>
          </a:bodyPr>
          <a:lstStyle/>
          <a:p>
            <a:pPr marL="12700">
              <a:spcBef>
                <a:spcPts val="95"/>
              </a:spcBef>
            </a:pPr>
            <a:r>
              <a:rPr sz="1600" dirty="0">
                <a:latin typeface="Arial"/>
                <a:cs typeface="Arial"/>
              </a:rPr>
              <a:t>Kernel</a:t>
            </a:r>
            <a:r>
              <a:rPr sz="1600" spc="-20" dirty="0">
                <a:latin typeface="Arial"/>
                <a:cs typeface="Arial"/>
              </a:rPr>
              <a:t> </a:t>
            </a:r>
            <a:r>
              <a:rPr sz="1600" spc="-60" dirty="0">
                <a:latin typeface="Arial"/>
                <a:cs typeface="Arial"/>
              </a:rPr>
              <a:t>0</a:t>
            </a:r>
            <a:endParaRPr sz="1600">
              <a:latin typeface="Arial"/>
              <a:cs typeface="Arial"/>
            </a:endParaRPr>
          </a:p>
        </p:txBody>
      </p:sp>
      <p:sp>
        <p:nvSpPr>
          <p:cNvPr id="7" name="object 7"/>
          <p:cNvSpPr txBox="1"/>
          <p:nvPr/>
        </p:nvSpPr>
        <p:spPr>
          <a:xfrm>
            <a:off x="6642606" y="1397892"/>
            <a:ext cx="781050" cy="258404"/>
          </a:xfrm>
          <a:prstGeom prst="rect">
            <a:avLst/>
          </a:prstGeom>
        </p:spPr>
        <p:txBody>
          <a:bodyPr vert="horz" wrap="square" lIns="0" tIns="12065" rIns="0" bIns="0" rtlCol="0">
            <a:spAutoFit/>
          </a:bodyPr>
          <a:lstStyle/>
          <a:p>
            <a:pPr marL="12700">
              <a:spcBef>
                <a:spcPts val="95"/>
              </a:spcBef>
            </a:pPr>
            <a:r>
              <a:rPr sz="1600" dirty="0">
                <a:latin typeface="Arial"/>
                <a:cs typeface="Arial"/>
              </a:rPr>
              <a:t>Kernel</a:t>
            </a:r>
            <a:r>
              <a:rPr sz="1600" spc="-50" dirty="0">
                <a:latin typeface="Arial"/>
                <a:cs typeface="Arial"/>
              </a:rPr>
              <a:t> 1</a:t>
            </a:r>
            <a:endParaRPr sz="1600">
              <a:latin typeface="Arial"/>
              <a:cs typeface="Arial"/>
            </a:endParaRPr>
          </a:p>
        </p:txBody>
      </p:sp>
      <p:grpSp>
        <p:nvGrpSpPr>
          <p:cNvPr id="8" name="object 8"/>
          <p:cNvGrpSpPr/>
          <p:nvPr/>
        </p:nvGrpSpPr>
        <p:grpSpPr>
          <a:xfrm>
            <a:off x="6601205" y="720087"/>
            <a:ext cx="2376170" cy="576580"/>
            <a:chOff x="5077205" y="720087"/>
            <a:chExt cx="2376170" cy="576580"/>
          </a:xfrm>
        </p:grpSpPr>
        <p:sp>
          <p:nvSpPr>
            <p:cNvPr id="9" name="object 9"/>
            <p:cNvSpPr/>
            <p:nvPr/>
          </p:nvSpPr>
          <p:spPr>
            <a:xfrm>
              <a:off x="5077205" y="720087"/>
              <a:ext cx="2376170" cy="576580"/>
            </a:xfrm>
            <a:custGeom>
              <a:avLst/>
              <a:gdLst/>
              <a:ahLst/>
              <a:cxnLst/>
              <a:rect l="l" t="t" r="r" b="b"/>
              <a:pathLst>
                <a:path w="2376170" h="576580">
                  <a:moveTo>
                    <a:pt x="2375916" y="0"/>
                  </a:moveTo>
                  <a:lnTo>
                    <a:pt x="0" y="0"/>
                  </a:lnTo>
                  <a:lnTo>
                    <a:pt x="0" y="576074"/>
                  </a:lnTo>
                  <a:lnTo>
                    <a:pt x="2375916" y="576074"/>
                  </a:lnTo>
                  <a:lnTo>
                    <a:pt x="2375916" y="0"/>
                  </a:lnTo>
                  <a:close/>
                </a:path>
              </a:pathLst>
            </a:custGeom>
            <a:solidFill>
              <a:srgbClr val="C0504D"/>
            </a:solidFill>
          </p:spPr>
          <p:txBody>
            <a:bodyPr wrap="square" lIns="0" tIns="0" rIns="0" bIns="0" rtlCol="0"/>
            <a:lstStyle/>
            <a:p>
              <a:endParaRPr/>
            </a:p>
          </p:txBody>
        </p:sp>
        <p:pic>
          <p:nvPicPr>
            <p:cNvPr id="10" name="object 10"/>
            <p:cNvPicPr/>
            <p:nvPr/>
          </p:nvPicPr>
          <p:blipFill>
            <a:blip r:embed="rId2" cstate="print"/>
            <a:stretch>
              <a:fillRect/>
            </a:stretch>
          </p:blipFill>
          <p:spPr>
            <a:xfrm>
              <a:off x="5143309" y="787719"/>
              <a:ext cx="440814" cy="440814"/>
            </a:xfrm>
            <a:prstGeom prst="rect">
              <a:avLst/>
            </a:prstGeom>
          </p:spPr>
        </p:pic>
        <p:pic>
          <p:nvPicPr>
            <p:cNvPr id="11" name="object 11"/>
            <p:cNvPicPr/>
            <p:nvPr/>
          </p:nvPicPr>
          <p:blipFill>
            <a:blip r:embed="rId3" cstate="print"/>
            <a:stretch>
              <a:fillRect/>
            </a:stretch>
          </p:blipFill>
          <p:spPr>
            <a:xfrm>
              <a:off x="5647753" y="787719"/>
              <a:ext cx="440814" cy="440814"/>
            </a:xfrm>
            <a:prstGeom prst="rect">
              <a:avLst/>
            </a:prstGeom>
          </p:spPr>
        </p:pic>
        <p:pic>
          <p:nvPicPr>
            <p:cNvPr id="12" name="object 12"/>
            <p:cNvPicPr/>
            <p:nvPr/>
          </p:nvPicPr>
          <p:blipFill>
            <a:blip r:embed="rId4" cstate="print"/>
            <a:stretch>
              <a:fillRect/>
            </a:stretch>
          </p:blipFill>
          <p:spPr>
            <a:xfrm>
              <a:off x="6150673" y="787719"/>
              <a:ext cx="442342" cy="440814"/>
            </a:xfrm>
            <a:prstGeom prst="rect">
              <a:avLst/>
            </a:prstGeom>
          </p:spPr>
        </p:pic>
        <p:pic>
          <p:nvPicPr>
            <p:cNvPr id="13" name="object 13"/>
            <p:cNvPicPr/>
            <p:nvPr/>
          </p:nvPicPr>
          <p:blipFill>
            <a:blip r:embed="rId5" cstate="print"/>
            <a:stretch>
              <a:fillRect/>
            </a:stretch>
          </p:blipFill>
          <p:spPr>
            <a:xfrm>
              <a:off x="6943153" y="787719"/>
              <a:ext cx="442342" cy="440814"/>
            </a:xfrm>
            <a:prstGeom prst="rect">
              <a:avLst/>
            </a:prstGeom>
          </p:spPr>
        </p:pic>
      </p:grpSp>
      <p:sp>
        <p:nvSpPr>
          <p:cNvPr id="15" name="object 15"/>
          <p:cNvSpPr txBox="1"/>
          <p:nvPr/>
        </p:nvSpPr>
        <p:spPr>
          <a:xfrm>
            <a:off x="6601205" y="720087"/>
            <a:ext cx="2376170" cy="380232"/>
          </a:xfrm>
          <a:prstGeom prst="rect">
            <a:avLst/>
          </a:prstGeom>
          <a:ln w="26424">
            <a:solidFill>
              <a:srgbClr val="8B3836"/>
            </a:solidFill>
          </a:ln>
        </p:spPr>
        <p:txBody>
          <a:bodyPr vert="horz" wrap="square" lIns="0" tIns="102235" rIns="0" bIns="0" rtlCol="0">
            <a:spAutoFit/>
          </a:bodyPr>
          <a:lstStyle/>
          <a:p>
            <a:pPr marR="535940" algn="r">
              <a:spcBef>
                <a:spcPts val="805"/>
              </a:spcBef>
            </a:pPr>
            <a:r>
              <a:rPr spc="-50" dirty="0">
                <a:latin typeface="Arial"/>
                <a:cs typeface="Arial"/>
              </a:rPr>
              <a:t>…</a:t>
            </a:r>
            <a:endParaRPr>
              <a:latin typeface="Arial"/>
              <a:cs typeface="Arial"/>
            </a:endParaRPr>
          </a:p>
        </p:txBody>
      </p:sp>
      <p:grpSp>
        <p:nvGrpSpPr>
          <p:cNvPr id="16" name="object 16"/>
          <p:cNvGrpSpPr/>
          <p:nvPr/>
        </p:nvGrpSpPr>
        <p:grpSpPr>
          <a:xfrm>
            <a:off x="9107166" y="780029"/>
            <a:ext cx="531495" cy="457834"/>
            <a:chOff x="7583165" y="780029"/>
            <a:chExt cx="531495" cy="457834"/>
          </a:xfrm>
        </p:grpSpPr>
        <p:sp>
          <p:nvSpPr>
            <p:cNvPr id="17" name="object 17"/>
            <p:cNvSpPr/>
            <p:nvPr/>
          </p:nvSpPr>
          <p:spPr>
            <a:xfrm>
              <a:off x="7596378" y="793241"/>
              <a:ext cx="504825" cy="431800"/>
            </a:xfrm>
            <a:custGeom>
              <a:avLst/>
              <a:gdLst/>
              <a:ahLst/>
              <a:cxnLst/>
              <a:rect l="l" t="t" r="r" b="b"/>
              <a:pathLst>
                <a:path w="504825" h="431800">
                  <a:moveTo>
                    <a:pt x="252222" y="0"/>
                  </a:moveTo>
                  <a:lnTo>
                    <a:pt x="192659" y="164719"/>
                  </a:lnTo>
                  <a:lnTo>
                    <a:pt x="0" y="164719"/>
                  </a:lnTo>
                  <a:lnTo>
                    <a:pt x="155829" y="266573"/>
                  </a:lnTo>
                  <a:lnTo>
                    <a:pt x="96393" y="431292"/>
                  </a:lnTo>
                  <a:lnTo>
                    <a:pt x="252222" y="329438"/>
                  </a:lnTo>
                  <a:lnTo>
                    <a:pt x="408051" y="431292"/>
                  </a:lnTo>
                  <a:lnTo>
                    <a:pt x="348615" y="266573"/>
                  </a:lnTo>
                  <a:lnTo>
                    <a:pt x="504444" y="164719"/>
                  </a:lnTo>
                  <a:lnTo>
                    <a:pt x="311785" y="164719"/>
                  </a:lnTo>
                  <a:lnTo>
                    <a:pt x="252222" y="0"/>
                  </a:lnTo>
                  <a:close/>
                </a:path>
              </a:pathLst>
            </a:custGeom>
            <a:solidFill>
              <a:srgbClr val="4F80BC"/>
            </a:solidFill>
          </p:spPr>
          <p:txBody>
            <a:bodyPr wrap="square" lIns="0" tIns="0" rIns="0" bIns="0" rtlCol="0"/>
            <a:lstStyle/>
            <a:p>
              <a:endParaRPr/>
            </a:p>
          </p:txBody>
        </p:sp>
        <p:sp>
          <p:nvSpPr>
            <p:cNvPr id="18" name="object 18"/>
            <p:cNvSpPr/>
            <p:nvPr/>
          </p:nvSpPr>
          <p:spPr>
            <a:xfrm>
              <a:off x="7596378" y="793241"/>
              <a:ext cx="504825" cy="431800"/>
            </a:xfrm>
            <a:custGeom>
              <a:avLst/>
              <a:gdLst/>
              <a:ahLst/>
              <a:cxnLst/>
              <a:rect l="l" t="t" r="r" b="b"/>
              <a:pathLst>
                <a:path w="504825" h="431800">
                  <a:moveTo>
                    <a:pt x="0" y="164719"/>
                  </a:moveTo>
                  <a:lnTo>
                    <a:pt x="192659" y="164719"/>
                  </a:lnTo>
                  <a:lnTo>
                    <a:pt x="252222" y="0"/>
                  </a:lnTo>
                  <a:lnTo>
                    <a:pt x="311785" y="164719"/>
                  </a:lnTo>
                  <a:lnTo>
                    <a:pt x="504444" y="164719"/>
                  </a:lnTo>
                  <a:lnTo>
                    <a:pt x="348615" y="266573"/>
                  </a:lnTo>
                  <a:lnTo>
                    <a:pt x="408051" y="431292"/>
                  </a:lnTo>
                  <a:lnTo>
                    <a:pt x="252222" y="329438"/>
                  </a:lnTo>
                  <a:lnTo>
                    <a:pt x="96393" y="431292"/>
                  </a:lnTo>
                  <a:lnTo>
                    <a:pt x="155829" y="266573"/>
                  </a:lnTo>
                  <a:lnTo>
                    <a:pt x="0" y="164719"/>
                  </a:lnTo>
                  <a:close/>
                </a:path>
              </a:pathLst>
            </a:custGeom>
            <a:ln w="26424">
              <a:solidFill>
                <a:srgbClr val="385D89"/>
              </a:solidFill>
            </a:ln>
          </p:spPr>
          <p:txBody>
            <a:bodyPr wrap="square" lIns="0" tIns="0" rIns="0" bIns="0" rtlCol="0"/>
            <a:lstStyle/>
            <a:p>
              <a:endParaRPr/>
            </a:p>
          </p:txBody>
        </p:sp>
      </p:grpSp>
      <p:grpSp>
        <p:nvGrpSpPr>
          <p:cNvPr id="19" name="object 19"/>
          <p:cNvGrpSpPr/>
          <p:nvPr/>
        </p:nvGrpSpPr>
        <p:grpSpPr>
          <a:xfrm>
            <a:off x="6601205" y="1657347"/>
            <a:ext cx="2376170" cy="576580"/>
            <a:chOff x="5077205" y="1657347"/>
            <a:chExt cx="2376170" cy="576580"/>
          </a:xfrm>
        </p:grpSpPr>
        <p:sp>
          <p:nvSpPr>
            <p:cNvPr id="20" name="object 20"/>
            <p:cNvSpPr/>
            <p:nvPr/>
          </p:nvSpPr>
          <p:spPr>
            <a:xfrm>
              <a:off x="5077205" y="1657347"/>
              <a:ext cx="2376170" cy="576580"/>
            </a:xfrm>
            <a:custGeom>
              <a:avLst/>
              <a:gdLst/>
              <a:ahLst/>
              <a:cxnLst/>
              <a:rect l="l" t="t" r="r" b="b"/>
              <a:pathLst>
                <a:path w="2376170" h="576580">
                  <a:moveTo>
                    <a:pt x="2375916" y="0"/>
                  </a:moveTo>
                  <a:lnTo>
                    <a:pt x="0" y="0"/>
                  </a:lnTo>
                  <a:lnTo>
                    <a:pt x="0" y="576074"/>
                  </a:lnTo>
                  <a:lnTo>
                    <a:pt x="2375916" y="576074"/>
                  </a:lnTo>
                  <a:lnTo>
                    <a:pt x="2375916" y="0"/>
                  </a:lnTo>
                  <a:close/>
                </a:path>
              </a:pathLst>
            </a:custGeom>
            <a:solidFill>
              <a:srgbClr val="C0504D"/>
            </a:solidFill>
          </p:spPr>
          <p:txBody>
            <a:bodyPr wrap="square" lIns="0" tIns="0" rIns="0" bIns="0" rtlCol="0"/>
            <a:lstStyle/>
            <a:p>
              <a:endParaRPr/>
            </a:p>
          </p:txBody>
        </p:sp>
        <p:pic>
          <p:nvPicPr>
            <p:cNvPr id="21" name="object 21"/>
            <p:cNvPicPr/>
            <p:nvPr/>
          </p:nvPicPr>
          <p:blipFill>
            <a:blip r:embed="rId6" cstate="print"/>
            <a:stretch>
              <a:fillRect/>
            </a:stretch>
          </p:blipFill>
          <p:spPr>
            <a:xfrm>
              <a:off x="5143309" y="1723455"/>
              <a:ext cx="440814" cy="440814"/>
            </a:xfrm>
            <a:prstGeom prst="rect">
              <a:avLst/>
            </a:prstGeom>
          </p:spPr>
        </p:pic>
        <p:pic>
          <p:nvPicPr>
            <p:cNvPr id="22" name="object 22"/>
            <p:cNvPicPr/>
            <p:nvPr/>
          </p:nvPicPr>
          <p:blipFill>
            <a:blip r:embed="rId7" cstate="print"/>
            <a:stretch>
              <a:fillRect/>
            </a:stretch>
          </p:blipFill>
          <p:spPr>
            <a:xfrm>
              <a:off x="5647753" y="1723455"/>
              <a:ext cx="440814" cy="440814"/>
            </a:xfrm>
            <a:prstGeom prst="rect">
              <a:avLst/>
            </a:prstGeom>
          </p:spPr>
        </p:pic>
        <p:pic>
          <p:nvPicPr>
            <p:cNvPr id="23" name="object 23"/>
            <p:cNvPicPr/>
            <p:nvPr/>
          </p:nvPicPr>
          <p:blipFill>
            <a:blip r:embed="rId8" cstate="print"/>
            <a:stretch>
              <a:fillRect/>
            </a:stretch>
          </p:blipFill>
          <p:spPr>
            <a:xfrm>
              <a:off x="6150673" y="1723455"/>
              <a:ext cx="442342" cy="440814"/>
            </a:xfrm>
            <a:prstGeom prst="rect">
              <a:avLst/>
            </a:prstGeom>
          </p:spPr>
        </p:pic>
        <p:pic>
          <p:nvPicPr>
            <p:cNvPr id="24" name="object 24"/>
            <p:cNvPicPr/>
            <p:nvPr/>
          </p:nvPicPr>
          <p:blipFill>
            <a:blip r:embed="rId9" cstate="print"/>
            <a:stretch>
              <a:fillRect/>
            </a:stretch>
          </p:blipFill>
          <p:spPr>
            <a:xfrm>
              <a:off x="6943153" y="1723455"/>
              <a:ext cx="442342" cy="440814"/>
            </a:xfrm>
            <a:prstGeom prst="rect">
              <a:avLst/>
            </a:prstGeom>
          </p:spPr>
        </p:pic>
      </p:grpSp>
      <p:sp>
        <p:nvSpPr>
          <p:cNvPr id="25" name="object 25"/>
          <p:cNvSpPr txBox="1"/>
          <p:nvPr/>
        </p:nvSpPr>
        <p:spPr>
          <a:xfrm>
            <a:off x="6601205" y="1657347"/>
            <a:ext cx="2376170" cy="378950"/>
          </a:xfrm>
          <a:prstGeom prst="rect">
            <a:avLst/>
          </a:prstGeom>
          <a:ln w="26424">
            <a:solidFill>
              <a:srgbClr val="8B3836"/>
            </a:solidFill>
          </a:ln>
        </p:spPr>
        <p:txBody>
          <a:bodyPr vert="horz" wrap="square" lIns="0" tIns="100965" rIns="0" bIns="0" rtlCol="0">
            <a:spAutoFit/>
          </a:bodyPr>
          <a:lstStyle/>
          <a:p>
            <a:pPr marR="535305" algn="r">
              <a:spcBef>
                <a:spcPts val="795"/>
              </a:spcBef>
            </a:pPr>
            <a:r>
              <a:rPr spc="-50" dirty="0">
                <a:latin typeface="Arial"/>
                <a:cs typeface="Arial"/>
              </a:rPr>
              <a:t>…</a:t>
            </a:r>
            <a:endParaRPr>
              <a:latin typeface="Arial"/>
              <a:cs typeface="Arial"/>
            </a:endParaRPr>
          </a:p>
        </p:txBody>
      </p:sp>
      <p:grpSp>
        <p:nvGrpSpPr>
          <p:cNvPr id="26" name="object 26"/>
          <p:cNvGrpSpPr/>
          <p:nvPr/>
        </p:nvGrpSpPr>
        <p:grpSpPr>
          <a:xfrm>
            <a:off x="9107166" y="1715765"/>
            <a:ext cx="531495" cy="457834"/>
            <a:chOff x="7583165" y="1715765"/>
            <a:chExt cx="531495" cy="457834"/>
          </a:xfrm>
        </p:grpSpPr>
        <p:sp>
          <p:nvSpPr>
            <p:cNvPr id="27" name="object 27"/>
            <p:cNvSpPr/>
            <p:nvPr/>
          </p:nvSpPr>
          <p:spPr>
            <a:xfrm>
              <a:off x="7596378" y="1728977"/>
              <a:ext cx="504825" cy="431800"/>
            </a:xfrm>
            <a:custGeom>
              <a:avLst/>
              <a:gdLst/>
              <a:ahLst/>
              <a:cxnLst/>
              <a:rect l="l" t="t" r="r" b="b"/>
              <a:pathLst>
                <a:path w="504825" h="431800">
                  <a:moveTo>
                    <a:pt x="252222" y="0"/>
                  </a:moveTo>
                  <a:lnTo>
                    <a:pt x="192659" y="164719"/>
                  </a:lnTo>
                  <a:lnTo>
                    <a:pt x="0" y="164719"/>
                  </a:lnTo>
                  <a:lnTo>
                    <a:pt x="155829" y="266573"/>
                  </a:lnTo>
                  <a:lnTo>
                    <a:pt x="96393" y="431292"/>
                  </a:lnTo>
                  <a:lnTo>
                    <a:pt x="252222" y="329438"/>
                  </a:lnTo>
                  <a:lnTo>
                    <a:pt x="408051" y="431292"/>
                  </a:lnTo>
                  <a:lnTo>
                    <a:pt x="348615" y="266573"/>
                  </a:lnTo>
                  <a:lnTo>
                    <a:pt x="504444" y="164719"/>
                  </a:lnTo>
                  <a:lnTo>
                    <a:pt x="311785" y="164719"/>
                  </a:lnTo>
                  <a:lnTo>
                    <a:pt x="252222" y="0"/>
                  </a:lnTo>
                  <a:close/>
                </a:path>
              </a:pathLst>
            </a:custGeom>
            <a:solidFill>
              <a:srgbClr val="4F80BC"/>
            </a:solidFill>
          </p:spPr>
          <p:txBody>
            <a:bodyPr wrap="square" lIns="0" tIns="0" rIns="0" bIns="0" rtlCol="0"/>
            <a:lstStyle/>
            <a:p>
              <a:endParaRPr/>
            </a:p>
          </p:txBody>
        </p:sp>
        <p:sp>
          <p:nvSpPr>
            <p:cNvPr id="28" name="object 28"/>
            <p:cNvSpPr/>
            <p:nvPr/>
          </p:nvSpPr>
          <p:spPr>
            <a:xfrm>
              <a:off x="7596378" y="1728977"/>
              <a:ext cx="504825" cy="431800"/>
            </a:xfrm>
            <a:custGeom>
              <a:avLst/>
              <a:gdLst/>
              <a:ahLst/>
              <a:cxnLst/>
              <a:rect l="l" t="t" r="r" b="b"/>
              <a:pathLst>
                <a:path w="504825" h="431800">
                  <a:moveTo>
                    <a:pt x="0" y="164719"/>
                  </a:moveTo>
                  <a:lnTo>
                    <a:pt x="192659" y="164719"/>
                  </a:lnTo>
                  <a:lnTo>
                    <a:pt x="252222" y="0"/>
                  </a:lnTo>
                  <a:lnTo>
                    <a:pt x="311785" y="164719"/>
                  </a:lnTo>
                  <a:lnTo>
                    <a:pt x="504444" y="164719"/>
                  </a:lnTo>
                  <a:lnTo>
                    <a:pt x="348615" y="266573"/>
                  </a:lnTo>
                  <a:lnTo>
                    <a:pt x="408051" y="431292"/>
                  </a:lnTo>
                  <a:lnTo>
                    <a:pt x="252222" y="329438"/>
                  </a:lnTo>
                  <a:lnTo>
                    <a:pt x="96393" y="431292"/>
                  </a:lnTo>
                  <a:lnTo>
                    <a:pt x="155829" y="266573"/>
                  </a:lnTo>
                  <a:lnTo>
                    <a:pt x="0" y="164719"/>
                  </a:lnTo>
                  <a:close/>
                </a:path>
              </a:pathLst>
            </a:custGeom>
            <a:ln w="26424">
              <a:solidFill>
                <a:srgbClr val="385D89"/>
              </a:solidFill>
            </a:ln>
          </p:spPr>
          <p:txBody>
            <a:bodyPr wrap="square" lIns="0" tIns="0" rIns="0" bIns="0" rtlCol="0"/>
            <a:lstStyle/>
            <a:p>
              <a:endParaRPr/>
            </a:p>
          </p:txBody>
        </p:sp>
      </p:grpSp>
      <p:sp>
        <p:nvSpPr>
          <p:cNvPr id="29" name="object 21">
            <a:extLst>
              <a:ext uri="{FF2B5EF4-FFF2-40B4-BE49-F238E27FC236}">
                <a16:creationId xmlns:a16="http://schemas.microsoft.com/office/drawing/2014/main" id="{89BA9FDD-9092-CBF9-3ECC-BD6E5D704D0E}"/>
              </a:ext>
            </a:extLst>
          </p:cNvPr>
          <p:cNvSpPr txBox="1"/>
          <p:nvPr/>
        </p:nvSpPr>
        <p:spPr>
          <a:xfrm>
            <a:off x="9906000" y="920116"/>
            <a:ext cx="1555624" cy="1283557"/>
          </a:xfrm>
          <a:prstGeom prst="rect">
            <a:avLst/>
          </a:prstGeom>
          <a:solidFill>
            <a:srgbClr val="4F80BC"/>
          </a:solidFill>
          <a:ln w="26424">
            <a:solidFill>
              <a:srgbClr val="385D89"/>
            </a:solidFill>
          </a:ln>
        </p:spPr>
        <p:txBody>
          <a:bodyPr vert="horz" wrap="square" lIns="0" tIns="0" rIns="0" bIns="0" rtlCol="0" anchor="ctr">
            <a:spAutoFit/>
          </a:bodyPr>
          <a:lstStyle/>
          <a:p>
            <a:pPr>
              <a:spcBef>
                <a:spcPts val="1335"/>
              </a:spcBef>
            </a:pPr>
            <a:endParaRPr sz="1300" dirty="0">
              <a:latin typeface="Times New Roman"/>
              <a:cs typeface="Times New Roman"/>
            </a:endParaRPr>
          </a:p>
          <a:p>
            <a:pPr marL="26670" marR="16510" algn="ctr">
              <a:lnSpc>
                <a:spcPct val="88100"/>
              </a:lnSpc>
            </a:pPr>
            <a:endParaRPr lang="en-US" spc="-10" dirty="0">
              <a:solidFill>
                <a:srgbClr val="FFFFFF"/>
              </a:solidFill>
              <a:latin typeface="Arial"/>
              <a:cs typeface="Arial"/>
            </a:endParaRPr>
          </a:p>
          <a:p>
            <a:pPr marL="26670" marR="16510" algn="ctr">
              <a:lnSpc>
                <a:spcPct val="88100"/>
              </a:lnSpc>
            </a:pPr>
            <a:r>
              <a:rPr spc="-10" dirty="0">
                <a:solidFill>
                  <a:srgbClr val="FFFFFF"/>
                </a:solidFill>
                <a:latin typeface="Arial"/>
                <a:cs typeface="Arial"/>
              </a:rPr>
              <a:t>Global Memory</a:t>
            </a:r>
            <a:endParaRPr lang="en-US" spc="-10" dirty="0">
              <a:solidFill>
                <a:srgbClr val="FFFFFF"/>
              </a:solidFill>
              <a:latin typeface="Arial"/>
              <a:cs typeface="Arial"/>
            </a:endParaRPr>
          </a:p>
          <a:p>
            <a:pPr marL="26670" marR="16510" algn="ctr">
              <a:lnSpc>
                <a:spcPct val="88100"/>
              </a:lnSpc>
            </a:pPr>
            <a:endParaRPr lang="en-NL" sz="1300" spc="-10" dirty="0">
              <a:solidFill>
                <a:srgbClr val="FFFFFF"/>
              </a:solidFill>
              <a:latin typeface="Arial"/>
              <a:cs typeface="Arial"/>
            </a:endParaRPr>
          </a:p>
          <a:p>
            <a:pPr marL="26670" marR="16510" algn="ctr">
              <a:lnSpc>
                <a:spcPct val="88100"/>
              </a:lnSpc>
            </a:pPr>
            <a:endParaRPr sz="1300" dirty="0">
              <a:latin typeface="Arial"/>
              <a:cs typeface="Arial"/>
            </a:endParaRPr>
          </a:p>
        </p:txBody>
      </p:sp>
    </p:spTree>
    <p:extLst>
      <p:ext uri="{BB962C8B-B14F-4D97-AF65-F5344CB8AC3E}">
        <p14:creationId xmlns:p14="http://schemas.microsoft.com/office/powerpoint/2010/main" val="29042873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5509F-E56A-A289-318E-01ABE57E7528}"/>
              </a:ext>
            </a:extLst>
          </p:cNvPr>
          <p:cNvSpPr>
            <a:spLocks noGrp="1"/>
          </p:cNvSpPr>
          <p:nvPr>
            <p:ph type="title"/>
          </p:nvPr>
        </p:nvSpPr>
        <p:spPr>
          <a:xfrm>
            <a:off x="698499" y="729741"/>
            <a:ext cx="10795000" cy="451342"/>
          </a:xfrm>
        </p:spPr>
        <p:txBody>
          <a:bodyPr/>
          <a:lstStyle/>
          <a:p>
            <a:r>
              <a:rPr lang="en-NL" sz="2933" cap="small" dirty="0">
                <a:solidFill>
                  <a:schemeClr val="dk2"/>
                </a:solidFill>
              </a:rPr>
              <a:t>Memory hierarchy</a:t>
            </a:r>
          </a:p>
        </p:txBody>
      </p:sp>
      <p:pic>
        <p:nvPicPr>
          <p:cNvPr id="17410" name="Picture 2">
            <a:extLst>
              <a:ext uri="{FF2B5EF4-FFF2-40B4-BE49-F238E27FC236}">
                <a16:creationId xmlns:a16="http://schemas.microsoft.com/office/drawing/2014/main" id="{89F28183-CEFA-1131-4582-3204D697954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4" t="1111" r="14" b="46667"/>
          <a:stretch/>
        </p:blipFill>
        <p:spPr bwMode="auto">
          <a:xfrm>
            <a:off x="1824512" y="1828801"/>
            <a:ext cx="7395688" cy="4590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8776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B23D0598-B6C5-2F76-8D7F-D9DB7CE63FFC}"/>
              </a:ext>
            </a:extLst>
          </p:cNvPr>
          <p:cNvSpPr txBox="1">
            <a:spLocks/>
          </p:cNvSpPr>
          <p:nvPr/>
        </p:nvSpPr>
        <p:spPr>
          <a:xfrm>
            <a:off x="2325118" y="3756786"/>
            <a:ext cx="5198745" cy="756920"/>
          </a:xfrm>
          <a:prstGeom prst="rect">
            <a:avLst/>
          </a:prstGeom>
        </p:spPr>
        <p:txBody>
          <a:bodyPr vert="horz" wrap="square" lIns="0" tIns="12700" rIns="0" bIns="0" rtlCol="0">
            <a:spAutoFit/>
          </a:bodyPr>
          <a:lstStyle>
            <a:lvl1pPr>
              <a:defRPr sz="4000" b="0" i="0">
                <a:solidFill>
                  <a:srgbClr val="1F487C"/>
                </a:solidFill>
                <a:latin typeface="Arial"/>
                <a:ea typeface="+mj-ea"/>
                <a:cs typeface="Arial"/>
              </a:defRPr>
            </a:lvl1pPr>
          </a:lstStyle>
          <a:p>
            <a:pPr marL="12700">
              <a:spcBef>
                <a:spcPts val="100"/>
              </a:spcBef>
            </a:pPr>
            <a:r>
              <a:rPr lang="en-GB" sz="4800" spc="-125" dirty="0">
                <a:solidFill>
                  <a:srgbClr val="EEECE1"/>
                </a:solidFill>
              </a:rPr>
              <a:t>Scheduling</a:t>
            </a:r>
            <a:endParaRPr lang="en-GB" sz="4800" dirty="0"/>
          </a:p>
        </p:txBody>
      </p:sp>
    </p:spTree>
    <p:extLst>
      <p:ext uri="{BB962C8B-B14F-4D97-AF65-F5344CB8AC3E}">
        <p14:creationId xmlns:p14="http://schemas.microsoft.com/office/powerpoint/2010/main" val="29135672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2" y="486895"/>
            <a:ext cx="7169148" cy="463525"/>
          </a:xfrm>
          <a:prstGeom prst="rect">
            <a:avLst/>
          </a:prstGeom>
        </p:spPr>
        <p:txBody>
          <a:bodyPr vert="horz" wrap="square" lIns="0" tIns="12065" rIns="0" bIns="0" rtlCol="0">
            <a:spAutoFit/>
          </a:bodyPr>
          <a:lstStyle/>
          <a:p>
            <a:pPr marL="12700">
              <a:spcBef>
                <a:spcPts val="95"/>
              </a:spcBef>
            </a:pPr>
            <a:r>
              <a:rPr lang="en-NL" sz="2933" cap="small" dirty="0">
                <a:solidFill>
                  <a:schemeClr val="dk2"/>
                </a:solidFill>
              </a:rPr>
              <a:t>Threads in a GPU architecture</a:t>
            </a:r>
            <a:endParaRPr sz="2933" cap="small" dirty="0">
              <a:solidFill>
                <a:schemeClr val="dk2"/>
              </a:solidFill>
            </a:endParaRPr>
          </a:p>
        </p:txBody>
      </p:sp>
      <p:pic>
        <p:nvPicPr>
          <p:cNvPr id="3" name="object 3"/>
          <p:cNvPicPr/>
          <p:nvPr/>
        </p:nvPicPr>
        <p:blipFill>
          <a:blip r:embed="rId3" cstate="print"/>
          <a:stretch>
            <a:fillRect/>
          </a:stretch>
        </p:blipFill>
        <p:spPr>
          <a:xfrm>
            <a:off x="3784601" y="2132560"/>
            <a:ext cx="136271" cy="839470"/>
          </a:xfrm>
          <a:prstGeom prst="rect">
            <a:avLst/>
          </a:prstGeom>
        </p:spPr>
      </p:pic>
      <p:pic>
        <p:nvPicPr>
          <p:cNvPr id="4" name="object 4"/>
          <p:cNvPicPr/>
          <p:nvPr/>
        </p:nvPicPr>
        <p:blipFill>
          <a:blip r:embed="rId4" cstate="print"/>
          <a:stretch>
            <a:fillRect/>
          </a:stretch>
        </p:blipFill>
        <p:spPr>
          <a:xfrm>
            <a:off x="3216974" y="3373415"/>
            <a:ext cx="1090041" cy="1016889"/>
          </a:xfrm>
          <a:prstGeom prst="rect">
            <a:avLst/>
          </a:prstGeom>
        </p:spPr>
      </p:pic>
      <p:sp>
        <p:nvSpPr>
          <p:cNvPr id="5" name="object 5"/>
          <p:cNvSpPr txBox="1"/>
          <p:nvPr/>
        </p:nvSpPr>
        <p:spPr>
          <a:xfrm>
            <a:off x="3374264" y="3454504"/>
            <a:ext cx="774065" cy="299720"/>
          </a:xfrm>
          <a:prstGeom prst="rect">
            <a:avLst/>
          </a:prstGeom>
        </p:spPr>
        <p:txBody>
          <a:bodyPr vert="horz" wrap="square" lIns="0" tIns="12700" rIns="0" bIns="0" rtlCol="0">
            <a:spAutoFit/>
          </a:bodyPr>
          <a:lstStyle/>
          <a:p>
            <a:pPr marL="12700">
              <a:spcBef>
                <a:spcPts val="100"/>
              </a:spcBef>
            </a:pPr>
            <a:r>
              <a:rPr dirty="0">
                <a:latin typeface="Arial"/>
                <a:cs typeface="Arial"/>
              </a:rPr>
              <a:t>Block</a:t>
            </a:r>
            <a:r>
              <a:rPr spc="-10" dirty="0">
                <a:latin typeface="Arial"/>
                <a:cs typeface="Arial"/>
              </a:rPr>
              <a:t> </a:t>
            </a:r>
            <a:r>
              <a:rPr spc="-50" dirty="0">
                <a:latin typeface="Arial"/>
                <a:cs typeface="Arial"/>
              </a:rPr>
              <a:t>b</a:t>
            </a:r>
            <a:endParaRPr>
              <a:latin typeface="Arial"/>
              <a:cs typeface="Arial"/>
            </a:endParaRPr>
          </a:p>
        </p:txBody>
      </p:sp>
      <p:sp>
        <p:nvSpPr>
          <p:cNvPr id="6" name="object 6"/>
          <p:cNvSpPr txBox="1"/>
          <p:nvPr/>
        </p:nvSpPr>
        <p:spPr>
          <a:xfrm>
            <a:off x="3089276" y="4500553"/>
            <a:ext cx="1345565" cy="300355"/>
          </a:xfrm>
          <a:prstGeom prst="rect">
            <a:avLst/>
          </a:prstGeom>
        </p:spPr>
        <p:txBody>
          <a:bodyPr vert="horz" wrap="square" lIns="0" tIns="12700" rIns="0" bIns="0" rtlCol="0">
            <a:spAutoFit/>
          </a:bodyPr>
          <a:lstStyle/>
          <a:p>
            <a:pPr marL="12700">
              <a:spcBef>
                <a:spcPts val="100"/>
              </a:spcBef>
            </a:pPr>
            <a:r>
              <a:rPr dirty="0">
                <a:latin typeface="Arial"/>
                <a:cs typeface="Arial"/>
              </a:rPr>
              <a:t>Thread</a:t>
            </a:r>
            <a:r>
              <a:rPr spc="-25" dirty="0">
                <a:latin typeface="Arial"/>
                <a:cs typeface="Arial"/>
              </a:rPr>
              <a:t> </a:t>
            </a:r>
            <a:r>
              <a:rPr spc="-20" dirty="0">
                <a:latin typeface="Arial"/>
                <a:cs typeface="Arial"/>
              </a:rPr>
              <a:t>block</a:t>
            </a:r>
            <a:endParaRPr>
              <a:latin typeface="Arial"/>
              <a:cs typeface="Arial"/>
            </a:endParaRPr>
          </a:p>
        </p:txBody>
      </p:sp>
      <p:pic>
        <p:nvPicPr>
          <p:cNvPr id="7" name="object 7"/>
          <p:cNvPicPr/>
          <p:nvPr/>
        </p:nvPicPr>
        <p:blipFill>
          <a:blip r:embed="rId5" cstate="print"/>
          <a:stretch>
            <a:fillRect/>
          </a:stretch>
        </p:blipFill>
        <p:spPr>
          <a:xfrm>
            <a:off x="7674865" y="3032230"/>
            <a:ext cx="1078991" cy="1405127"/>
          </a:xfrm>
          <a:prstGeom prst="rect">
            <a:avLst/>
          </a:prstGeom>
        </p:spPr>
      </p:pic>
      <p:grpSp>
        <p:nvGrpSpPr>
          <p:cNvPr id="8" name="object 8"/>
          <p:cNvGrpSpPr/>
          <p:nvPr/>
        </p:nvGrpSpPr>
        <p:grpSpPr>
          <a:xfrm>
            <a:off x="1704592" y="5707612"/>
            <a:ext cx="4104640" cy="864235"/>
            <a:chOff x="180592" y="5589270"/>
            <a:chExt cx="4104640" cy="864235"/>
          </a:xfrm>
        </p:grpSpPr>
        <p:sp>
          <p:nvSpPr>
            <p:cNvPr id="9" name="object 9"/>
            <p:cNvSpPr/>
            <p:nvPr/>
          </p:nvSpPr>
          <p:spPr>
            <a:xfrm>
              <a:off x="180592" y="5589270"/>
              <a:ext cx="4104640" cy="864235"/>
            </a:xfrm>
            <a:custGeom>
              <a:avLst/>
              <a:gdLst/>
              <a:ahLst/>
              <a:cxnLst/>
              <a:rect l="l" t="t" r="r" b="b"/>
              <a:pathLst>
                <a:path w="4104640" h="864235">
                  <a:moveTo>
                    <a:pt x="4104132" y="0"/>
                  </a:moveTo>
                  <a:lnTo>
                    <a:pt x="0" y="0"/>
                  </a:lnTo>
                  <a:lnTo>
                    <a:pt x="0" y="864105"/>
                  </a:lnTo>
                  <a:lnTo>
                    <a:pt x="4104132" y="864105"/>
                  </a:lnTo>
                  <a:lnTo>
                    <a:pt x="4104132" y="0"/>
                  </a:lnTo>
                  <a:close/>
                </a:path>
              </a:pathLst>
            </a:custGeom>
            <a:solidFill>
              <a:srgbClr val="4F80BC"/>
            </a:solidFill>
          </p:spPr>
          <p:txBody>
            <a:bodyPr wrap="square" lIns="0" tIns="0" rIns="0" bIns="0" rtlCol="0"/>
            <a:lstStyle/>
            <a:p>
              <a:endParaRPr/>
            </a:p>
          </p:txBody>
        </p:sp>
        <p:pic>
          <p:nvPicPr>
            <p:cNvPr id="10" name="object 10"/>
            <p:cNvPicPr/>
            <p:nvPr/>
          </p:nvPicPr>
          <p:blipFill>
            <a:blip r:embed="rId6" cstate="print"/>
            <a:stretch>
              <a:fillRect/>
            </a:stretch>
          </p:blipFill>
          <p:spPr>
            <a:xfrm>
              <a:off x="236032" y="5656897"/>
              <a:ext cx="1090038" cy="737999"/>
            </a:xfrm>
            <a:prstGeom prst="rect">
              <a:avLst/>
            </a:prstGeom>
          </p:spPr>
        </p:pic>
        <p:pic>
          <p:nvPicPr>
            <p:cNvPr id="11" name="object 11"/>
            <p:cNvPicPr/>
            <p:nvPr/>
          </p:nvPicPr>
          <p:blipFill>
            <a:blip r:embed="rId7" cstate="print"/>
            <a:stretch>
              <a:fillRect/>
            </a:stretch>
          </p:blipFill>
          <p:spPr>
            <a:xfrm>
              <a:off x="1438465" y="5653852"/>
              <a:ext cx="1088517" cy="737993"/>
            </a:xfrm>
            <a:prstGeom prst="rect">
              <a:avLst/>
            </a:prstGeom>
          </p:spPr>
        </p:pic>
        <p:pic>
          <p:nvPicPr>
            <p:cNvPr id="12" name="object 12"/>
            <p:cNvPicPr/>
            <p:nvPr/>
          </p:nvPicPr>
          <p:blipFill>
            <a:blip r:embed="rId8" cstate="print"/>
            <a:stretch>
              <a:fillRect/>
            </a:stretch>
          </p:blipFill>
          <p:spPr>
            <a:xfrm>
              <a:off x="3069145" y="5653852"/>
              <a:ext cx="1088517" cy="737993"/>
            </a:xfrm>
            <a:prstGeom prst="rect">
              <a:avLst/>
            </a:prstGeom>
          </p:spPr>
        </p:pic>
      </p:grpSp>
      <p:sp>
        <p:nvSpPr>
          <p:cNvPr id="13" name="object 13"/>
          <p:cNvSpPr txBox="1"/>
          <p:nvPr/>
        </p:nvSpPr>
        <p:spPr>
          <a:xfrm>
            <a:off x="1704592" y="5707612"/>
            <a:ext cx="4104640" cy="475771"/>
          </a:xfrm>
          <a:prstGeom prst="rect">
            <a:avLst/>
          </a:prstGeom>
          <a:ln w="26424">
            <a:solidFill>
              <a:srgbClr val="385D89"/>
            </a:solidFill>
          </a:ln>
        </p:spPr>
        <p:txBody>
          <a:bodyPr vert="horz" wrap="square" lIns="0" tIns="196850" rIns="0" bIns="0" rtlCol="0">
            <a:spAutoFit/>
          </a:bodyPr>
          <a:lstStyle/>
          <a:p>
            <a:pPr marL="2527935">
              <a:spcBef>
                <a:spcPts val="1550"/>
              </a:spcBef>
            </a:pPr>
            <a:r>
              <a:rPr spc="-50" dirty="0">
                <a:latin typeface="Arial"/>
                <a:cs typeface="Arial"/>
              </a:rPr>
              <a:t>…</a:t>
            </a:r>
            <a:endParaRPr>
              <a:latin typeface="Arial"/>
              <a:cs typeface="Arial"/>
            </a:endParaRPr>
          </a:p>
        </p:txBody>
      </p:sp>
      <p:sp>
        <p:nvSpPr>
          <p:cNvPr id="14" name="object 14"/>
          <p:cNvSpPr txBox="1"/>
          <p:nvPr/>
        </p:nvSpPr>
        <p:spPr>
          <a:xfrm>
            <a:off x="3464811" y="6605198"/>
            <a:ext cx="457834" cy="299720"/>
          </a:xfrm>
          <a:prstGeom prst="rect">
            <a:avLst/>
          </a:prstGeom>
        </p:spPr>
        <p:txBody>
          <a:bodyPr vert="horz" wrap="square" lIns="0" tIns="12700" rIns="0" bIns="0" rtlCol="0">
            <a:spAutoFit/>
          </a:bodyPr>
          <a:lstStyle/>
          <a:p>
            <a:pPr marL="12700">
              <a:spcBef>
                <a:spcPts val="100"/>
              </a:spcBef>
            </a:pPr>
            <a:r>
              <a:rPr spc="-20" dirty="0">
                <a:latin typeface="Arial"/>
                <a:cs typeface="Arial"/>
              </a:rPr>
              <a:t>Grid</a:t>
            </a:r>
            <a:endParaRPr>
              <a:latin typeface="Arial"/>
              <a:cs typeface="Arial"/>
            </a:endParaRPr>
          </a:p>
        </p:txBody>
      </p:sp>
      <p:pic>
        <p:nvPicPr>
          <p:cNvPr id="15" name="object 15"/>
          <p:cNvPicPr/>
          <p:nvPr/>
        </p:nvPicPr>
        <p:blipFill>
          <a:blip r:embed="rId5" cstate="print"/>
          <a:stretch>
            <a:fillRect/>
          </a:stretch>
        </p:blipFill>
        <p:spPr>
          <a:xfrm>
            <a:off x="6437377" y="5246604"/>
            <a:ext cx="1078989" cy="1406649"/>
          </a:xfrm>
          <a:prstGeom prst="rect">
            <a:avLst/>
          </a:prstGeom>
        </p:spPr>
      </p:pic>
      <p:pic>
        <p:nvPicPr>
          <p:cNvPr id="16" name="object 16"/>
          <p:cNvPicPr/>
          <p:nvPr/>
        </p:nvPicPr>
        <p:blipFill>
          <a:blip r:embed="rId5" cstate="print"/>
          <a:stretch>
            <a:fillRect/>
          </a:stretch>
        </p:blipFill>
        <p:spPr>
          <a:xfrm>
            <a:off x="7616952" y="5246604"/>
            <a:ext cx="1080512" cy="1406649"/>
          </a:xfrm>
          <a:prstGeom prst="rect">
            <a:avLst/>
          </a:prstGeom>
        </p:spPr>
      </p:pic>
      <p:pic>
        <p:nvPicPr>
          <p:cNvPr id="17" name="object 17"/>
          <p:cNvPicPr/>
          <p:nvPr/>
        </p:nvPicPr>
        <p:blipFill>
          <a:blip r:embed="rId5" cstate="print"/>
          <a:stretch>
            <a:fillRect/>
          </a:stretch>
        </p:blipFill>
        <p:spPr>
          <a:xfrm>
            <a:off x="9314689" y="5246604"/>
            <a:ext cx="1078991" cy="1406649"/>
          </a:xfrm>
          <a:prstGeom prst="rect">
            <a:avLst/>
          </a:prstGeom>
        </p:spPr>
      </p:pic>
      <p:sp>
        <p:nvSpPr>
          <p:cNvPr id="18" name="object 18"/>
          <p:cNvSpPr txBox="1"/>
          <p:nvPr/>
        </p:nvSpPr>
        <p:spPr>
          <a:xfrm>
            <a:off x="8885046" y="5891964"/>
            <a:ext cx="254000" cy="299720"/>
          </a:xfrm>
          <a:prstGeom prst="rect">
            <a:avLst/>
          </a:prstGeom>
        </p:spPr>
        <p:txBody>
          <a:bodyPr vert="horz" wrap="square" lIns="0" tIns="12700" rIns="0" bIns="0" rtlCol="0">
            <a:spAutoFit/>
          </a:bodyPr>
          <a:lstStyle/>
          <a:p>
            <a:pPr marL="12700">
              <a:spcBef>
                <a:spcPts val="100"/>
              </a:spcBef>
            </a:pPr>
            <a:r>
              <a:rPr spc="-50" dirty="0">
                <a:latin typeface="Arial"/>
                <a:cs typeface="Arial"/>
              </a:rPr>
              <a:t>…</a:t>
            </a:r>
            <a:endParaRPr>
              <a:latin typeface="Arial"/>
              <a:cs typeface="Arial"/>
            </a:endParaRPr>
          </a:p>
        </p:txBody>
      </p:sp>
      <p:sp>
        <p:nvSpPr>
          <p:cNvPr id="19" name="object 19"/>
          <p:cNvSpPr txBox="1"/>
          <p:nvPr/>
        </p:nvSpPr>
        <p:spPr>
          <a:xfrm>
            <a:off x="7786880" y="6633845"/>
            <a:ext cx="723265" cy="300355"/>
          </a:xfrm>
          <a:prstGeom prst="rect">
            <a:avLst/>
          </a:prstGeom>
        </p:spPr>
        <p:txBody>
          <a:bodyPr vert="horz" wrap="square" lIns="0" tIns="12700" rIns="0" bIns="0" rtlCol="0">
            <a:spAutoFit/>
          </a:bodyPr>
          <a:lstStyle/>
          <a:p>
            <a:pPr marL="12700">
              <a:spcBef>
                <a:spcPts val="100"/>
              </a:spcBef>
            </a:pPr>
            <a:r>
              <a:rPr spc="-10" dirty="0">
                <a:latin typeface="Arial"/>
                <a:cs typeface="Arial"/>
              </a:rPr>
              <a:t>Device</a:t>
            </a:r>
            <a:endParaRPr>
              <a:latin typeface="Arial"/>
              <a:cs typeface="Arial"/>
            </a:endParaRPr>
          </a:p>
        </p:txBody>
      </p:sp>
      <p:sp>
        <p:nvSpPr>
          <p:cNvPr id="20" name="object 20"/>
          <p:cNvSpPr txBox="1"/>
          <p:nvPr/>
        </p:nvSpPr>
        <p:spPr>
          <a:xfrm>
            <a:off x="6917817" y="4541444"/>
            <a:ext cx="2619375" cy="300355"/>
          </a:xfrm>
          <a:prstGeom prst="rect">
            <a:avLst/>
          </a:prstGeom>
        </p:spPr>
        <p:txBody>
          <a:bodyPr vert="horz" wrap="square" lIns="0" tIns="12700" rIns="0" bIns="0" rtlCol="0">
            <a:spAutoFit/>
          </a:bodyPr>
          <a:lstStyle/>
          <a:p>
            <a:pPr marL="12700">
              <a:spcBef>
                <a:spcPts val="100"/>
              </a:spcBef>
            </a:pPr>
            <a:r>
              <a:rPr dirty="0">
                <a:latin typeface="Arial"/>
                <a:cs typeface="Arial"/>
              </a:rPr>
              <a:t>Streaming </a:t>
            </a:r>
            <a:r>
              <a:rPr spc="-10" dirty="0">
                <a:latin typeface="Arial"/>
                <a:cs typeface="Arial"/>
              </a:rPr>
              <a:t>multiprocessor</a:t>
            </a:r>
            <a:endParaRPr>
              <a:latin typeface="Arial"/>
              <a:cs typeface="Arial"/>
            </a:endParaRPr>
          </a:p>
        </p:txBody>
      </p:sp>
      <p:grpSp>
        <p:nvGrpSpPr>
          <p:cNvPr id="21" name="object 21"/>
          <p:cNvGrpSpPr/>
          <p:nvPr/>
        </p:nvGrpSpPr>
        <p:grpSpPr>
          <a:xfrm>
            <a:off x="7924541" y="2222726"/>
            <a:ext cx="483870" cy="483870"/>
            <a:chOff x="6400541" y="2104385"/>
            <a:chExt cx="483870" cy="483870"/>
          </a:xfrm>
        </p:grpSpPr>
        <p:sp>
          <p:nvSpPr>
            <p:cNvPr id="22" name="object 22"/>
            <p:cNvSpPr/>
            <p:nvPr/>
          </p:nvSpPr>
          <p:spPr>
            <a:xfrm>
              <a:off x="6413753" y="2117597"/>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9ABA59"/>
            </a:solidFill>
          </p:spPr>
          <p:txBody>
            <a:bodyPr wrap="square" lIns="0" tIns="0" rIns="0" bIns="0" rtlCol="0"/>
            <a:lstStyle/>
            <a:p>
              <a:endParaRPr/>
            </a:p>
          </p:txBody>
        </p:sp>
        <p:sp>
          <p:nvSpPr>
            <p:cNvPr id="23" name="object 23"/>
            <p:cNvSpPr/>
            <p:nvPr/>
          </p:nvSpPr>
          <p:spPr>
            <a:xfrm>
              <a:off x="6413753" y="2117597"/>
              <a:ext cx="457200" cy="457200"/>
            </a:xfrm>
            <a:custGeom>
              <a:avLst/>
              <a:gdLst/>
              <a:ahLst/>
              <a:cxnLst/>
              <a:rect l="l" t="t" r="r" b="b"/>
              <a:pathLst>
                <a:path w="457200" h="457200">
                  <a:moveTo>
                    <a:pt x="0" y="457200"/>
                  </a:moveTo>
                  <a:lnTo>
                    <a:pt x="457200" y="457200"/>
                  </a:lnTo>
                  <a:lnTo>
                    <a:pt x="457200" y="0"/>
                  </a:lnTo>
                  <a:lnTo>
                    <a:pt x="0" y="0"/>
                  </a:lnTo>
                  <a:lnTo>
                    <a:pt x="0" y="457200"/>
                  </a:lnTo>
                  <a:close/>
                </a:path>
              </a:pathLst>
            </a:custGeom>
            <a:ln w="26424">
              <a:solidFill>
                <a:srgbClr val="70883F"/>
              </a:solidFill>
            </a:ln>
          </p:spPr>
          <p:txBody>
            <a:bodyPr wrap="square" lIns="0" tIns="0" rIns="0" bIns="0" rtlCol="0"/>
            <a:lstStyle/>
            <a:p>
              <a:endParaRPr/>
            </a:p>
          </p:txBody>
        </p:sp>
        <p:pic>
          <p:nvPicPr>
            <p:cNvPr id="24" name="object 24"/>
            <p:cNvPicPr/>
            <p:nvPr/>
          </p:nvPicPr>
          <p:blipFill>
            <a:blip r:embed="rId9" cstate="print"/>
            <a:stretch>
              <a:fillRect/>
            </a:stretch>
          </p:blipFill>
          <p:spPr>
            <a:xfrm>
              <a:off x="6621145" y="2354960"/>
              <a:ext cx="76200" cy="219837"/>
            </a:xfrm>
            <a:prstGeom prst="rect">
              <a:avLst/>
            </a:prstGeom>
          </p:spPr>
        </p:pic>
      </p:grpSp>
      <p:sp>
        <p:nvSpPr>
          <p:cNvPr id="25" name="object 25"/>
          <p:cNvSpPr txBox="1"/>
          <p:nvPr/>
        </p:nvSpPr>
        <p:spPr>
          <a:xfrm>
            <a:off x="3225165" y="1205077"/>
            <a:ext cx="5766435" cy="1402080"/>
          </a:xfrm>
          <a:prstGeom prst="rect">
            <a:avLst/>
          </a:prstGeom>
        </p:spPr>
        <p:txBody>
          <a:bodyPr vert="horz" wrap="square" lIns="0" tIns="12700" rIns="0" bIns="0" rtlCol="0">
            <a:spAutoFit/>
          </a:bodyPr>
          <a:lstStyle/>
          <a:p>
            <a:pPr marL="12700">
              <a:spcBef>
                <a:spcPts val="100"/>
              </a:spcBef>
              <a:tabLst>
                <a:tab pos="4382770" algn="l"/>
              </a:tabLst>
            </a:pPr>
            <a:r>
              <a:rPr sz="3600" b="1" spc="-15" baseline="1157" dirty="0">
                <a:latin typeface="Arial"/>
                <a:cs typeface="Arial"/>
              </a:rPr>
              <a:t>software</a:t>
            </a:r>
            <a:r>
              <a:rPr sz="3600" b="1" baseline="1157" dirty="0">
                <a:latin typeface="Arial"/>
                <a:cs typeface="Arial"/>
              </a:rPr>
              <a:t>	</a:t>
            </a:r>
            <a:r>
              <a:rPr sz="2400" b="1" spc="-10" dirty="0">
                <a:latin typeface="Arial"/>
                <a:cs typeface="Arial"/>
              </a:rPr>
              <a:t>hardware</a:t>
            </a:r>
            <a:endParaRPr sz="2400" dirty="0">
              <a:latin typeface="Arial"/>
              <a:cs typeface="Arial"/>
            </a:endParaRPr>
          </a:p>
          <a:p>
            <a:pPr marL="204470">
              <a:spcBef>
                <a:spcPts val="2145"/>
              </a:spcBef>
            </a:pPr>
            <a:r>
              <a:rPr dirty="0">
                <a:latin typeface="Arial"/>
                <a:cs typeface="Arial"/>
              </a:rPr>
              <a:t>Thread</a:t>
            </a:r>
            <a:r>
              <a:rPr spc="-20" dirty="0">
                <a:latin typeface="Arial"/>
                <a:cs typeface="Arial"/>
              </a:rPr>
              <a:t> </a:t>
            </a:r>
            <a:r>
              <a:rPr i="1" spc="-50" dirty="0">
                <a:latin typeface="Arial"/>
                <a:cs typeface="Arial"/>
              </a:rPr>
              <a:t>t</a:t>
            </a:r>
            <a:endParaRPr dirty="0">
              <a:latin typeface="Arial"/>
              <a:cs typeface="Arial"/>
            </a:endParaRPr>
          </a:p>
          <a:p>
            <a:pPr marR="5080" algn="r">
              <a:spcBef>
                <a:spcPts val="1490"/>
              </a:spcBef>
            </a:pPr>
            <a:r>
              <a:rPr spc="-20" dirty="0">
                <a:latin typeface="Arial"/>
                <a:cs typeface="Arial"/>
              </a:rPr>
              <a:t>core</a:t>
            </a:r>
            <a:endParaRPr dirty="0">
              <a:latin typeface="Arial"/>
              <a:cs typeface="Arial"/>
            </a:endParaRPr>
          </a:p>
        </p:txBody>
      </p:sp>
      <p:sp>
        <p:nvSpPr>
          <p:cNvPr id="26" name="object 26"/>
          <p:cNvSpPr/>
          <p:nvPr/>
        </p:nvSpPr>
        <p:spPr>
          <a:xfrm>
            <a:off x="6120384" y="1747496"/>
            <a:ext cx="0" cy="4906010"/>
          </a:xfrm>
          <a:custGeom>
            <a:avLst/>
            <a:gdLst/>
            <a:ahLst/>
            <a:cxnLst/>
            <a:rect l="l" t="t" r="r" b="b"/>
            <a:pathLst>
              <a:path h="4906009">
                <a:moveTo>
                  <a:pt x="0" y="0"/>
                </a:moveTo>
                <a:lnTo>
                  <a:pt x="0" y="4905475"/>
                </a:lnTo>
              </a:path>
            </a:pathLst>
          </a:custGeom>
          <a:ln w="9525">
            <a:solidFill>
              <a:srgbClr val="4F80BC"/>
            </a:solidFill>
          </a:ln>
        </p:spPr>
        <p:txBody>
          <a:bodyPr wrap="square" lIns="0" tIns="0" rIns="0" bIns="0" rtlCol="0"/>
          <a:lstStyle/>
          <a:p>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9D718-AFEE-98C5-3FAD-41274C0254D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C17D2FF-99D9-C38C-B343-A772E26ABFAD}"/>
              </a:ext>
            </a:extLst>
          </p:cNvPr>
          <p:cNvSpPr txBox="1">
            <a:spLocks noGrp="1"/>
          </p:cNvSpPr>
          <p:nvPr>
            <p:ph type="title"/>
          </p:nvPr>
        </p:nvSpPr>
        <p:spPr>
          <a:xfrm>
            <a:off x="838200" y="685800"/>
            <a:ext cx="5752465" cy="463525"/>
          </a:xfrm>
          <a:prstGeom prst="rect">
            <a:avLst/>
          </a:prstGeom>
        </p:spPr>
        <p:txBody>
          <a:bodyPr vert="horz" wrap="square" lIns="0" tIns="12065" rIns="0" bIns="0" rtlCol="0">
            <a:spAutoFit/>
          </a:bodyPr>
          <a:lstStyle/>
          <a:p>
            <a:pPr marL="12700">
              <a:spcBef>
                <a:spcPts val="95"/>
              </a:spcBef>
            </a:pPr>
            <a:r>
              <a:rPr lang="en-US" sz="2933" cap="small" dirty="0">
                <a:solidFill>
                  <a:schemeClr val="dk2"/>
                </a:solidFill>
              </a:rPr>
              <a:t>CUDA Kernel</a:t>
            </a:r>
            <a:endParaRPr sz="2933" cap="small" dirty="0">
              <a:solidFill>
                <a:schemeClr val="dk2"/>
              </a:solidFill>
            </a:endParaRPr>
          </a:p>
        </p:txBody>
      </p:sp>
      <p:sp>
        <p:nvSpPr>
          <p:cNvPr id="3" name="object 3">
            <a:extLst>
              <a:ext uri="{FF2B5EF4-FFF2-40B4-BE49-F238E27FC236}">
                <a16:creationId xmlns:a16="http://schemas.microsoft.com/office/drawing/2014/main" id="{B96D0C94-8CB4-C217-01B7-63E37302176B}"/>
              </a:ext>
            </a:extLst>
          </p:cNvPr>
          <p:cNvSpPr txBox="1"/>
          <p:nvPr/>
        </p:nvSpPr>
        <p:spPr>
          <a:xfrm>
            <a:off x="1066800" y="1596261"/>
            <a:ext cx="9294595" cy="4728217"/>
          </a:xfrm>
          <a:prstGeom prst="rect">
            <a:avLst/>
          </a:prstGeom>
        </p:spPr>
        <p:txBody>
          <a:bodyPr vert="horz" wrap="square" lIns="0" tIns="54610" rIns="0" bIns="0" rtlCol="0">
            <a:spAutoFit/>
          </a:bodyPr>
          <a:lstStyle/>
          <a:p>
            <a:pPr>
              <a:spcBef>
                <a:spcPts val="1600"/>
              </a:spcBef>
            </a:pPr>
            <a:endParaRPr lang="en-NL" sz="2000" dirty="0">
              <a:latin typeface="Courier New"/>
              <a:cs typeface="Courier New"/>
            </a:endParaRPr>
          </a:p>
          <a:p>
            <a:pPr marL="12700"/>
            <a:r>
              <a:rPr lang="en-GB" sz="2200" b="1" spc="-10" dirty="0">
                <a:latin typeface="Arial"/>
                <a:cs typeface="Arial"/>
              </a:rPr>
              <a:t>Kernel:</a:t>
            </a:r>
            <a:endParaRPr lang="en-GB" sz="2200" dirty="0">
              <a:latin typeface="Arial"/>
              <a:cs typeface="Arial"/>
            </a:endParaRPr>
          </a:p>
          <a:p>
            <a:pPr marL="194945" indent="-182245">
              <a:spcBef>
                <a:spcPts val="530"/>
              </a:spcBef>
              <a:buClr>
                <a:srgbClr val="4F80BC"/>
              </a:buClr>
              <a:buSzPct val="84090"/>
              <a:buChar char="•"/>
              <a:tabLst>
                <a:tab pos="194945" algn="l"/>
              </a:tabLst>
            </a:pPr>
            <a:r>
              <a:rPr lang="en-GB" sz="2200" dirty="0">
                <a:latin typeface="Arial"/>
                <a:cs typeface="Arial"/>
              </a:rPr>
              <a:t>Function which is executed on the GPU.</a:t>
            </a:r>
          </a:p>
          <a:p>
            <a:pPr marL="194945" indent="-182245">
              <a:spcBef>
                <a:spcPts val="530"/>
              </a:spcBef>
              <a:buClr>
                <a:srgbClr val="4F80BC"/>
              </a:buClr>
              <a:buSzPct val="84090"/>
              <a:buChar char="•"/>
              <a:tabLst>
                <a:tab pos="194945" algn="l"/>
              </a:tabLst>
            </a:pPr>
            <a:r>
              <a:rPr lang="en-GB" sz="2200" dirty="0">
                <a:latin typeface="Arial"/>
                <a:cs typeface="Arial"/>
              </a:rPr>
              <a:t> </a:t>
            </a:r>
          </a:p>
          <a:p>
            <a:pPr marL="194945" indent="-182245">
              <a:spcBef>
                <a:spcPts val="530"/>
              </a:spcBef>
              <a:buClr>
                <a:srgbClr val="4F80BC"/>
              </a:buClr>
              <a:buSzPct val="84090"/>
              <a:buChar char="•"/>
              <a:tabLst>
                <a:tab pos="194945" algn="l"/>
              </a:tabLst>
            </a:pPr>
            <a:r>
              <a:rPr lang="en-GB" sz="2200" dirty="0">
                <a:latin typeface="Arial"/>
                <a:cs typeface="Arial"/>
              </a:rPr>
              <a:t>Host launches a grid of ‘kernels’ ( </a:t>
            </a:r>
            <a:r>
              <a:rPr lang="en-GB" sz="2200" dirty="0">
                <a:latin typeface="Arial"/>
                <a:cs typeface="Arial"/>
                <a:sym typeface="Wingdings" pitchFamily="2" charset="2"/>
              </a:rPr>
              <a:t> </a:t>
            </a:r>
            <a:r>
              <a:rPr lang="en-GB" sz="2200" dirty="0">
                <a:latin typeface="Arial"/>
                <a:cs typeface="Arial"/>
              </a:rPr>
              <a:t>of blocks </a:t>
            </a:r>
            <a:r>
              <a:rPr lang="en-GB" sz="2200" dirty="0">
                <a:latin typeface="Arial"/>
                <a:cs typeface="Arial"/>
                <a:sym typeface="Wingdings" pitchFamily="2" charset="2"/>
              </a:rPr>
              <a:t> of threads)</a:t>
            </a:r>
            <a:endParaRPr lang="en-GB" sz="2200" dirty="0">
              <a:latin typeface="Arial"/>
              <a:cs typeface="Arial"/>
            </a:endParaRPr>
          </a:p>
          <a:p>
            <a:pPr marL="194945" indent="-182245">
              <a:spcBef>
                <a:spcPts val="525"/>
              </a:spcBef>
              <a:buClr>
                <a:srgbClr val="4F80BC"/>
              </a:buClr>
              <a:buSzPct val="84090"/>
              <a:buChar char="•"/>
              <a:tabLst>
                <a:tab pos="194945" algn="l"/>
              </a:tabLst>
            </a:pPr>
            <a:r>
              <a:rPr lang="en-GB" sz="2200" dirty="0">
                <a:latin typeface="Arial"/>
                <a:cs typeface="Arial"/>
              </a:rPr>
              <a:t>Max number of blocks in x-dimension is 2</a:t>
            </a:r>
            <a:r>
              <a:rPr lang="en-GB" sz="2200" baseline="30000" dirty="0">
                <a:latin typeface="Arial"/>
                <a:cs typeface="Arial"/>
              </a:rPr>
              <a:t>31</a:t>
            </a:r>
            <a:r>
              <a:rPr lang="en-GB" sz="2200" dirty="0">
                <a:latin typeface="Arial"/>
                <a:cs typeface="Arial"/>
              </a:rPr>
              <a:t>-1</a:t>
            </a:r>
          </a:p>
          <a:p>
            <a:pPr marL="194945" indent="-182245">
              <a:spcBef>
                <a:spcPts val="525"/>
              </a:spcBef>
              <a:buClr>
                <a:srgbClr val="4F80BC"/>
              </a:buClr>
              <a:buSzPct val="84090"/>
              <a:buChar char="•"/>
              <a:tabLst>
                <a:tab pos="194945" algn="l"/>
              </a:tabLst>
            </a:pPr>
            <a:r>
              <a:rPr lang="en-GB" sz="2200" dirty="0">
                <a:latin typeface="Arial"/>
                <a:cs typeface="Arial"/>
              </a:rPr>
              <a:t>Block can have max 1024 threads</a:t>
            </a:r>
          </a:p>
          <a:p>
            <a:pPr marL="194945" indent="-182245">
              <a:spcBef>
                <a:spcPts val="525"/>
              </a:spcBef>
              <a:buClr>
                <a:srgbClr val="4F80BC"/>
              </a:buClr>
              <a:buSzPct val="84090"/>
              <a:buChar char="•"/>
              <a:tabLst>
                <a:tab pos="194945" algn="l"/>
              </a:tabLst>
            </a:pPr>
            <a:endParaRPr lang="en-GB" sz="2200" dirty="0">
              <a:latin typeface="Arial"/>
              <a:cs typeface="Arial"/>
            </a:endParaRPr>
          </a:p>
          <a:p>
            <a:pPr marL="194945" indent="-182245">
              <a:spcBef>
                <a:spcPts val="525"/>
              </a:spcBef>
              <a:buClr>
                <a:srgbClr val="4F80BC"/>
              </a:buClr>
              <a:buSzPct val="84090"/>
              <a:buChar char="•"/>
              <a:tabLst>
                <a:tab pos="194945" algn="l"/>
              </a:tabLst>
            </a:pPr>
            <a:r>
              <a:rPr lang="en-GB" sz="2200" dirty="0">
                <a:latin typeface="Arial"/>
                <a:cs typeface="Arial"/>
              </a:rPr>
              <a:t>Large number of concurrent threads</a:t>
            </a:r>
          </a:p>
          <a:p>
            <a:pPr marL="355600" lvl="2" indent="-342900">
              <a:spcBef>
                <a:spcPts val="525"/>
              </a:spcBef>
              <a:buClr>
                <a:srgbClr val="4F80BC"/>
              </a:buClr>
              <a:buSzPct val="84090"/>
              <a:buFont typeface="Arial" panose="020B0604020202020204" pitchFamily="34" charset="0"/>
              <a:buChar char="•"/>
              <a:tabLst>
                <a:tab pos="194945" algn="l"/>
              </a:tabLst>
            </a:pPr>
            <a:r>
              <a:rPr lang="en-GB" sz="2200" dirty="0">
                <a:latin typeface="Arial"/>
                <a:cs typeface="Arial"/>
              </a:rPr>
              <a:t>	Much higher than available cores</a:t>
            </a:r>
          </a:p>
          <a:p>
            <a:pPr marL="355600" lvl="5" indent="-342900">
              <a:spcBef>
                <a:spcPts val="525"/>
              </a:spcBef>
              <a:buClr>
                <a:srgbClr val="4F80BC"/>
              </a:buClr>
              <a:buSzPct val="84090"/>
              <a:buFont typeface="Arial" panose="020B0604020202020204" pitchFamily="34" charset="0"/>
              <a:buChar char="•"/>
              <a:tabLst>
                <a:tab pos="194945" algn="l"/>
              </a:tabLst>
            </a:pPr>
            <a:r>
              <a:rPr lang="en-GB" sz="2200" dirty="0">
                <a:latin typeface="Arial"/>
                <a:cs typeface="Arial"/>
              </a:rPr>
              <a:t>   	</a:t>
            </a:r>
            <a:r>
              <a:rPr lang="en-GB" sz="2200" dirty="0">
                <a:solidFill>
                  <a:schemeClr val="accent2">
                    <a:lumMod val="75000"/>
                  </a:schemeClr>
                </a:solidFill>
                <a:latin typeface="Arial"/>
                <a:cs typeface="Arial"/>
              </a:rPr>
              <a:t>Scalability and Scheduling are important!</a:t>
            </a:r>
            <a:r>
              <a:rPr lang="en-GB" sz="2200" dirty="0">
                <a:latin typeface="Arial"/>
                <a:cs typeface="Arial"/>
              </a:rPr>
              <a:t> </a:t>
            </a:r>
          </a:p>
          <a:p>
            <a:pPr marL="12700" lvl="3">
              <a:spcBef>
                <a:spcPts val="525"/>
              </a:spcBef>
              <a:buClr>
                <a:srgbClr val="4F80BC"/>
              </a:buClr>
              <a:buSzPct val="84090"/>
              <a:tabLst>
                <a:tab pos="194945" algn="l"/>
              </a:tabLst>
            </a:pPr>
            <a:r>
              <a:rPr lang="en-GB" sz="2200" dirty="0">
                <a:latin typeface="Arial"/>
                <a:cs typeface="Arial"/>
              </a:rPr>
              <a:t> </a:t>
            </a:r>
          </a:p>
        </p:txBody>
      </p:sp>
    </p:spTree>
    <p:extLst>
      <p:ext uri="{BB962C8B-B14F-4D97-AF65-F5344CB8AC3E}">
        <p14:creationId xmlns:p14="http://schemas.microsoft.com/office/powerpoint/2010/main" val="42182343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9989C086-52FA-47BB-C955-7743026A8892}"/>
              </a:ext>
            </a:extLst>
          </p:cNvPr>
          <p:cNvSpPr txBox="1">
            <a:spLocks/>
          </p:cNvSpPr>
          <p:nvPr/>
        </p:nvSpPr>
        <p:spPr>
          <a:xfrm>
            <a:off x="533402" y="486895"/>
            <a:ext cx="7169148" cy="463525"/>
          </a:xfrm>
          <a:prstGeom prst="rect">
            <a:avLst/>
          </a:prstGeom>
        </p:spPr>
        <p:txBody>
          <a:bodyPr vert="horz" wrap="square" lIns="0" tIns="12065" rIns="0" bIns="0" rtlCol="0">
            <a:spAutoFit/>
          </a:bodyPr>
          <a:lstStyle>
            <a:lvl1pPr>
              <a:defRPr sz="4000" b="0" i="0">
                <a:solidFill>
                  <a:srgbClr val="1F487C"/>
                </a:solidFill>
                <a:latin typeface="Arial"/>
                <a:ea typeface="+mj-ea"/>
                <a:cs typeface="Arial"/>
              </a:defRPr>
            </a:lvl1pPr>
          </a:lstStyle>
          <a:p>
            <a:pPr marL="12700">
              <a:spcBef>
                <a:spcPts val="95"/>
              </a:spcBef>
            </a:pPr>
            <a:r>
              <a:rPr lang="en-GB" sz="2933" cap="small" dirty="0">
                <a:solidFill>
                  <a:schemeClr val="dk2"/>
                </a:solidFill>
              </a:rPr>
              <a:t>Threads in a GPU architecture</a:t>
            </a:r>
          </a:p>
        </p:txBody>
      </p:sp>
      <p:sp>
        <p:nvSpPr>
          <p:cNvPr id="5" name="object 3">
            <a:extLst>
              <a:ext uri="{FF2B5EF4-FFF2-40B4-BE49-F238E27FC236}">
                <a16:creationId xmlns:a16="http://schemas.microsoft.com/office/drawing/2014/main" id="{3DE65939-E201-BFE1-DE5C-AB5395473DDE}"/>
              </a:ext>
            </a:extLst>
          </p:cNvPr>
          <p:cNvSpPr txBox="1"/>
          <p:nvPr/>
        </p:nvSpPr>
        <p:spPr>
          <a:xfrm>
            <a:off x="762000" y="1295400"/>
            <a:ext cx="9599395" cy="4866717"/>
          </a:xfrm>
          <a:prstGeom prst="rect">
            <a:avLst/>
          </a:prstGeom>
        </p:spPr>
        <p:txBody>
          <a:bodyPr vert="horz" wrap="square" lIns="0" tIns="54610" rIns="0" bIns="0" rtlCol="0">
            <a:spAutoFit/>
          </a:bodyPr>
          <a:lstStyle/>
          <a:p>
            <a:pPr marL="355600" indent="-342900">
              <a:spcBef>
                <a:spcPts val="530"/>
              </a:spcBef>
              <a:buClr>
                <a:srgbClr val="4F80BC"/>
              </a:buClr>
              <a:buSzPct val="84090"/>
              <a:buFont typeface="Arial" panose="020B0604020202020204" pitchFamily="34" charset="0"/>
              <a:buChar char="•"/>
              <a:tabLst>
                <a:tab pos="194945" algn="l"/>
              </a:tabLst>
            </a:pPr>
            <a:r>
              <a:rPr lang="en-GB" sz="2200" dirty="0">
                <a:latin typeface="Arial"/>
                <a:cs typeface="Arial"/>
              </a:rPr>
              <a:t>A block runs within one SM</a:t>
            </a:r>
          </a:p>
          <a:p>
            <a:pPr marL="194945" indent="-182245">
              <a:spcBef>
                <a:spcPts val="525"/>
              </a:spcBef>
              <a:buClr>
                <a:srgbClr val="4F80BC"/>
              </a:buClr>
              <a:buSzPct val="84090"/>
              <a:buChar char="•"/>
              <a:tabLst>
                <a:tab pos="194945" algn="l"/>
              </a:tabLst>
            </a:pPr>
            <a:r>
              <a:rPr lang="en-GB" sz="2200" dirty="0">
                <a:latin typeface="Arial"/>
                <a:cs typeface="Arial"/>
              </a:rPr>
              <a:t>A block can have max 1024 threads (For most GPUS) </a:t>
            </a:r>
          </a:p>
          <a:p>
            <a:pPr marL="12700" lvl="2">
              <a:spcBef>
                <a:spcPts val="525"/>
              </a:spcBef>
              <a:buClr>
                <a:srgbClr val="4F80BC"/>
              </a:buClr>
              <a:buSzPct val="84090"/>
              <a:tabLst>
                <a:tab pos="194945" algn="l"/>
              </a:tabLst>
            </a:pPr>
            <a:r>
              <a:rPr lang="en-GB" sz="2200" dirty="0">
                <a:latin typeface="Arial"/>
                <a:cs typeface="Arial"/>
              </a:rPr>
              <a:t>		&gt; There can be more threads  (in a block) than cores in an SM</a:t>
            </a:r>
          </a:p>
          <a:p>
            <a:pPr marL="194945" indent="-182245">
              <a:spcBef>
                <a:spcPts val="525"/>
              </a:spcBef>
              <a:buClr>
                <a:srgbClr val="4F80BC"/>
              </a:buClr>
              <a:buSzPct val="84090"/>
              <a:buChar char="•"/>
              <a:tabLst>
                <a:tab pos="194945" algn="l"/>
              </a:tabLst>
            </a:pPr>
            <a:endParaRPr lang="en-GB" sz="2200" dirty="0">
              <a:latin typeface="Arial"/>
              <a:cs typeface="Arial"/>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2400" dirty="0">
                <a:latin typeface="Arial"/>
                <a:cs typeface="Arial"/>
              </a:rPr>
              <a:t>Max number of blocks in x-dimension is 2</a:t>
            </a:r>
            <a:r>
              <a:rPr lang="en-GB" sz="2400" baseline="30000" dirty="0">
                <a:latin typeface="Arial"/>
                <a:cs typeface="Arial"/>
              </a:rPr>
              <a:t>31</a:t>
            </a:r>
            <a:r>
              <a:rPr lang="en-GB" sz="2400" dirty="0">
                <a:latin typeface="Arial"/>
                <a:cs typeface="Arial"/>
              </a:rPr>
              <a:t>-1 (For most GPUS) </a:t>
            </a:r>
          </a:p>
          <a:p>
            <a:pPr lvl="2" algn="l" rtl="0">
              <a:defRPr/>
            </a:pPr>
            <a:r>
              <a:rPr lang="en-GB" sz="2400" dirty="0">
                <a:latin typeface="Arial"/>
                <a:cs typeface="Arial"/>
              </a:rPr>
              <a:t>	&gt; There can be more than one block per SM</a:t>
            </a:r>
          </a:p>
          <a:p>
            <a:pPr lvl="2" algn="l" rtl="0">
              <a:defRPr/>
            </a:pPr>
            <a:endParaRPr lang="en-GB" sz="2400" dirty="0">
              <a:latin typeface="Arial"/>
              <a:cs typeface="Arial"/>
            </a:endParaRPr>
          </a:p>
          <a:p>
            <a:pPr marL="342900" lvl="2" indent="-342900" algn="l" rtl="0">
              <a:buFont typeface="Arial" panose="020B0604020202020204" pitchFamily="34" charset="0"/>
              <a:buChar char="•"/>
              <a:defRPr/>
            </a:pPr>
            <a:r>
              <a:rPr lang="en-GB" sz="2400" dirty="0">
                <a:solidFill>
                  <a:schemeClr val="tx1"/>
                </a:solidFill>
                <a:latin typeface="Arial"/>
                <a:cs typeface="Arial"/>
              </a:rPr>
              <a:t>CPU can continue to launch more/different kernels on the GPU</a:t>
            </a:r>
          </a:p>
          <a:p>
            <a:pPr lvl="2" algn="l" rtl="0">
              <a:defRPr/>
            </a:pPr>
            <a:endParaRPr lang="en-GB" sz="2400" dirty="0">
              <a:latin typeface="Arial"/>
              <a:cs typeface="Arial"/>
            </a:endParaRPr>
          </a:p>
          <a:p>
            <a:pPr marL="342900" lvl="2" indent="-342900" algn="l" rtl="0">
              <a:buFont typeface="Arial" panose="020B0604020202020204" pitchFamily="34" charset="0"/>
              <a:buChar char="•"/>
              <a:defRPr/>
            </a:pPr>
            <a:r>
              <a:rPr lang="en-GB" sz="2200" dirty="0">
                <a:solidFill>
                  <a:schemeClr val="accent2">
                    <a:lumMod val="75000"/>
                  </a:schemeClr>
                </a:solidFill>
                <a:latin typeface="Arial"/>
                <a:cs typeface="Arial"/>
              </a:rPr>
              <a:t>Scheduling is important!</a:t>
            </a:r>
            <a:r>
              <a:rPr lang="en-GB" sz="2200" dirty="0">
                <a:latin typeface="Arial"/>
                <a:cs typeface="Arial"/>
              </a:rPr>
              <a:t> </a:t>
            </a:r>
          </a:p>
          <a:p>
            <a:pPr lvl="3" algn="l" rtl="0">
              <a:defRPr/>
            </a:pPr>
            <a:r>
              <a:rPr lang="en-GB" sz="2200" dirty="0">
                <a:latin typeface="Arial"/>
                <a:cs typeface="Arial"/>
              </a:rPr>
              <a:t>	&gt; Memory accesses take longer than computation</a:t>
            </a:r>
          </a:p>
          <a:p>
            <a:pPr lvl="3" algn="l" rtl="0">
              <a:defRPr/>
            </a:pPr>
            <a:r>
              <a:rPr lang="en-GB" sz="2200" dirty="0">
                <a:latin typeface="Arial"/>
                <a:cs typeface="Arial"/>
              </a:rPr>
              <a:t>	&gt; </a:t>
            </a:r>
            <a:r>
              <a:rPr lang="en-GB" sz="2200" dirty="0">
                <a:solidFill>
                  <a:schemeClr val="accent2">
                    <a:lumMod val="75000"/>
                  </a:schemeClr>
                </a:solidFill>
                <a:latin typeface="Arial"/>
                <a:cs typeface="Arial"/>
              </a:rPr>
              <a:t>Handling memory accesses is important. </a:t>
            </a:r>
          </a:p>
          <a:p>
            <a:pPr marL="12700" lvl="3">
              <a:spcBef>
                <a:spcPts val="525"/>
              </a:spcBef>
              <a:buClr>
                <a:srgbClr val="4F80BC"/>
              </a:buClr>
              <a:buSzPct val="84090"/>
              <a:tabLst>
                <a:tab pos="194945" algn="l"/>
              </a:tabLst>
            </a:pPr>
            <a:r>
              <a:rPr lang="en-GB" sz="2200" dirty="0">
                <a:latin typeface="Arial"/>
                <a:cs typeface="Arial"/>
              </a:rPr>
              <a:t> </a:t>
            </a:r>
          </a:p>
        </p:txBody>
      </p:sp>
    </p:spTree>
    <p:extLst>
      <p:ext uri="{BB962C8B-B14F-4D97-AF65-F5344CB8AC3E}">
        <p14:creationId xmlns:p14="http://schemas.microsoft.com/office/powerpoint/2010/main" val="22239088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298"/>
        <p:cNvGrpSpPr/>
        <p:nvPr/>
      </p:nvGrpSpPr>
      <p:grpSpPr>
        <a:xfrm>
          <a:off x="0" y="0"/>
          <a:ext cx="0" cy="0"/>
          <a:chOff x="0" y="0"/>
          <a:chExt cx="0" cy="0"/>
        </a:xfrm>
      </p:grpSpPr>
      <p:sp>
        <p:nvSpPr>
          <p:cNvPr id="1299" name="Google Shape;1299;p39"/>
          <p:cNvSpPr txBox="1">
            <a:spLocks noGrp="1"/>
          </p:cNvSpPr>
          <p:nvPr>
            <p:ph type="title"/>
          </p:nvPr>
        </p:nvSpPr>
        <p:spPr>
          <a:xfrm>
            <a:off x="385343" y="420744"/>
            <a:ext cx="10650400" cy="709600"/>
          </a:xfrm>
          <a:prstGeom prst="rect">
            <a:avLst/>
          </a:prstGeom>
          <a:noFill/>
        </p:spPr>
        <p:txBody>
          <a:bodyPr spcFirstLastPara="1" wrap="square" lIns="91433" tIns="91433" rIns="91433" bIns="91433" anchor="b" anchorCtr="0">
            <a:noAutofit/>
          </a:bodyPr>
          <a:lstStyle/>
          <a:p>
            <a:pPr rtl="0"/>
            <a:r>
              <a:rPr lang="en-GB" dirty="0"/>
              <a:t>What Happens When We Execute a CUDA Program?</a:t>
            </a:r>
            <a:endParaRPr dirty="0"/>
          </a:p>
        </p:txBody>
      </p:sp>
      <p:sp>
        <p:nvSpPr>
          <p:cNvPr id="1300" name="Google Shape;1300;p39"/>
          <p:cNvSpPr txBox="1">
            <a:spLocks noGrp="1"/>
          </p:cNvSpPr>
          <p:nvPr>
            <p:ph type="body" idx="1"/>
          </p:nvPr>
        </p:nvSpPr>
        <p:spPr>
          <a:xfrm>
            <a:off x="418000" y="1231967"/>
            <a:ext cx="11326400" cy="563600"/>
          </a:xfrm>
          <a:prstGeom prst="rect">
            <a:avLst/>
          </a:prstGeom>
        </p:spPr>
        <p:txBody>
          <a:bodyPr spcFirstLastPara="1" wrap="square" lIns="91433" tIns="91433" rIns="91433" bIns="91433" anchor="t" anchorCtr="0">
            <a:noAutofit/>
          </a:bodyPr>
          <a:lstStyle/>
          <a:p>
            <a:pPr marL="0" indent="0" rtl="0">
              <a:buClr>
                <a:schemeClr val="dk1"/>
              </a:buClr>
              <a:buSzPts val="1100"/>
              <a:buNone/>
            </a:pPr>
            <a:r>
              <a:rPr lang="en-GB" sz="2267" b="1" dirty="0">
                <a:solidFill>
                  <a:schemeClr val="dk2"/>
                </a:solidFill>
              </a:rPr>
              <a:t>Host: </a:t>
            </a:r>
            <a:r>
              <a:rPr lang="en-GB" sz="2267" dirty="0"/>
              <a:t>Tasks (copy data, execute kernels, …) for the GPU are pushed into a “queue” (the default stream), and executed in order.</a:t>
            </a:r>
            <a:endParaRPr sz="2267" dirty="0"/>
          </a:p>
          <a:p>
            <a:pPr marL="0" indent="0" rtl="0">
              <a:buClr>
                <a:schemeClr val="dk1"/>
              </a:buClr>
              <a:buSzPts val="1100"/>
              <a:buNone/>
            </a:pPr>
            <a:endParaRPr sz="2267" dirty="0"/>
          </a:p>
          <a:p>
            <a:pPr marL="0" indent="0" rtl="0">
              <a:buNone/>
            </a:pPr>
            <a:endParaRPr sz="2267" dirty="0"/>
          </a:p>
        </p:txBody>
      </p:sp>
      <p:sp>
        <p:nvSpPr>
          <p:cNvPr id="1301" name="Google Shape;1301;p39"/>
          <p:cNvSpPr txBox="1">
            <a:spLocks noGrp="1"/>
          </p:cNvSpPr>
          <p:nvPr>
            <p:ph type="sldNum" idx="12"/>
          </p:nvPr>
        </p:nvSpPr>
        <p:spPr>
          <a:xfrm>
            <a:off x="11466783" y="5913927"/>
            <a:ext cx="731600" cy="418000"/>
          </a:xfrm>
          <a:prstGeom prst="rect">
            <a:avLst/>
          </a:prstGeom>
        </p:spPr>
        <p:txBody>
          <a:bodyPr spcFirstLastPara="1" wrap="square" lIns="91433" tIns="91433" rIns="91433" bIns="91433" anchor="t" anchorCtr="0">
            <a:noAutofit/>
          </a:bodyPr>
          <a:lstStyle/>
          <a:p>
            <a:pPr rtl="0"/>
            <a:fld id="{00000000-1234-1234-1234-123412341234}" type="slidenum">
              <a:rPr lang="en-GB"/>
              <a:pPr rtl="0"/>
              <a:t>35</a:t>
            </a:fld>
            <a:endParaRPr/>
          </a:p>
        </p:txBody>
      </p:sp>
      <p:sp>
        <p:nvSpPr>
          <p:cNvPr id="1302" name="Google Shape;1302;p39"/>
          <p:cNvSpPr txBox="1">
            <a:spLocks noGrp="1"/>
          </p:cNvSpPr>
          <p:nvPr>
            <p:ph type="body" idx="1"/>
          </p:nvPr>
        </p:nvSpPr>
        <p:spPr>
          <a:xfrm>
            <a:off x="418000" y="2146367"/>
            <a:ext cx="11326400" cy="563600"/>
          </a:xfrm>
          <a:prstGeom prst="rect">
            <a:avLst/>
          </a:prstGeom>
        </p:spPr>
        <p:txBody>
          <a:bodyPr spcFirstLastPara="1" wrap="square" lIns="91433" tIns="91433" rIns="91433" bIns="91433" anchor="t" anchorCtr="0">
            <a:noAutofit/>
          </a:bodyPr>
          <a:lstStyle/>
          <a:p>
            <a:pPr marL="0" indent="0" rtl="0">
              <a:buNone/>
            </a:pPr>
            <a:r>
              <a:rPr lang="en-GB" sz="2267" b="1" dirty="0">
                <a:solidFill>
                  <a:schemeClr val="accent2"/>
                </a:solidFill>
              </a:rPr>
              <a:t>Device</a:t>
            </a:r>
            <a:r>
              <a:rPr lang="en-GB" sz="2267" b="1" dirty="0">
                <a:solidFill>
                  <a:schemeClr val="dk2"/>
                </a:solidFill>
              </a:rPr>
              <a:t>: </a:t>
            </a:r>
            <a:r>
              <a:rPr lang="en-GB" sz="2267" dirty="0"/>
              <a:t>the hardware takes care of execution the tasks:</a:t>
            </a:r>
            <a:endParaRPr sz="2267" dirty="0"/>
          </a:p>
          <a:p>
            <a:pPr indent="-440256" rtl="0">
              <a:buSzPts val="1600"/>
            </a:pPr>
            <a:r>
              <a:rPr lang="en-GB" sz="2267" dirty="0"/>
              <a:t>Data transfers are performed by DMA Engine (copy engine)</a:t>
            </a:r>
            <a:endParaRPr sz="2267" dirty="0"/>
          </a:p>
          <a:p>
            <a:pPr indent="-440256" rtl="0">
              <a:spcBef>
                <a:spcPts val="0"/>
              </a:spcBef>
              <a:buSzPts val="1600"/>
            </a:pPr>
            <a:r>
              <a:rPr lang="en-GB" sz="2267" dirty="0"/>
              <a:t>Threads/Blocks are scheduled on the Core/SMs by the hardware scheduler (known as </a:t>
            </a:r>
            <a:r>
              <a:rPr lang="en-GB" sz="2267" dirty="0" err="1"/>
              <a:t>GigaThread</a:t>
            </a:r>
            <a:r>
              <a:rPr lang="en-GB" sz="2267" dirty="0"/>
              <a:t> Engine in older GPU generations)</a:t>
            </a:r>
            <a:endParaRPr sz="2267" dirty="0"/>
          </a:p>
          <a:p>
            <a:pPr marL="0" indent="0" rtl="0">
              <a:buNone/>
            </a:pPr>
            <a:endParaRPr sz="2267" dirty="0"/>
          </a:p>
          <a:p>
            <a:pPr marL="0" indent="0" rtl="0">
              <a:buNone/>
            </a:pPr>
            <a:endParaRPr sz="2267" dirty="0"/>
          </a:p>
        </p:txBody>
      </p:sp>
      <p:sp>
        <p:nvSpPr>
          <p:cNvPr id="1303" name="Google Shape;1303;p39"/>
          <p:cNvSpPr txBox="1">
            <a:spLocks noGrp="1"/>
          </p:cNvSpPr>
          <p:nvPr>
            <p:ph type="body" idx="1"/>
          </p:nvPr>
        </p:nvSpPr>
        <p:spPr>
          <a:xfrm>
            <a:off x="498300" y="4377533"/>
            <a:ext cx="11326400" cy="563600"/>
          </a:xfrm>
          <a:prstGeom prst="rect">
            <a:avLst/>
          </a:prstGeom>
        </p:spPr>
        <p:txBody>
          <a:bodyPr spcFirstLastPara="1" wrap="square" lIns="91433" tIns="91433" rIns="91433" bIns="91433" anchor="t" anchorCtr="0">
            <a:noAutofit/>
          </a:bodyPr>
          <a:lstStyle/>
          <a:p>
            <a:pPr marL="0" indent="0" rtl="0">
              <a:buNone/>
            </a:pPr>
            <a:r>
              <a:rPr lang="en-GB" sz="2267" b="1" dirty="0">
                <a:solidFill>
                  <a:schemeClr val="accent4"/>
                </a:solidFill>
              </a:rPr>
              <a:t>Q: What does it mean scheduling in a computing system?</a:t>
            </a:r>
            <a:endParaRPr sz="2267" dirty="0">
              <a:solidFill>
                <a:schemeClr val="accent4"/>
              </a:solidFill>
            </a:endParaRPr>
          </a:p>
          <a:p>
            <a:pPr marL="0" indent="0" rtl="0">
              <a:buNone/>
            </a:pPr>
            <a:endParaRPr sz="2267" dirty="0"/>
          </a:p>
          <a:p>
            <a:pPr marL="0" indent="0" rtl="0">
              <a:buNone/>
            </a:pPr>
            <a:endParaRPr sz="2267" dirty="0"/>
          </a:p>
        </p:txBody>
      </p:sp>
      <p:sp>
        <p:nvSpPr>
          <p:cNvPr id="1304" name="Google Shape;1304;p39"/>
          <p:cNvSpPr txBox="1">
            <a:spLocks noGrp="1"/>
          </p:cNvSpPr>
          <p:nvPr>
            <p:ph type="body" idx="1"/>
          </p:nvPr>
        </p:nvSpPr>
        <p:spPr>
          <a:xfrm>
            <a:off x="498300" y="4941133"/>
            <a:ext cx="11326400" cy="563600"/>
          </a:xfrm>
          <a:prstGeom prst="rect">
            <a:avLst/>
          </a:prstGeom>
        </p:spPr>
        <p:txBody>
          <a:bodyPr spcFirstLastPara="1" wrap="square" lIns="91433" tIns="91433" rIns="91433" bIns="91433" anchor="t" anchorCtr="0">
            <a:noAutofit/>
          </a:bodyPr>
          <a:lstStyle/>
          <a:p>
            <a:pPr marL="0" indent="0" algn="ctr" rtl="0">
              <a:buNone/>
            </a:pPr>
            <a:r>
              <a:rPr lang="en-GB" sz="2267" b="1" dirty="0">
                <a:solidFill>
                  <a:schemeClr val="dk2"/>
                </a:solidFill>
              </a:rPr>
              <a:t>Allocating the various resources of the system for the execution of a set of tasks. Mapping + Ordering (+ Timing)</a:t>
            </a:r>
            <a:endParaRPr sz="2267" dirty="0"/>
          </a:p>
          <a:p>
            <a:pPr marL="0" indent="0" rtl="0">
              <a:buNone/>
            </a:pPr>
            <a:endParaRPr sz="2267" dirty="0"/>
          </a:p>
          <a:p>
            <a:pPr marL="0" indent="0" rtl="0">
              <a:buNone/>
            </a:pPr>
            <a:endParaRPr sz="2267"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0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0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308"/>
        <p:cNvGrpSpPr/>
        <p:nvPr/>
      </p:nvGrpSpPr>
      <p:grpSpPr>
        <a:xfrm>
          <a:off x="0" y="0"/>
          <a:ext cx="0" cy="0"/>
          <a:chOff x="0" y="0"/>
          <a:chExt cx="0" cy="0"/>
        </a:xfrm>
      </p:grpSpPr>
      <p:sp>
        <p:nvSpPr>
          <p:cNvPr id="1309" name="Google Shape;1309;p40"/>
          <p:cNvSpPr txBox="1">
            <a:spLocks noGrp="1"/>
          </p:cNvSpPr>
          <p:nvPr>
            <p:ph type="title"/>
          </p:nvPr>
        </p:nvSpPr>
        <p:spPr>
          <a:xfrm>
            <a:off x="418000" y="391748"/>
            <a:ext cx="10650400" cy="709600"/>
          </a:xfrm>
          <a:prstGeom prst="rect">
            <a:avLst/>
          </a:prstGeom>
          <a:noFill/>
        </p:spPr>
        <p:txBody>
          <a:bodyPr spcFirstLastPara="1" wrap="square" lIns="91433" tIns="91433" rIns="91433" bIns="91433" anchor="b" anchorCtr="0">
            <a:noAutofit/>
          </a:bodyPr>
          <a:lstStyle/>
          <a:p>
            <a:pPr rtl="0"/>
            <a:r>
              <a:rPr lang="en-GB" dirty="0"/>
              <a:t>Scheduling on The GPU</a:t>
            </a:r>
            <a:endParaRPr dirty="0"/>
          </a:p>
        </p:txBody>
      </p:sp>
      <p:sp>
        <p:nvSpPr>
          <p:cNvPr id="1310" name="Google Shape;1310;p40"/>
          <p:cNvSpPr txBox="1">
            <a:spLocks noGrp="1"/>
          </p:cNvSpPr>
          <p:nvPr>
            <p:ph type="body" idx="1"/>
          </p:nvPr>
        </p:nvSpPr>
        <p:spPr>
          <a:xfrm>
            <a:off x="4877267" y="927167"/>
            <a:ext cx="6867200" cy="709600"/>
          </a:xfrm>
          <a:prstGeom prst="rect">
            <a:avLst/>
          </a:prstGeom>
        </p:spPr>
        <p:txBody>
          <a:bodyPr spcFirstLastPara="1" wrap="square" lIns="91433" tIns="91433" rIns="91433" bIns="91433" anchor="t" anchorCtr="0">
            <a:noAutofit/>
          </a:bodyPr>
          <a:lstStyle/>
          <a:p>
            <a:pPr marL="0" indent="0" rtl="0">
              <a:buNone/>
            </a:pPr>
            <a:r>
              <a:rPr lang="en-GB" sz="2267"/>
              <a:t>We have our program (that defines a thread hierarchy) and we want to map it on the hardware</a:t>
            </a:r>
            <a:endParaRPr sz="2267"/>
          </a:p>
        </p:txBody>
      </p:sp>
      <p:sp>
        <p:nvSpPr>
          <p:cNvPr id="1311" name="Google Shape;1311;p40"/>
          <p:cNvSpPr txBox="1">
            <a:spLocks noGrp="1"/>
          </p:cNvSpPr>
          <p:nvPr>
            <p:ph type="sldNum" idx="12"/>
          </p:nvPr>
        </p:nvSpPr>
        <p:spPr>
          <a:xfrm>
            <a:off x="11466783" y="5913927"/>
            <a:ext cx="731600" cy="418000"/>
          </a:xfrm>
          <a:prstGeom prst="rect">
            <a:avLst/>
          </a:prstGeom>
        </p:spPr>
        <p:txBody>
          <a:bodyPr spcFirstLastPara="1" wrap="square" lIns="91433" tIns="91433" rIns="91433" bIns="91433" anchor="t" anchorCtr="0">
            <a:noAutofit/>
          </a:bodyPr>
          <a:lstStyle/>
          <a:p>
            <a:pPr rtl="0"/>
            <a:fld id="{00000000-1234-1234-1234-123412341234}" type="slidenum">
              <a:rPr lang="en-GB"/>
              <a:pPr rtl="0"/>
              <a:t>36</a:t>
            </a:fld>
            <a:endParaRPr/>
          </a:p>
        </p:txBody>
      </p:sp>
      <p:grpSp>
        <p:nvGrpSpPr>
          <p:cNvPr id="1312" name="Google Shape;1312;p40"/>
          <p:cNvGrpSpPr/>
          <p:nvPr/>
        </p:nvGrpSpPr>
        <p:grpSpPr>
          <a:xfrm>
            <a:off x="418000" y="1231959"/>
            <a:ext cx="3837003" cy="2187475"/>
            <a:chOff x="313500" y="695369"/>
            <a:chExt cx="2877752" cy="1640606"/>
          </a:xfrm>
        </p:grpSpPr>
        <p:sp>
          <p:nvSpPr>
            <p:cNvPr id="1313" name="Google Shape;1313;p40"/>
            <p:cNvSpPr/>
            <p:nvPr/>
          </p:nvSpPr>
          <p:spPr>
            <a:xfrm>
              <a:off x="313500" y="2077075"/>
              <a:ext cx="575700" cy="2589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72000" tIns="121900" rIns="72000" bIns="121900" anchor="ctr" anchorCtr="0">
              <a:noAutofit/>
            </a:bodyPr>
            <a:lstStyle/>
            <a:p>
              <a:pPr algn="ctr" rtl="0"/>
              <a:r>
                <a:rPr lang="en-GB" sz="1467" b="1">
                  <a:solidFill>
                    <a:schemeClr val="lt2"/>
                  </a:solidFill>
                  <a:latin typeface="Lato"/>
                  <a:ea typeface="Lato"/>
                  <a:cs typeface="Lato"/>
                  <a:sym typeface="Lato"/>
                </a:rPr>
                <a:t>Thread</a:t>
              </a:r>
              <a:endParaRPr sz="1467" b="1">
                <a:solidFill>
                  <a:schemeClr val="lt2"/>
                </a:solidFill>
                <a:latin typeface="Lato"/>
                <a:ea typeface="Lato"/>
                <a:cs typeface="Lato"/>
                <a:sym typeface="Lato"/>
              </a:endParaRPr>
            </a:p>
          </p:txBody>
        </p:sp>
        <p:sp>
          <p:nvSpPr>
            <p:cNvPr id="1314" name="Google Shape;1314;p40"/>
            <p:cNvSpPr/>
            <p:nvPr/>
          </p:nvSpPr>
          <p:spPr>
            <a:xfrm>
              <a:off x="1086879" y="2077075"/>
              <a:ext cx="575700" cy="2589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72000" tIns="121900" rIns="72000" bIns="121900" anchor="ctr" anchorCtr="0">
              <a:noAutofit/>
            </a:bodyPr>
            <a:lstStyle/>
            <a:p>
              <a:pPr algn="ctr" rtl="0"/>
              <a:r>
                <a:rPr lang="en-GB" sz="1467" b="1">
                  <a:solidFill>
                    <a:schemeClr val="lt2"/>
                  </a:solidFill>
                  <a:latin typeface="Lato"/>
                  <a:ea typeface="Lato"/>
                  <a:cs typeface="Lato"/>
                  <a:sym typeface="Lato"/>
                </a:rPr>
                <a:t>Thread</a:t>
              </a:r>
              <a:endParaRPr sz="1467" b="1">
                <a:solidFill>
                  <a:schemeClr val="lt2"/>
                </a:solidFill>
                <a:latin typeface="Lato"/>
                <a:ea typeface="Lato"/>
                <a:cs typeface="Lato"/>
                <a:sym typeface="Lato"/>
              </a:endParaRPr>
            </a:p>
          </p:txBody>
        </p:sp>
        <p:cxnSp>
          <p:nvCxnSpPr>
            <p:cNvPr id="1315" name="Google Shape;1315;p40"/>
            <p:cNvCxnSpPr>
              <a:stCxn id="1313" idx="3"/>
              <a:endCxn id="1314" idx="1"/>
            </p:cNvCxnSpPr>
            <p:nvPr/>
          </p:nvCxnSpPr>
          <p:spPr>
            <a:xfrm>
              <a:off x="889200" y="2206525"/>
              <a:ext cx="197700" cy="0"/>
            </a:xfrm>
            <a:prstGeom prst="straightConnector1">
              <a:avLst/>
            </a:prstGeom>
            <a:noFill/>
            <a:ln w="9525" cap="flat" cmpd="sng">
              <a:solidFill>
                <a:srgbClr val="0089CF"/>
              </a:solidFill>
              <a:prstDash val="dot"/>
              <a:round/>
              <a:headEnd type="none" w="sm" len="sm"/>
              <a:tailEnd type="none" w="sm" len="sm"/>
            </a:ln>
          </p:spPr>
        </p:cxnSp>
        <p:sp>
          <p:nvSpPr>
            <p:cNvPr id="1316" name="Google Shape;1316;p40"/>
            <p:cNvSpPr/>
            <p:nvPr/>
          </p:nvSpPr>
          <p:spPr>
            <a:xfrm>
              <a:off x="1842173" y="2077075"/>
              <a:ext cx="575700" cy="2589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72000" tIns="121900" rIns="72000" bIns="121900" anchor="ctr" anchorCtr="0">
              <a:noAutofit/>
            </a:bodyPr>
            <a:lstStyle/>
            <a:p>
              <a:pPr algn="ctr" rtl="0"/>
              <a:r>
                <a:rPr lang="en-GB" sz="1467" b="1">
                  <a:solidFill>
                    <a:schemeClr val="lt2"/>
                  </a:solidFill>
                  <a:latin typeface="Lato"/>
                  <a:ea typeface="Lato"/>
                  <a:cs typeface="Lato"/>
                  <a:sym typeface="Lato"/>
                </a:rPr>
                <a:t>Thread</a:t>
              </a:r>
              <a:endParaRPr sz="1467" b="1">
                <a:solidFill>
                  <a:schemeClr val="lt2"/>
                </a:solidFill>
                <a:latin typeface="Lato"/>
                <a:ea typeface="Lato"/>
                <a:cs typeface="Lato"/>
                <a:sym typeface="Lato"/>
              </a:endParaRPr>
            </a:p>
          </p:txBody>
        </p:sp>
        <p:sp>
          <p:nvSpPr>
            <p:cNvPr id="1317" name="Google Shape;1317;p40"/>
            <p:cNvSpPr/>
            <p:nvPr/>
          </p:nvSpPr>
          <p:spPr>
            <a:xfrm>
              <a:off x="2615552" y="2077075"/>
              <a:ext cx="575700" cy="2589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72000" tIns="121900" rIns="72000" bIns="121900" anchor="ctr" anchorCtr="0">
              <a:noAutofit/>
            </a:bodyPr>
            <a:lstStyle/>
            <a:p>
              <a:pPr algn="ctr" rtl="0"/>
              <a:r>
                <a:rPr lang="en-GB" sz="1467" b="1">
                  <a:solidFill>
                    <a:schemeClr val="lt2"/>
                  </a:solidFill>
                  <a:latin typeface="Lato"/>
                  <a:ea typeface="Lato"/>
                  <a:cs typeface="Lato"/>
                  <a:sym typeface="Lato"/>
                </a:rPr>
                <a:t>Thread</a:t>
              </a:r>
              <a:endParaRPr sz="1467" b="1">
                <a:solidFill>
                  <a:schemeClr val="lt2"/>
                </a:solidFill>
                <a:latin typeface="Lato"/>
                <a:ea typeface="Lato"/>
                <a:cs typeface="Lato"/>
                <a:sym typeface="Lato"/>
              </a:endParaRPr>
            </a:p>
          </p:txBody>
        </p:sp>
        <p:cxnSp>
          <p:nvCxnSpPr>
            <p:cNvPr id="1318" name="Google Shape;1318;p40"/>
            <p:cNvCxnSpPr>
              <a:stCxn id="1316" idx="3"/>
              <a:endCxn id="1317" idx="1"/>
            </p:cNvCxnSpPr>
            <p:nvPr/>
          </p:nvCxnSpPr>
          <p:spPr>
            <a:xfrm>
              <a:off x="2417873" y="2206525"/>
              <a:ext cx="197700" cy="0"/>
            </a:xfrm>
            <a:prstGeom prst="straightConnector1">
              <a:avLst/>
            </a:prstGeom>
            <a:noFill/>
            <a:ln w="9525" cap="flat" cmpd="sng">
              <a:solidFill>
                <a:srgbClr val="0089CF"/>
              </a:solidFill>
              <a:prstDash val="dot"/>
              <a:round/>
              <a:headEnd type="none" w="sm" len="sm"/>
              <a:tailEnd type="none" w="sm" len="sm"/>
            </a:ln>
          </p:spPr>
        </p:cxnSp>
        <p:grpSp>
          <p:nvGrpSpPr>
            <p:cNvPr id="1319" name="Google Shape;1319;p40"/>
            <p:cNvGrpSpPr/>
            <p:nvPr/>
          </p:nvGrpSpPr>
          <p:grpSpPr>
            <a:xfrm>
              <a:off x="565320" y="1389855"/>
              <a:ext cx="2374229" cy="687150"/>
              <a:chOff x="7938427" y="4821940"/>
              <a:chExt cx="3165639" cy="916200"/>
            </a:xfrm>
          </p:grpSpPr>
          <p:cxnSp>
            <p:nvCxnSpPr>
              <p:cNvPr id="1320" name="Google Shape;1320;p40"/>
              <p:cNvCxnSpPr/>
              <p:nvPr/>
            </p:nvCxnSpPr>
            <p:spPr>
              <a:xfrm>
                <a:off x="9380685" y="5063858"/>
                <a:ext cx="348000" cy="0"/>
              </a:xfrm>
              <a:prstGeom prst="straightConnector1">
                <a:avLst/>
              </a:prstGeom>
              <a:noFill/>
              <a:ln w="28575" cap="flat" cmpd="sng">
                <a:solidFill>
                  <a:srgbClr val="0089CF"/>
                </a:solidFill>
                <a:prstDash val="dot"/>
                <a:round/>
                <a:headEnd type="none" w="sm" len="sm"/>
                <a:tailEnd type="none" w="sm" len="sm"/>
              </a:ln>
            </p:spPr>
          </p:cxnSp>
          <p:sp>
            <p:nvSpPr>
              <p:cNvPr id="1321" name="Google Shape;1321;p40"/>
              <p:cNvSpPr/>
              <p:nvPr/>
            </p:nvSpPr>
            <p:spPr>
              <a:xfrm>
                <a:off x="7938427" y="4821940"/>
                <a:ext cx="1127400" cy="516600"/>
              </a:xfrm>
              <a:prstGeom prst="roundRect">
                <a:avLst>
                  <a:gd name="adj" fmla="val 16667"/>
                </a:avLst>
              </a:prstGeom>
              <a:solidFill>
                <a:srgbClr val="4FAF48"/>
              </a:solidFill>
              <a:ln w="9525" cap="flat" cmpd="sng">
                <a:solidFill>
                  <a:srgbClr val="4FAF48"/>
                </a:solidFill>
                <a:prstDash val="solid"/>
                <a:round/>
                <a:headEnd type="none" w="sm" len="sm"/>
                <a:tailEnd type="none" w="sm" len="sm"/>
              </a:ln>
            </p:spPr>
            <p:txBody>
              <a:bodyPr spcFirstLastPara="1" wrap="square" lIns="121900" tIns="121900" rIns="121900" bIns="121900" anchor="ctr" anchorCtr="0">
                <a:noAutofit/>
              </a:bodyPr>
              <a:lstStyle/>
              <a:p>
                <a:pPr algn="ctr" rtl="0"/>
                <a:r>
                  <a:rPr lang="en-GB" sz="1600" b="1">
                    <a:solidFill>
                      <a:srgbClr val="FFFFFF"/>
                    </a:solidFill>
                    <a:latin typeface="Lato"/>
                    <a:ea typeface="Lato"/>
                    <a:cs typeface="Lato"/>
                    <a:sym typeface="Lato"/>
                  </a:rPr>
                  <a:t>Thread Block</a:t>
                </a:r>
                <a:endParaRPr sz="1600" b="1">
                  <a:solidFill>
                    <a:srgbClr val="FFFFFF"/>
                  </a:solidFill>
                  <a:latin typeface="Lato"/>
                  <a:ea typeface="Lato"/>
                  <a:cs typeface="Lato"/>
                  <a:sym typeface="Lato"/>
                </a:endParaRPr>
              </a:p>
            </p:txBody>
          </p:sp>
          <p:cxnSp>
            <p:nvCxnSpPr>
              <p:cNvPr id="1322" name="Google Shape;1322;p40"/>
              <p:cNvCxnSpPr>
                <a:stCxn id="1321" idx="2"/>
                <a:endCxn id="1313" idx="0"/>
              </p:cNvCxnSpPr>
              <p:nvPr/>
            </p:nvCxnSpPr>
            <p:spPr>
              <a:xfrm flipH="1">
                <a:off x="7986427" y="5338540"/>
                <a:ext cx="515700" cy="399600"/>
              </a:xfrm>
              <a:prstGeom prst="straightConnector1">
                <a:avLst/>
              </a:prstGeom>
              <a:noFill/>
              <a:ln w="19050" cap="flat" cmpd="sng">
                <a:solidFill>
                  <a:srgbClr val="0089CF"/>
                </a:solidFill>
                <a:prstDash val="solid"/>
                <a:round/>
                <a:headEnd type="none" w="sm" len="sm"/>
                <a:tailEnd type="triangle" w="med" len="med"/>
              </a:ln>
            </p:spPr>
          </p:cxnSp>
          <p:cxnSp>
            <p:nvCxnSpPr>
              <p:cNvPr id="1323" name="Google Shape;1323;p40"/>
              <p:cNvCxnSpPr>
                <a:stCxn id="1321" idx="2"/>
                <a:endCxn id="1314" idx="0"/>
              </p:cNvCxnSpPr>
              <p:nvPr/>
            </p:nvCxnSpPr>
            <p:spPr>
              <a:xfrm>
                <a:off x="8502127" y="5338540"/>
                <a:ext cx="515400" cy="399600"/>
              </a:xfrm>
              <a:prstGeom prst="straightConnector1">
                <a:avLst/>
              </a:prstGeom>
              <a:noFill/>
              <a:ln w="19050" cap="flat" cmpd="sng">
                <a:solidFill>
                  <a:srgbClr val="0089CF"/>
                </a:solidFill>
                <a:prstDash val="solid"/>
                <a:round/>
                <a:headEnd type="none" w="sm" len="sm"/>
                <a:tailEnd type="triangle" w="med" len="med"/>
              </a:ln>
            </p:spPr>
          </p:cxnSp>
          <p:sp>
            <p:nvSpPr>
              <p:cNvPr id="1324" name="Google Shape;1324;p40"/>
              <p:cNvSpPr/>
              <p:nvPr/>
            </p:nvSpPr>
            <p:spPr>
              <a:xfrm>
                <a:off x="9976666" y="4821940"/>
                <a:ext cx="1127400" cy="516600"/>
              </a:xfrm>
              <a:prstGeom prst="roundRect">
                <a:avLst>
                  <a:gd name="adj" fmla="val 16667"/>
                </a:avLst>
              </a:prstGeom>
              <a:solidFill>
                <a:srgbClr val="4FAF48"/>
              </a:solidFill>
              <a:ln w="9525" cap="flat" cmpd="sng">
                <a:solidFill>
                  <a:srgbClr val="4FAF48"/>
                </a:solidFill>
                <a:prstDash val="solid"/>
                <a:round/>
                <a:headEnd type="none" w="sm" len="sm"/>
                <a:tailEnd type="none" w="sm" len="sm"/>
              </a:ln>
            </p:spPr>
            <p:txBody>
              <a:bodyPr spcFirstLastPara="1" wrap="square" lIns="121900" tIns="121900" rIns="121900" bIns="121900" anchor="ctr" anchorCtr="0">
                <a:noAutofit/>
              </a:bodyPr>
              <a:lstStyle/>
              <a:p>
                <a:pPr algn="ctr" rtl="0"/>
                <a:r>
                  <a:rPr lang="en-GB" sz="1600" b="1">
                    <a:solidFill>
                      <a:srgbClr val="FFFFFF"/>
                    </a:solidFill>
                    <a:latin typeface="Lato"/>
                    <a:ea typeface="Lato"/>
                    <a:cs typeface="Lato"/>
                    <a:sym typeface="Lato"/>
                  </a:rPr>
                  <a:t>Thread Block</a:t>
                </a:r>
                <a:endParaRPr sz="1600" b="1">
                  <a:solidFill>
                    <a:srgbClr val="FFFFFF"/>
                  </a:solidFill>
                  <a:latin typeface="Lato"/>
                  <a:ea typeface="Lato"/>
                  <a:cs typeface="Lato"/>
                  <a:sym typeface="Lato"/>
                </a:endParaRPr>
              </a:p>
            </p:txBody>
          </p:sp>
          <p:cxnSp>
            <p:nvCxnSpPr>
              <p:cNvPr id="1325" name="Google Shape;1325;p40"/>
              <p:cNvCxnSpPr>
                <a:stCxn id="1324" idx="2"/>
                <a:endCxn id="1316" idx="0"/>
              </p:cNvCxnSpPr>
              <p:nvPr/>
            </p:nvCxnSpPr>
            <p:spPr>
              <a:xfrm flipH="1">
                <a:off x="10024666" y="5338540"/>
                <a:ext cx="515700" cy="399600"/>
              </a:xfrm>
              <a:prstGeom prst="straightConnector1">
                <a:avLst/>
              </a:prstGeom>
              <a:noFill/>
              <a:ln w="19050" cap="flat" cmpd="sng">
                <a:solidFill>
                  <a:srgbClr val="0089CF"/>
                </a:solidFill>
                <a:prstDash val="solid"/>
                <a:round/>
                <a:headEnd type="none" w="sm" len="sm"/>
                <a:tailEnd type="triangle" w="med" len="med"/>
              </a:ln>
            </p:spPr>
          </p:cxnSp>
          <p:cxnSp>
            <p:nvCxnSpPr>
              <p:cNvPr id="1326" name="Google Shape;1326;p40"/>
              <p:cNvCxnSpPr>
                <a:stCxn id="1324" idx="2"/>
                <a:endCxn id="1317" idx="0"/>
              </p:cNvCxnSpPr>
              <p:nvPr/>
            </p:nvCxnSpPr>
            <p:spPr>
              <a:xfrm>
                <a:off x="10540366" y="5338540"/>
                <a:ext cx="515400" cy="399600"/>
              </a:xfrm>
              <a:prstGeom prst="straightConnector1">
                <a:avLst/>
              </a:prstGeom>
              <a:noFill/>
              <a:ln w="19050" cap="flat" cmpd="sng">
                <a:solidFill>
                  <a:srgbClr val="0089CF"/>
                </a:solidFill>
                <a:prstDash val="solid"/>
                <a:round/>
                <a:headEnd type="none" w="sm" len="sm"/>
                <a:tailEnd type="triangle" w="med" len="med"/>
              </a:ln>
            </p:spPr>
          </p:cxnSp>
        </p:grpSp>
        <p:grpSp>
          <p:nvGrpSpPr>
            <p:cNvPr id="1327" name="Google Shape;1327;p40"/>
            <p:cNvGrpSpPr/>
            <p:nvPr/>
          </p:nvGrpSpPr>
          <p:grpSpPr>
            <a:xfrm>
              <a:off x="988132" y="695369"/>
              <a:ext cx="1528650" cy="694575"/>
              <a:chOff x="8502176" y="3895959"/>
              <a:chExt cx="2038200" cy="926100"/>
            </a:xfrm>
          </p:grpSpPr>
          <p:sp>
            <p:nvSpPr>
              <p:cNvPr id="1328" name="Google Shape;1328;p40"/>
              <p:cNvSpPr/>
              <p:nvPr/>
            </p:nvSpPr>
            <p:spPr>
              <a:xfrm>
                <a:off x="9070826" y="3895959"/>
                <a:ext cx="900300" cy="516300"/>
              </a:xfrm>
              <a:prstGeom prst="roundRect">
                <a:avLst>
                  <a:gd name="adj" fmla="val 16667"/>
                </a:avLst>
              </a:prstGeom>
              <a:solidFill>
                <a:srgbClr val="8E4DA4"/>
              </a:solidFill>
              <a:ln w="9525" cap="flat" cmpd="sng">
                <a:solidFill>
                  <a:srgbClr val="8E4DA4"/>
                </a:solidFill>
                <a:prstDash val="solid"/>
                <a:round/>
                <a:headEnd type="none" w="sm" len="sm"/>
                <a:tailEnd type="none" w="sm" len="sm"/>
              </a:ln>
            </p:spPr>
            <p:txBody>
              <a:bodyPr spcFirstLastPara="1" wrap="square" lIns="121900" tIns="121900" rIns="121900" bIns="121900" anchor="ctr" anchorCtr="0">
                <a:noAutofit/>
              </a:bodyPr>
              <a:lstStyle/>
              <a:p>
                <a:pPr algn="ctr" rtl="0"/>
                <a:r>
                  <a:rPr lang="en-GB" sz="1867" b="1">
                    <a:solidFill>
                      <a:srgbClr val="FFFFFF"/>
                    </a:solidFill>
                    <a:latin typeface="Lato"/>
                    <a:ea typeface="Lato"/>
                    <a:cs typeface="Lato"/>
                    <a:sym typeface="Lato"/>
                  </a:rPr>
                  <a:t>Grid</a:t>
                </a:r>
                <a:endParaRPr sz="1867" b="1">
                  <a:solidFill>
                    <a:srgbClr val="FFFFFF"/>
                  </a:solidFill>
                  <a:latin typeface="Lato"/>
                  <a:ea typeface="Lato"/>
                  <a:cs typeface="Lato"/>
                  <a:sym typeface="Lato"/>
                </a:endParaRPr>
              </a:p>
            </p:txBody>
          </p:sp>
          <p:cxnSp>
            <p:nvCxnSpPr>
              <p:cNvPr id="1329" name="Google Shape;1329;p40"/>
              <p:cNvCxnSpPr>
                <a:stCxn id="1328" idx="2"/>
                <a:endCxn id="1321" idx="0"/>
              </p:cNvCxnSpPr>
              <p:nvPr/>
            </p:nvCxnSpPr>
            <p:spPr>
              <a:xfrm flipH="1">
                <a:off x="8502176" y="4412259"/>
                <a:ext cx="1018800" cy="409800"/>
              </a:xfrm>
              <a:prstGeom prst="straightConnector1">
                <a:avLst/>
              </a:prstGeom>
              <a:noFill/>
              <a:ln w="19050" cap="flat" cmpd="sng">
                <a:solidFill>
                  <a:srgbClr val="0089CF"/>
                </a:solidFill>
                <a:prstDash val="solid"/>
                <a:round/>
                <a:headEnd type="none" w="sm" len="sm"/>
                <a:tailEnd type="triangle" w="med" len="med"/>
              </a:ln>
            </p:spPr>
          </p:cxnSp>
          <p:cxnSp>
            <p:nvCxnSpPr>
              <p:cNvPr id="1330" name="Google Shape;1330;p40"/>
              <p:cNvCxnSpPr>
                <a:stCxn id="1328" idx="2"/>
                <a:endCxn id="1324" idx="0"/>
              </p:cNvCxnSpPr>
              <p:nvPr/>
            </p:nvCxnSpPr>
            <p:spPr>
              <a:xfrm>
                <a:off x="9520976" y="4412259"/>
                <a:ext cx="1019400" cy="409800"/>
              </a:xfrm>
              <a:prstGeom prst="straightConnector1">
                <a:avLst/>
              </a:prstGeom>
              <a:noFill/>
              <a:ln w="19050" cap="flat" cmpd="sng">
                <a:solidFill>
                  <a:srgbClr val="0089CF"/>
                </a:solidFill>
                <a:prstDash val="solid"/>
                <a:round/>
                <a:headEnd type="none" w="sm" len="sm"/>
                <a:tailEnd type="triangle" w="med" len="med"/>
              </a:ln>
            </p:spPr>
          </p:cxnSp>
        </p:grpSp>
      </p:grpSp>
      <p:sp>
        <p:nvSpPr>
          <p:cNvPr id="1331" name="Google Shape;1331;p40"/>
          <p:cNvSpPr txBox="1">
            <a:spLocks noGrp="1"/>
          </p:cNvSpPr>
          <p:nvPr>
            <p:ph type="body" idx="1"/>
          </p:nvPr>
        </p:nvSpPr>
        <p:spPr>
          <a:xfrm>
            <a:off x="4877267" y="1943167"/>
            <a:ext cx="6867200" cy="709600"/>
          </a:xfrm>
          <a:prstGeom prst="rect">
            <a:avLst/>
          </a:prstGeom>
        </p:spPr>
        <p:txBody>
          <a:bodyPr spcFirstLastPara="1" wrap="square" lIns="91433" tIns="91433" rIns="91433" bIns="91433" anchor="t" anchorCtr="0">
            <a:noAutofit/>
          </a:bodyPr>
          <a:lstStyle/>
          <a:p>
            <a:pPr marL="0" indent="0" algn="ctr" rtl="0">
              <a:buNone/>
            </a:pPr>
            <a:r>
              <a:rPr lang="en-GB" sz="2267" b="1">
                <a:solidFill>
                  <a:schemeClr val="accent4"/>
                </a:solidFill>
              </a:rPr>
              <a:t>How can we run  a program with 2048 blocks, each with 512 threads on a GPU that has 5120 cores (organized in 80 SMs)? How we do it efficiently? </a:t>
            </a:r>
            <a:r>
              <a:rPr lang="en-GB" sz="2267"/>
              <a:t> </a:t>
            </a:r>
            <a:endParaRPr sz="2267"/>
          </a:p>
        </p:txBody>
      </p:sp>
      <p:sp>
        <p:nvSpPr>
          <p:cNvPr id="1332" name="Google Shape;1332;p40"/>
          <p:cNvSpPr txBox="1">
            <a:spLocks noGrp="1"/>
          </p:cNvSpPr>
          <p:nvPr>
            <p:ph type="body" idx="1"/>
          </p:nvPr>
        </p:nvSpPr>
        <p:spPr>
          <a:xfrm>
            <a:off x="4967467" y="4739067"/>
            <a:ext cx="6483600" cy="709600"/>
          </a:xfrm>
          <a:prstGeom prst="rect">
            <a:avLst/>
          </a:prstGeom>
        </p:spPr>
        <p:txBody>
          <a:bodyPr spcFirstLastPara="1" wrap="square" lIns="91433" tIns="91433" rIns="91433" bIns="91433" anchor="t" anchorCtr="0">
            <a:noAutofit/>
          </a:bodyPr>
          <a:lstStyle/>
          <a:p>
            <a:pPr marL="0" indent="0" algn="ctr" rtl="0">
              <a:buNone/>
            </a:pPr>
            <a:r>
              <a:rPr lang="en-GB" sz="2267" b="1">
                <a:solidFill>
                  <a:schemeClr val="accent1"/>
                </a:solidFill>
              </a:rPr>
              <a:t>This is a task for the HW scheduler</a:t>
            </a:r>
            <a:r>
              <a:rPr lang="en-GB" sz="2267"/>
              <a:t>, not a programmer’s problem </a:t>
            </a:r>
            <a:endParaRPr sz="2267"/>
          </a:p>
        </p:txBody>
      </p:sp>
      <p:sp>
        <p:nvSpPr>
          <p:cNvPr id="1333" name="Google Shape;1333;p40"/>
          <p:cNvSpPr txBox="1">
            <a:spLocks noGrp="1"/>
          </p:cNvSpPr>
          <p:nvPr>
            <p:ph type="body" idx="1"/>
          </p:nvPr>
        </p:nvSpPr>
        <p:spPr>
          <a:xfrm>
            <a:off x="4940233" y="3431633"/>
            <a:ext cx="6483600" cy="709600"/>
          </a:xfrm>
          <a:prstGeom prst="rect">
            <a:avLst/>
          </a:prstGeom>
        </p:spPr>
        <p:txBody>
          <a:bodyPr spcFirstLastPara="1" wrap="square" lIns="91433" tIns="91433" rIns="91433" bIns="91433" anchor="t" anchorCtr="0">
            <a:noAutofit/>
          </a:bodyPr>
          <a:lstStyle/>
          <a:p>
            <a:pPr marL="0" indent="0" rtl="0">
              <a:buNone/>
            </a:pPr>
            <a:r>
              <a:rPr lang="en-GB" sz="2267"/>
              <a:t>The user want to </a:t>
            </a:r>
            <a:r>
              <a:rPr lang="en-GB" sz="2267" u="sng"/>
              <a:t>not</a:t>
            </a:r>
            <a:r>
              <a:rPr lang="en-GB" sz="2267"/>
              <a:t> change their program if they change the hardware. Scheduling must be  </a:t>
            </a:r>
            <a:r>
              <a:rPr lang="en-GB" sz="2267" b="1">
                <a:solidFill>
                  <a:schemeClr val="dk2"/>
                </a:solidFill>
              </a:rPr>
              <a:t>transparently scalable</a:t>
            </a:r>
            <a:endParaRPr sz="2267" b="1">
              <a:solidFill>
                <a:schemeClr val="dk2"/>
              </a:solidFill>
            </a:endParaRPr>
          </a:p>
        </p:txBody>
      </p:sp>
      <p:grpSp>
        <p:nvGrpSpPr>
          <p:cNvPr id="1334" name="Google Shape;1334;p40"/>
          <p:cNvGrpSpPr/>
          <p:nvPr/>
        </p:nvGrpSpPr>
        <p:grpSpPr>
          <a:xfrm>
            <a:off x="608466" y="3533234"/>
            <a:ext cx="3384892" cy="2412940"/>
            <a:chOff x="456349" y="2649925"/>
            <a:chExt cx="2538669" cy="1809705"/>
          </a:xfrm>
        </p:grpSpPr>
        <p:grpSp>
          <p:nvGrpSpPr>
            <p:cNvPr id="1335" name="Google Shape;1335;p40"/>
            <p:cNvGrpSpPr/>
            <p:nvPr/>
          </p:nvGrpSpPr>
          <p:grpSpPr>
            <a:xfrm>
              <a:off x="456349" y="3193307"/>
              <a:ext cx="2538669" cy="1266323"/>
              <a:chOff x="6419578" y="3571020"/>
              <a:chExt cx="1891423" cy="943468"/>
            </a:xfrm>
          </p:grpSpPr>
          <p:grpSp>
            <p:nvGrpSpPr>
              <p:cNvPr id="1336" name="Google Shape;1336;p40"/>
              <p:cNvGrpSpPr/>
              <p:nvPr/>
            </p:nvGrpSpPr>
            <p:grpSpPr>
              <a:xfrm>
                <a:off x="6419578" y="3571020"/>
                <a:ext cx="392373" cy="934443"/>
                <a:chOff x="6302250" y="2116475"/>
                <a:chExt cx="987600" cy="2350800"/>
              </a:xfrm>
            </p:grpSpPr>
            <p:sp>
              <p:nvSpPr>
                <p:cNvPr id="1337" name="Google Shape;1337;p40"/>
                <p:cNvSpPr/>
                <p:nvPr/>
              </p:nvSpPr>
              <p:spPr>
                <a:xfrm>
                  <a:off x="6302250" y="2116475"/>
                  <a:ext cx="987600" cy="2350800"/>
                </a:xfrm>
                <a:prstGeom prst="roundRect">
                  <a:avLst>
                    <a:gd name="adj" fmla="val 8730"/>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l" rtl="0"/>
                  <a:endParaRPr sz="2000">
                    <a:solidFill>
                      <a:srgbClr val="000000"/>
                    </a:solidFill>
                    <a:latin typeface="Calibri"/>
                    <a:ea typeface="Calibri"/>
                    <a:cs typeface="Calibri"/>
                    <a:sym typeface="Calibri"/>
                  </a:endParaRPr>
                </a:p>
              </p:txBody>
            </p:sp>
            <p:sp>
              <p:nvSpPr>
                <p:cNvPr id="1338" name="Google Shape;1338;p40"/>
                <p:cNvSpPr/>
                <p:nvPr/>
              </p:nvSpPr>
              <p:spPr>
                <a:xfrm>
                  <a:off x="6389595" y="2192089"/>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rtl="0"/>
                  <a:endParaRPr sz="1467">
                    <a:solidFill>
                      <a:srgbClr val="666666"/>
                    </a:solidFill>
                    <a:latin typeface="Roboto"/>
                    <a:ea typeface="Roboto"/>
                    <a:cs typeface="Roboto"/>
                    <a:sym typeface="Roboto"/>
                  </a:endParaRPr>
                </a:p>
              </p:txBody>
            </p:sp>
            <p:sp>
              <p:nvSpPr>
                <p:cNvPr id="1339" name="Google Shape;1339;p40"/>
                <p:cNvSpPr/>
                <p:nvPr/>
              </p:nvSpPr>
              <p:spPr>
                <a:xfrm>
                  <a:off x="6847192" y="2192089"/>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rtl="0"/>
                  <a:endParaRPr sz="1467">
                    <a:solidFill>
                      <a:srgbClr val="666666"/>
                    </a:solidFill>
                    <a:latin typeface="Roboto"/>
                    <a:ea typeface="Roboto"/>
                    <a:cs typeface="Roboto"/>
                    <a:sym typeface="Roboto"/>
                  </a:endParaRPr>
                </a:p>
              </p:txBody>
            </p:sp>
            <p:sp>
              <p:nvSpPr>
                <p:cNvPr id="1340" name="Google Shape;1340;p40"/>
                <p:cNvSpPr/>
                <p:nvPr/>
              </p:nvSpPr>
              <p:spPr>
                <a:xfrm>
                  <a:off x="6389595" y="2595431"/>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rtl="0"/>
                  <a:endParaRPr sz="1467">
                    <a:solidFill>
                      <a:srgbClr val="666666"/>
                    </a:solidFill>
                    <a:latin typeface="Roboto"/>
                    <a:ea typeface="Roboto"/>
                    <a:cs typeface="Roboto"/>
                    <a:sym typeface="Roboto"/>
                  </a:endParaRPr>
                </a:p>
              </p:txBody>
            </p:sp>
            <p:sp>
              <p:nvSpPr>
                <p:cNvPr id="1341" name="Google Shape;1341;p40"/>
                <p:cNvSpPr/>
                <p:nvPr/>
              </p:nvSpPr>
              <p:spPr>
                <a:xfrm>
                  <a:off x="6847192" y="2595431"/>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rtl="0"/>
                  <a:endParaRPr sz="1467">
                    <a:solidFill>
                      <a:srgbClr val="666666"/>
                    </a:solidFill>
                    <a:latin typeface="Roboto"/>
                    <a:ea typeface="Roboto"/>
                    <a:cs typeface="Roboto"/>
                    <a:sym typeface="Roboto"/>
                  </a:endParaRPr>
                </a:p>
              </p:txBody>
            </p:sp>
            <p:sp>
              <p:nvSpPr>
                <p:cNvPr id="1342" name="Google Shape;1342;p40"/>
                <p:cNvSpPr/>
                <p:nvPr/>
              </p:nvSpPr>
              <p:spPr>
                <a:xfrm>
                  <a:off x="6389595" y="2998772"/>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rtl="0"/>
                  <a:endParaRPr sz="1467">
                    <a:solidFill>
                      <a:srgbClr val="666666"/>
                    </a:solidFill>
                    <a:latin typeface="Roboto"/>
                    <a:ea typeface="Roboto"/>
                    <a:cs typeface="Roboto"/>
                    <a:sym typeface="Roboto"/>
                  </a:endParaRPr>
                </a:p>
              </p:txBody>
            </p:sp>
            <p:sp>
              <p:nvSpPr>
                <p:cNvPr id="1343" name="Google Shape;1343;p40"/>
                <p:cNvSpPr/>
                <p:nvPr/>
              </p:nvSpPr>
              <p:spPr>
                <a:xfrm>
                  <a:off x="6847192" y="2998772"/>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rtl="0"/>
                  <a:endParaRPr sz="1467">
                    <a:solidFill>
                      <a:srgbClr val="666666"/>
                    </a:solidFill>
                    <a:latin typeface="Roboto"/>
                    <a:ea typeface="Roboto"/>
                    <a:cs typeface="Roboto"/>
                    <a:sym typeface="Roboto"/>
                  </a:endParaRPr>
                </a:p>
              </p:txBody>
            </p:sp>
            <p:sp>
              <p:nvSpPr>
                <p:cNvPr id="1344" name="Google Shape;1344;p40"/>
                <p:cNvSpPr/>
                <p:nvPr/>
              </p:nvSpPr>
              <p:spPr>
                <a:xfrm>
                  <a:off x="6389595" y="3402114"/>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rtl="0"/>
                  <a:endParaRPr sz="1467">
                    <a:solidFill>
                      <a:srgbClr val="666666"/>
                    </a:solidFill>
                    <a:latin typeface="Roboto"/>
                    <a:ea typeface="Roboto"/>
                    <a:cs typeface="Roboto"/>
                    <a:sym typeface="Roboto"/>
                  </a:endParaRPr>
                </a:p>
              </p:txBody>
            </p:sp>
            <p:sp>
              <p:nvSpPr>
                <p:cNvPr id="1345" name="Google Shape;1345;p40"/>
                <p:cNvSpPr/>
                <p:nvPr/>
              </p:nvSpPr>
              <p:spPr>
                <a:xfrm>
                  <a:off x="6847192" y="3402114"/>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rtl="0"/>
                  <a:endParaRPr sz="1467">
                    <a:solidFill>
                      <a:srgbClr val="666666"/>
                    </a:solidFill>
                    <a:latin typeface="Roboto"/>
                    <a:ea typeface="Roboto"/>
                    <a:cs typeface="Roboto"/>
                    <a:sym typeface="Roboto"/>
                  </a:endParaRPr>
                </a:p>
              </p:txBody>
            </p:sp>
            <p:sp>
              <p:nvSpPr>
                <p:cNvPr id="1346" name="Google Shape;1346;p40"/>
                <p:cNvSpPr/>
                <p:nvPr/>
              </p:nvSpPr>
              <p:spPr>
                <a:xfrm>
                  <a:off x="6404239" y="3812359"/>
                  <a:ext cx="812700" cy="205200"/>
                </a:xfrm>
                <a:prstGeom prst="rect">
                  <a:avLst/>
                </a:prstGeom>
                <a:solidFill>
                  <a:srgbClr val="4FAF48">
                    <a:alpha val="46840"/>
                  </a:srgbClr>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rtl="0"/>
                  <a:endParaRPr sz="1467">
                    <a:solidFill>
                      <a:srgbClr val="666666"/>
                    </a:solidFill>
                    <a:latin typeface="Roboto"/>
                    <a:ea typeface="Roboto"/>
                    <a:cs typeface="Roboto"/>
                    <a:sym typeface="Roboto"/>
                  </a:endParaRPr>
                </a:p>
              </p:txBody>
            </p:sp>
            <p:sp>
              <p:nvSpPr>
                <p:cNvPr id="1347" name="Google Shape;1347;p40"/>
                <p:cNvSpPr/>
                <p:nvPr/>
              </p:nvSpPr>
              <p:spPr>
                <a:xfrm>
                  <a:off x="6408650" y="4106838"/>
                  <a:ext cx="812700" cy="290100"/>
                </a:xfrm>
                <a:prstGeom prst="rect">
                  <a:avLst/>
                </a:prstGeom>
                <a:solidFill>
                  <a:srgbClr val="247EBA">
                    <a:alpha val="21570"/>
                  </a:srgbClr>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rtl="0"/>
                  <a:endParaRPr sz="1467">
                    <a:solidFill>
                      <a:srgbClr val="666666"/>
                    </a:solidFill>
                    <a:latin typeface="Roboto"/>
                    <a:ea typeface="Roboto"/>
                    <a:cs typeface="Roboto"/>
                    <a:sym typeface="Roboto"/>
                  </a:endParaRPr>
                </a:p>
              </p:txBody>
            </p:sp>
          </p:grpSp>
          <p:grpSp>
            <p:nvGrpSpPr>
              <p:cNvPr id="1348" name="Google Shape;1348;p40"/>
              <p:cNvGrpSpPr/>
              <p:nvPr/>
            </p:nvGrpSpPr>
            <p:grpSpPr>
              <a:xfrm>
                <a:off x="6955753" y="3580045"/>
                <a:ext cx="392373" cy="934443"/>
                <a:chOff x="6302250" y="2116475"/>
                <a:chExt cx="987600" cy="2350800"/>
              </a:xfrm>
            </p:grpSpPr>
            <p:sp>
              <p:nvSpPr>
                <p:cNvPr id="1349" name="Google Shape;1349;p40"/>
                <p:cNvSpPr/>
                <p:nvPr/>
              </p:nvSpPr>
              <p:spPr>
                <a:xfrm>
                  <a:off x="6302250" y="2116475"/>
                  <a:ext cx="987600" cy="2350800"/>
                </a:xfrm>
                <a:prstGeom prst="roundRect">
                  <a:avLst>
                    <a:gd name="adj" fmla="val 8730"/>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l" rtl="0"/>
                  <a:endParaRPr sz="2000">
                    <a:solidFill>
                      <a:srgbClr val="000000"/>
                    </a:solidFill>
                    <a:latin typeface="Calibri"/>
                    <a:ea typeface="Calibri"/>
                    <a:cs typeface="Calibri"/>
                    <a:sym typeface="Calibri"/>
                  </a:endParaRPr>
                </a:p>
              </p:txBody>
            </p:sp>
            <p:sp>
              <p:nvSpPr>
                <p:cNvPr id="1350" name="Google Shape;1350;p40"/>
                <p:cNvSpPr/>
                <p:nvPr/>
              </p:nvSpPr>
              <p:spPr>
                <a:xfrm>
                  <a:off x="6389595" y="2192089"/>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rtl="0"/>
                  <a:endParaRPr sz="1467">
                    <a:solidFill>
                      <a:srgbClr val="666666"/>
                    </a:solidFill>
                    <a:latin typeface="Roboto"/>
                    <a:ea typeface="Roboto"/>
                    <a:cs typeface="Roboto"/>
                    <a:sym typeface="Roboto"/>
                  </a:endParaRPr>
                </a:p>
              </p:txBody>
            </p:sp>
            <p:sp>
              <p:nvSpPr>
                <p:cNvPr id="1351" name="Google Shape;1351;p40"/>
                <p:cNvSpPr/>
                <p:nvPr/>
              </p:nvSpPr>
              <p:spPr>
                <a:xfrm>
                  <a:off x="6847192" y="2192089"/>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rtl="0"/>
                  <a:endParaRPr sz="1467">
                    <a:solidFill>
                      <a:srgbClr val="666666"/>
                    </a:solidFill>
                    <a:latin typeface="Roboto"/>
                    <a:ea typeface="Roboto"/>
                    <a:cs typeface="Roboto"/>
                    <a:sym typeface="Roboto"/>
                  </a:endParaRPr>
                </a:p>
              </p:txBody>
            </p:sp>
            <p:sp>
              <p:nvSpPr>
                <p:cNvPr id="1352" name="Google Shape;1352;p40"/>
                <p:cNvSpPr/>
                <p:nvPr/>
              </p:nvSpPr>
              <p:spPr>
                <a:xfrm>
                  <a:off x="6389595" y="2595431"/>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rtl="0"/>
                  <a:endParaRPr sz="1467">
                    <a:solidFill>
                      <a:srgbClr val="666666"/>
                    </a:solidFill>
                    <a:latin typeface="Roboto"/>
                    <a:ea typeface="Roboto"/>
                    <a:cs typeface="Roboto"/>
                    <a:sym typeface="Roboto"/>
                  </a:endParaRPr>
                </a:p>
              </p:txBody>
            </p:sp>
            <p:sp>
              <p:nvSpPr>
                <p:cNvPr id="1353" name="Google Shape;1353;p40"/>
                <p:cNvSpPr/>
                <p:nvPr/>
              </p:nvSpPr>
              <p:spPr>
                <a:xfrm>
                  <a:off x="6847192" y="2595431"/>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rtl="0"/>
                  <a:endParaRPr sz="1467">
                    <a:solidFill>
                      <a:srgbClr val="666666"/>
                    </a:solidFill>
                    <a:latin typeface="Roboto"/>
                    <a:ea typeface="Roboto"/>
                    <a:cs typeface="Roboto"/>
                    <a:sym typeface="Roboto"/>
                  </a:endParaRPr>
                </a:p>
              </p:txBody>
            </p:sp>
            <p:sp>
              <p:nvSpPr>
                <p:cNvPr id="1354" name="Google Shape;1354;p40"/>
                <p:cNvSpPr/>
                <p:nvPr/>
              </p:nvSpPr>
              <p:spPr>
                <a:xfrm>
                  <a:off x="6389595" y="2998772"/>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rtl="0"/>
                  <a:endParaRPr sz="1467">
                    <a:solidFill>
                      <a:srgbClr val="666666"/>
                    </a:solidFill>
                    <a:latin typeface="Roboto"/>
                    <a:ea typeface="Roboto"/>
                    <a:cs typeface="Roboto"/>
                    <a:sym typeface="Roboto"/>
                  </a:endParaRPr>
                </a:p>
              </p:txBody>
            </p:sp>
            <p:sp>
              <p:nvSpPr>
                <p:cNvPr id="1355" name="Google Shape;1355;p40"/>
                <p:cNvSpPr/>
                <p:nvPr/>
              </p:nvSpPr>
              <p:spPr>
                <a:xfrm>
                  <a:off x="6847192" y="2998772"/>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rtl="0"/>
                  <a:endParaRPr sz="1467">
                    <a:solidFill>
                      <a:srgbClr val="666666"/>
                    </a:solidFill>
                    <a:latin typeface="Roboto"/>
                    <a:ea typeface="Roboto"/>
                    <a:cs typeface="Roboto"/>
                    <a:sym typeface="Roboto"/>
                  </a:endParaRPr>
                </a:p>
              </p:txBody>
            </p:sp>
            <p:sp>
              <p:nvSpPr>
                <p:cNvPr id="1356" name="Google Shape;1356;p40"/>
                <p:cNvSpPr/>
                <p:nvPr/>
              </p:nvSpPr>
              <p:spPr>
                <a:xfrm>
                  <a:off x="6389595" y="3402114"/>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rtl="0"/>
                  <a:endParaRPr sz="1467">
                    <a:solidFill>
                      <a:srgbClr val="666666"/>
                    </a:solidFill>
                    <a:latin typeface="Roboto"/>
                    <a:ea typeface="Roboto"/>
                    <a:cs typeface="Roboto"/>
                    <a:sym typeface="Roboto"/>
                  </a:endParaRPr>
                </a:p>
              </p:txBody>
            </p:sp>
            <p:sp>
              <p:nvSpPr>
                <p:cNvPr id="1357" name="Google Shape;1357;p40"/>
                <p:cNvSpPr/>
                <p:nvPr/>
              </p:nvSpPr>
              <p:spPr>
                <a:xfrm>
                  <a:off x="6847192" y="3402114"/>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rtl="0"/>
                  <a:endParaRPr sz="1467">
                    <a:solidFill>
                      <a:srgbClr val="666666"/>
                    </a:solidFill>
                    <a:latin typeface="Roboto"/>
                    <a:ea typeface="Roboto"/>
                    <a:cs typeface="Roboto"/>
                    <a:sym typeface="Roboto"/>
                  </a:endParaRPr>
                </a:p>
              </p:txBody>
            </p:sp>
            <p:sp>
              <p:nvSpPr>
                <p:cNvPr id="1358" name="Google Shape;1358;p40"/>
                <p:cNvSpPr/>
                <p:nvPr/>
              </p:nvSpPr>
              <p:spPr>
                <a:xfrm>
                  <a:off x="6404239" y="3812359"/>
                  <a:ext cx="812700" cy="205200"/>
                </a:xfrm>
                <a:prstGeom prst="rect">
                  <a:avLst/>
                </a:prstGeom>
                <a:solidFill>
                  <a:srgbClr val="4FAF48">
                    <a:alpha val="46840"/>
                  </a:srgbClr>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rtl="0"/>
                  <a:endParaRPr sz="1467">
                    <a:solidFill>
                      <a:srgbClr val="666666"/>
                    </a:solidFill>
                    <a:latin typeface="Roboto"/>
                    <a:ea typeface="Roboto"/>
                    <a:cs typeface="Roboto"/>
                    <a:sym typeface="Roboto"/>
                  </a:endParaRPr>
                </a:p>
              </p:txBody>
            </p:sp>
            <p:sp>
              <p:nvSpPr>
                <p:cNvPr id="1359" name="Google Shape;1359;p40"/>
                <p:cNvSpPr/>
                <p:nvPr/>
              </p:nvSpPr>
              <p:spPr>
                <a:xfrm>
                  <a:off x="6408650" y="4106838"/>
                  <a:ext cx="812700" cy="290100"/>
                </a:xfrm>
                <a:prstGeom prst="rect">
                  <a:avLst/>
                </a:prstGeom>
                <a:solidFill>
                  <a:srgbClr val="247EBA">
                    <a:alpha val="21570"/>
                  </a:srgbClr>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rtl="0"/>
                  <a:endParaRPr sz="1467">
                    <a:solidFill>
                      <a:srgbClr val="666666"/>
                    </a:solidFill>
                    <a:latin typeface="Roboto"/>
                    <a:ea typeface="Roboto"/>
                    <a:cs typeface="Roboto"/>
                    <a:sym typeface="Roboto"/>
                  </a:endParaRPr>
                </a:p>
              </p:txBody>
            </p:sp>
          </p:grpSp>
          <p:grpSp>
            <p:nvGrpSpPr>
              <p:cNvPr id="1360" name="Google Shape;1360;p40"/>
              <p:cNvGrpSpPr/>
              <p:nvPr/>
            </p:nvGrpSpPr>
            <p:grpSpPr>
              <a:xfrm>
                <a:off x="7918628" y="3571020"/>
                <a:ext cx="392373" cy="934443"/>
                <a:chOff x="6302250" y="2116475"/>
                <a:chExt cx="987600" cy="2350800"/>
              </a:xfrm>
            </p:grpSpPr>
            <p:sp>
              <p:nvSpPr>
                <p:cNvPr id="1361" name="Google Shape;1361;p40"/>
                <p:cNvSpPr/>
                <p:nvPr/>
              </p:nvSpPr>
              <p:spPr>
                <a:xfrm>
                  <a:off x="6302250" y="2116475"/>
                  <a:ext cx="987600" cy="2350800"/>
                </a:xfrm>
                <a:prstGeom prst="roundRect">
                  <a:avLst>
                    <a:gd name="adj" fmla="val 8730"/>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l" rtl="0"/>
                  <a:endParaRPr sz="2000">
                    <a:solidFill>
                      <a:srgbClr val="000000"/>
                    </a:solidFill>
                    <a:latin typeface="Calibri"/>
                    <a:ea typeface="Calibri"/>
                    <a:cs typeface="Calibri"/>
                    <a:sym typeface="Calibri"/>
                  </a:endParaRPr>
                </a:p>
              </p:txBody>
            </p:sp>
            <p:sp>
              <p:nvSpPr>
                <p:cNvPr id="1362" name="Google Shape;1362;p40"/>
                <p:cNvSpPr/>
                <p:nvPr/>
              </p:nvSpPr>
              <p:spPr>
                <a:xfrm>
                  <a:off x="6389595" y="2192089"/>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rtl="0"/>
                  <a:endParaRPr sz="1467">
                    <a:solidFill>
                      <a:srgbClr val="666666"/>
                    </a:solidFill>
                    <a:latin typeface="Roboto"/>
                    <a:ea typeface="Roboto"/>
                    <a:cs typeface="Roboto"/>
                    <a:sym typeface="Roboto"/>
                  </a:endParaRPr>
                </a:p>
              </p:txBody>
            </p:sp>
            <p:sp>
              <p:nvSpPr>
                <p:cNvPr id="1363" name="Google Shape;1363;p40"/>
                <p:cNvSpPr/>
                <p:nvPr/>
              </p:nvSpPr>
              <p:spPr>
                <a:xfrm>
                  <a:off x="6847192" y="2192089"/>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rtl="0"/>
                  <a:endParaRPr sz="1467">
                    <a:solidFill>
                      <a:srgbClr val="666666"/>
                    </a:solidFill>
                    <a:latin typeface="Roboto"/>
                    <a:ea typeface="Roboto"/>
                    <a:cs typeface="Roboto"/>
                    <a:sym typeface="Roboto"/>
                  </a:endParaRPr>
                </a:p>
              </p:txBody>
            </p:sp>
            <p:sp>
              <p:nvSpPr>
                <p:cNvPr id="1364" name="Google Shape;1364;p40"/>
                <p:cNvSpPr/>
                <p:nvPr/>
              </p:nvSpPr>
              <p:spPr>
                <a:xfrm>
                  <a:off x="6389595" y="2595431"/>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rtl="0"/>
                  <a:endParaRPr sz="1467">
                    <a:solidFill>
                      <a:srgbClr val="666666"/>
                    </a:solidFill>
                    <a:latin typeface="Roboto"/>
                    <a:ea typeface="Roboto"/>
                    <a:cs typeface="Roboto"/>
                    <a:sym typeface="Roboto"/>
                  </a:endParaRPr>
                </a:p>
              </p:txBody>
            </p:sp>
            <p:sp>
              <p:nvSpPr>
                <p:cNvPr id="1365" name="Google Shape;1365;p40"/>
                <p:cNvSpPr/>
                <p:nvPr/>
              </p:nvSpPr>
              <p:spPr>
                <a:xfrm>
                  <a:off x="6847192" y="2595431"/>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rtl="0"/>
                  <a:endParaRPr sz="1467">
                    <a:solidFill>
                      <a:srgbClr val="666666"/>
                    </a:solidFill>
                    <a:latin typeface="Roboto"/>
                    <a:ea typeface="Roboto"/>
                    <a:cs typeface="Roboto"/>
                    <a:sym typeface="Roboto"/>
                  </a:endParaRPr>
                </a:p>
              </p:txBody>
            </p:sp>
            <p:sp>
              <p:nvSpPr>
                <p:cNvPr id="1366" name="Google Shape;1366;p40"/>
                <p:cNvSpPr/>
                <p:nvPr/>
              </p:nvSpPr>
              <p:spPr>
                <a:xfrm>
                  <a:off x="6389595" y="2998772"/>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rtl="0"/>
                  <a:endParaRPr sz="1467">
                    <a:solidFill>
                      <a:srgbClr val="666666"/>
                    </a:solidFill>
                    <a:latin typeface="Roboto"/>
                    <a:ea typeface="Roboto"/>
                    <a:cs typeface="Roboto"/>
                    <a:sym typeface="Roboto"/>
                  </a:endParaRPr>
                </a:p>
              </p:txBody>
            </p:sp>
            <p:sp>
              <p:nvSpPr>
                <p:cNvPr id="1367" name="Google Shape;1367;p40"/>
                <p:cNvSpPr/>
                <p:nvPr/>
              </p:nvSpPr>
              <p:spPr>
                <a:xfrm>
                  <a:off x="6847192" y="2998772"/>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rtl="0"/>
                  <a:endParaRPr sz="1467">
                    <a:solidFill>
                      <a:srgbClr val="666666"/>
                    </a:solidFill>
                    <a:latin typeface="Roboto"/>
                    <a:ea typeface="Roboto"/>
                    <a:cs typeface="Roboto"/>
                    <a:sym typeface="Roboto"/>
                  </a:endParaRPr>
                </a:p>
              </p:txBody>
            </p:sp>
            <p:sp>
              <p:nvSpPr>
                <p:cNvPr id="1368" name="Google Shape;1368;p40"/>
                <p:cNvSpPr/>
                <p:nvPr/>
              </p:nvSpPr>
              <p:spPr>
                <a:xfrm>
                  <a:off x="6389595" y="3402114"/>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rtl="0"/>
                  <a:endParaRPr sz="1467">
                    <a:solidFill>
                      <a:srgbClr val="666666"/>
                    </a:solidFill>
                    <a:latin typeface="Roboto"/>
                    <a:ea typeface="Roboto"/>
                    <a:cs typeface="Roboto"/>
                    <a:sym typeface="Roboto"/>
                  </a:endParaRPr>
                </a:p>
              </p:txBody>
            </p:sp>
            <p:sp>
              <p:nvSpPr>
                <p:cNvPr id="1369" name="Google Shape;1369;p40"/>
                <p:cNvSpPr/>
                <p:nvPr/>
              </p:nvSpPr>
              <p:spPr>
                <a:xfrm>
                  <a:off x="6847192" y="3402114"/>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rtl="0"/>
                  <a:endParaRPr sz="1467">
                    <a:solidFill>
                      <a:srgbClr val="666666"/>
                    </a:solidFill>
                    <a:latin typeface="Roboto"/>
                    <a:ea typeface="Roboto"/>
                    <a:cs typeface="Roboto"/>
                    <a:sym typeface="Roboto"/>
                  </a:endParaRPr>
                </a:p>
              </p:txBody>
            </p:sp>
            <p:sp>
              <p:nvSpPr>
                <p:cNvPr id="1370" name="Google Shape;1370;p40"/>
                <p:cNvSpPr/>
                <p:nvPr/>
              </p:nvSpPr>
              <p:spPr>
                <a:xfrm>
                  <a:off x="6404239" y="3812359"/>
                  <a:ext cx="812700" cy="205200"/>
                </a:xfrm>
                <a:prstGeom prst="rect">
                  <a:avLst/>
                </a:prstGeom>
                <a:solidFill>
                  <a:srgbClr val="4FAF48">
                    <a:alpha val="46840"/>
                  </a:srgbClr>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rtl="0"/>
                  <a:endParaRPr sz="1467">
                    <a:solidFill>
                      <a:srgbClr val="666666"/>
                    </a:solidFill>
                    <a:latin typeface="Roboto"/>
                    <a:ea typeface="Roboto"/>
                    <a:cs typeface="Roboto"/>
                    <a:sym typeface="Roboto"/>
                  </a:endParaRPr>
                </a:p>
              </p:txBody>
            </p:sp>
            <p:sp>
              <p:nvSpPr>
                <p:cNvPr id="1371" name="Google Shape;1371;p40"/>
                <p:cNvSpPr/>
                <p:nvPr/>
              </p:nvSpPr>
              <p:spPr>
                <a:xfrm>
                  <a:off x="6408650" y="4106838"/>
                  <a:ext cx="812700" cy="290100"/>
                </a:xfrm>
                <a:prstGeom prst="rect">
                  <a:avLst/>
                </a:prstGeom>
                <a:solidFill>
                  <a:srgbClr val="247EBA">
                    <a:alpha val="21570"/>
                  </a:srgbClr>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rtl="0"/>
                  <a:endParaRPr sz="1467">
                    <a:solidFill>
                      <a:srgbClr val="666666"/>
                    </a:solidFill>
                    <a:latin typeface="Roboto"/>
                    <a:ea typeface="Roboto"/>
                    <a:cs typeface="Roboto"/>
                    <a:sym typeface="Roboto"/>
                  </a:endParaRPr>
                </a:p>
              </p:txBody>
            </p:sp>
          </p:grpSp>
          <p:cxnSp>
            <p:nvCxnSpPr>
              <p:cNvPr id="1372" name="Google Shape;1372;p40"/>
              <p:cNvCxnSpPr/>
              <p:nvPr/>
            </p:nvCxnSpPr>
            <p:spPr>
              <a:xfrm>
                <a:off x="7437163" y="4047275"/>
                <a:ext cx="392400" cy="0"/>
              </a:xfrm>
              <a:prstGeom prst="straightConnector1">
                <a:avLst/>
              </a:prstGeom>
              <a:noFill/>
              <a:ln w="38100" cap="flat" cmpd="sng">
                <a:solidFill>
                  <a:srgbClr val="0089CF"/>
                </a:solidFill>
                <a:prstDash val="dot"/>
                <a:round/>
                <a:headEnd type="none" w="med" len="med"/>
                <a:tailEnd type="none" w="med" len="med"/>
              </a:ln>
            </p:spPr>
          </p:cxnSp>
        </p:grpSp>
        <p:grpSp>
          <p:nvGrpSpPr>
            <p:cNvPr id="1373" name="Google Shape;1373;p40"/>
            <p:cNvGrpSpPr/>
            <p:nvPr/>
          </p:nvGrpSpPr>
          <p:grpSpPr>
            <a:xfrm>
              <a:off x="1164850" y="2649925"/>
              <a:ext cx="1305300" cy="461400"/>
              <a:chOff x="1164850" y="2649925"/>
              <a:chExt cx="1305300" cy="461400"/>
            </a:xfrm>
          </p:grpSpPr>
          <p:sp>
            <p:nvSpPr>
              <p:cNvPr id="1374" name="Google Shape;1374;p40"/>
              <p:cNvSpPr/>
              <p:nvPr/>
            </p:nvSpPr>
            <p:spPr>
              <a:xfrm>
                <a:off x="1711900" y="2649925"/>
                <a:ext cx="211200" cy="461400"/>
              </a:xfrm>
              <a:prstGeom prst="downArrow">
                <a:avLst>
                  <a:gd name="adj1" fmla="val 50000"/>
                  <a:gd name="adj2" fmla="val 50000"/>
                </a:avLst>
              </a:prstGeom>
              <a:solidFill>
                <a:schemeClr val="lt2"/>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1375" name="Google Shape;1375;p40"/>
              <p:cNvSpPr txBox="1"/>
              <p:nvPr/>
            </p:nvSpPr>
            <p:spPr>
              <a:xfrm>
                <a:off x="1164850" y="2743726"/>
                <a:ext cx="1305300" cy="207749"/>
              </a:xfrm>
              <a:prstGeom prst="rect">
                <a:avLst/>
              </a:prstGeom>
              <a:solidFill>
                <a:schemeClr val="lt2"/>
              </a:solidFill>
              <a:ln>
                <a:noFill/>
              </a:ln>
            </p:spPr>
            <p:txBody>
              <a:bodyPr spcFirstLastPara="1" wrap="square" lIns="0" tIns="0" rIns="0" bIns="0" anchor="t" anchorCtr="0">
                <a:spAutoFit/>
              </a:bodyPr>
              <a:lstStyle/>
              <a:p>
                <a:pPr algn="ctr" rtl="0"/>
                <a:r>
                  <a:rPr lang="en-GB" b="1">
                    <a:solidFill>
                      <a:srgbClr val="595959"/>
                    </a:solidFill>
                    <a:latin typeface="Lato"/>
                    <a:ea typeface="Lato"/>
                    <a:cs typeface="Lato"/>
                    <a:sym typeface="Lato"/>
                  </a:rPr>
                  <a:t>schedule on</a:t>
                </a:r>
                <a:endParaRPr b="1">
                  <a:solidFill>
                    <a:srgbClr val="595959"/>
                  </a:solidFill>
                  <a:latin typeface="Lato"/>
                  <a:ea typeface="Lato"/>
                  <a:cs typeface="Lato"/>
                  <a:sym typeface="Lato"/>
                </a:endParaRPr>
              </a:p>
            </p:txBody>
          </p:sp>
        </p:grpSp>
      </p:grpSp>
      <p:sp>
        <p:nvSpPr>
          <p:cNvPr id="1376" name="Google Shape;1376;p40"/>
          <p:cNvSpPr txBox="1">
            <a:spLocks noGrp="1"/>
          </p:cNvSpPr>
          <p:nvPr>
            <p:ph type="body" idx="1"/>
          </p:nvPr>
        </p:nvSpPr>
        <p:spPr>
          <a:xfrm>
            <a:off x="4983167" y="5601500"/>
            <a:ext cx="6483600" cy="709600"/>
          </a:xfrm>
          <a:prstGeom prst="rect">
            <a:avLst/>
          </a:prstGeom>
        </p:spPr>
        <p:txBody>
          <a:bodyPr spcFirstLastPara="1" wrap="square" lIns="91433" tIns="91433" rIns="91433" bIns="91433" anchor="t" anchorCtr="0">
            <a:noAutofit/>
          </a:bodyPr>
          <a:lstStyle/>
          <a:p>
            <a:pPr marL="0" indent="0" rtl="0">
              <a:buNone/>
            </a:pPr>
            <a:r>
              <a:rPr lang="en-GB" sz="2267"/>
              <a:t>Let’s start with scheduling Thread Blocks</a:t>
            </a:r>
            <a:endParaRPr sz="2267" b="1">
              <a:solidFill>
                <a:schemeClr val="dk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380"/>
        <p:cNvGrpSpPr/>
        <p:nvPr/>
      </p:nvGrpSpPr>
      <p:grpSpPr>
        <a:xfrm>
          <a:off x="0" y="0"/>
          <a:ext cx="0" cy="0"/>
          <a:chOff x="0" y="0"/>
          <a:chExt cx="0" cy="0"/>
        </a:xfrm>
      </p:grpSpPr>
      <p:sp>
        <p:nvSpPr>
          <p:cNvPr id="1381" name="Google Shape;1381;p41"/>
          <p:cNvSpPr txBox="1">
            <a:spLocks noGrp="1"/>
          </p:cNvSpPr>
          <p:nvPr>
            <p:ph type="title"/>
          </p:nvPr>
        </p:nvSpPr>
        <p:spPr>
          <a:xfrm>
            <a:off x="207257" y="375783"/>
            <a:ext cx="10650400" cy="709600"/>
          </a:xfrm>
          <a:prstGeom prst="rect">
            <a:avLst/>
          </a:prstGeom>
          <a:noFill/>
        </p:spPr>
        <p:txBody>
          <a:bodyPr spcFirstLastPara="1" wrap="square" lIns="91433" tIns="91433" rIns="91433" bIns="91433" anchor="b" anchorCtr="0">
            <a:noAutofit/>
          </a:bodyPr>
          <a:lstStyle/>
          <a:p>
            <a:pPr rtl="0"/>
            <a:r>
              <a:rPr lang="en-GB" dirty="0"/>
              <a:t>Block Scheduling</a:t>
            </a:r>
            <a:endParaRPr dirty="0"/>
          </a:p>
        </p:txBody>
      </p:sp>
      <p:sp>
        <p:nvSpPr>
          <p:cNvPr id="1382" name="Google Shape;1382;p41"/>
          <p:cNvSpPr txBox="1">
            <a:spLocks noGrp="1"/>
          </p:cNvSpPr>
          <p:nvPr>
            <p:ph type="body" idx="1"/>
          </p:nvPr>
        </p:nvSpPr>
        <p:spPr>
          <a:xfrm>
            <a:off x="200000" y="927167"/>
            <a:ext cx="11992000" cy="627600"/>
          </a:xfrm>
          <a:prstGeom prst="rect">
            <a:avLst/>
          </a:prstGeom>
        </p:spPr>
        <p:txBody>
          <a:bodyPr spcFirstLastPara="1" wrap="square" lIns="91433" tIns="91433" rIns="91433" bIns="91433" anchor="t" anchorCtr="0">
            <a:noAutofit/>
          </a:bodyPr>
          <a:lstStyle/>
          <a:p>
            <a:pPr marL="0" indent="0" rtl="0">
              <a:buClr>
                <a:schemeClr val="dk1"/>
              </a:buClr>
              <a:buSzPts val="1100"/>
              <a:buNone/>
            </a:pPr>
            <a:r>
              <a:rPr lang="en-GB" b="1">
                <a:solidFill>
                  <a:schemeClr val="dk2"/>
                </a:solidFill>
              </a:rPr>
              <a:t>Threads are assigned to SMs at block granularity</a:t>
            </a:r>
            <a:r>
              <a:rPr lang="en-GB">
                <a:solidFill>
                  <a:schemeClr val="dk2"/>
                </a:solidFill>
              </a:rPr>
              <a:t>. All threads in a block are assigned to a </a:t>
            </a:r>
            <a:r>
              <a:rPr lang="en-GB" b="1">
                <a:solidFill>
                  <a:schemeClr val="dk2"/>
                </a:solidFill>
              </a:rPr>
              <a:t>single</a:t>
            </a:r>
            <a:r>
              <a:rPr lang="en-GB">
                <a:solidFill>
                  <a:schemeClr val="dk2"/>
                </a:solidFill>
              </a:rPr>
              <a:t> SM.</a:t>
            </a:r>
            <a:endParaRPr>
              <a:solidFill>
                <a:schemeClr val="dk2"/>
              </a:solidFill>
            </a:endParaRPr>
          </a:p>
          <a:p>
            <a:pPr marL="0" indent="0" rtl="0">
              <a:buNone/>
            </a:pPr>
            <a:endParaRPr>
              <a:solidFill>
                <a:schemeClr val="dk2"/>
              </a:solidFill>
            </a:endParaRPr>
          </a:p>
        </p:txBody>
      </p:sp>
      <p:sp>
        <p:nvSpPr>
          <p:cNvPr id="1383" name="Google Shape;1383;p41"/>
          <p:cNvSpPr txBox="1">
            <a:spLocks noGrp="1"/>
          </p:cNvSpPr>
          <p:nvPr>
            <p:ph type="sldNum" idx="12"/>
          </p:nvPr>
        </p:nvSpPr>
        <p:spPr>
          <a:xfrm>
            <a:off x="11466783" y="5913927"/>
            <a:ext cx="731600" cy="418000"/>
          </a:xfrm>
          <a:prstGeom prst="rect">
            <a:avLst/>
          </a:prstGeom>
        </p:spPr>
        <p:txBody>
          <a:bodyPr spcFirstLastPara="1" wrap="square" lIns="91433" tIns="91433" rIns="91433" bIns="91433" anchor="t" anchorCtr="0">
            <a:noAutofit/>
          </a:bodyPr>
          <a:lstStyle/>
          <a:p>
            <a:pPr rtl="0"/>
            <a:fld id="{00000000-1234-1234-1234-123412341234}" type="slidenum">
              <a:rPr lang="en-GB"/>
              <a:pPr rtl="0"/>
              <a:t>37</a:t>
            </a:fld>
            <a:endParaRPr/>
          </a:p>
        </p:txBody>
      </p:sp>
      <p:grpSp>
        <p:nvGrpSpPr>
          <p:cNvPr id="1384" name="Google Shape;1384;p41"/>
          <p:cNvGrpSpPr/>
          <p:nvPr/>
        </p:nvGrpSpPr>
        <p:grpSpPr>
          <a:xfrm>
            <a:off x="1879634" y="1902951"/>
            <a:ext cx="8315767" cy="1212400"/>
            <a:chOff x="1409725" y="1427213"/>
            <a:chExt cx="6236825" cy="909300"/>
          </a:xfrm>
        </p:grpSpPr>
        <p:grpSp>
          <p:nvGrpSpPr>
            <p:cNvPr id="1385" name="Google Shape;1385;p41"/>
            <p:cNvGrpSpPr/>
            <p:nvPr/>
          </p:nvGrpSpPr>
          <p:grpSpPr>
            <a:xfrm>
              <a:off x="1409725" y="1474913"/>
              <a:ext cx="855300" cy="709200"/>
              <a:chOff x="2037350" y="2357375"/>
              <a:chExt cx="855300" cy="709200"/>
            </a:xfrm>
          </p:grpSpPr>
          <p:sp>
            <p:nvSpPr>
              <p:cNvPr id="1386" name="Google Shape;1386;p41"/>
              <p:cNvSpPr/>
              <p:nvPr/>
            </p:nvSpPr>
            <p:spPr>
              <a:xfrm>
                <a:off x="2037350" y="2357375"/>
                <a:ext cx="855300" cy="709200"/>
              </a:xfrm>
              <a:prstGeom prst="rect">
                <a:avLst/>
              </a:prstGeom>
              <a:solidFill>
                <a:srgbClr val="FFFFFF"/>
              </a:solidFill>
              <a:ln w="9525" cap="flat" cmpd="sng">
                <a:solidFill>
                  <a:srgbClr val="0089CF"/>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grpSp>
            <p:nvGrpSpPr>
              <p:cNvPr id="1387" name="Google Shape;1387;p41"/>
              <p:cNvGrpSpPr/>
              <p:nvPr/>
            </p:nvGrpSpPr>
            <p:grpSpPr>
              <a:xfrm>
                <a:off x="2113175" y="2411050"/>
                <a:ext cx="703650" cy="601850"/>
                <a:chOff x="2113175" y="2411050"/>
                <a:chExt cx="703650" cy="601850"/>
              </a:xfrm>
            </p:grpSpPr>
            <p:sp>
              <p:nvSpPr>
                <p:cNvPr id="1388" name="Google Shape;1388;p41"/>
                <p:cNvSpPr/>
                <p:nvPr/>
              </p:nvSpPr>
              <p:spPr>
                <a:xfrm>
                  <a:off x="211317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389" name="Google Shape;1389;p41"/>
                <p:cNvSpPr/>
                <p:nvPr/>
              </p:nvSpPr>
              <p:spPr>
                <a:xfrm>
                  <a:off x="223045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390" name="Google Shape;1390;p41"/>
                <p:cNvSpPr/>
                <p:nvPr/>
              </p:nvSpPr>
              <p:spPr>
                <a:xfrm>
                  <a:off x="234772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391" name="Google Shape;1391;p41"/>
                <p:cNvSpPr/>
                <p:nvPr/>
              </p:nvSpPr>
              <p:spPr>
                <a:xfrm>
                  <a:off x="246500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392" name="Google Shape;1392;p41"/>
                <p:cNvSpPr/>
                <p:nvPr/>
              </p:nvSpPr>
              <p:spPr>
                <a:xfrm>
                  <a:off x="258227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393" name="Google Shape;1393;p41"/>
                <p:cNvSpPr/>
                <p:nvPr/>
              </p:nvSpPr>
              <p:spPr>
                <a:xfrm>
                  <a:off x="269955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grpSp>
        </p:grpSp>
        <p:grpSp>
          <p:nvGrpSpPr>
            <p:cNvPr id="1394" name="Google Shape;1394;p41"/>
            <p:cNvGrpSpPr/>
            <p:nvPr/>
          </p:nvGrpSpPr>
          <p:grpSpPr>
            <a:xfrm>
              <a:off x="1562125" y="1627313"/>
              <a:ext cx="855300" cy="709200"/>
              <a:chOff x="2037350" y="2357375"/>
              <a:chExt cx="855300" cy="709200"/>
            </a:xfrm>
          </p:grpSpPr>
          <p:sp>
            <p:nvSpPr>
              <p:cNvPr id="1395" name="Google Shape;1395;p41"/>
              <p:cNvSpPr/>
              <p:nvPr/>
            </p:nvSpPr>
            <p:spPr>
              <a:xfrm>
                <a:off x="2037350" y="2357375"/>
                <a:ext cx="855300" cy="709200"/>
              </a:xfrm>
              <a:prstGeom prst="rect">
                <a:avLst/>
              </a:prstGeom>
              <a:solidFill>
                <a:srgbClr val="FFFFFF"/>
              </a:solidFill>
              <a:ln w="9525" cap="flat" cmpd="sng">
                <a:solidFill>
                  <a:srgbClr val="0089CF"/>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grpSp>
            <p:nvGrpSpPr>
              <p:cNvPr id="1396" name="Google Shape;1396;p41"/>
              <p:cNvGrpSpPr/>
              <p:nvPr/>
            </p:nvGrpSpPr>
            <p:grpSpPr>
              <a:xfrm>
                <a:off x="2113175" y="2411050"/>
                <a:ext cx="703650" cy="601850"/>
                <a:chOff x="2113175" y="2411050"/>
                <a:chExt cx="703650" cy="601850"/>
              </a:xfrm>
            </p:grpSpPr>
            <p:sp>
              <p:nvSpPr>
                <p:cNvPr id="1397" name="Google Shape;1397;p41"/>
                <p:cNvSpPr/>
                <p:nvPr/>
              </p:nvSpPr>
              <p:spPr>
                <a:xfrm>
                  <a:off x="211317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398" name="Google Shape;1398;p41"/>
                <p:cNvSpPr/>
                <p:nvPr/>
              </p:nvSpPr>
              <p:spPr>
                <a:xfrm>
                  <a:off x="223045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399" name="Google Shape;1399;p41"/>
                <p:cNvSpPr/>
                <p:nvPr/>
              </p:nvSpPr>
              <p:spPr>
                <a:xfrm>
                  <a:off x="234772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400" name="Google Shape;1400;p41"/>
                <p:cNvSpPr/>
                <p:nvPr/>
              </p:nvSpPr>
              <p:spPr>
                <a:xfrm>
                  <a:off x="246500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401" name="Google Shape;1401;p41"/>
                <p:cNvSpPr/>
                <p:nvPr/>
              </p:nvSpPr>
              <p:spPr>
                <a:xfrm>
                  <a:off x="258227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402" name="Google Shape;1402;p41"/>
                <p:cNvSpPr/>
                <p:nvPr/>
              </p:nvSpPr>
              <p:spPr>
                <a:xfrm>
                  <a:off x="269955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grpSp>
        </p:grpSp>
        <p:grpSp>
          <p:nvGrpSpPr>
            <p:cNvPr id="1403" name="Google Shape;1403;p41"/>
            <p:cNvGrpSpPr/>
            <p:nvPr/>
          </p:nvGrpSpPr>
          <p:grpSpPr>
            <a:xfrm flipH="1">
              <a:off x="6791250" y="1427213"/>
              <a:ext cx="855300" cy="709200"/>
              <a:chOff x="2037350" y="2357375"/>
              <a:chExt cx="855300" cy="709200"/>
            </a:xfrm>
          </p:grpSpPr>
          <p:sp>
            <p:nvSpPr>
              <p:cNvPr id="1404" name="Google Shape;1404;p41"/>
              <p:cNvSpPr/>
              <p:nvPr/>
            </p:nvSpPr>
            <p:spPr>
              <a:xfrm>
                <a:off x="2037350" y="2357375"/>
                <a:ext cx="855300" cy="709200"/>
              </a:xfrm>
              <a:prstGeom prst="rect">
                <a:avLst/>
              </a:prstGeom>
              <a:solidFill>
                <a:srgbClr val="FFFFFF"/>
              </a:solidFill>
              <a:ln w="9525" cap="flat" cmpd="sng">
                <a:solidFill>
                  <a:srgbClr val="0089CF"/>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grpSp>
            <p:nvGrpSpPr>
              <p:cNvPr id="1405" name="Google Shape;1405;p41"/>
              <p:cNvGrpSpPr/>
              <p:nvPr/>
            </p:nvGrpSpPr>
            <p:grpSpPr>
              <a:xfrm>
                <a:off x="2113175" y="2411050"/>
                <a:ext cx="703650" cy="601850"/>
                <a:chOff x="2113175" y="2411050"/>
                <a:chExt cx="703650" cy="601850"/>
              </a:xfrm>
            </p:grpSpPr>
            <p:sp>
              <p:nvSpPr>
                <p:cNvPr id="1406" name="Google Shape;1406;p41"/>
                <p:cNvSpPr/>
                <p:nvPr/>
              </p:nvSpPr>
              <p:spPr>
                <a:xfrm>
                  <a:off x="211317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407" name="Google Shape;1407;p41"/>
                <p:cNvSpPr/>
                <p:nvPr/>
              </p:nvSpPr>
              <p:spPr>
                <a:xfrm>
                  <a:off x="223045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408" name="Google Shape;1408;p41"/>
                <p:cNvSpPr/>
                <p:nvPr/>
              </p:nvSpPr>
              <p:spPr>
                <a:xfrm>
                  <a:off x="234772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409" name="Google Shape;1409;p41"/>
                <p:cNvSpPr/>
                <p:nvPr/>
              </p:nvSpPr>
              <p:spPr>
                <a:xfrm>
                  <a:off x="246500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410" name="Google Shape;1410;p41"/>
                <p:cNvSpPr/>
                <p:nvPr/>
              </p:nvSpPr>
              <p:spPr>
                <a:xfrm>
                  <a:off x="258227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411" name="Google Shape;1411;p41"/>
                <p:cNvSpPr/>
                <p:nvPr/>
              </p:nvSpPr>
              <p:spPr>
                <a:xfrm>
                  <a:off x="269955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grpSp>
        </p:grpSp>
        <p:grpSp>
          <p:nvGrpSpPr>
            <p:cNvPr id="1412" name="Google Shape;1412;p41"/>
            <p:cNvGrpSpPr/>
            <p:nvPr/>
          </p:nvGrpSpPr>
          <p:grpSpPr>
            <a:xfrm flipH="1">
              <a:off x="6638850" y="1579613"/>
              <a:ext cx="855300" cy="709200"/>
              <a:chOff x="2037350" y="2357375"/>
              <a:chExt cx="855300" cy="709200"/>
            </a:xfrm>
          </p:grpSpPr>
          <p:sp>
            <p:nvSpPr>
              <p:cNvPr id="1413" name="Google Shape;1413;p41"/>
              <p:cNvSpPr/>
              <p:nvPr/>
            </p:nvSpPr>
            <p:spPr>
              <a:xfrm>
                <a:off x="2037350" y="2357375"/>
                <a:ext cx="855300" cy="709200"/>
              </a:xfrm>
              <a:prstGeom prst="rect">
                <a:avLst/>
              </a:prstGeom>
              <a:solidFill>
                <a:srgbClr val="FFFFFF"/>
              </a:solidFill>
              <a:ln w="9525" cap="flat" cmpd="sng">
                <a:solidFill>
                  <a:srgbClr val="0089CF"/>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grpSp>
            <p:nvGrpSpPr>
              <p:cNvPr id="1414" name="Google Shape;1414;p41"/>
              <p:cNvGrpSpPr/>
              <p:nvPr/>
            </p:nvGrpSpPr>
            <p:grpSpPr>
              <a:xfrm>
                <a:off x="2113175" y="2411050"/>
                <a:ext cx="703650" cy="601850"/>
                <a:chOff x="2113175" y="2411050"/>
                <a:chExt cx="703650" cy="601850"/>
              </a:xfrm>
            </p:grpSpPr>
            <p:sp>
              <p:nvSpPr>
                <p:cNvPr id="1415" name="Google Shape;1415;p41"/>
                <p:cNvSpPr/>
                <p:nvPr/>
              </p:nvSpPr>
              <p:spPr>
                <a:xfrm>
                  <a:off x="211317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416" name="Google Shape;1416;p41"/>
                <p:cNvSpPr/>
                <p:nvPr/>
              </p:nvSpPr>
              <p:spPr>
                <a:xfrm>
                  <a:off x="223045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417" name="Google Shape;1417;p41"/>
                <p:cNvSpPr/>
                <p:nvPr/>
              </p:nvSpPr>
              <p:spPr>
                <a:xfrm>
                  <a:off x="234772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418" name="Google Shape;1418;p41"/>
                <p:cNvSpPr/>
                <p:nvPr/>
              </p:nvSpPr>
              <p:spPr>
                <a:xfrm>
                  <a:off x="246500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419" name="Google Shape;1419;p41"/>
                <p:cNvSpPr/>
                <p:nvPr/>
              </p:nvSpPr>
              <p:spPr>
                <a:xfrm>
                  <a:off x="258227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420" name="Google Shape;1420;p41"/>
                <p:cNvSpPr/>
                <p:nvPr/>
              </p:nvSpPr>
              <p:spPr>
                <a:xfrm>
                  <a:off x="269955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grpSp>
        </p:grpSp>
      </p:grpSp>
      <p:grpSp>
        <p:nvGrpSpPr>
          <p:cNvPr id="1421" name="Google Shape;1421;p41"/>
          <p:cNvGrpSpPr/>
          <p:nvPr/>
        </p:nvGrpSpPr>
        <p:grpSpPr>
          <a:xfrm>
            <a:off x="4552940" y="1864971"/>
            <a:ext cx="2969149" cy="2715644"/>
            <a:chOff x="3218055" y="1320528"/>
            <a:chExt cx="2226862" cy="2036733"/>
          </a:xfrm>
        </p:grpSpPr>
        <p:grpSp>
          <p:nvGrpSpPr>
            <p:cNvPr id="1422" name="Google Shape;1422;p41"/>
            <p:cNvGrpSpPr/>
            <p:nvPr/>
          </p:nvGrpSpPr>
          <p:grpSpPr>
            <a:xfrm>
              <a:off x="3218055" y="1320528"/>
              <a:ext cx="855262" cy="2036733"/>
              <a:chOff x="6302250" y="2116475"/>
              <a:chExt cx="987600" cy="2350800"/>
            </a:xfrm>
          </p:grpSpPr>
          <p:sp>
            <p:nvSpPr>
              <p:cNvPr id="1423" name="Google Shape;1423;p41"/>
              <p:cNvSpPr/>
              <p:nvPr/>
            </p:nvSpPr>
            <p:spPr>
              <a:xfrm>
                <a:off x="6302250" y="2116475"/>
                <a:ext cx="987600" cy="2350800"/>
              </a:xfrm>
              <a:prstGeom prst="roundRect">
                <a:avLst>
                  <a:gd name="adj" fmla="val 8730"/>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l" rtl="0"/>
                <a:endParaRPr sz="2000">
                  <a:solidFill>
                    <a:srgbClr val="000000"/>
                  </a:solidFill>
                  <a:latin typeface="Calibri"/>
                  <a:ea typeface="Calibri"/>
                  <a:cs typeface="Calibri"/>
                  <a:sym typeface="Calibri"/>
                </a:endParaRPr>
              </a:p>
            </p:txBody>
          </p:sp>
          <p:sp>
            <p:nvSpPr>
              <p:cNvPr id="1424" name="Google Shape;1424;p41"/>
              <p:cNvSpPr/>
              <p:nvPr/>
            </p:nvSpPr>
            <p:spPr>
              <a:xfrm>
                <a:off x="6389595" y="2192089"/>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24000" tIns="121900" rIns="24000" bIns="121900" anchor="ctr" anchorCtr="0">
                <a:noAutofit/>
              </a:bodyPr>
              <a:lstStyle/>
              <a:p>
                <a:pPr algn="ctr" rtl="0"/>
                <a:r>
                  <a:rPr lang="en-GB" sz="1200">
                    <a:solidFill>
                      <a:srgbClr val="666666"/>
                    </a:solidFill>
                    <a:latin typeface="Roboto"/>
                    <a:ea typeface="Roboto"/>
                    <a:cs typeface="Roboto"/>
                    <a:sym typeface="Roboto"/>
                  </a:rPr>
                  <a:t>SP</a:t>
                </a:r>
                <a:endParaRPr sz="1200">
                  <a:solidFill>
                    <a:srgbClr val="666666"/>
                  </a:solidFill>
                  <a:latin typeface="Roboto"/>
                  <a:ea typeface="Roboto"/>
                  <a:cs typeface="Roboto"/>
                  <a:sym typeface="Roboto"/>
                </a:endParaRPr>
              </a:p>
            </p:txBody>
          </p:sp>
          <p:sp>
            <p:nvSpPr>
              <p:cNvPr id="1425" name="Google Shape;1425;p41"/>
              <p:cNvSpPr/>
              <p:nvPr/>
            </p:nvSpPr>
            <p:spPr>
              <a:xfrm>
                <a:off x="6847192" y="2194932"/>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24000" tIns="121900" rIns="24000" bIns="121900" anchor="ctr" anchorCtr="0">
                <a:noAutofit/>
              </a:bodyPr>
              <a:lstStyle/>
              <a:p>
                <a:pPr algn="ctr" rtl="0"/>
                <a:r>
                  <a:rPr lang="en-GB" sz="1200">
                    <a:solidFill>
                      <a:srgbClr val="666666"/>
                    </a:solidFill>
                    <a:latin typeface="Roboto"/>
                    <a:ea typeface="Roboto"/>
                    <a:cs typeface="Roboto"/>
                    <a:sym typeface="Roboto"/>
                  </a:rPr>
                  <a:t>SP</a:t>
                </a:r>
                <a:endParaRPr sz="1200">
                  <a:solidFill>
                    <a:srgbClr val="666666"/>
                  </a:solidFill>
                  <a:latin typeface="Roboto"/>
                  <a:ea typeface="Roboto"/>
                  <a:cs typeface="Roboto"/>
                  <a:sym typeface="Roboto"/>
                </a:endParaRPr>
              </a:p>
            </p:txBody>
          </p:sp>
          <p:sp>
            <p:nvSpPr>
              <p:cNvPr id="1426" name="Google Shape;1426;p41"/>
              <p:cNvSpPr/>
              <p:nvPr/>
            </p:nvSpPr>
            <p:spPr>
              <a:xfrm>
                <a:off x="6389595" y="2595431"/>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24000" tIns="121900" rIns="24000" bIns="121900" anchor="ctr" anchorCtr="0">
                <a:noAutofit/>
              </a:bodyPr>
              <a:lstStyle/>
              <a:p>
                <a:pPr algn="ctr" rtl="0">
                  <a:buClr>
                    <a:schemeClr val="dk1"/>
                  </a:buClr>
                </a:pPr>
                <a:r>
                  <a:rPr lang="en-GB" sz="1200">
                    <a:solidFill>
                      <a:schemeClr val="accent6"/>
                    </a:solidFill>
                    <a:latin typeface="Roboto"/>
                    <a:ea typeface="Roboto"/>
                    <a:cs typeface="Roboto"/>
                    <a:sym typeface="Roboto"/>
                  </a:rPr>
                  <a:t>SP</a:t>
                </a:r>
                <a:endParaRPr sz="1200">
                  <a:solidFill>
                    <a:srgbClr val="666666"/>
                  </a:solidFill>
                  <a:latin typeface="Roboto"/>
                  <a:ea typeface="Roboto"/>
                  <a:cs typeface="Roboto"/>
                  <a:sym typeface="Roboto"/>
                </a:endParaRPr>
              </a:p>
            </p:txBody>
          </p:sp>
          <p:sp>
            <p:nvSpPr>
              <p:cNvPr id="1427" name="Google Shape;1427;p41"/>
              <p:cNvSpPr/>
              <p:nvPr/>
            </p:nvSpPr>
            <p:spPr>
              <a:xfrm>
                <a:off x="6847192" y="2595431"/>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24000" tIns="121900" rIns="24000" bIns="121900" anchor="ctr" anchorCtr="0">
                <a:noAutofit/>
              </a:bodyPr>
              <a:lstStyle/>
              <a:p>
                <a:pPr algn="ctr" rtl="0">
                  <a:buClr>
                    <a:schemeClr val="dk1"/>
                  </a:buClr>
                </a:pPr>
                <a:r>
                  <a:rPr lang="en-GB" sz="1200">
                    <a:solidFill>
                      <a:schemeClr val="accent6"/>
                    </a:solidFill>
                    <a:latin typeface="Roboto"/>
                    <a:ea typeface="Roboto"/>
                    <a:cs typeface="Roboto"/>
                    <a:sym typeface="Roboto"/>
                  </a:rPr>
                  <a:t>SP</a:t>
                </a:r>
                <a:endParaRPr sz="1200">
                  <a:solidFill>
                    <a:srgbClr val="666666"/>
                  </a:solidFill>
                  <a:latin typeface="Roboto"/>
                  <a:ea typeface="Roboto"/>
                  <a:cs typeface="Roboto"/>
                  <a:sym typeface="Roboto"/>
                </a:endParaRPr>
              </a:p>
            </p:txBody>
          </p:sp>
          <p:sp>
            <p:nvSpPr>
              <p:cNvPr id="1428" name="Google Shape;1428;p41"/>
              <p:cNvSpPr/>
              <p:nvPr/>
            </p:nvSpPr>
            <p:spPr>
              <a:xfrm>
                <a:off x="6389595" y="2998772"/>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24000" tIns="121900" rIns="24000" bIns="121900" anchor="ctr" anchorCtr="0">
                <a:noAutofit/>
              </a:bodyPr>
              <a:lstStyle/>
              <a:p>
                <a:pPr algn="ctr" rtl="0">
                  <a:buClr>
                    <a:schemeClr val="dk1"/>
                  </a:buClr>
                </a:pPr>
                <a:r>
                  <a:rPr lang="en-GB" sz="1200">
                    <a:solidFill>
                      <a:schemeClr val="accent6"/>
                    </a:solidFill>
                    <a:latin typeface="Roboto"/>
                    <a:ea typeface="Roboto"/>
                    <a:cs typeface="Roboto"/>
                    <a:sym typeface="Roboto"/>
                  </a:rPr>
                  <a:t>SP</a:t>
                </a:r>
                <a:endParaRPr sz="1200">
                  <a:solidFill>
                    <a:srgbClr val="666666"/>
                  </a:solidFill>
                  <a:latin typeface="Roboto"/>
                  <a:ea typeface="Roboto"/>
                  <a:cs typeface="Roboto"/>
                  <a:sym typeface="Roboto"/>
                </a:endParaRPr>
              </a:p>
            </p:txBody>
          </p:sp>
          <p:sp>
            <p:nvSpPr>
              <p:cNvPr id="1429" name="Google Shape;1429;p41"/>
              <p:cNvSpPr/>
              <p:nvPr/>
            </p:nvSpPr>
            <p:spPr>
              <a:xfrm>
                <a:off x="6847192" y="2998772"/>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24000" tIns="121900" rIns="24000" bIns="121900" anchor="ctr" anchorCtr="0">
                <a:noAutofit/>
              </a:bodyPr>
              <a:lstStyle/>
              <a:p>
                <a:pPr algn="ctr" rtl="0">
                  <a:buClr>
                    <a:schemeClr val="dk1"/>
                  </a:buClr>
                </a:pPr>
                <a:r>
                  <a:rPr lang="en-GB" sz="1200">
                    <a:solidFill>
                      <a:schemeClr val="accent6"/>
                    </a:solidFill>
                    <a:latin typeface="Roboto"/>
                    <a:ea typeface="Roboto"/>
                    <a:cs typeface="Roboto"/>
                    <a:sym typeface="Roboto"/>
                  </a:rPr>
                  <a:t>SP</a:t>
                </a:r>
                <a:endParaRPr sz="1200">
                  <a:solidFill>
                    <a:srgbClr val="666666"/>
                  </a:solidFill>
                  <a:latin typeface="Roboto"/>
                  <a:ea typeface="Roboto"/>
                  <a:cs typeface="Roboto"/>
                  <a:sym typeface="Roboto"/>
                </a:endParaRPr>
              </a:p>
            </p:txBody>
          </p:sp>
          <p:sp>
            <p:nvSpPr>
              <p:cNvPr id="1430" name="Google Shape;1430;p41"/>
              <p:cNvSpPr/>
              <p:nvPr/>
            </p:nvSpPr>
            <p:spPr>
              <a:xfrm>
                <a:off x="6389595" y="3402114"/>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24000" tIns="121900" rIns="24000" bIns="121900" anchor="ctr" anchorCtr="0">
                <a:noAutofit/>
              </a:bodyPr>
              <a:lstStyle/>
              <a:p>
                <a:pPr algn="ctr" rtl="0">
                  <a:buClr>
                    <a:schemeClr val="dk1"/>
                  </a:buClr>
                </a:pPr>
                <a:r>
                  <a:rPr lang="en-GB" sz="1200">
                    <a:solidFill>
                      <a:schemeClr val="accent6"/>
                    </a:solidFill>
                    <a:latin typeface="Roboto"/>
                    <a:ea typeface="Roboto"/>
                    <a:cs typeface="Roboto"/>
                    <a:sym typeface="Roboto"/>
                  </a:rPr>
                  <a:t>SP</a:t>
                </a:r>
                <a:endParaRPr sz="1200">
                  <a:solidFill>
                    <a:srgbClr val="666666"/>
                  </a:solidFill>
                  <a:latin typeface="Roboto"/>
                  <a:ea typeface="Roboto"/>
                  <a:cs typeface="Roboto"/>
                  <a:sym typeface="Roboto"/>
                </a:endParaRPr>
              </a:p>
            </p:txBody>
          </p:sp>
          <p:sp>
            <p:nvSpPr>
              <p:cNvPr id="1431" name="Google Shape;1431;p41"/>
              <p:cNvSpPr/>
              <p:nvPr/>
            </p:nvSpPr>
            <p:spPr>
              <a:xfrm>
                <a:off x="6847192" y="3402114"/>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24000" tIns="121900" rIns="24000" bIns="121900" anchor="ctr" anchorCtr="0">
                <a:noAutofit/>
              </a:bodyPr>
              <a:lstStyle/>
              <a:p>
                <a:pPr algn="ctr" rtl="0">
                  <a:buClr>
                    <a:schemeClr val="dk1"/>
                  </a:buClr>
                </a:pPr>
                <a:r>
                  <a:rPr lang="en-GB" sz="1200">
                    <a:solidFill>
                      <a:schemeClr val="accent6"/>
                    </a:solidFill>
                    <a:latin typeface="Roboto"/>
                    <a:ea typeface="Roboto"/>
                    <a:cs typeface="Roboto"/>
                    <a:sym typeface="Roboto"/>
                  </a:rPr>
                  <a:t>SP</a:t>
                </a:r>
                <a:endParaRPr sz="1200">
                  <a:solidFill>
                    <a:srgbClr val="666666"/>
                  </a:solidFill>
                  <a:latin typeface="Roboto"/>
                  <a:ea typeface="Roboto"/>
                  <a:cs typeface="Roboto"/>
                  <a:sym typeface="Roboto"/>
                </a:endParaRPr>
              </a:p>
            </p:txBody>
          </p:sp>
          <p:sp>
            <p:nvSpPr>
              <p:cNvPr id="1432" name="Google Shape;1432;p41"/>
              <p:cNvSpPr/>
              <p:nvPr/>
            </p:nvSpPr>
            <p:spPr>
              <a:xfrm>
                <a:off x="6404239" y="3812359"/>
                <a:ext cx="812700" cy="205200"/>
              </a:xfrm>
              <a:prstGeom prst="rect">
                <a:avLst/>
              </a:prstGeom>
              <a:solidFill>
                <a:srgbClr val="4FAF48">
                  <a:alpha val="46840"/>
                </a:srgbClr>
              </a:solidFill>
              <a:ln w="9525" cap="flat" cmpd="sng">
                <a:solidFill>
                  <a:srgbClr val="000000"/>
                </a:solidFill>
                <a:prstDash val="solid"/>
                <a:round/>
                <a:headEnd type="none" w="sm" len="sm"/>
                <a:tailEnd type="none" w="sm" len="sm"/>
              </a:ln>
            </p:spPr>
            <p:txBody>
              <a:bodyPr spcFirstLastPara="1" wrap="square" lIns="0" tIns="121900" rIns="0" bIns="121900" anchor="ctr" anchorCtr="0">
                <a:noAutofit/>
              </a:bodyPr>
              <a:lstStyle/>
              <a:p>
                <a:pPr algn="ctr" rtl="0"/>
                <a:r>
                  <a:rPr lang="en-GB" sz="1467" b="1">
                    <a:solidFill>
                      <a:srgbClr val="666666"/>
                    </a:solidFill>
                    <a:latin typeface="Roboto"/>
                    <a:ea typeface="Roboto"/>
                    <a:cs typeface="Roboto"/>
                    <a:sym typeface="Roboto"/>
                  </a:rPr>
                  <a:t>Control</a:t>
                </a:r>
                <a:endParaRPr sz="1467" b="1">
                  <a:solidFill>
                    <a:srgbClr val="666666"/>
                  </a:solidFill>
                  <a:latin typeface="Roboto"/>
                  <a:ea typeface="Roboto"/>
                  <a:cs typeface="Roboto"/>
                  <a:sym typeface="Roboto"/>
                </a:endParaRPr>
              </a:p>
            </p:txBody>
          </p:sp>
          <p:sp>
            <p:nvSpPr>
              <p:cNvPr id="1433" name="Google Shape;1433;p41"/>
              <p:cNvSpPr/>
              <p:nvPr/>
            </p:nvSpPr>
            <p:spPr>
              <a:xfrm>
                <a:off x="6408650" y="4106838"/>
                <a:ext cx="812700" cy="290100"/>
              </a:xfrm>
              <a:prstGeom prst="rect">
                <a:avLst/>
              </a:prstGeom>
              <a:solidFill>
                <a:srgbClr val="247EBA">
                  <a:alpha val="21570"/>
                </a:srgbClr>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rtl="0"/>
                <a:r>
                  <a:rPr lang="en-GB" sz="1467">
                    <a:solidFill>
                      <a:srgbClr val="666666"/>
                    </a:solidFill>
                    <a:latin typeface="Roboto"/>
                    <a:ea typeface="Roboto"/>
                    <a:cs typeface="Roboto"/>
                    <a:sym typeface="Roboto"/>
                  </a:rPr>
                  <a:t>MEM </a:t>
                </a:r>
                <a:endParaRPr sz="1467">
                  <a:solidFill>
                    <a:srgbClr val="666666"/>
                  </a:solidFill>
                  <a:latin typeface="Roboto"/>
                  <a:ea typeface="Roboto"/>
                  <a:cs typeface="Roboto"/>
                  <a:sym typeface="Roboto"/>
                </a:endParaRPr>
              </a:p>
            </p:txBody>
          </p:sp>
        </p:grpSp>
        <p:grpSp>
          <p:nvGrpSpPr>
            <p:cNvPr id="1434" name="Google Shape;1434;p41"/>
            <p:cNvGrpSpPr/>
            <p:nvPr/>
          </p:nvGrpSpPr>
          <p:grpSpPr>
            <a:xfrm>
              <a:off x="4589655" y="1320528"/>
              <a:ext cx="855262" cy="2036733"/>
              <a:chOff x="6302250" y="2116475"/>
              <a:chExt cx="987600" cy="2350800"/>
            </a:xfrm>
          </p:grpSpPr>
          <p:sp>
            <p:nvSpPr>
              <p:cNvPr id="1435" name="Google Shape;1435;p41"/>
              <p:cNvSpPr/>
              <p:nvPr/>
            </p:nvSpPr>
            <p:spPr>
              <a:xfrm>
                <a:off x="6302250" y="2116475"/>
                <a:ext cx="987600" cy="2350800"/>
              </a:xfrm>
              <a:prstGeom prst="roundRect">
                <a:avLst>
                  <a:gd name="adj" fmla="val 8730"/>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l" rtl="0"/>
                <a:endParaRPr sz="2000">
                  <a:solidFill>
                    <a:srgbClr val="000000"/>
                  </a:solidFill>
                  <a:latin typeface="Calibri"/>
                  <a:ea typeface="Calibri"/>
                  <a:cs typeface="Calibri"/>
                  <a:sym typeface="Calibri"/>
                </a:endParaRPr>
              </a:p>
            </p:txBody>
          </p:sp>
          <p:sp>
            <p:nvSpPr>
              <p:cNvPr id="1436" name="Google Shape;1436;p41"/>
              <p:cNvSpPr/>
              <p:nvPr/>
            </p:nvSpPr>
            <p:spPr>
              <a:xfrm>
                <a:off x="6389595" y="2192089"/>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24000" tIns="121900" rIns="24000" bIns="121900" anchor="ctr" anchorCtr="0">
                <a:noAutofit/>
              </a:bodyPr>
              <a:lstStyle/>
              <a:p>
                <a:pPr algn="ctr" rtl="0">
                  <a:buClr>
                    <a:schemeClr val="dk1"/>
                  </a:buClr>
                </a:pPr>
                <a:r>
                  <a:rPr lang="en-GB" sz="1200">
                    <a:solidFill>
                      <a:schemeClr val="accent6"/>
                    </a:solidFill>
                    <a:latin typeface="Roboto"/>
                    <a:ea typeface="Roboto"/>
                    <a:cs typeface="Roboto"/>
                    <a:sym typeface="Roboto"/>
                  </a:rPr>
                  <a:t>SP</a:t>
                </a:r>
                <a:endParaRPr sz="1200">
                  <a:solidFill>
                    <a:srgbClr val="666666"/>
                  </a:solidFill>
                  <a:latin typeface="Roboto"/>
                  <a:ea typeface="Roboto"/>
                  <a:cs typeface="Roboto"/>
                  <a:sym typeface="Roboto"/>
                </a:endParaRPr>
              </a:p>
            </p:txBody>
          </p:sp>
          <p:sp>
            <p:nvSpPr>
              <p:cNvPr id="1437" name="Google Shape;1437;p41"/>
              <p:cNvSpPr/>
              <p:nvPr/>
            </p:nvSpPr>
            <p:spPr>
              <a:xfrm>
                <a:off x="6847192" y="2194932"/>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24000" tIns="121900" rIns="24000" bIns="121900" anchor="ctr" anchorCtr="0">
                <a:noAutofit/>
              </a:bodyPr>
              <a:lstStyle/>
              <a:p>
                <a:pPr algn="ctr" rtl="0">
                  <a:buClr>
                    <a:schemeClr val="dk1"/>
                  </a:buClr>
                </a:pPr>
                <a:r>
                  <a:rPr lang="en-GB" sz="1200">
                    <a:solidFill>
                      <a:schemeClr val="accent6"/>
                    </a:solidFill>
                    <a:latin typeface="Roboto"/>
                    <a:ea typeface="Roboto"/>
                    <a:cs typeface="Roboto"/>
                    <a:sym typeface="Roboto"/>
                  </a:rPr>
                  <a:t>SP</a:t>
                </a:r>
                <a:endParaRPr sz="1200">
                  <a:solidFill>
                    <a:srgbClr val="666666"/>
                  </a:solidFill>
                  <a:latin typeface="Roboto"/>
                  <a:ea typeface="Roboto"/>
                  <a:cs typeface="Roboto"/>
                  <a:sym typeface="Roboto"/>
                </a:endParaRPr>
              </a:p>
            </p:txBody>
          </p:sp>
          <p:sp>
            <p:nvSpPr>
              <p:cNvPr id="1438" name="Google Shape;1438;p41"/>
              <p:cNvSpPr/>
              <p:nvPr/>
            </p:nvSpPr>
            <p:spPr>
              <a:xfrm>
                <a:off x="6389595" y="2595431"/>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24000" tIns="121900" rIns="24000" bIns="121900" anchor="ctr" anchorCtr="0">
                <a:noAutofit/>
              </a:bodyPr>
              <a:lstStyle/>
              <a:p>
                <a:pPr algn="ctr" rtl="0">
                  <a:buClr>
                    <a:schemeClr val="dk1"/>
                  </a:buClr>
                </a:pPr>
                <a:r>
                  <a:rPr lang="en-GB" sz="1200">
                    <a:solidFill>
                      <a:schemeClr val="accent6"/>
                    </a:solidFill>
                    <a:latin typeface="Roboto"/>
                    <a:ea typeface="Roboto"/>
                    <a:cs typeface="Roboto"/>
                    <a:sym typeface="Roboto"/>
                  </a:rPr>
                  <a:t>SP</a:t>
                </a:r>
                <a:endParaRPr sz="1200">
                  <a:solidFill>
                    <a:srgbClr val="666666"/>
                  </a:solidFill>
                  <a:latin typeface="Roboto"/>
                  <a:ea typeface="Roboto"/>
                  <a:cs typeface="Roboto"/>
                  <a:sym typeface="Roboto"/>
                </a:endParaRPr>
              </a:p>
            </p:txBody>
          </p:sp>
          <p:sp>
            <p:nvSpPr>
              <p:cNvPr id="1439" name="Google Shape;1439;p41"/>
              <p:cNvSpPr/>
              <p:nvPr/>
            </p:nvSpPr>
            <p:spPr>
              <a:xfrm>
                <a:off x="6847192" y="2595431"/>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24000" tIns="121900" rIns="24000" bIns="121900" anchor="ctr" anchorCtr="0">
                <a:noAutofit/>
              </a:bodyPr>
              <a:lstStyle/>
              <a:p>
                <a:pPr algn="ctr" rtl="0">
                  <a:buClr>
                    <a:schemeClr val="dk1"/>
                  </a:buClr>
                </a:pPr>
                <a:r>
                  <a:rPr lang="en-GB" sz="1200">
                    <a:solidFill>
                      <a:schemeClr val="accent6"/>
                    </a:solidFill>
                    <a:latin typeface="Roboto"/>
                    <a:ea typeface="Roboto"/>
                    <a:cs typeface="Roboto"/>
                    <a:sym typeface="Roboto"/>
                  </a:rPr>
                  <a:t>SP</a:t>
                </a:r>
                <a:endParaRPr sz="1200">
                  <a:solidFill>
                    <a:srgbClr val="666666"/>
                  </a:solidFill>
                  <a:latin typeface="Roboto"/>
                  <a:ea typeface="Roboto"/>
                  <a:cs typeface="Roboto"/>
                  <a:sym typeface="Roboto"/>
                </a:endParaRPr>
              </a:p>
            </p:txBody>
          </p:sp>
          <p:sp>
            <p:nvSpPr>
              <p:cNvPr id="1440" name="Google Shape;1440;p41"/>
              <p:cNvSpPr/>
              <p:nvPr/>
            </p:nvSpPr>
            <p:spPr>
              <a:xfrm>
                <a:off x="6389595" y="2998772"/>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24000" tIns="121900" rIns="24000" bIns="121900" anchor="ctr" anchorCtr="0">
                <a:noAutofit/>
              </a:bodyPr>
              <a:lstStyle/>
              <a:p>
                <a:pPr algn="ctr" rtl="0">
                  <a:buClr>
                    <a:schemeClr val="dk1"/>
                  </a:buClr>
                </a:pPr>
                <a:r>
                  <a:rPr lang="en-GB" sz="1200">
                    <a:solidFill>
                      <a:schemeClr val="accent6"/>
                    </a:solidFill>
                    <a:latin typeface="Roboto"/>
                    <a:ea typeface="Roboto"/>
                    <a:cs typeface="Roboto"/>
                    <a:sym typeface="Roboto"/>
                  </a:rPr>
                  <a:t>SP</a:t>
                </a:r>
                <a:endParaRPr sz="1200">
                  <a:solidFill>
                    <a:srgbClr val="666666"/>
                  </a:solidFill>
                  <a:latin typeface="Roboto"/>
                  <a:ea typeface="Roboto"/>
                  <a:cs typeface="Roboto"/>
                  <a:sym typeface="Roboto"/>
                </a:endParaRPr>
              </a:p>
            </p:txBody>
          </p:sp>
          <p:sp>
            <p:nvSpPr>
              <p:cNvPr id="1441" name="Google Shape;1441;p41"/>
              <p:cNvSpPr/>
              <p:nvPr/>
            </p:nvSpPr>
            <p:spPr>
              <a:xfrm>
                <a:off x="6847192" y="2998772"/>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24000" tIns="121900" rIns="24000" bIns="121900" anchor="ctr" anchorCtr="0">
                <a:noAutofit/>
              </a:bodyPr>
              <a:lstStyle/>
              <a:p>
                <a:pPr algn="ctr" rtl="0">
                  <a:buClr>
                    <a:schemeClr val="dk1"/>
                  </a:buClr>
                </a:pPr>
                <a:r>
                  <a:rPr lang="en-GB" sz="1200">
                    <a:solidFill>
                      <a:schemeClr val="accent6"/>
                    </a:solidFill>
                    <a:latin typeface="Roboto"/>
                    <a:ea typeface="Roboto"/>
                    <a:cs typeface="Roboto"/>
                    <a:sym typeface="Roboto"/>
                  </a:rPr>
                  <a:t>SP</a:t>
                </a:r>
                <a:endParaRPr sz="1200">
                  <a:solidFill>
                    <a:srgbClr val="666666"/>
                  </a:solidFill>
                  <a:latin typeface="Roboto"/>
                  <a:ea typeface="Roboto"/>
                  <a:cs typeface="Roboto"/>
                  <a:sym typeface="Roboto"/>
                </a:endParaRPr>
              </a:p>
            </p:txBody>
          </p:sp>
          <p:sp>
            <p:nvSpPr>
              <p:cNvPr id="1442" name="Google Shape;1442;p41"/>
              <p:cNvSpPr/>
              <p:nvPr/>
            </p:nvSpPr>
            <p:spPr>
              <a:xfrm>
                <a:off x="6389595" y="3402114"/>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24000" tIns="121900" rIns="24000" bIns="121900" anchor="ctr" anchorCtr="0">
                <a:noAutofit/>
              </a:bodyPr>
              <a:lstStyle/>
              <a:p>
                <a:pPr algn="ctr" rtl="0">
                  <a:buClr>
                    <a:schemeClr val="dk1"/>
                  </a:buClr>
                </a:pPr>
                <a:r>
                  <a:rPr lang="en-GB" sz="1200">
                    <a:solidFill>
                      <a:schemeClr val="accent6"/>
                    </a:solidFill>
                    <a:latin typeface="Roboto"/>
                    <a:ea typeface="Roboto"/>
                    <a:cs typeface="Roboto"/>
                    <a:sym typeface="Roboto"/>
                  </a:rPr>
                  <a:t>SP</a:t>
                </a:r>
                <a:endParaRPr sz="1200">
                  <a:solidFill>
                    <a:srgbClr val="666666"/>
                  </a:solidFill>
                  <a:latin typeface="Roboto"/>
                  <a:ea typeface="Roboto"/>
                  <a:cs typeface="Roboto"/>
                  <a:sym typeface="Roboto"/>
                </a:endParaRPr>
              </a:p>
            </p:txBody>
          </p:sp>
          <p:sp>
            <p:nvSpPr>
              <p:cNvPr id="1443" name="Google Shape;1443;p41"/>
              <p:cNvSpPr/>
              <p:nvPr/>
            </p:nvSpPr>
            <p:spPr>
              <a:xfrm>
                <a:off x="6847192" y="3402114"/>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24000" tIns="121900" rIns="24000" bIns="121900" anchor="ctr" anchorCtr="0">
                <a:noAutofit/>
              </a:bodyPr>
              <a:lstStyle/>
              <a:p>
                <a:pPr algn="ctr" rtl="0">
                  <a:buClr>
                    <a:schemeClr val="dk1"/>
                  </a:buClr>
                </a:pPr>
                <a:r>
                  <a:rPr lang="en-GB" sz="1200">
                    <a:solidFill>
                      <a:schemeClr val="accent6"/>
                    </a:solidFill>
                    <a:latin typeface="Roboto"/>
                    <a:ea typeface="Roboto"/>
                    <a:cs typeface="Roboto"/>
                    <a:sym typeface="Roboto"/>
                  </a:rPr>
                  <a:t>SP</a:t>
                </a:r>
                <a:endParaRPr sz="1200">
                  <a:solidFill>
                    <a:srgbClr val="666666"/>
                  </a:solidFill>
                  <a:latin typeface="Roboto"/>
                  <a:ea typeface="Roboto"/>
                  <a:cs typeface="Roboto"/>
                  <a:sym typeface="Roboto"/>
                </a:endParaRPr>
              </a:p>
            </p:txBody>
          </p:sp>
          <p:sp>
            <p:nvSpPr>
              <p:cNvPr id="1444" name="Google Shape;1444;p41"/>
              <p:cNvSpPr/>
              <p:nvPr/>
            </p:nvSpPr>
            <p:spPr>
              <a:xfrm>
                <a:off x="6404239" y="3812359"/>
                <a:ext cx="812700" cy="205200"/>
              </a:xfrm>
              <a:prstGeom prst="rect">
                <a:avLst/>
              </a:prstGeom>
              <a:solidFill>
                <a:srgbClr val="4FAF48">
                  <a:alpha val="46840"/>
                </a:srgbClr>
              </a:solidFill>
              <a:ln w="9525" cap="flat" cmpd="sng">
                <a:solidFill>
                  <a:srgbClr val="000000"/>
                </a:solidFill>
                <a:prstDash val="solid"/>
                <a:round/>
                <a:headEnd type="none" w="sm" len="sm"/>
                <a:tailEnd type="none" w="sm" len="sm"/>
              </a:ln>
            </p:spPr>
            <p:txBody>
              <a:bodyPr spcFirstLastPara="1" wrap="square" lIns="0" tIns="121900" rIns="0" bIns="121900" anchor="ctr" anchorCtr="0">
                <a:noAutofit/>
              </a:bodyPr>
              <a:lstStyle/>
              <a:p>
                <a:pPr algn="ctr" rtl="0"/>
                <a:r>
                  <a:rPr lang="en-GB" sz="1467" b="1">
                    <a:solidFill>
                      <a:srgbClr val="666666"/>
                    </a:solidFill>
                    <a:latin typeface="Roboto"/>
                    <a:ea typeface="Roboto"/>
                    <a:cs typeface="Roboto"/>
                    <a:sym typeface="Roboto"/>
                  </a:rPr>
                  <a:t>Control</a:t>
                </a:r>
                <a:endParaRPr sz="1467" b="1">
                  <a:solidFill>
                    <a:srgbClr val="666666"/>
                  </a:solidFill>
                  <a:latin typeface="Roboto"/>
                  <a:ea typeface="Roboto"/>
                  <a:cs typeface="Roboto"/>
                  <a:sym typeface="Roboto"/>
                </a:endParaRPr>
              </a:p>
            </p:txBody>
          </p:sp>
          <p:sp>
            <p:nvSpPr>
              <p:cNvPr id="1445" name="Google Shape;1445;p41"/>
              <p:cNvSpPr/>
              <p:nvPr/>
            </p:nvSpPr>
            <p:spPr>
              <a:xfrm>
                <a:off x="6408650" y="4106838"/>
                <a:ext cx="812700" cy="290100"/>
              </a:xfrm>
              <a:prstGeom prst="rect">
                <a:avLst/>
              </a:prstGeom>
              <a:solidFill>
                <a:srgbClr val="247EBA">
                  <a:alpha val="21570"/>
                </a:srgbClr>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rtl="0"/>
                <a:r>
                  <a:rPr lang="en-GB" sz="1467">
                    <a:solidFill>
                      <a:srgbClr val="666666"/>
                    </a:solidFill>
                    <a:latin typeface="Roboto"/>
                    <a:ea typeface="Roboto"/>
                    <a:cs typeface="Roboto"/>
                    <a:sym typeface="Roboto"/>
                  </a:rPr>
                  <a:t>MEM </a:t>
                </a:r>
                <a:endParaRPr sz="1467">
                  <a:solidFill>
                    <a:srgbClr val="666666"/>
                  </a:solidFill>
                  <a:latin typeface="Roboto"/>
                  <a:ea typeface="Roboto"/>
                  <a:cs typeface="Roboto"/>
                  <a:sym typeface="Roboto"/>
                </a:endParaRPr>
              </a:p>
            </p:txBody>
          </p:sp>
        </p:grpSp>
      </p:grpSp>
      <p:grpSp>
        <p:nvGrpSpPr>
          <p:cNvPr id="1446" name="Google Shape;1446;p41"/>
          <p:cNvGrpSpPr/>
          <p:nvPr/>
        </p:nvGrpSpPr>
        <p:grpSpPr>
          <a:xfrm>
            <a:off x="1774234" y="1864967"/>
            <a:ext cx="8526567" cy="2682100"/>
            <a:chOff x="1330675" y="1398725"/>
            <a:chExt cx="6394925" cy="2011575"/>
          </a:xfrm>
        </p:grpSpPr>
        <p:sp>
          <p:nvSpPr>
            <p:cNvPr id="1447" name="Google Shape;1447;p41"/>
            <p:cNvSpPr txBox="1"/>
            <p:nvPr/>
          </p:nvSpPr>
          <p:spPr>
            <a:xfrm>
              <a:off x="1330675" y="2488913"/>
              <a:ext cx="1318200" cy="392385"/>
            </a:xfrm>
            <a:prstGeom prst="rect">
              <a:avLst/>
            </a:prstGeom>
            <a:noFill/>
            <a:ln>
              <a:noFill/>
            </a:ln>
          </p:spPr>
          <p:txBody>
            <a:bodyPr spcFirstLastPara="1" wrap="square" lIns="121900" tIns="121900" rIns="121900" bIns="121900" anchor="t" anchorCtr="0">
              <a:spAutoFit/>
            </a:bodyPr>
            <a:lstStyle/>
            <a:p>
              <a:pPr algn="ctr" rtl="0"/>
              <a:r>
                <a:rPr lang="en-GB">
                  <a:solidFill>
                    <a:srgbClr val="595959"/>
                  </a:solidFill>
                  <a:latin typeface="Lato"/>
                  <a:ea typeface="Lato"/>
                  <a:cs typeface="Lato"/>
                  <a:sym typeface="Lato"/>
                </a:rPr>
                <a:t>Thread Block</a:t>
              </a:r>
              <a:endParaRPr>
                <a:solidFill>
                  <a:srgbClr val="595959"/>
                </a:solidFill>
                <a:latin typeface="Lato"/>
                <a:ea typeface="Lato"/>
                <a:cs typeface="Lato"/>
                <a:sym typeface="Lato"/>
              </a:endParaRPr>
            </a:p>
          </p:txBody>
        </p:sp>
        <p:grpSp>
          <p:nvGrpSpPr>
            <p:cNvPr id="1448" name="Google Shape;1448;p41"/>
            <p:cNvGrpSpPr/>
            <p:nvPr/>
          </p:nvGrpSpPr>
          <p:grpSpPr>
            <a:xfrm>
              <a:off x="1714525" y="1779713"/>
              <a:ext cx="855300" cy="709200"/>
              <a:chOff x="2037350" y="2357375"/>
              <a:chExt cx="855300" cy="709200"/>
            </a:xfrm>
          </p:grpSpPr>
          <p:sp>
            <p:nvSpPr>
              <p:cNvPr id="1449" name="Google Shape;1449;p41"/>
              <p:cNvSpPr/>
              <p:nvPr/>
            </p:nvSpPr>
            <p:spPr>
              <a:xfrm>
                <a:off x="2037350" y="2357375"/>
                <a:ext cx="855300" cy="709200"/>
              </a:xfrm>
              <a:prstGeom prst="rect">
                <a:avLst/>
              </a:prstGeom>
              <a:solidFill>
                <a:srgbClr val="FFFFFF"/>
              </a:solidFill>
              <a:ln w="9525" cap="flat" cmpd="sng">
                <a:solidFill>
                  <a:srgbClr val="0089CF"/>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grpSp>
            <p:nvGrpSpPr>
              <p:cNvPr id="1450" name="Google Shape;1450;p41"/>
              <p:cNvGrpSpPr/>
              <p:nvPr/>
            </p:nvGrpSpPr>
            <p:grpSpPr>
              <a:xfrm>
                <a:off x="2113175" y="2411050"/>
                <a:ext cx="703650" cy="601850"/>
                <a:chOff x="2113175" y="2411050"/>
                <a:chExt cx="703650" cy="601850"/>
              </a:xfrm>
            </p:grpSpPr>
            <p:sp>
              <p:nvSpPr>
                <p:cNvPr id="1451" name="Google Shape;1451;p41"/>
                <p:cNvSpPr/>
                <p:nvPr/>
              </p:nvSpPr>
              <p:spPr>
                <a:xfrm>
                  <a:off x="211317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452" name="Google Shape;1452;p41"/>
                <p:cNvSpPr/>
                <p:nvPr/>
              </p:nvSpPr>
              <p:spPr>
                <a:xfrm>
                  <a:off x="223045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453" name="Google Shape;1453;p41"/>
                <p:cNvSpPr/>
                <p:nvPr/>
              </p:nvSpPr>
              <p:spPr>
                <a:xfrm>
                  <a:off x="234772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454" name="Google Shape;1454;p41"/>
                <p:cNvSpPr/>
                <p:nvPr/>
              </p:nvSpPr>
              <p:spPr>
                <a:xfrm>
                  <a:off x="246500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455" name="Google Shape;1455;p41"/>
                <p:cNvSpPr/>
                <p:nvPr/>
              </p:nvSpPr>
              <p:spPr>
                <a:xfrm>
                  <a:off x="258227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456" name="Google Shape;1456;p41"/>
                <p:cNvSpPr/>
                <p:nvPr/>
              </p:nvSpPr>
              <p:spPr>
                <a:xfrm>
                  <a:off x="269955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grpSp>
        </p:grpSp>
        <p:sp>
          <p:nvSpPr>
            <p:cNvPr id="1457" name="Google Shape;1457;p41"/>
            <p:cNvSpPr txBox="1"/>
            <p:nvPr/>
          </p:nvSpPr>
          <p:spPr>
            <a:xfrm>
              <a:off x="6407400" y="2441213"/>
              <a:ext cx="1318200" cy="392385"/>
            </a:xfrm>
            <a:prstGeom prst="rect">
              <a:avLst/>
            </a:prstGeom>
            <a:noFill/>
            <a:ln>
              <a:noFill/>
            </a:ln>
          </p:spPr>
          <p:txBody>
            <a:bodyPr spcFirstLastPara="1" wrap="square" lIns="121900" tIns="121900" rIns="121900" bIns="121900" anchor="t" anchorCtr="0">
              <a:spAutoFit/>
            </a:bodyPr>
            <a:lstStyle/>
            <a:p>
              <a:pPr algn="ctr" rtl="0"/>
              <a:r>
                <a:rPr lang="en-GB">
                  <a:solidFill>
                    <a:srgbClr val="595959"/>
                  </a:solidFill>
                  <a:latin typeface="Lato"/>
                  <a:ea typeface="Lato"/>
                  <a:cs typeface="Lato"/>
                  <a:sym typeface="Lato"/>
                </a:rPr>
                <a:t>Thread Block</a:t>
              </a:r>
              <a:endParaRPr>
                <a:solidFill>
                  <a:srgbClr val="595959"/>
                </a:solidFill>
                <a:latin typeface="Lato"/>
                <a:ea typeface="Lato"/>
                <a:cs typeface="Lato"/>
                <a:sym typeface="Lato"/>
              </a:endParaRPr>
            </a:p>
          </p:txBody>
        </p:sp>
        <p:grpSp>
          <p:nvGrpSpPr>
            <p:cNvPr id="1458" name="Google Shape;1458;p41"/>
            <p:cNvGrpSpPr/>
            <p:nvPr/>
          </p:nvGrpSpPr>
          <p:grpSpPr>
            <a:xfrm flipH="1">
              <a:off x="6486450" y="1732013"/>
              <a:ext cx="855300" cy="709200"/>
              <a:chOff x="2037350" y="2357375"/>
              <a:chExt cx="855300" cy="709200"/>
            </a:xfrm>
          </p:grpSpPr>
          <p:sp>
            <p:nvSpPr>
              <p:cNvPr id="1459" name="Google Shape;1459;p41"/>
              <p:cNvSpPr/>
              <p:nvPr/>
            </p:nvSpPr>
            <p:spPr>
              <a:xfrm>
                <a:off x="2037350" y="2357375"/>
                <a:ext cx="855300" cy="709200"/>
              </a:xfrm>
              <a:prstGeom prst="rect">
                <a:avLst/>
              </a:prstGeom>
              <a:solidFill>
                <a:srgbClr val="FFFFFF"/>
              </a:solidFill>
              <a:ln w="9525" cap="flat" cmpd="sng">
                <a:solidFill>
                  <a:srgbClr val="0089CF"/>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grpSp>
            <p:nvGrpSpPr>
              <p:cNvPr id="1460" name="Google Shape;1460;p41"/>
              <p:cNvGrpSpPr/>
              <p:nvPr/>
            </p:nvGrpSpPr>
            <p:grpSpPr>
              <a:xfrm>
                <a:off x="2113175" y="2411050"/>
                <a:ext cx="703650" cy="601850"/>
                <a:chOff x="2113175" y="2411050"/>
                <a:chExt cx="703650" cy="601850"/>
              </a:xfrm>
            </p:grpSpPr>
            <p:sp>
              <p:nvSpPr>
                <p:cNvPr id="1461" name="Google Shape;1461;p41"/>
                <p:cNvSpPr/>
                <p:nvPr/>
              </p:nvSpPr>
              <p:spPr>
                <a:xfrm>
                  <a:off x="211317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462" name="Google Shape;1462;p41"/>
                <p:cNvSpPr/>
                <p:nvPr/>
              </p:nvSpPr>
              <p:spPr>
                <a:xfrm>
                  <a:off x="223045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463" name="Google Shape;1463;p41"/>
                <p:cNvSpPr/>
                <p:nvPr/>
              </p:nvSpPr>
              <p:spPr>
                <a:xfrm>
                  <a:off x="234772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464" name="Google Shape;1464;p41"/>
                <p:cNvSpPr/>
                <p:nvPr/>
              </p:nvSpPr>
              <p:spPr>
                <a:xfrm>
                  <a:off x="246500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465" name="Google Shape;1465;p41"/>
                <p:cNvSpPr/>
                <p:nvPr/>
              </p:nvSpPr>
              <p:spPr>
                <a:xfrm>
                  <a:off x="258227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466" name="Google Shape;1466;p41"/>
                <p:cNvSpPr/>
                <p:nvPr/>
              </p:nvSpPr>
              <p:spPr>
                <a:xfrm>
                  <a:off x="269955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grpSp>
        </p:grpSp>
        <p:cxnSp>
          <p:nvCxnSpPr>
            <p:cNvPr id="1467" name="Google Shape;1467;p41"/>
            <p:cNvCxnSpPr/>
            <p:nvPr/>
          </p:nvCxnSpPr>
          <p:spPr>
            <a:xfrm rot="10800000" flipH="1">
              <a:off x="2571750" y="1405650"/>
              <a:ext cx="846600" cy="383400"/>
            </a:xfrm>
            <a:prstGeom prst="straightConnector1">
              <a:avLst/>
            </a:prstGeom>
            <a:noFill/>
            <a:ln w="19050" cap="flat" cmpd="sng">
              <a:solidFill>
                <a:schemeClr val="dk2"/>
              </a:solidFill>
              <a:prstDash val="dash"/>
              <a:round/>
              <a:headEnd type="none" w="med" len="med"/>
              <a:tailEnd type="none" w="med" len="med"/>
            </a:ln>
          </p:spPr>
        </p:cxnSp>
        <p:cxnSp>
          <p:nvCxnSpPr>
            <p:cNvPr id="1468" name="Google Shape;1468;p41"/>
            <p:cNvCxnSpPr/>
            <p:nvPr/>
          </p:nvCxnSpPr>
          <p:spPr>
            <a:xfrm>
              <a:off x="2579725" y="2483900"/>
              <a:ext cx="862500" cy="926400"/>
            </a:xfrm>
            <a:prstGeom prst="straightConnector1">
              <a:avLst/>
            </a:prstGeom>
            <a:noFill/>
            <a:ln w="19050" cap="flat" cmpd="sng">
              <a:solidFill>
                <a:schemeClr val="dk2"/>
              </a:solidFill>
              <a:prstDash val="dash"/>
              <a:round/>
              <a:headEnd type="none" w="med" len="med"/>
              <a:tailEnd type="none" w="med" len="med"/>
            </a:ln>
          </p:spPr>
        </p:cxnSp>
        <p:cxnSp>
          <p:nvCxnSpPr>
            <p:cNvPr id="1469" name="Google Shape;1469;p41"/>
            <p:cNvCxnSpPr/>
            <p:nvPr/>
          </p:nvCxnSpPr>
          <p:spPr>
            <a:xfrm>
              <a:off x="5641575" y="1398725"/>
              <a:ext cx="851700" cy="342300"/>
            </a:xfrm>
            <a:prstGeom prst="straightConnector1">
              <a:avLst/>
            </a:prstGeom>
            <a:noFill/>
            <a:ln w="19050" cap="flat" cmpd="sng">
              <a:solidFill>
                <a:schemeClr val="dk2"/>
              </a:solidFill>
              <a:prstDash val="dash"/>
              <a:round/>
              <a:headEnd type="none" w="med" len="med"/>
              <a:tailEnd type="none" w="med" len="med"/>
            </a:ln>
          </p:spPr>
        </p:cxnSp>
        <p:cxnSp>
          <p:nvCxnSpPr>
            <p:cNvPr id="1470" name="Google Shape;1470;p41"/>
            <p:cNvCxnSpPr/>
            <p:nvPr/>
          </p:nvCxnSpPr>
          <p:spPr>
            <a:xfrm rot="10800000" flipH="1">
              <a:off x="5641575" y="2435900"/>
              <a:ext cx="811800" cy="974400"/>
            </a:xfrm>
            <a:prstGeom prst="straightConnector1">
              <a:avLst/>
            </a:prstGeom>
            <a:noFill/>
            <a:ln w="19050" cap="flat" cmpd="sng">
              <a:solidFill>
                <a:schemeClr val="dk2"/>
              </a:solidFill>
              <a:prstDash val="dash"/>
              <a:round/>
              <a:headEnd type="none" w="med" len="med"/>
              <a:tailEnd type="none" w="med" len="med"/>
            </a:ln>
          </p:spPr>
        </p:cxnSp>
      </p:grpSp>
      <p:sp>
        <p:nvSpPr>
          <p:cNvPr id="1471" name="Google Shape;1471;p41"/>
          <p:cNvSpPr txBox="1">
            <a:spLocks noGrp="1"/>
          </p:cNvSpPr>
          <p:nvPr>
            <p:ph type="body" idx="1"/>
          </p:nvPr>
        </p:nvSpPr>
        <p:spPr>
          <a:xfrm>
            <a:off x="349267" y="4660967"/>
            <a:ext cx="11780400" cy="947200"/>
          </a:xfrm>
          <a:prstGeom prst="rect">
            <a:avLst/>
          </a:prstGeom>
        </p:spPr>
        <p:txBody>
          <a:bodyPr spcFirstLastPara="1" wrap="square" lIns="91433" tIns="91433" rIns="91433" bIns="91433" anchor="t" anchorCtr="0">
            <a:noAutofit/>
          </a:bodyPr>
          <a:lstStyle/>
          <a:p>
            <a:pPr marL="0" indent="0" rtl="0">
              <a:buNone/>
            </a:pPr>
            <a:r>
              <a:rPr lang="en-GB" sz="2000" dirty="0"/>
              <a:t>Multiple blocks can be assigned to the same SM. </a:t>
            </a:r>
          </a:p>
          <a:p>
            <a:pPr marL="0" indent="0" rtl="0">
              <a:buNone/>
            </a:pPr>
            <a:r>
              <a:rPr lang="en-GB" sz="2000" dirty="0"/>
              <a:t>Limited number of blocks can be assigned </a:t>
            </a:r>
            <a:r>
              <a:rPr lang="en-GB" sz="2000" b="1" dirty="0">
                <a:solidFill>
                  <a:srgbClr val="980000"/>
                </a:solidFill>
              </a:rPr>
              <a:t>simultaneously</a:t>
            </a:r>
            <a:r>
              <a:rPr lang="en-GB" sz="2000" b="1" dirty="0"/>
              <a:t> </a:t>
            </a:r>
            <a:r>
              <a:rPr lang="en-GB" sz="2000" dirty="0"/>
              <a:t>to the SM </a:t>
            </a:r>
          </a:p>
          <a:p>
            <a:pPr marL="0" indent="0" rtl="0">
              <a:buNone/>
            </a:pPr>
            <a:r>
              <a:rPr lang="en-GB" sz="2000" dirty="0"/>
              <a:t>(max number of resident block and threads per block defined by the CUDA capability)</a:t>
            </a:r>
            <a:endParaRPr sz="2000" dirty="0"/>
          </a:p>
          <a:p>
            <a:pPr marL="0" indent="0" rtl="0">
              <a:buNone/>
            </a:pPr>
            <a:endParaRPr dirty="0"/>
          </a:p>
        </p:txBody>
      </p:sp>
      <p:sp>
        <p:nvSpPr>
          <p:cNvPr id="1472" name="Google Shape;1472;p41"/>
          <p:cNvSpPr txBox="1">
            <a:spLocks noGrp="1"/>
          </p:cNvSpPr>
          <p:nvPr>
            <p:ph type="body" idx="1"/>
          </p:nvPr>
        </p:nvSpPr>
        <p:spPr>
          <a:xfrm>
            <a:off x="349267" y="5910800"/>
            <a:ext cx="11780400" cy="947200"/>
          </a:xfrm>
          <a:prstGeom prst="rect">
            <a:avLst/>
          </a:prstGeom>
        </p:spPr>
        <p:txBody>
          <a:bodyPr spcFirstLastPara="1" wrap="square" lIns="91433" tIns="91433" rIns="91433" bIns="91433" anchor="t" anchorCtr="0">
            <a:noAutofit/>
          </a:bodyPr>
          <a:lstStyle/>
          <a:p>
            <a:pPr marL="0" indent="0" rtl="0">
              <a:buNone/>
            </a:pPr>
            <a:r>
              <a:rPr lang="en-GB" dirty="0"/>
              <a:t>(Most grids will contain many more blocks than this number. It is the HW that will schedule them)</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8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7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476"/>
        <p:cNvGrpSpPr/>
        <p:nvPr/>
      </p:nvGrpSpPr>
      <p:grpSpPr>
        <a:xfrm>
          <a:off x="0" y="0"/>
          <a:ext cx="0" cy="0"/>
          <a:chOff x="0" y="0"/>
          <a:chExt cx="0" cy="0"/>
        </a:xfrm>
      </p:grpSpPr>
      <p:sp>
        <p:nvSpPr>
          <p:cNvPr id="1478" name="Google Shape;1478;p42"/>
          <p:cNvSpPr txBox="1">
            <a:spLocks noGrp="1"/>
          </p:cNvSpPr>
          <p:nvPr>
            <p:ph type="body" idx="1"/>
          </p:nvPr>
        </p:nvSpPr>
        <p:spPr>
          <a:xfrm>
            <a:off x="418000" y="927167"/>
            <a:ext cx="11326400" cy="851200"/>
          </a:xfrm>
          <a:prstGeom prst="rect">
            <a:avLst/>
          </a:prstGeom>
        </p:spPr>
        <p:txBody>
          <a:bodyPr spcFirstLastPara="1" wrap="square" lIns="91433" tIns="91433" rIns="91433" bIns="91433" anchor="t" anchorCtr="0">
            <a:noAutofit/>
          </a:bodyPr>
          <a:lstStyle/>
          <a:p>
            <a:pPr marL="0" indent="0" rtl="0">
              <a:buNone/>
            </a:pPr>
            <a:r>
              <a:rPr lang="en-GB" sz="2267"/>
              <a:t>The assignment of threads to SMs on a block basis guarantees that threads in the same block are scheduled simultaneously* on the same SM</a:t>
            </a:r>
            <a:endParaRPr sz="2267"/>
          </a:p>
        </p:txBody>
      </p:sp>
      <p:sp>
        <p:nvSpPr>
          <p:cNvPr id="1479" name="Google Shape;1479;p42"/>
          <p:cNvSpPr txBox="1">
            <a:spLocks noGrp="1"/>
          </p:cNvSpPr>
          <p:nvPr>
            <p:ph type="sldNum" idx="12"/>
          </p:nvPr>
        </p:nvSpPr>
        <p:spPr>
          <a:xfrm>
            <a:off x="11466783" y="5913927"/>
            <a:ext cx="731600" cy="418000"/>
          </a:xfrm>
          <a:prstGeom prst="rect">
            <a:avLst/>
          </a:prstGeom>
        </p:spPr>
        <p:txBody>
          <a:bodyPr spcFirstLastPara="1" wrap="square" lIns="91433" tIns="91433" rIns="91433" bIns="91433" anchor="t" anchorCtr="0">
            <a:noAutofit/>
          </a:bodyPr>
          <a:lstStyle/>
          <a:p>
            <a:pPr rtl="0"/>
            <a:fld id="{00000000-1234-1234-1234-123412341234}" type="slidenum">
              <a:rPr lang="en-GB"/>
              <a:pPr rtl="0"/>
              <a:t>38</a:t>
            </a:fld>
            <a:endParaRPr/>
          </a:p>
        </p:txBody>
      </p:sp>
      <p:grpSp>
        <p:nvGrpSpPr>
          <p:cNvPr id="1480" name="Google Shape;1480;p42"/>
          <p:cNvGrpSpPr/>
          <p:nvPr/>
        </p:nvGrpSpPr>
        <p:grpSpPr>
          <a:xfrm flipH="1">
            <a:off x="10579000" y="1496551"/>
            <a:ext cx="1140400" cy="945600"/>
            <a:chOff x="2037350" y="2357375"/>
            <a:chExt cx="855300" cy="709200"/>
          </a:xfrm>
        </p:grpSpPr>
        <p:sp>
          <p:nvSpPr>
            <p:cNvPr id="1481" name="Google Shape;1481;p42"/>
            <p:cNvSpPr/>
            <p:nvPr/>
          </p:nvSpPr>
          <p:spPr>
            <a:xfrm>
              <a:off x="2037350" y="2357375"/>
              <a:ext cx="855300" cy="709200"/>
            </a:xfrm>
            <a:prstGeom prst="rect">
              <a:avLst/>
            </a:prstGeom>
            <a:solidFill>
              <a:srgbClr val="FFFFFF"/>
            </a:solidFill>
            <a:ln w="9525" cap="flat" cmpd="sng">
              <a:solidFill>
                <a:srgbClr val="0089CF"/>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grpSp>
          <p:nvGrpSpPr>
            <p:cNvPr id="1482" name="Google Shape;1482;p42"/>
            <p:cNvGrpSpPr/>
            <p:nvPr/>
          </p:nvGrpSpPr>
          <p:grpSpPr>
            <a:xfrm>
              <a:off x="2113175" y="2411050"/>
              <a:ext cx="703650" cy="601850"/>
              <a:chOff x="2113175" y="2411050"/>
              <a:chExt cx="703650" cy="601850"/>
            </a:xfrm>
          </p:grpSpPr>
          <p:sp>
            <p:nvSpPr>
              <p:cNvPr id="1483" name="Google Shape;1483;p42"/>
              <p:cNvSpPr/>
              <p:nvPr/>
            </p:nvSpPr>
            <p:spPr>
              <a:xfrm>
                <a:off x="211317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484" name="Google Shape;1484;p42"/>
              <p:cNvSpPr/>
              <p:nvPr/>
            </p:nvSpPr>
            <p:spPr>
              <a:xfrm>
                <a:off x="223045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485" name="Google Shape;1485;p42"/>
              <p:cNvSpPr/>
              <p:nvPr/>
            </p:nvSpPr>
            <p:spPr>
              <a:xfrm>
                <a:off x="234772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486" name="Google Shape;1486;p42"/>
              <p:cNvSpPr/>
              <p:nvPr/>
            </p:nvSpPr>
            <p:spPr>
              <a:xfrm>
                <a:off x="246500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487" name="Google Shape;1487;p42"/>
              <p:cNvSpPr/>
              <p:nvPr/>
            </p:nvSpPr>
            <p:spPr>
              <a:xfrm>
                <a:off x="258227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488" name="Google Shape;1488;p42"/>
              <p:cNvSpPr/>
              <p:nvPr/>
            </p:nvSpPr>
            <p:spPr>
              <a:xfrm>
                <a:off x="269955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grpSp>
      </p:grpSp>
      <p:grpSp>
        <p:nvGrpSpPr>
          <p:cNvPr id="1489" name="Google Shape;1489;p42"/>
          <p:cNvGrpSpPr/>
          <p:nvPr/>
        </p:nvGrpSpPr>
        <p:grpSpPr>
          <a:xfrm flipH="1">
            <a:off x="10375800" y="1985620"/>
            <a:ext cx="1140400" cy="945600"/>
            <a:chOff x="2037350" y="2357375"/>
            <a:chExt cx="855300" cy="709200"/>
          </a:xfrm>
        </p:grpSpPr>
        <p:sp>
          <p:nvSpPr>
            <p:cNvPr id="1490" name="Google Shape;1490;p42"/>
            <p:cNvSpPr/>
            <p:nvPr/>
          </p:nvSpPr>
          <p:spPr>
            <a:xfrm>
              <a:off x="2037350" y="2357375"/>
              <a:ext cx="855300" cy="709200"/>
            </a:xfrm>
            <a:prstGeom prst="rect">
              <a:avLst/>
            </a:prstGeom>
            <a:solidFill>
              <a:srgbClr val="FFFFFF"/>
            </a:solidFill>
            <a:ln w="9525" cap="flat" cmpd="sng">
              <a:solidFill>
                <a:srgbClr val="0089CF"/>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grpSp>
          <p:nvGrpSpPr>
            <p:cNvPr id="1491" name="Google Shape;1491;p42"/>
            <p:cNvGrpSpPr/>
            <p:nvPr/>
          </p:nvGrpSpPr>
          <p:grpSpPr>
            <a:xfrm>
              <a:off x="2113175" y="2411050"/>
              <a:ext cx="703650" cy="601850"/>
              <a:chOff x="2113175" y="2411050"/>
              <a:chExt cx="703650" cy="601850"/>
            </a:xfrm>
          </p:grpSpPr>
          <p:sp>
            <p:nvSpPr>
              <p:cNvPr id="1492" name="Google Shape;1492;p42"/>
              <p:cNvSpPr/>
              <p:nvPr/>
            </p:nvSpPr>
            <p:spPr>
              <a:xfrm>
                <a:off x="211317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493" name="Google Shape;1493;p42"/>
              <p:cNvSpPr/>
              <p:nvPr/>
            </p:nvSpPr>
            <p:spPr>
              <a:xfrm>
                <a:off x="223045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494" name="Google Shape;1494;p42"/>
              <p:cNvSpPr/>
              <p:nvPr/>
            </p:nvSpPr>
            <p:spPr>
              <a:xfrm>
                <a:off x="234772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495" name="Google Shape;1495;p42"/>
              <p:cNvSpPr/>
              <p:nvPr/>
            </p:nvSpPr>
            <p:spPr>
              <a:xfrm>
                <a:off x="246500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496" name="Google Shape;1496;p42"/>
              <p:cNvSpPr/>
              <p:nvPr/>
            </p:nvSpPr>
            <p:spPr>
              <a:xfrm>
                <a:off x="258227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497" name="Google Shape;1497;p42"/>
              <p:cNvSpPr/>
              <p:nvPr/>
            </p:nvSpPr>
            <p:spPr>
              <a:xfrm>
                <a:off x="269955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grpSp>
      </p:grpSp>
      <p:grpSp>
        <p:nvGrpSpPr>
          <p:cNvPr id="1498" name="Google Shape;1498;p42"/>
          <p:cNvGrpSpPr/>
          <p:nvPr/>
        </p:nvGrpSpPr>
        <p:grpSpPr>
          <a:xfrm>
            <a:off x="7905740" y="1703956"/>
            <a:ext cx="1140349" cy="2715644"/>
            <a:chOff x="6302250" y="2116475"/>
            <a:chExt cx="987600" cy="2350800"/>
          </a:xfrm>
        </p:grpSpPr>
        <p:sp>
          <p:nvSpPr>
            <p:cNvPr id="1499" name="Google Shape;1499;p42"/>
            <p:cNvSpPr/>
            <p:nvPr/>
          </p:nvSpPr>
          <p:spPr>
            <a:xfrm>
              <a:off x="6302250" y="2116475"/>
              <a:ext cx="987600" cy="2350800"/>
            </a:xfrm>
            <a:prstGeom prst="roundRect">
              <a:avLst>
                <a:gd name="adj" fmla="val 8730"/>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l" rtl="0"/>
              <a:endParaRPr sz="2000">
                <a:solidFill>
                  <a:srgbClr val="000000"/>
                </a:solidFill>
                <a:latin typeface="Calibri"/>
                <a:ea typeface="Calibri"/>
                <a:cs typeface="Calibri"/>
                <a:sym typeface="Calibri"/>
              </a:endParaRPr>
            </a:p>
          </p:txBody>
        </p:sp>
        <p:sp>
          <p:nvSpPr>
            <p:cNvPr id="1500" name="Google Shape;1500;p42"/>
            <p:cNvSpPr/>
            <p:nvPr/>
          </p:nvSpPr>
          <p:spPr>
            <a:xfrm>
              <a:off x="6389595" y="2192089"/>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24000" tIns="121900" rIns="24000" bIns="121900" anchor="ctr" anchorCtr="0">
              <a:noAutofit/>
            </a:bodyPr>
            <a:lstStyle/>
            <a:p>
              <a:pPr algn="ctr" rtl="0">
                <a:buClr>
                  <a:schemeClr val="dk1"/>
                </a:buClr>
              </a:pPr>
              <a:r>
                <a:rPr lang="en-GB" sz="1200">
                  <a:solidFill>
                    <a:schemeClr val="accent6"/>
                  </a:solidFill>
                  <a:latin typeface="Roboto"/>
                  <a:ea typeface="Roboto"/>
                  <a:cs typeface="Roboto"/>
                  <a:sym typeface="Roboto"/>
                </a:rPr>
                <a:t>SP</a:t>
              </a:r>
              <a:endParaRPr sz="1200">
                <a:solidFill>
                  <a:srgbClr val="666666"/>
                </a:solidFill>
                <a:latin typeface="Roboto"/>
                <a:ea typeface="Roboto"/>
                <a:cs typeface="Roboto"/>
                <a:sym typeface="Roboto"/>
              </a:endParaRPr>
            </a:p>
          </p:txBody>
        </p:sp>
        <p:sp>
          <p:nvSpPr>
            <p:cNvPr id="1501" name="Google Shape;1501;p42"/>
            <p:cNvSpPr/>
            <p:nvPr/>
          </p:nvSpPr>
          <p:spPr>
            <a:xfrm>
              <a:off x="6847192" y="2194932"/>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24000" tIns="121900" rIns="24000" bIns="121900" anchor="ctr" anchorCtr="0">
              <a:noAutofit/>
            </a:bodyPr>
            <a:lstStyle/>
            <a:p>
              <a:pPr algn="ctr" rtl="0">
                <a:buClr>
                  <a:schemeClr val="dk1"/>
                </a:buClr>
              </a:pPr>
              <a:r>
                <a:rPr lang="en-GB" sz="1200">
                  <a:solidFill>
                    <a:schemeClr val="accent6"/>
                  </a:solidFill>
                  <a:latin typeface="Roboto"/>
                  <a:ea typeface="Roboto"/>
                  <a:cs typeface="Roboto"/>
                  <a:sym typeface="Roboto"/>
                </a:rPr>
                <a:t>SP</a:t>
              </a:r>
              <a:endParaRPr sz="1200">
                <a:solidFill>
                  <a:srgbClr val="666666"/>
                </a:solidFill>
                <a:latin typeface="Roboto"/>
                <a:ea typeface="Roboto"/>
                <a:cs typeface="Roboto"/>
                <a:sym typeface="Roboto"/>
              </a:endParaRPr>
            </a:p>
          </p:txBody>
        </p:sp>
        <p:sp>
          <p:nvSpPr>
            <p:cNvPr id="1502" name="Google Shape;1502;p42"/>
            <p:cNvSpPr/>
            <p:nvPr/>
          </p:nvSpPr>
          <p:spPr>
            <a:xfrm>
              <a:off x="6389595" y="2595431"/>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24000" tIns="121900" rIns="24000" bIns="121900" anchor="ctr" anchorCtr="0">
              <a:noAutofit/>
            </a:bodyPr>
            <a:lstStyle/>
            <a:p>
              <a:pPr algn="ctr" rtl="0">
                <a:buClr>
                  <a:schemeClr val="dk1"/>
                </a:buClr>
              </a:pPr>
              <a:r>
                <a:rPr lang="en-GB" sz="1200">
                  <a:solidFill>
                    <a:schemeClr val="accent6"/>
                  </a:solidFill>
                  <a:latin typeface="Roboto"/>
                  <a:ea typeface="Roboto"/>
                  <a:cs typeface="Roboto"/>
                  <a:sym typeface="Roboto"/>
                </a:rPr>
                <a:t>SP</a:t>
              </a:r>
              <a:endParaRPr sz="1200">
                <a:solidFill>
                  <a:srgbClr val="666666"/>
                </a:solidFill>
                <a:latin typeface="Roboto"/>
                <a:ea typeface="Roboto"/>
                <a:cs typeface="Roboto"/>
                <a:sym typeface="Roboto"/>
              </a:endParaRPr>
            </a:p>
          </p:txBody>
        </p:sp>
        <p:sp>
          <p:nvSpPr>
            <p:cNvPr id="1503" name="Google Shape;1503;p42"/>
            <p:cNvSpPr/>
            <p:nvPr/>
          </p:nvSpPr>
          <p:spPr>
            <a:xfrm>
              <a:off x="6847192" y="2595431"/>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24000" tIns="121900" rIns="24000" bIns="121900" anchor="ctr" anchorCtr="0">
              <a:noAutofit/>
            </a:bodyPr>
            <a:lstStyle/>
            <a:p>
              <a:pPr algn="ctr" rtl="0">
                <a:buClr>
                  <a:schemeClr val="dk1"/>
                </a:buClr>
              </a:pPr>
              <a:r>
                <a:rPr lang="en-GB" sz="1200">
                  <a:solidFill>
                    <a:schemeClr val="accent6"/>
                  </a:solidFill>
                  <a:latin typeface="Roboto"/>
                  <a:ea typeface="Roboto"/>
                  <a:cs typeface="Roboto"/>
                  <a:sym typeface="Roboto"/>
                </a:rPr>
                <a:t>SP</a:t>
              </a:r>
              <a:endParaRPr sz="1200">
                <a:solidFill>
                  <a:srgbClr val="666666"/>
                </a:solidFill>
                <a:latin typeface="Roboto"/>
                <a:ea typeface="Roboto"/>
                <a:cs typeface="Roboto"/>
                <a:sym typeface="Roboto"/>
              </a:endParaRPr>
            </a:p>
          </p:txBody>
        </p:sp>
        <p:sp>
          <p:nvSpPr>
            <p:cNvPr id="1504" name="Google Shape;1504;p42"/>
            <p:cNvSpPr/>
            <p:nvPr/>
          </p:nvSpPr>
          <p:spPr>
            <a:xfrm>
              <a:off x="6389595" y="2998772"/>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24000" tIns="121900" rIns="24000" bIns="121900" anchor="ctr" anchorCtr="0">
              <a:noAutofit/>
            </a:bodyPr>
            <a:lstStyle/>
            <a:p>
              <a:pPr algn="ctr" rtl="0">
                <a:buClr>
                  <a:schemeClr val="dk1"/>
                </a:buClr>
              </a:pPr>
              <a:r>
                <a:rPr lang="en-GB" sz="1200">
                  <a:solidFill>
                    <a:schemeClr val="accent6"/>
                  </a:solidFill>
                  <a:latin typeface="Roboto"/>
                  <a:ea typeface="Roboto"/>
                  <a:cs typeface="Roboto"/>
                  <a:sym typeface="Roboto"/>
                </a:rPr>
                <a:t>SP</a:t>
              </a:r>
              <a:endParaRPr sz="1200">
                <a:solidFill>
                  <a:srgbClr val="666666"/>
                </a:solidFill>
                <a:latin typeface="Roboto"/>
                <a:ea typeface="Roboto"/>
                <a:cs typeface="Roboto"/>
                <a:sym typeface="Roboto"/>
              </a:endParaRPr>
            </a:p>
          </p:txBody>
        </p:sp>
        <p:sp>
          <p:nvSpPr>
            <p:cNvPr id="1505" name="Google Shape;1505;p42"/>
            <p:cNvSpPr/>
            <p:nvPr/>
          </p:nvSpPr>
          <p:spPr>
            <a:xfrm>
              <a:off x="6847192" y="2998772"/>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24000" tIns="121900" rIns="24000" bIns="121900" anchor="ctr" anchorCtr="0">
              <a:noAutofit/>
            </a:bodyPr>
            <a:lstStyle/>
            <a:p>
              <a:pPr algn="ctr" rtl="0">
                <a:buClr>
                  <a:schemeClr val="dk1"/>
                </a:buClr>
              </a:pPr>
              <a:r>
                <a:rPr lang="en-GB" sz="1200">
                  <a:solidFill>
                    <a:schemeClr val="accent6"/>
                  </a:solidFill>
                  <a:latin typeface="Roboto"/>
                  <a:ea typeface="Roboto"/>
                  <a:cs typeface="Roboto"/>
                  <a:sym typeface="Roboto"/>
                </a:rPr>
                <a:t>SP</a:t>
              </a:r>
              <a:endParaRPr sz="1200">
                <a:solidFill>
                  <a:srgbClr val="666666"/>
                </a:solidFill>
                <a:latin typeface="Roboto"/>
                <a:ea typeface="Roboto"/>
                <a:cs typeface="Roboto"/>
                <a:sym typeface="Roboto"/>
              </a:endParaRPr>
            </a:p>
          </p:txBody>
        </p:sp>
        <p:sp>
          <p:nvSpPr>
            <p:cNvPr id="1506" name="Google Shape;1506;p42"/>
            <p:cNvSpPr/>
            <p:nvPr/>
          </p:nvSpPr>
          <p:spPr>
            <a:xfrm>
              <a:off x="6389595" y="3402114"/>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24000" tIns="121900" rIns="24000" bIns="121900" anchor="ctr" anchorCtr="0">
              <a:noAutofit/>
            </a:bodyPr>
            <a:lstStyle/>
            <a:p>
              <a:pPr algn="ctr" rtl="0">
                <a:buClr>
                  <a:schemeClr val="dk1"/>
                </a:buClr>
              </a:pPr>
              <a:r>
                <a:rPr lang="en-GB" sz="1200">
                  <a:solidFill>
                    <a:schemeClr val="accent6"/>
                  </a:solidFill>
                  <a:latin typeface="Roboto"/>
                  <a:ea typeface="Roboto"/>
                  <a:cs typeface="Roboto"/>
                  <a:sym typeface="Roboto"/>
                </a:rPr>
                <a:t>SP</a:t>
              </a:r>
              <a:endParaRPr sz="1200">
                <a:solidFill>
                  <a:srgbClr val="666666"/>
                </a:solidFill>
                <a:latin typeface="Roboto"/>
                <a:ea typeface="Roboto"/>
                <a:cs typeface="Roboto"/>
                <a:sym typeface="Roboto"/>
              </a:endParaRPr>
            </a:p>
          </p:txBody>
        </p:sp>
        <p:sp>
          <p:nvSpPr>
            <p:cNvPr id="1507" name="Google Shape;1507;p42"/>
            <p:cNvSpPr/>
            <p:nvPr/>
          </p:nvSpPr>
          <p:spPr>
            <a:xfrm>
              <a:off x="6847192" y="3402114"/>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24000" tIns="121900" rIns="24000" bIns="121900" anchor="ctr" anchorCtr="0">
              <a:noAutofit/>
            </a:bodyPr>
            <a:lstStyle/>
            <a:p>
              <a:pPr algn="ctr" rtl="0">
                <a:buClr>
                  <a:schemeClr val="dk1"/>
                </a:buClr>
              </a:pPr>
              <a:r>
                <a:rPr lang="en-GB" sz="1200">
                  <a:solidFill>
                    <a:schemeClr val="accent6"/>
                  </a:solidFill>
                  <a:latin typeface="Roboto"/>
                  <a:ea typeface="Roboto"/>
                  <a:cs typeface="Roboto"/>
                  <a:sym typeface="Roboto"/>
                </a:rPr>
                <a:t>SP</a:t>
              </a:r>
              <a:endParaRPr sz="1200">
                <a:solidFill>
                  <a:srgbClr val="666666"/>
                </a:solidFill>
                <a:latin typeface="Roboto"/>
                <a:ea typeface="Roboto"/>
                <a:cs typeface="Roboto"/>
                <a:sym typeface="Roboto"/>
              </a:endParaRPr>
            </a:p>
          </p:txBody>
        </p:sp>
        <p:sp>
          <p:nvSpPr>
            <p:cNvPr id="1508" name="Google Shape;1508;p42"/>
            <p:cNvSpPr/>
            <p:nvPr/>
          </p:nvSpPr>
          <p:spPr>
            <a:xfrm>
              <a:off x="6404239" y="3812359"/>
              <a:ext cx="812700" cy="205200"/>
            </a:xfrm>
            <a:prstGeom prst="rect">
              <a:avLst/>
            </a:prstGeom>
            <a:solidFill>
              <a:srgbClr val="4FAF48">
                <a:alpha val="46840"/>
              </a:srgbClr>
            </a:solidFill>
            <a:ln w="9525" cap="flat" cmpd="sng">
              <a:solidFill>
                <a:srgbClr val="000000"/>
              </a:solidFill>
              <a:prstDash val="solid"/>
              <a:round/>
              <a:headEnd type="none" w="sm" len="sm"/>
              <a:tailEnd type="none" w="sm" len="sm"/>
            </a:ln>
          </p:spPr>
          <p:txBody>
            <a:bodyPr spcFirstLastPara="1" wrap="square" lIns="0" tIns="121900" rIns="0" bIns="121900" anchor="ctr" anchorCtr="0">
              <a:noAutofit/>
            </a:bodyPr>
            <a:lstStyle/>
            <a:p>
              <a:pPr algn="ctr" rtl="0"/>
              <a:r>
                <a:rPr lang="en-GB" sz="1467" b="1">
                  <a:solidFill>
                    <a:srgbClr val="666666"/>
                  </a:solidFill>
                  <a:latin typeface="Roboto"/>
                  <a:ea typeface="Roboto"/>
                  <a:cs typeface="Roboto"/>
                  <a:sym typeface="Roboto"/>
                </a:rPr>
                <a:t>Control</a:t>
              </a:r>
              <a:endParaRPr sz="1467" b="1">
                <a:solidFill>
                  <a:srgbClr val="666666"/>
                </a:solidFill>
                <a:latin typeface="Roboto"/>
                <a:ea typeface="Roboto"/>
                <a:cs typeface="Roboto"/>
                <a:sym typeface="Roboto"/>
              </a:endParaRPr>
            </a:p>
          </p:txBody>
        </p:sp>
        <p:sp>
          <p:nvSpPr>
            <p:cNvPr id="1509" name="Google Shape;1509;p42"/>
            <p:cNvSpPr/>
            <p:nvPr/>
          </p:nvSpPr>
          <p:spPr>
            <a:xfrm>
              <a:off x="6408650" y="4106838"/>
              <a:ext cx="812700" cy="290100"/>
            </a:xfrm>
            <a:prstGeom prst="rect">
              <a:avLst/>
            </a:prstGeom>
            <a:solidFill>
              <a:srgbClr val="247EBA">
                <a:alpha val="21570"/>
              </a:srgbClr>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rtl="0"/>
              <a:r>
                <a:rPr lang="en-GB" sz="1467">
                  <a:solidFill>
                    <a:srgbClr val="666666"/>
                  </a:solidFill>
                  <a:latin typeface="Roboto"/>
                  <a:ea typeface="Roboto"/>
                  <a:cs typeface="Roboto"/>
                  <a:sym typeface="Roboto"/>
                </a:rPr>
                <a:t>MEM </a:t>
              </a:r>
              <a:endParaRPr sz="1467">
                <a:solidFill>
                  <a:srgbClr val="666666"/>
                </a:solidFill>
                <a:latin typeface="Roboto"/>
                <a:ea typeface="Roboto"/>
                <a:cs typeface="Roboto"/>
                <a:sym typeface="Roboto"/>
              </a:endParaRPr>
            </a:p>
          </p:txBody>
        </p:sp>
      </p:grpSp>
      <p:sp>
        <p:nvSpPr>
          <p:cNvPr id="1510" name="Google Shape;1510;p42"/>
          <p:cNvSpPr txBox="1"/>
          <p:nvPr/>
        </p:nvSpPr>
        <p:spPr>
          <a:xfrm>
            <a:off x="10067200" y="3134420"/>
            <a:ext cx="1757600" cy="523180"/>
          </a:xfrm>
          <a:prstGeom prst="rect">
            <a:avLst/>
          </a:prstGeom>
          <a:noFill/>
          <a:ln>
            <a:noFill/>
          </a:ln>
        </p:spPr>
        <p:txBody>
          <a:bodyPr spcFirstLastPara="1" wrap="square" lIns="121900" tIns="121900" rIns="121900" bIns="121900" anchor="t" anchorCtr="0">
            <a:spAutoFit/>
          </a:bodyPr>
          <a:lstStyle/>
          <a:p>
            <a:pPr algn="ctr" rtl="0"/>
            <a:r>
              <a:rPr lang="en-GB">
                <a:solidFill>
                  <a:srgbClr val="595959"/>
                </a:solidFill>
                <a:latin typeface="Lato"/>
                <a:ea typeface="Lato"/>
                <a:cs typeface="Lato"/>
                <a:sym typeface="Lato"/>
              </a:rPr>
              <a:t>Thread Block</a:t>
            </a:r>
            <a:endParaRPr>
              <a:solidFill>
                <a:srgbClr val="595959"/>
              </a:solidFill>
              <a:latin typeface="Lato"/>
              <a:ea typeface="Lato"/>
              <a:cs typeface="Lato"/>
              <a:sym typeface="Lato"/>
            </a:endParaRPr>
          </a:p>
        </p:txBody>
      </p:sp>
      <p:grpSp>
        <p:nvGrpSpPr>
          <p:cNvPr id="1511" name="Google Shape;1511;p42"/>
          <p:cNvGrpSpPr/>
          <p:nvPr/>
        </p:nvGrpSpPr>
        <p:grpSpPr>
          <a:xfrm flipH="1">
            <a:off x="10172600" y="2188820"/>
            <a:ext cx="1140400" cy="945600"/>
            <a:chOff x="2037350" y="2357375"/>
            <a:chExt cx="855300" cy="709200"/>
          </a:xfrm>
        </p:grpSpPr>
        <p:sp>
          <p:nvSpPr>
            <p:cNvPr id="1512" name="Google Shape;1512;p42"/>
            <p:cNvSpPr/>
            <p:nvPr/>
          </p:nvSpPr>
          <p:spPr>
            <a:xfrm>
              <a:off x="2037350" y="2357375"/>
              <a:ext cx="855300" cy="709200"/>
            </a:xfrm>
            <a:prstGeom prst="rect">
              <a:avLst/>
            </a:prstGeom>
            <a:solidFill>
              <a:srgbClr val="FFFFFF"/>
            </a:solidFill>
            <a:ln w="9525" cap="flat" cmpd="sng">
              <a:solidFill>
                <a:srgbClr val="0089CF"/>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grpSp>
          <p:nvGrpSpPr>
            <p:cNvPr id="1513" name="Google Shape;1513;p42"/>
            <p:cNvGrpSpPr/>
            <p:nvPr/>
          </p:nvGrpSpPr>
          <p:grpSpPr>
            <a:xfrm>
              <a:off x="2113175" y="2411050"/>
              <a:ext cx="703650" cy="601850"/>
              <a:chOff x="2113175" y="2411050"/>
              <a:chExt cx="703650" cy="601850"/>
            </a:xfrm>
          </p:grpSpPr>
          <p:sp>
            <p:nvSpPr>
              <p:cNvPr id="1514" name="Google Shape;1514;p42"/>
              <p:cNvSpPr/>
              <p:nvPr/>
            </p:nvSpPr>
            <p:spPr>
              <a:xfrm>
                <a:off x="211317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515" name="Google Shape;1515;p42"/>
              <p:cNvSpPr/>
              <p:nvPr/>
            </p:nvSpPr>
            <p:spPr>
              <a:xfrm>
                <a:off x="223045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516" name="Google Shape;1516;p42"/>
              <p:cNvSpPr/>
              <p:nvPr/>
            </p:nvSpPr>
            <p:spPr>
              <a:xfrm>
                <a:off x="234772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517" name="Google Shape;1517;p42"/>
              <p:cNvSpPr/>
              <p:nvPr/>
            </p:nvSpPr>
            <p:spPr>
              <a:xfrm>
                <a:off x="246500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518" name="Google Shape;1518;p42"/>
              <p:cNvSpPr/>
              <p:nvPr/>
            </p:nvSpPr>
            <p:spPr>
              <a:xfrm>
                <a:off x="258227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519" name="Google Shape;1519;p42"/>
              <p:cNvSpPr/>
              <p:nvPr/>
            </p:nvSpPr>
            <p:spPr>
              <a:xfrm>
                <a:off x="269955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grpSp>
      </p:grpSp>
      <p:cxnSp>
        <p:nvCxnSpPr>
          <p:cNvPr id="1520" name="Google Shape;1520;p42"/>
          <p:cNvCxnSpPr/>
          <p:nvPr/>
        </p:nvCxnSpPr>
        <p:spPr>
          <a:xfrm>
            <a:off x="9046100" y="1737500"/>
            <a:ext cx="1135600" cy="456400"/>
          </a:xfrm>
          <a:prstGeom prst="straightConnector1">
            <a:avLst/>
          </a:prstGeom>
          <a:noFill/>
          <a:ln w="19050" cap="flat" cmpd="sng">
            <a:solidFill>
              <a:schemeClr val="dk2"/>
            </a:solidFill>
            <a:prstDash val="dash"/>
            <a:round/>
            <a:headEnd type="none" w="med" len="med"/>
            <a:tailEnd type="none" w="med" len="med"/>
          </a:ln>
        </p:spPr>
      </p:cxnSp>
      <p:cxnSp>
        <p:nvCxnSpPr>
          <p:cNvPr id="1521" name="Google Shape;1521;p42"/>
          <p:cNvCxnSpPr/>
          <p:nvPr/>
        </p:nvCxnSpPr>
        <p:spPr>
          <a:xfrm rot="10800000" flipH="1">
            <a:off x="9046100" y="3120400"/>
            <a:ext cx="1082400" cy="1299200"/>
          </a:xfrm>
          <a:prstGeom prst="straightConnector1">
            <a:avLst/>
          </a:prstGeom>
          <a:noFill/>
          <a:ln w="19050" cap="flat" cmpd="sng">
            <a:solidFill>
              <a:schemeClr val="dk2"/>
            </a:solidFill>
            <a:prstDash val="dash"/>
            <a:round/>
            <a:headEnd type="none" w="med" len="med"/>
            <a:tailEnd type="none" w="med" len="med"/>
          </a:ln>
        </p:spPr>
      </p:cxnSp>
      <p:sp>
        <p:nvSpPr>
          <p:cNvPr id="1523" name="Google Shape;1523;p42"/>
          <p:cNvSpPr txBox="1">
            <a:spLocks noGrp="1"/>
          </p:cNvSpPr>
          <p:nvPr>
            <p:ph type="body" idx="1"/>
          </p:nvPr>
        </p:nvSpPr>
        <p:spPr>
          <a:xfrm>
            <a:off x="418000" y="1841567"/>
            <a:ext cx="7590000" cy="851200"/>
          </a:xfrm>
          <a:prstGeom prst="rect">
            <a:avLst/>
          </a:prstGeom>
        </p:spPr>
        <p:txBody>
          <a:bodyPr spcFirstLastPara="1" wrap="square" lIns="91433" tIns="91433" rIns="91433" bIns="91433" anchor="t" anchorCtr="0">
            <a:noAutofit/>
          </a:bodyPr>
          <a:lstStyle/>
          <a:p>
            <a:pPr marL="0" indent="0" rtl="0">
              <a:buNone/>
            </a:pPr>
            <a:r>
              <a:rPr lang="en-GB" sz="2267" dirty="0"/>
              <a:t>This allows threads in the same block to cooperate (e.g., they can access the local SM’s shared memory)</a:t>
            </a:r>
            <a:endParaRPr sz="2267" dirty="0"/>
          </a:p>
        </p:txBody>
      </p:sp>
      <p:sp>
        <p:nvSpPr>
          <p:cNvPr id="1524" name="Google Shape;1524;p42"/>
          <p:cNvSpPr txBox="1">
            <a:spLocks noGrp="1"/>
          </p:cNvSpPr>
          <p:nvPr>
            <p:ph type="body" idx="1"/>
          </p:nvPr>
        </p:nvSpPr>
        <p:spPr>
          <a:xfrm>
            <a:off x="1460500" y="2959167"/>
            <a:ext cx="6547600" cy="851200"/>
          </a:xfrm>
          <a:prstGeom prst="rect">
            <a:avLst/>
          </a:prstGeom>
        </p:spPr>
        <p:txBody>
          <a:bodyPr spcFirstLastPara="1" wrap="square" lIns="91433" tIns="91433" rIns="91433" bIns="91433" anchor="t" anchorCtr="0">
            <a:noAutofit/>
          </a:bodyPr>
          <a:lstStyle/>
          <a:p>
            <a:pPr marL="0" indent="0" rtl="0">
              <a:buNone/>
            </a:pPr>
            <a:r>
              <a:rPr lang="en-GB" sz="2267" b="1">
                <a:solidFill>
                  <a:srgbClr val="C53929"/>
                </a:solidFill>
              </a:rPr>
              <a:t>Important:</a:t>
            </a:r>
            <a:r>
              <a:rPr lang="en-GB" sz="2267" b="1"/>
              <a:t> </a:t>
            </a:r>
            <a:r>
              <a:rPr lang="en-GB" sz="2267"/>
              <a:t>CUDA runtime system can execute blocks in any order!</a:t>
            </a:r>
            <a:endParaRPr sz="2267"/>
          </a:p>
        </p:txBody>
      </p:sp>
      <p:sp>
        <p:nvSpPr>
          <p:cNvPr id="1525" name="Google Shape;1525;p42"/>
          <p:cNvSpPr txBox="1">
            <a:spLocks noGrp="1"/>
          </p:cNvSpPr>
          <p:nvPr>
            <p:ph type="body" idx="1"/>
          </p:nvPr>
        </p:nvSpPr>
        <p:spPr>
          <a:xfrm>
            <a:off x="418000" y="4076767"/>
            <a:ext cx="7590000" cy="851200"/>
          </a:xfrm>
          <a:prstGeom prst="rect">
            <a:avLst/>
          </a:prstGeom>
        </p:spPr>
        <p:txBody>
          <a:bodyPr spcFirstLastPara="1" wrap="square" lIns="91433" tIns="91433" rIns="91433" bIns="91433" anchor="t" anchorCtr="0">
            <a:noAutofit/>
          </a:bodyPr>
          <a:lstStyle/>
          <a:p>
            <a:pPr marL="0" indent="0" algn="ctr" rtl="0">
              <a:buNone/>
            </a:pPr>
            <a:r>
              <a:rPr lang="en-GB" sz="2267" b="1">
                <a:solidFill>
                  <a:srgbClr val="C53929"/>
                </a:solidFill>
              </a:rPr>
              <a:t>Your application must work properly independently from the block ordering!!</a:t>
            </a:r>
            <a:endParaRPr sz="2267">
              <a:solidFill>
                <a:srgbClr val="C53929"/>
              </a:solidFill>
            </a:endParaRPr>
          </a:p>
        </p:txBody>
      </p:sp>
      <p:pic>
        <p:nvPicPr>
          <p:cNvPr id="1526" name="Google Shape;1526;p42" title="alert_iconscout_akveo.png"/>
          <p:cNvPicPr preferRelativeResize="0"/>
          <p:nvPr/>
        </p:nvPicPr>
        <p:blipFill>
          <a:blip r:embed="rId3">
            <a:alphaModFix/>
          </a:blip>
          <a:stretch>
            <a:fillRect/>
          </a:stretch>
        </p:blipFill>
        <p:spPr>
          <a:xfrm>
            <a:off x="584567" y="3079934"/>
            <a:ext cx="609668" cy="609668"/>
          </a:xfrm>
          <a:prstGeom prst="rect">
            <a:avLst/>
          </a:prstGeom>
          <a:noFill/>
          <a:ln>
            <a:noFill/>
          </a:ln>
        </p:spPr>
      </p:pic>
      <p:sp>
        <p:nvSpPr>
          <p:cNvPr id="4" name="Google Shape;1381;p41">
            <a:extLst>
              <a:ext uri="{FF2B5EF4-FFF2-40B4-BE49-F238E27FC236}">
                <a16:creationId xmlns:a16="http://schemas.microsoft.com/office/drawing/2014/main" id="{E39B3594-D8DD-7D14-2330-FA1847346550}"/>
              </a:ext>
            </a:extLst>
          </p:cNvPr>
          <p:cNvSpPr txBox="1">
            <a:spLocks noGrp="1"/>
          </p:cNvSpPr>
          <p:nvPr>
            <p:ph type="title"/>
          </p:nvPr>
        </p:nvSpPr>
        <p:spPr>
          <a:xfrm>
            <a:off x="207257" y="375783"/>
            <a:ext cx="10650400" cy="709600"/>
          </a:xfrm>
          <a:prstGeom prst="rect">
            <a:avLst/>
          </a:prstGeom>
          <a:noFill/>
        </p:spPr>
        <p:txBody>
          <a:bodyPr spcFirstLastPara="1" wrap="square" lIns="91433" tIns="91433" rIns="91433" bIns="91433" anchor="b" anchorCtr="0">
            <a:noAutofit/>
          </a:bodyPr>
          <a:lstStyle/>
          <a:p>
            <a:pPr rtl="0"/>
            <a:r>
              <a:rPr lang="en-GB" dirty="0"/>
              <a:t>Block Scheduling</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1CA89-C1E2-7DAA-2A8A-49DB7768B5BB}"/>
              </a:ext>
            </a:extLst>
          </p:cNvPr>
          <p:cNvSpPr>
            <a:spLocks noGrp="1"/>
          </p:cNvSpPr>
          <p:nvPr>
            <p:ph type="title"/>
          </p:nvPr>
        </p:nvSpPr>
        <p:spPr/>
        <p:txBody>
          <a:bodyPr/>
          <a:lstStyle/>
          <a:p>
            <a:r>
              <a:rPr lang="en-NL" sz="2933" cap="small" dirty="0">
                <a:solidFill>
                  <a:schemeClr val="dk2"/>
                </a:solidFill>
              </a:rPr>
              <a:t>Block</a:t>
            </a:r>
            <a:r>
              <a:rPr lang="en-NL" dirty="0"/>
              <a:t> </a:t>
            </a:r>
            <a:r>
              <a:rPr lang="en-NL" sz="2933" cap="small" dirty="0">
                <a:solidFill>
                  <a:schemeClr val="dk2"/>
                </a:solidFill>
              </a:rPr>
              <a:t>Scheduling : SUMMARY</a:t>
            </a:r>
          </a:p>
        </p:txBody>
      </p:sp>
      <p:sp>
        <p:nvSpPr>
          <p:cNvPr id="4" name="object 3">
            <a:extLst>
              <a:ext uri="{FF2B5EF4-FFF2-40B4-BE49-F238E27FC236}">
                <a16:creationId xmlns:a16="http://schemas.microsoft.com/office/drawing/2014/main" id="{3C3FA1C2-AC63-5B24-69BE-1DECBE28B720}"/>
              </a:ext>
            </a:extLst>
          </p:cNvPr>
          <p:cNvSpPr txBox="1"/>
          <p:nvPr/>
        </p:nvSpPr>
        <p:spPr>
          <a:xfrm>
            <a:off x="762000" y="1534336"/>
            <a:ext cx="10287000" cy="3953646"/>
          </a:xfrm>
          <a:prstGeom prst="rect">
            <a:avLst/>
          </a:prstGeom>
        </p:spPr>
        <p:txBody>
          <a:bodyPr vert="horz" wrap="square" lIns="0" tIns="54610" rIns="0" bIns="0" rtlCol="0">
            <a:spAutoFit/>
          </a:bodyPr>
          <a:lstStyle/>
          <a:p>
            <a:pPr marL="355600" indent="-342900">
              <a:spcBef>
                <a:spcPts val="530"/>
              </a:spcBef>
              <a:buClr>
                <a:srgbClr val="4F80BC"/>
              </a:buClr>
              <a:buSzPct val="84090"/>
              <a:buFont typeface="Arial" panose="020B0604020202020204" pitchFamily="34" charset="0"/>
              <a:buChar char="•"/>
              <a:tabLst>
                <a:tab pos="194945" algn="l"/>
              </a:tabLst>
            </a:pPr>
            <a:r>
              <a:rPr lang="en-GB" sz="2200" dirty="0">
                <a:latin typeface="Arial"/>
                <a:cs typeface="Arial"/>
              </a:rPr>
              <a:t>Blocks are scheduled on the SM based on SM availability and shared-memory availability</a:t>
            </a:r>
          </a:p>
          <a:p>
            <a:pPr marL="355600" indent="-342900">
              <a:spcBef>
                <a:spcPts val="530"/>
              </a:spcBef>
              <a:buClr>
                <a:srgbClr val="4F80BC"/>
              </a:buClr>
              <a:buSzPct val="84090"/>
              <a:buFont typeface="Arial" panose="020B0604020202020204" pitchFamily="34" charset="0"/>
              <a:buChar char="•"/>
              <a:tabLst>
                <a:tab pos="194945" algn="l"/>
              </a:tabLst>
            </a:pPr>
            <a:endParaRPr lang="en-GB" sz="2200" dirty="0">
              <a:latin typeface="Arial"/>
              <a:cs typeface="Arial"/>
            </a:endParaRPr>
          </a:p>
          <a:p>
            <a:pPr marL="355600" indent="-342900">
              <a:spcBef>
                <a:spcPts val="530"/>
              </a:spcBef>
              <a:buClr>
                <a:srgbClr val="4F80BC"/>
              </a:buClr>
              <a:buSzPct val="84090"/>
              <a:buFont typeface="Arial" panose="020B0604020202020204" pitchFamily="34" charset="0"/>
              <a:buChar char="•"/>
              <a:tabLst>
                <a:tab pos="194945" algn="l"/>
              </a:tabLst>
            </a:pPr>
            <a:r>
              <a:rPr lang="en-GB" sz="2200" dirty="0">
                <a:latin typeface="Arial"/>
                <a:cs typeface="Arial"/>
              </a:rPr>
              <a:t>Allocation would vary every time you launch the kernel.</a:t>
            </a:r>
          </a:p>
          <a:p>
            <a:pPr marL="355600" indent="-342900">
              <a:spcBef>
                <a:spcPts val="530"/>
              </a:spcBef>
              <a:buClr>
                <a:srgbClr val="4F80BC"/>
              </a:buClr>
              <a:buSzPct val="84090"/>
              <a:buFont typeface="Arial" panose="020B0604020202020204" pitchFamily="34" charset="0"/>
              <a:buChar char="•"/>
              <a:tabLst>
                <a:tab pos="194945" algn="l"/>
              </a:tabLst>
            </a:pPr>
            <a:r>
              <a:rPr lang="en-GB" sz="2200" dirty="0">
                <a:latin typeface="Arial"/>
                <a:cs typeface="Arial"/>
              </a:rPr>
              <a:t>Order of execution also varies</a:t>
            </a:r>
          </a:p>
          <a:p>
            <a:pPr marL="355600" indent="-342900">
              <a:spcBef>
                <a:spcPts val="530"/>
              </a:spcBef>
              <a:buClr>
                <a:srgbClr val="4F80BC"/>
              </a:buClr>
              <a:buSzPct val="84090"/>
              <a:buFont typeface="Arial" panose="020B0604020202020204" pitchFamily="34" charset="0"/>
              <a:buChar char="•"/>
              <a:tabLst>
                <a:tab pos="194945" algn="l"/>
              </a:tabLst>
            </a:pPr>
            <a:r>
              <a:rPr lang="en-GB" sz="2200" dirty="0">
                <a:latin typeface="Arial"/>
                <a:cs typeface="Arial"/>
              </a:rPr>
              <a:t>Can have different solutions due to floating point rounding-off errors. </a:t>
            </a:r>
          </a:p>
          <a:p>
            <a:pPr marL="355600" indent="-342900">
              <a:spcBef>
                <a:spcPts val="530"/>
              </a:spcBef>
              <a:buClr>
                <a:srgbClr val="4F80BC"/>
              </a:buClr>
              <a:buSzPct val="84090"/>
              <a:buFont typeface="Arial" panose="020B0604020202020204" pitchFamily="34" charset="0"/>
              <a:buChar char="•"/>
              <a:tabLst>
                <a:tab pos="194945" algn="l"/>
              </a:tabLst>
            </a:pPr>
            <a:endParaRPr lang="en-GB" sz="2200" dirty="0">
              <a:latin typeface="Arial"/>
              <a:cs typeface="Arial"/>
            </a:endParaRPr>
          </a:p>
          <a:p>
            <a:pPr marL="355600" indent="-342900">
              <a:spcBef>
                <a:spcPts val="530"/>
              </a:spcBef>
              <a:buClr>
                <a:srgbClr val="4F80BC"/>
              </a:buClr>
              <a:buSzPct val="84090"/>
              <a:buFont typeface="Arial" panose="020B0604020202020204" pitchFamily="34" charset="0"/>
              <a:buChar char="•"/>
              <a:tabLst>
                <a:tab pos="194945" algn="l"/>
              </a:tabLst>
            </a:pPr>
            <a:endParaRPr lang="en-GB" sz="2200" dirty="0">
              <a:latin typeface="Arial"/>
              <a:cs typeface="Arial"/>
            </a:endParaRPr>
          </a:p>
          <a:p>
            <a:pPr marL="355600" indent="-342900">
              <a:spcBef>
                <a:spcPts val="530"/>
              </a:spcBef>
              <a:buClr>
                <a:srgbClr val="4F80BC"/>
              </a:buClr>
              <a:buSzPct val="84090"/>
              <a:buFont typeface="Arial" panose="020B0604020202020204" pitchFamily="34" charset="0"/>
              <a:buChar char="•"/>
              <a:tabLst>
                <a:tab pos="194945" algn="l"/>
              </a:tabLst>
            </a:pPr>
            <a:endParaRPr lang="en-GB" sz="2200" dirty="0">
              <a:latin typeface="Arial"/>
              <a:cs typeface="Arial"/>
            </a:endParaRPr>
          </a:p>
          <a:p>
            <a:pPr marL="355600" indent="-342900">
              <a:spcBef>
                <a:spcPts val="530"/>
              </a:spcBef>
              <a:buClr>
                <a:srgbClr val="4F80BC"/>
              </a:buClr>
              <a:buSzPct val="84090"/>
              <a:buFont typeface="Arial" panose="020B0604020202020204" pitchFamily="34" charset="0"/>
              <a:buChar char="•"/>
              <a:tabLst>
                <a:tab pos="194945" algn="l"/>
              </a:tabLst>
            </a:pPr>
            <a:endParaRPr lang="en-GB" sz="2200" dirty="0">
              <a:latin typeface="Arial"/>
              <a:cs typeface="Arial"/>
            </a:endParaRPr>
          </a:p>
        </p:txBody>
      </p:sp>
    </p:spTree>
    <p:extLst>
      <p:ext uri="{BB962C8B-B14F-4D97-AF65-F5344CB8AC3E}">
        <p14:creationId xmlns:p14="http://schemas.microsoft.com/office/powerpoint/2010/main" val="29065710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530"/>
        <p:cNvGrpSpPr/>
        <p:nvPr/>
      </p:nvGrpSpPr>
      <p:grpSpPr>
        <a:xfrm>
          <a:off x="0" y="0"/>
          <a:ext cx="0" cy="0"/>
          <a:chOff x="0" y="0"/>
          <a:chExt cx="0" cy="0"/>
        </a:xfrm>
      </p:grpSpPr>
      <p:sp>
        <p:nvSpPr>
          <p:cNvPr id="1531" name="Google Shape;1531;p43"/>
          <p:cNvSpPr txBox="1">
            <a:spLocks noGrp="1"/>
          </p:cNvSpPr>
          <p:nvPr>
            <p:ph type="title"/>
          </p:nvPr>
        </p:nvSpPr>
        <p:spPr>
          <a:xfrm>
            <a:off x="418000" y="391662"/>
            <a:ext cx="10650400" cy="709600"/>
          </a:xfrm>
          <a:prstGeom prst="rect">
            <a:avLst/>
          </a:prstGeom>
          <a:noFill/>
        </p:spPr>
        <p:txBody>
          <a:bodyPr spcFirstLastPara="1" wrap="square" lIns="91433" tIns="91433" rIns="91433" bIns="91433" anchor="b" anchorCtr="0">
            <a:noAutofit/>
          </a:bodyPr>
          <a:lstStyle/>
          <a:p>
            <a:pPr rtl="0"/>
            <a:r>
              <a:rPr lang="en-GB" dirty="0"/>
              <a:t>Thread Scheduling</a:t>
            </a:r>
            <a:endParaRPr dirty="0"/>
          </a:p>
        </p:txBody>
      </p:sp>
      <p:sp>
        <p:nvSpPr>
          <p:cNvPr id="1533" name="Google Shape;1533;p43"/>
          <p:cNvSpPr txBox="1">
            <a:spLocks noGrp="1"/>
          </p:cNvSpPr>
          <p:nvPr>
            <p:ph type="sldNum" idx="12"/>
          </p:nvPr>
        </p:nvSpPr>
        <p:spPr>
          <a:xfrm>
            <a:off x="11466783" y="5913927"/>
            <a:ext cx="731600" cy="418000"/>
          </a:xfrm>
          <a:prstGeom prst="rect">
            <a:avLst/>
          </a:prstGeom>
        </p:spPr>
        <p:txBody>
          <a:bodyPr spcFirstLastPara="1" wrap="square" lIns="91433" tIns="91433" rIns="91433" bIns="91433" anchor="t" anchorCtr="0">
            <a:noAutofit/>
          </a:bodyPr>
          <a:lstStyle/>
          <a:p>
            <a:pPr rtl="0"/>
            <a:fld id="{00000000-1234-1234-1234-123412341234}" type="slidenum">
              <a:rPr lang="en-GB"/>
              <a:pPr rtl="0"/>
              <a:t>40</a:t>
            </a:fld>
            <a:endParaRPr/>
          </a:p>
        </p:txBody>
      </p:sp>
      <p:sp>
        <p:nvSpPr>
          <p:cNvPr id="1534" name="Google Shape;1534;p43"/>
          <p:cNvSpPr txBox="1">
            <a:spLocks noGrp="1"/>
          </p:cNvSpPr>
          <p:nvPr>
            <p:ph type="body" idx="1"/>
          </p:nvPr>
        </p:nvSpPr>
        <p:spPr>
          <a:xfrm>
            <a:off x="432800" y="1205752"/>
            <a:ext cx="11326400" cy="905200"/>
          </a:xfrm>
          <a:prstGeom prst="rect">
            <a:avLst/>
          </a:prstGeom>
        </p:spPr>
        <p:txBody>
          <a:bodyPr spcFirstLastPara="1" wrap="square" lIns="91433" tIns="91433" rIns="91433" bIns="91433" anchor="t" anchorCtr="0">
            <a:noAutofit/>
          </a:bodyPr>
          <a:lstStyle/>
          <a:p>
            <a:pPr marL="0" indent="0" rtl="0">
              <a:buNone/>
            </a:pPr>
            <a:r>
              <a:rPr lang="en-GB" dirty="0"/>
              <a:t>Each block is divided into “W-threads” units called </a:t>
            </a:r>
            <a:r>
              <a:rPr lang="en-GB" b="1" dirty="0">
                <a:solidFill>
                  <a:schemeClr val="dk2"/>
                </a:solidFill>
              </a:rPr>
              <a:t>Warps</a:t>
            </a:r>
            <a:r>
              <a:rPr lang="en-GB" dirty="0"/>
              <a:t> (wavefront for AMD). </a:t>
            </a:r>
          </a:p>
          <a:p>
            <a:pPr marL="0" indent="0" rtl="0">
              <a:buNone/>
            </a:pPr>
            <a:r>
              <a:rPr lang="en-GB" dirty="0"/>
              <a:t>So far W = 32 (64 for AMD), but is not standardized</a:t>
            </a:r>
          </a:p>
        </p:txBody>
      </p:sp>
      <p:sp>
        <p:nvSpPr>
          <p:cNvPr id="1535" name="Google Shape;1535;p43"/>
          <p:cNvSpPr txBox="1">
            <a:spLocks noGrp="1"/>
          </p:cNvSpPr>
          <p:nvPr>
            <p:ph type="body" idx="1"/>
          </p:nvPr>
        </p:nvSpPr>
        <p:spPr>
          <a:xfrm>
            <a:off x="6523567" y="3189700"/>
            <a:ext cx="5146400" cy="541200"/>
          </a:xfrm>
          <a:prstGeom prst="rect">
            <a:avLst/>
          </a:prstGeom>
        </p:spPr>
        <p:txBody>
          <a:bodyPr spcFirstLastPara="1" wrap="square" lIns="91433" tIns="91433" rIns="91433" bIns="91433" anchor="t" anchorCtr="0">
            <a:noAutofit/>
          </a:bodyPr>
          <a:lstStyle/>
          <a:p>
            <a:pPr marL="0" indent="0" algn="ctr" rtl="0">
              <a:buNone/>
            </a:pPr>
            <a:r>
              <a:rPr lang="en-GB" b="1">
                <a:solidFill>
                  <a:schemeClr val="dk2"/>
                </a:solidFill>
              </a:rPr>
              <a:t>Warps are the scheduling unit in a SM</a:t>
            </a:r>
            <a:endParaRPr b="1">
              <a:solidFill>
                <a:schemeClr val="dk2"/>
              </a:solidFill>
            </a:endParaRPr>
          </a:p>
        </p:txBody>
      </p:sp>
      <p:grpSp>
        <p:nvGrpSpPr>
          <p:cNvPr id="1536" name="Google Shape;1536;p43"/>
          <p:cNvGrpSpPr/>
          <p:nvPr/>
        </p:nvGrpSpPr>
        <p:grpSpPr>
          <a:xfrm>
            <a:off x="860475" y="3829175"/>
            <a:ext cx="828399" cy="1972477"/>
            <a:chOff x="6302250" y="2116475"/>
            <a:chExt cx="987600" cy="2350800"/>
          </a:xfrm>
        </p:grpSpPr>
        <p:sp>
          <p:nvSpPr>
            <p:cNvPr id="1537" name="Google Shape;1537;p43"/>
            <p:cNvSpPr/>
            <p:nvPr/>
          </p:nvSpPr>
          <p:spPr>
            <a:xfrm>
              <a:off x="6302250" y="2116475"/>
              <a:ext cx="987600" cy="2350800"/>
            </a:xfrm>
            <a:prstGeom prst="roundRect">
              <a:avLst>
                <a:gd name="adj" fmla="val 8730"/>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l" rtl="0"/>
              <a:endParaRPr sz="2000">
                <a:solidFill>
                  <a:srgbClr val="000000"/>
                </a:solidFill>
                <a:latin typeface="Calibri"/>
                <a:ea typeface="Calibri"/>
                <a:cs typeface="Calibri"/>
                <a:sym typeface="Calibri"/>
              </a:endParaRPr>
            </a:p>
          </p:txBody>
        </p:sp>
        <p:sp>
          <p:nvSpPr>
            <p:cNvPr id="1538" name="Google Shape;1538;p43"/>
            <p:cNvSpPr/>
            <p:nvPr/>
          </p:nvSpPr>
          <p:spPr>
            <a:xfrm>
              <a:off x="6389595" y="2192089"/>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algn="ctr" rtl="0"/>
              <a:r>
                <a:rPr lang="en-GB" sz="1200">
                  <a:solidFill>
                    <a:srgbClr val="666666"/>
                  </a:solidFill>
                  <a:latin typeface="Roboto"/>
                  <a:ea typeface="Roboto"/>
                  <a:cs typeface="Roboto"/>
                  <a:sym typeface="Roboto"/>
                </a:rPr>
                <a:t>SP</a:t>
              </a:r>
              <a:endParaRPr sz="1200">
                <a:solidFill>
                  <a:srgbClr val="666666"/>
                </a:solidFill>
                <a:latin typeface="Roboto"/>
                <a:ea typeface="Roboto"/>
                <a:cs typeface="Roboto"/>
                <a:sym typeface="Roboto"/>
              </a:endParaRPr>
            </a:p>
          </p:txBody>
        </p:sp>
        <p:sp>
          <p:nvSpPr>
            <p:cNvPr id="1539" name="Google Shape;1539;p43"/>
            <p:cNvSpPr/>
            <p:nvPr/>
          </p:nvSpPr>
          <p:spPr>
            <a:xfrm>
              <a:off x="6847192" y="2194932"/>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algn="ctr" rtl="0">
                <a:buClr>
                  <a:schemeClr val="dk1"/>
                </a:buClr>
              </a:pPr>
              <a:r>
                <a:rPr lang="en-GB" sz="1200">
                  <a:solidFill>
                    <a:schemeClr val="accent6"/>
                  </a:solidFill>
                  <a:latin typeface="Roboto"/>
                  <a:ea typeface="Roboto"/>
                  <a:cs typeface="Roboto"/>
                  <a:sym typeface="Roboto"/>
                </a:rPr>
                <a:t>SP</a:t>
              </a:r>
              <a:endParaRPr sz="1200">
                <a:solidFill>
                  <a:srgbClr val="666666"/>
                </a:solidFill>
                <a:latin typeface="Roboto"/>
                <a:ea typeface="Roboto"/>
                <a:cs typeface="Roboto"/>
                <a:sym typeface="Roboto"/>
              </a:endParaRPr>
            </a:p>
          </p:txBody>
        </p:sp>
        <p:sp>
          <p:nvSpPr>
            <p:cNvPr id="1540" name="Google Shape;1540;p43"/>
            <p:cNvSpPr/>
            <p:nvPr/>
          </p:nvSpPr>
          <p:spPr>
            <a:xfrm>
              <a:off x="6389595" y="2595431"/>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algn="ctr" rtl="0">
                <a:buClr>
                  <a:schemeClr val="dk1"/>
                </a:buClr>
              </a:pPr>
              <a:r>
                <a:rPr lang="en-GB" sz="1200">
                  <a:solidFill>
                    <a:schemeClr val="accent6"/>
                  </a:solidFill>
                  <a:latin typeface="Roboto"/>
                  <a:ea typeface="Roboto"/>
                  <a:cs typeface="Roboto"/>
                  <a:sym typeface="Roboto"/>
                </a:rPr>
                <a:t>SP</a:t>
              </a:r>
              <a:endParaRPr sz="1200">
                <a:solidFill>
                  <a:srgbClr val="666666"/>
                </a:solidFill>
                <a:latin typeface="Roboto"/>
                <a:ea typeface="Roboto"/>
                <a:cs typeface="Roboto"/>
                <a:sym typeface="Roboto"/>
              </a:endParaRPr>
            </a:p>
          </p:txBody>
        </p:sp>
        <p:sp>
          <p:nvSpPr>
            <p:cNvPr id="1541" name="Google Shape;1541;p43"/>
            <p:cNvSpPr/>
            <p:nvPr/>
          </p:nvSpPr>
          <p:spPr>
            <a:xfrm>
              <a:off x="6847192" y="2595431"/>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algn="ctr" rtl="0">
                <a:buClr>
                  <a:schemeClr val="dk1"/>
                </a:buClr>
              </a:pPr>
              <a:r>
                <a:rPr lang="en-GB" sz="1200">
                  <a:solidFill>
                    <a:schemeClr val="accent6"/>
                  </a:solidFill>
                  <a:latin typeface="Roboto"/>
                  <a:ea typeface="Roboto"/>
                  <a:cs typeface="Roboto"/>
                  <a:sym typeface="Roboto"/>
                </a:rPr>
                <a:t>SP</a:t>
              </a:r>
              <a:endParaRPr sz="1200">
                <a:solidFill>
                  <a:srgbClr val="666666"/>
                </a:solidFill>
                <a:latin typeface="Roboto"/>
                <a:ea typeface="Roboto"/>
                <a:cs typeface="Roboto"/>
                <a:sym typeface="Roboto"/>
              </a:endParaRPr>
            </a:p>
          </p:txBody>
        </p:sp>
        <p:sp>
          <p:nvSpPr>
            <p:cNvPr id="1542" name="Google Shape;1542;p43"/>
            <p:cNvSpPr/>
            <p:nvPr/>
          </p:nvSpPr>
          <p:spPr>
            <a:xfrm>
              <a:off x="6389595" y="2998772"/>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algn="ctr" rtl="0">
                <a:buClr>
                  <a:schemeClr val="dk1"/>
                </a:buClr>
              </a:pPr>
              <a:r>
                <a:rPr lang="en-GB" sz="1200">
                  <a:solidFill>
                    <a:schemeClr val="accent6"/>
                  </a:solidFill>
                  <a:latin typeface="Roboto"/>
                  <a:ea typeface="Roboto"/>
                  <a:cs typeface="Roboto"/>
                  <a:sym typeface="Roboto"/>
                </a:rPr>
                <a:t>SP</a:t>
              </a:r>
              <a:endParaRPr sz="1200">
                <a:solidFill>
                  <a:srgbClr val="666666"/>
                </a:solidFill>
                <a:latin typeface="Roboto"/>
                <a:ea typeface="Roboto"/>
                <a:cs typeface="Roboto"/>
                <a:sym typeface="Roboto"/>
              </a:endParaRPr>
            </a:p>
          </p:txBody>
        </p:sp>
        <p:sp>
          <p:nvSpPr>
            <p:cNvPr id="1543" name="Google Shape;1543;p43"/>
            <p:cNvSpPr/>
            <p:nvPr/>
          </p:nvSpPr>
          <p:spPr>
            <a:xfrm>
              <a:off x="6847192" y="2998772"/>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algn="ctr" rtl="0">
                <a:buClr>
                  <a:schemeClr val="dk1"/>
                </a:buClr>
              </a:pPr>
              <a:r>
                <a:rPr lang="en-GB" sz="1200">
                  <a:solidFill>
                    <a:schemeClr val="accent6"/>
                  </a:solidFill>
                  <a:latin typeface="Roboto"/>
                  <a:ea typeface="Roboto"/>
                  <a:cs typeface="Roboto"/>
                  <a:sym typeface="Roboto"/>
                </a:rPr>
                <a:t>SP</a:t>
              </a:r>
              <a:endParaRPr sz="1200">
                <a:solidFill>
                  <a:srgbClr val="666666"/>
                </a:solidFill>
                <a:latin typeface="Roboto"/>
                <a:ea typeface="Roboto"/>
                <a:cs typeface="Roboto"/>
                <a:sym typeface="Roboto"/>
              </a:endParaRPr>
            </a:p>
          </p:txBody>
        </p:sp>
        <p:sp>
          <p:nvSpPr>
            <p:cNvPr id="1544" name="Google Shape;1544;p43"/>
            <p:cNvSpPr/>
            <p:nvPr/>
          </p:nvSpPr>
          <p:spPr>
            <a:xfrm>
              <a:off x="6389595" y="3402114"/>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algn="ctr" rtl="0">
                <a:buClr>
                  <a:schemeClr val="dk1"/>
                </a:buClr>
              </a:pPr>
              <a:r>
                <a:rPr lang="en-GB" sz="1200">
                  <a:solidFill>
                    <a:schemeClr val="accent6"/>
                  </a:solidFill>
                  <a:latin typeface="Roboto"/>
                  <a:ea typeface="Roboto"/>
                  <a:cs typeface="Roboto"/>
                  <a:sym typeface="Roboto"/>
                </a:rPr>
                <a:t>SP</a:t>
              </a:r>
              <a:endParaRPr sz="1200">
                <a:solidFill>
                  <a:srgbClr val="666666"/>
                </a:solidFill>
                <a:latin typeface="Roboto"/>
                <a:ea typeface="Roboto"/>
                <a:cs typeface="Roboto"/>
                <a:sym typeface="Roboto"/>
              </a:endParaRPr>
            </a:p>
          </p:txBody>
        </p:sp>
        <p:sp>
          <p:nvSpPr>
            <p:cNvPr id="1545" name="Google Shape;1545;p43"/>
            <p:cNvSpPr/>
            <p:nvPr/>
          </p:nvSpPr>
          <p:spPr>
            <a:xfrm>
              <a:off x="6847192" y="3402114"/>
              <a:ext cx="355200" cy="355200"/>
            </a:xfrm>
            <a:prstGeom prst="rect">
              <a:avLst/>
            </a:prstGeom>
            <a:solidFill>
              <a:srgbClr val="B7E5DF">
                <a:alpha val="29800"/>
              </a:srgbClr>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algn="ctr" rtl="0">
                <a:buClr>
                  <a:schemeClr val="dk1"/>
                </a:buClr>
              </a:pPr>
              <a:r>
                <a:rPr lang="en-GB" sz="1200">
                  <a:solidFill>
                    <a:schemeClr val="accent6"/>
                  </a:solidFill>
                  <a:latin typeface="Roboto"/>
                  <a:ea typeface="Roboto"/>
                  <a:cs typeface="Roboto"/>
                  <a:sym typeface="Roboto"/>
                </a:rPr>
                <a:t>SP</a:t>
              </a:r>
              <a:endParaRPr sz="1200">
                <a:solidFill>
                  <a:srgbClr val="666666"/>
                </a:solidFill>
                <a:latin typeface="Roboto"/>
                <a:ea typeface="Roboto"/>
                <a:cs typeface="Roboto"/>
                <a:sym typeface="Roboto"/>
              </a:endParaRPr>
            </a:p>
          </p:txBody>
        </p:sp>
        <p:sp>
          <p:nvSpPr>
            <p:cNvPr id="1546" name="Google Shape;1546;p43"/>
            <p:cNvSpPr/>
            <p:nvPr/>
          </p:nvSpPr>
          <p:spPr>
            <a:xfrm>
              <a:off x="6404239" y="3812359"/>
              <a:ext cx="812700" cy="205200"/>
            </a:xfrm>
            <a:prstGeom prst="rect">
              <a:avLst/>
            </a:prstGeom>
            <a:solidFill>
              <a:srgbClr val="4FAF48">
                <a:alpha val="46840"/>
              </a:srgbClr>
            </a:solidFill>
            <a:ln w="9525" cap="flat" cmpd="sng">
              <a:solidFill>
                <a:srgbClr val="000000"/>
              </a:solidFill>
              <a:prstDash val="solid"/>
              <a:round/>
              <a:headEnd type="none" w="sm" len="sm"/>
              <a:tailEnd type="none" w="sm" len="sm"/>
            </a:ln>
          </p:spPr>
          <p:txBody>
            <a:bodyPr spcFirstLastPara="1" wrap="square" lIns="0" tIns="121900" rIns="0" bIns="121900" anchor="ctr" anchorCtr="0">
              <a:noAutofit/>
            </a:bodyPr>
            <a:lstStyle/>
            <a:p>
              <a:pPr algn="ctr" rtl="0"/>
              <a:r>
                <a:rPr lang="en-GB" sz="1200">
                  <a:solidFill>
                    <a:srgbClr val="666666"/>
                  </a:solidFill>
                  <a:latin typeface="Roboto"/>
                  <a:ea typeface="Roboto"/>
                  <a:cs typeface="Roboto"/>
                  <a:sym typeface="Roboto"/>
                </a:rPr>
                <a:t>Control</a:t>
              </a:r>
              <a:endParaRPr sz="1200">
                <a:solidFill>
                  <a:srgbClr val="666666"/>
                </a:solidFill>
                <a:latin typeface="Roboto"/>
                <a:ea typeface="Roboto"/>
                <a:cs typeface="Roboto"/>
                <a:sym typeface="Roboto"/>
              </a:endParaRPr>
            </a:p>
          </p:txBody>
        </p:sp>
        <p:sp>
          <p:nvSpPr>
            <p:cNvPr id="1547" name="Google Shape;1547;p43"/>
            <p:cNvSpPr/>
            <p:nvPr/>
          </p:nvSpPr>
          <p:spPr>
            <a:xfrm>
              <a:off x="6408650" y="4106838"/>
              <a:ext cx="812700" cy="290100"/>
            </a:xfrm>
            <a:prstGeom prst="rect">
              <a:avLst/>
            </a:prstGeom>
            <a:solidFill>
              <a:srgbClr val="247EBA">
                <a:alpha val="21570"/>
              </a:srgbClr>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rtl="0"/>
              <a:r>
                <a:rPr lang="en-GB" sz="1200">
                  <a:solidFill>
                    <a:srgbClr val="666666"/>
                  </a:solidFill>
                  <a:latin typeface="Roboto"/>
                  <a:ea typeface="Roboto"/>
                  <a:cs typeface="Roboto"/>
                  <a:sym typeface="Roboto"/>
                </a:rPr>
                <a:t>MEM </a:t>
              </a:r>
              <a:endParaRPr sz="1200">
                <a:solidFill>
                  <a:srgbClr val="666666"/>
                </a:solidFill>
                <a:latin typeface="Roboto"/>
                <a:ea typeface="Roboto"/>
                <a:cs typeface="Roboto"/>
                <a:sym typeface="Roboto"/>
              </a:endParaRPr>
            </a:p>
          </p:txBody>
        </p:sp>
      </p:grpSp>
      <p:grpSp>
        <p:nvGrpSpPr>
          <p:cNvPr id="1548" name="Google Shape;1548;p43"/>
          <p:cNvGrpSpPr/>
          <p:nvPr/>
        </p:nvGrpSpPr>
        <p:grpSpPr>
          <a:xfrm>
            <a:off x="1688863" y="3058601"/>
            <a:ext cx="1974871" cy="3179343"/>
            <a:chOff x="1266647" y="2293950"/>
            <a:chExt cx="1481153" cy="2384507"/>
          </a:xfrm>
        </p:grpSpPr>
        <p:grpSp>
          <p:nvGrpSpPr>
            <p:cNvPr id="1549" name="Google Shape;1549;p43"/>
            <p:cNvGrpSpPr/>
            <p:nvPr/>
          </p:nvGrpSpPr>
          <p:grpSpPr>
            <a:xfrm flipH="1">
              <a:off x="1815942" y="4163294"/>
              <a:ext cx="621290" cy="515163"/>
              <a:chOff x="2037350" y="2357375"/>
              <a:chExt cx="855300" cy="709200"/>
            </a:xfrm>
          </p:grpSpPr>
          <p:sp>
            <p:nvSpPr>
              <p:cNvPr id="1550" name="Google Shape;1550;p43"/>
              <p:cNvSpPr/>
              <p:nvPr/>
            </p:nvSpPr>
            <p:spPr>
              <a:xfrm>
                <a:off x="2037350" y="2357375"/>
                <a:ext cx="855300" cy="709200"/>
              </a:xfrm>
              <a:prstGeom prst="rect">
                <a:avLst/>
              </a:prstGeom>
              <a:solidFill>
                <a:srgbClr val="FFFFFF"/>
              </a:solidFill>
              <a:ln w="9525"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grpSp>
            <p:nvGrpSpPr>
              <p:cNvPr id="1551" name="Google Shape;1551;p43"/>
              <p:cNvGrpSpPr/>
              <p:nvPr/>
            </p:nvGrpSpPr>
            <p:grpSpPr>
              <a:xfrm>
                <a:off x="2113175" y="2411050"/>
                <a:ext cx="703650" cy="601850"/>
                <a:chOff x="2113175" y="2411050"/>
                <a:chExt cx="703650" cy="601850"/>
              </a:xfrm>
            </p:grpSpPr>
            <p:sp>
              <p:nvSpPr>
                <p:cNvPr id="1552" name="Google Shape;1552;p43"/>
                <p:cNvSpPr/>
                <p:nvPr/>
              </p:nvSpPr>
              <p:spPr>
                <a:xfrm>
                  <a:off x="211317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1553" name="Google Shape;1553;p43"/>
                <p:cNvSpPr/>
                <p:nvPr/>
              </p:nvSpPr>
              <p:spPr>
                <a:xfrm>
                  <a:off x="223045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1554" name="Google Shape;1554;p43"/>
                <p:cNvSpPr/>
                <p:nvPr/>
              </p:nvSpPr>
              <p:spPr>
                <a:xfrm>
                  <a:off x="234772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1555" name="Google Shape;1555;p43"/>
                <p:cNvSpPr/>
                <p:nvPr/>
              </p:nvSpPr>
              <p:spPr>
                <a:xfrm>
                  <a:off x="246500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1556" name="Google Shape;1556;p43"/>
                <p:cNvSpPr/>
                <p:nvPr/>
              </p:nvSpPr>
              <p:spPr>
                <a:xfrm>
                  <a:off x="258227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1557" name="Google Shape;1557;p43"/>
                <p:cNvSpPr/>
                <p:nvPr/>
              </p:nvSpPr>
              <p:spPr>
                <a:xfrm>
                  <a:off x="269955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grpSp>
        </p:grpSp>
        <p:grpSp>
          <p:nvGrpSpPr>
            <p:cNvPr id="1558" name="Google Shape;1558;p43"/>
            <p:cNvGrpSpPr/>
            <p:nvPr/>
          </p:nvGrpSpPr>
          <p:grpSpPr>
            <a:xfrm flipH="1">
              <a:off x="1815947" y="3353984"/>
              <a:ext cx="621290" cy="515163"/>
              <a:chOff x="2037350" y="2357375"/>
              <a:chExt cx="855300" cy="709200"/>
            </a:xfrm>
          </p:grpSpPr>
          <p:sp>
            <p:nvSpPr>
              <p:cNvPr id="1559" name="Google Shape;1559;p43"/>
              <p:cNvSpPr/>
              <p:nvPr/>
            </p:nvSpPr>
            <p:spPr>
              <a:xfrm>
                <a:off x="2037350" y="2357375"/>
                <a:ext cx="855300" cy="709200"/>
              </a:xfrm>
              <a:prstGeom prst="rect">
                <a:avLst/>
              </a:prstGeom>
              <a:solidFill>
                <a:srgbClr val="FFFFFF"/>
              </a:solid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grpSp>
            <p:nvGrpSpPr>
              <p:cNvPr id="1560" name="Google Shape;1560;p43"/>
              <p:cNvGrpSpPr/>
              <p:nvPr/>
            </p:nvGrpSpPr>
            <p:grpSpPr>
              <a:xfrm>
                <a:off x="2113175" y="2411050"/>
                <a:ext cx="703650" cy="601850"/>
                <a:chOff x="2113175" y="2411050"/>
                <a:chExt cx="703650" cy="601850"/>
              </a:xfrm>
            </p:grpSpPr>
            <p:sp>
              <p:nvSpPr>
                <p:cNvPr id="1561" name="Google Shape;1561;p43"/>
                <p:cNvSpPr/>
                <p:nvPr/>
              </p:nvSpPr>
              <p:spPr>
                <a:xfrm>
                  <a:off x="211317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2"/>
                  </a:solidFill>
                  <a:prstDash val="solid"/>
                  <a:round/>
                  <a:headEnd type="none" w="med" len="med"/>
                  <a:tailEnd type="triangle" w="med" len="med"/>
                </a:ln>
              </p:spPr>
              <p:txBody>
                <a:bodyPr/>
                <a:lstStyle/>
                <a:p>
                  <a:endParaRPr lang="en-NL"/>
                </a:p>
              </p:txBody>
            </p:sp>
            <p:sp>
              <p:nvSpPr>
                <p:cNvPr id="1562" name="Google Shape;1562;p43"/>
                <p:cNvSpPr/>
                <p:nvPr/>
              </p:nvSpPr>
              <p:spPr>
                <a:xfrm>
                  <a:off x="223045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2"/>
                  </a:solidFill>
                  <a:prstDash val="solid"/>
                  <a:round/>
                  <a:headEnd type="none" w="med" len="med"/>
                  <a:tailEnd type="triangle" w="med" len="med"/>
                </a:ln>
              </p:spPr>
              <p:txBody>
                <a:bodyPr/>
                <a:lstStyle/>
                <a:p>
                  <a:endParaRPr lang="en-NL"/>
                </a:p>
              </p:txBody>
            </p:sp>
            <p:sp>
              <p:nvSpPr>
                <p:cNvPr id="1563" name="Google Shape;1563;p43"/>
                <p:cNvSpPr/>
                <p:nvPr/>
              </p:nvSpPr>
              <p:spPr>
                <a:xfrm>
                  <a:off x="234772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2"/>
                  </a:solidFill>
                  <a:prstDash val="solid"/>
                  <a:round/>
                  <a:headEnd type="none" w="med" len="med"/>
                  <a:tailEnd type="triangle" w="med" len="med"/>
                </a:ln>
              </p:spPr>
              <p:txBody>
                <a:bodyPr/>
                <a:lstStyle/>
                <a:p>
                  <a:endParaRPr lang="en-NL"/>
                </a:p>
              </p:txBody>
            </p:sp>
            <p:sp>
              <p:nvSpPr>
                <p:cNvPr id="1564" name="Google Shape;1564;p43"/>
                <p:cNvSpPr/>
                <p:nvPr/>
              </p:nvSpPr>
              <p:spPr>
                <a:xfrm>
                  <a:off x="246500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2"/>
                  </a:solidFill>
                  <a:prstDash val="solid"/>
                  <a:round/>
                  <a:headEnd type="none" w="med" len="med"/>
                  <a:tailEnd type="triangle" w="med" len="med"/>
                </a:ln>
              </p:spPr>
              <p:txBody>
                <a:bodyPr/>
                <a:lstStyle/>
                <a:p>
                  <a:endParaRPr lang="en-NL"/>
                </a:p>
              </p:txBody>
            </p:sp>
            <p:sp>
              <p:nvSpPr>
                <p:cNvPr id="1565" name="Google Shape;1565;p43"/>
                <p:cNvSpPr/>
                <p:nvPr/>
              </p:nvSpPr>
              <p:spPr>
                <a:xfrm>
                  <a:off x="258227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2"/>
                  </a:solidFill>
                  <a:prstDash val="solid"/>
                  <a:round/>
                  <a:headEnd type="none" w="med" len="med"/>
                  <a:tailEnd type="triangle" w="med" len="med"/>
                </a:ln>
              </p:spPr>
              <p:txBody>
                <a:bodyPr/>
                <a:lstStyle/>
                <a:p>
                  <a:endParaRPr lang="en-NL"/>
                </a:p>
              </p:txBody>
            </p:sp>
            <p:sp>
              <p:nvSpPr>
                <p:cNvPr id="1566" name="Google Shape;1566;p43"/>
                <p:cNvSpPr/>
                <p:nvPr/>
              </p:nvSpPr>
              <p:spPr>
                <a:xfrm>
                  <a:off x="269955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2"/>
                  </a:solidFill>
                  <a:prstDash val="solid"/>
                  <a:round/>
                  <a:headEnd type="none" w="med" len="med"/>
                  <a:tailEnd type="triangle" w="med" len="med"/>
                </a:ln>
              </p:spPr>
              <p:txBody>
                <a:bodyPr/>
                <a:lstStyle/>
                <a:p>
                  <a:endParaRPr lang="en-NL"/>
                </a:p>
              </p:txBody>
            </p:sp>
          </p:grpSp>
        </p:grpSp>
        <p:grpSp>
          <p:nvGrpSpPr>
            <p:cNvPr id="1567" name="Google Shape;1567;p43"/>
            <p:cNvGrpSpPr/>
            <p:nvPr/>
          </p:nvGrpSpPr>
          <p:grpSpPr>
            <a:xfrm flipH="1">
              <a:off x="1815947" y="2544670"/>
              <a:ext cx="621290" cy="515163"/>
              <a:chOff x="2037350" y="2357375"/>
              <a:chExt cx="855300" cy="709200"/>
            </a:xfrm>
          </p:grpSpPr>
          <p:sp>
            <p:nvSpPr>
              <p:cNvPr id="1568" name="Google Shape;1568;p43"/>
              <p:cNvSpPr/>
              <p:nvPr/>
            </p:nvSpPr>
            <p:spPr>
              <a:xfrm>
                <a:off x="2037350" y="2357375"/>
                <a:ext cx="855300" cy="709200"/>
              </a:xfrm>
              <a:prstGeom prst="rect">
                <a:avLst/>
              </a:prstGeom>
              <a:solidFill>
                <a:srgbClr val="FFFFFF"/>
              </a:solidFill>
              <a:ln w="9525" cap="flat" cmpd="sng">
                <a:solidFill>
                  <a:srgbClr val="0089CF"/>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grpSp>
            <p:nvGrpSpPr>
              <p:cNvPr id="1569" name="Google Shape;1569;p43"/>
              <p:cNvGrpSpPr/>
              <p:nvPr/>
            </p:nvGrpSpPr>
            <p:grpSpPr>
              <a:xfrm>
                <a:off x="2113175" y="2411050"/>
                <a:ext cx="703650" cy="601850"/>
                <a:chOff x="2113175" y="2411050"/>
                <a:chExt cx="703650" cy="601850"/>
              </a:xfrm>
            </p:grpSpPr>
            <p:sp>
              <p:nvSpPr>
                <p:cNvPr id="1570" name="Google Shape;1570;p43"/>
                <p:cNvSpPr/>
                <p:nvPr/>
              </p:nvSpPr>
              <p:spPr>
                <a:xfrm>
                  <a:off x="211317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571" name="Google Shape;1571;p43"/>
                <p:cNvSpPr/>
                <p:nvPr/>
              </p:nvSpPr>
              <p:spPr>
                <a:xfrm>
                  <a:off x="223045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572" name="Google Shape;1572;p43"/>
                <p:cNvSpPr/>
                <p:nvPr/>
              </p:nvSpPr>
              <p:spPr>
                <a:xfrm>
                  <a:off x="234772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573" name="Google Shape;1573;p43"/>
                <p:cNvSpPr/>
                <p:nvPr/>
              </p:nvSpPr>
              <p:spPr>
                <a:xfrm>
                  <a:off x="246500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574" name="Google Shape;1574;p43"/>
                <p:cNvSpPr/>
                <p:nvPr/>
              </p:nvSpPr>
              <p:spPr>
                <a:xfrm>
                  <a:off x="258227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575" name="Google Shape;1575;p43"/>
                <p:cNvSpPr/>
                <p:nvPr/>
              </p:nvSpPr>
              <p:spPr>
                <a:xfrm>
                  <a:off x="269955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grpSp>
        </p:grpSp>
        <p:sp>
          <p:nvSpPr>
            <p:cNvPr id="1576" name="Google Shape;1576;p43"/>
            <p:cNvSpPr txBox="1"/>
            <p:nvPr/>
          </p:nvSpPr>
          <p:spPr>
            <a:xfrm>
              <a:off x="2279500" y="2293950"/>
              <a:ext cx="468300" cy="353961"/>
            </a:xfrm>
            <a:prstGeom prst="rect">
              <a:avLst/>
            </a:prstGeom>
            <a:noFill/>
            <a:ln>
              <a:noFill/>
            </a:ln>
          </p:spPr>
          <p:txBody>
            <a:bodyPr spcFirstLastPara="1" wrap="square" lIns="121900" tIns="121900" rIns="121900" bIns="121900" anchor="t" anchorCtr="0">
              <a:spAutoFit/>
            </a:bodyPr>
            <a:lstStyle/>
            <a:p>
              <a:pPr algn="ctr" rtl="0"/>
              <a:r>
                <a:rPr lang="en-GB" sz="1467">
                  <a:solidFill>
                    <a:schemeClr val="dk2"/>
                  </a:solidFill>
                  <a:latin typeface="Lato"/>
                  <a:ea typeface="Lato"/>
                  <a:cs typeface="Lato"/>
                  <a:sym typeface="Lato"/>
                </a:rPr>
                <a:t>B1</a:t>
              </a:r>
              <a:endParaRPr sz="1467">
                <a:solidFill>
                  <a:schemeClr val="dk2"/>
                </a:solidFill>
                <a:latin typeface="Lato"/>
                <a:ea typeface="Lato"/>
                <a:cs typeface="Lato"/>
                <a:sym typeface="Lato"/>
              </a:endParaRPr>
            </a:p>
          </p:txBody>
        </p:sp>
        <p:sp>
          <p:nvSpPr>
            <p:cNvPr id="1577" name="Google Shape;1577;p43"/>
            <p:cNvSpPr txBox="1"/>
            <p:nvPr/>
          </p:nvSpPr>
          <p:spPr>
            <a:xfrm>
              <a:off x="2279500" y="3085845"/>
              <a:ext cx="468300" cy="353961"/>
            </a:xfrm>
            <a:prstGeom prst="rect">
              <a:avLst/>
            </a:prstGeom>
            <a:noFill/>
            <a:ln>
              <a:noFill/>
            </a:ln>
          </p:spPr>
          <p:txBody>
            <a:bodyPr spcFirstLastPara="1" wrap="square" lIns="121900" tIns="121900" rIns="121900" bIns="121900" anchor="t" anchorCtr="0">
              <a:spAutoFit/>
            </a:bodyPr>
            <a:lstStyle/>
            <a:p>
              <a:pPr algn="ctr" rtl="0"/>
              <a:r>
                <a:rPr lang="en-GB" sz="1467">
                  <a:solidFill>
                    <a:schemeClr val="accent2"/>
                  </a:solidFill>
                  <a:latin typeface="Lato"/>
                  <a:ea typeface="Lato"/>
                  <a:cs typeface="Lato"/>
                  <a:sym typeface="Lato"/>
                </a:rPr>
                <a:t>B2</a:t>
              </a:r>
              <a:endParaRPr sz="1467">
                <a:solidFill>
                  <a:schemeClr val="accent2"/>
                </a:solidFill>
                <a:latin typeface="Lato"/>
                <a:ea typeface="Lato"/>
                <a:cs typeface="Lato"/>
                <a:sym typeface="Lato"/>
              </a:endParaRPr>
            </a:p>
          </p:txBody>
        </p:sp>
        <p:sp>
          <p:nvSpPr>
            <p:cNvPr id="1578" name="Google Shape;1578;p43"/>
            <p:cNvSpPr txBox="1"/>
            <p:nvPr/>
          </p:nvSpPr>
          <p:spPr>
            <a:xfrm>
              <a:off x="2279500" y="3886458"/>
              <a:ext cx="468300" cy="353961"/>
            </a:xfrm>
            <a:prstGeom prst="rect">
              <a:avLst/>
            </a:prstGeom>
            <a:noFill/>
            <a:ln>
              <a:noFill/>
            </a:ln>
          </p:spPr>
          <p:txBody>
            <a:bodyPr spcFirstLastPara="1" wrap="square" lIns="121900" tIns="121900" rIns="121900" bIns="121900" anchor="t" anchorCtr="0">
              <a:spAutoFit/>
            </a:bodyPr>
            <a:lstStyle/>
            <a:p>
              <a:pPr algn="ctr" rtl="0"/>
              <a:r>
                <a:rPr lang="en-GB" sz="1467">
                  <a:solidFill>
                    <a:schemeClr val="accent3"/>
                  </a:solidFill>
                  <a:latin typeface="Lato"/>
                  <a:ea typeface="Lato"/>
                  <a:cs typeface="Lato"/>
                  <a:sym typeface="Lato"/>
                </a:rPr>
                <a:t>B3</a:t>
              </a:r>
              <a:endParaRPr sz="1467">
                <a:solidFill>
                  <a:schemeClr val="accent3"/>
                </a:solidFill>
                <a:latin typeface="Lato"/>
                <a:ea typeface="Lato"/>
                <a:cs typeface="Lato"/>
                <a:sym typeface="Lato"/>
              </a:endParaRPr>
            </a:p>
          </p:txBody>
        </p:sp>
        <p:cxnSp>
          <p:nvCxnSpPr>
            <p:cNvPr id="1579" name="Google Shape;1579;p43"/>
            <p:cNvCxnSpPr>
              <a:stCxn id="1568" idx="3"/>
              <a:endCxn id="1537" idx="3"/>
            </p:cNvCxnSpPr>
            <p:nvPr/>
          </p:nvCxnSpPr>
          <p:spPr>
            <a:xfrm flipH="1">
              <a:off x="1266647" y="2802252"/>
              <a:ext cx="549300" cy="809400"/>
            </a:xfrm>
            <a:prstGeom prst="straightConnector1">
              <a:avLst/>
            </a:prstGeom>
            <a:noFill/>
            <a:ln w="19050" cap="flat" cmpd="sng">
              <a:solidFill>
                <a:schemeClr val="dk2"/>
              </a:solidFill>
              <a:prstDash val="solid"/>
              <a:round/>
              <a:headEnd type="none" w="med" len="med"/>
              <a:tailEnd type="triangle" w="med" len="med"/>
            </a:ln>
          </p:spPr>
        </p:cxnSp>
        <p:cxnSp>
          <p:nvCxnSpPr>
            <p:cNvPr id="1580" name="Google Shape;1580;p43"/>
            <p:cNvCxnSpPr>
              <a:stCxn id="1559" idx="3"/>
            </p:cNvCxnSpPr>
            <p:nvPr/>
          </p:nvCxnSpPr>
          <p:spPr>
            <a:xfrm rot="10800000">
              <a:off x="1351247" y="3611566"/>
              <a:ext cx="464700" cy="0"/>
            </a:xfrm>
            <a:prstGeom prst="straightConnector1">
              <a:avLst/>
            </a:prstGeom>
            <a:noFill/>
            <a:ln w="19050" cap="flat" cmpd="sng">
              <a:solidFill>
                <a:schemeClr val="accent2"/>
              </a:solidFill>
              <a:prstDash val="solid"/>
              <a:round/>
              <a:headEnd type="none" w="med" len="med"/>
              <a:tailEnd type="triangle" w="med" len="med"/>
            </a:ln>
          </p:spPr>
        </p:cxnSp>
        <p:cxnSp>
          <p:nvCxnSpPr>
            <p:cNvPr id="1581" name="Google Shape;1581;p43"/>
            <p:cNvCxnSpPr>
              <a:stCxn id="1550" idx="3"/>
            </p:cNvCxnSpPr>
            <p:nvPr/>
          </p:nvCxnSpPr>
          <p:spPr>
            <a:xfrm rot="10800000">
              <a:off x="1267542" y="3707776"/>
              <a:ext cx="548400" cy="713100"/>
            </a:xfrm>
            <a:prstGeom prst="straightConnector1">
              <a:avLst/>
            </a:prstGeom>
            <a:noFill/>
            <a:ln w="19050" cap="flat" cmpd="sng">
              <a:solidFill>
                <a:schemeClr val="accent3"/>
              </a:solidFill>
              <a:prstDash val="solid"/>
              <a:round/>
              <a:headEnd type="none" w="med" len="med"/>
              <a:tailEnd type="triangle" w="med" len="med"/>
            </a:ln>
          </p:spPr>
        </p:cxnSp>
      </p:grpSp>
      <p:grpSp>
        <p:nvGrpSpPr>
          <p:cNvPr id="1582" name="Google Shape;1582;p43"/>
          <p:cNvGrpSpPr/>
          <p:nvPr/>
        </p:nvGrpSpPr>
        <p:grpSpPr>
          <a:xfrm>
            <a:off x="3348380" y="3084481"/>
            <a:ext cx="2783320" cy="1029915"/>
            <a:chOff x="2511285" y="2313360"/>
            <a:chExt cx="2087490" cy="772436"/>
          </a:xfrm>
        </p:grpSpPr>
        <p:grpSp>
          <p:nvGrpSpPr>
            <p:cNvPr id="1583" name="Google Shape;1583;p43"/>
            <p:cNvGrpSpPr/>
            <p:nvPr/>
          </p:nvGrpSpPr>
          <p:grpSpPr>
            <a:xfrm>
              <a:off x="3144585" y="2313360"/>
              <a:ext cx="1454190" cy="772436"/>
              <a:chOff x="3220785" y="2237160"/>
              <a:chExt cx="1454190" cy="772436"/>
            </a:xfrm>
          </p:grpSpPr>
          <p:sp>
            <p:nvSpPr>
              <p:cNvPr id="1584" name="Google Shape;1584;p43"/>
              <p:cNvSpPr/>
              <p:nvPr/>
            </p:nvSpPr>
            <p:spPr>
              <a:xfrm flipH="1">
                <a:off x="3343227" y="2237160"/>
                <a:ext cx="621300" cy="678900"/>
              </a:xfrm>
              <a:prstGeom prst="rect">
                <a:avLst/>
              </a:prstGeom>
              <a:solidFill>
                <a:srgbClr val="FFFFFF"/>
              </a:solidFill>
              <a:ln w="9525" cap="flat" cmpd="sng">
                <a:solidFill>
                  <a:srgbClr val="0089CF"/>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1585" name="Google Shape;1585;p43"/>
              <p:cNvSpPr/>
              <p:nvPr/>
            </p:nvSpPr>
            <p:spPr>
              <a:xfrm flipH="1">
                <a:off x="3286465" y="2284201"/>
                <a:ext cx="621300" cy="678900"/>
              </a:xfrm>
              <a:prstGeom prst="rect">
                <a:avLst/>
              </a:prstGeom>
              <a:solidFill>
                <a:srgbClr val="FFFFFF"/>
              </a:solidFill>
              <a:ln w="9525" cap="flat" cmpd="sng">
                <a:solidFill>
                  <a:srgbClr val="0089CF"/>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grpSp>
            <p:nvGrpSpPr>
              <p:cNvPr id="1586" name="Google Shape;1586;p43"/>
              <p:cNvGrpSpPr/>
              <p:nvPr/>
            </p:nvGrpSpPr>
            <p:grpSpPr>
              <a:xfrm>
                <a:off x="3220785" y="2330775"/>
                <a:ext cx="621290" cy="678821"/>
                <a:chOff x="3220785" y="2330775"/>
                <a:chExt cx="621290" cy="678821"/>
              </a:xfrm>
            </p:grpSpPr>
            <p:grpSp>
              <p:nvGrpSpPr>
                <p:cNvPr id="1587" name="Google Shape;1587;p43"/>
                <p:cNvGrpSpPr/>
                <p:nvPr/>
              </p:nvGrpSpPr>
              <p:grpSpPr>
                <a:xfrm flipH="1">
                  <a:off x="3220785" y="2330775"/>
                  <a:ext cx="621290" cy="678821"/>
                  <a:chOff x="2037367" y="2131955"/>
                  <a:chExt cx="855300" cy="934500"/>
                </a:xfrm>
              </p:grpSpPr>
              <p:sp>
                <p:nvSpPr>
                  <p:cNvPr id="1588" name="Google Shape;1588;p43"/>
                  <p:cNvSpPr/>
                  <p:nvPr/>
                </p:nvSpPr>
                <p:spPr>
                  <a:xfrm>
                    <a:off x="2037367" y="2131955"/>
                    <a:ext cx="855300" cy="934500"/>
                  </a:xfrm>
                  <a:prstGeom prst="rect">
                    <a:avLst/>
                  </a:prstGeom>
                  <a:solidFill>
                    <a:srgbClr val="FFFFFF"/>
                  </a:solidFill>
                  <a:ln w="9525" cap="flat" cmpd="sng">
                    <a:solidFill>
                      <a:srgbClr val="0089CF"/>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grpSp>
                <p:nvGrpSpPr>
                  <p:cNvPr id="1589" name="Google Shape;1589;p43"/>
                  <p:cNvGrpSpPr/>
                  <p:nvPr/>
                </p:nvGrpSpPr>
                <p:grpSpPr>
                  <a:xfrm>
                    <a:off x="2113175" y="2411050"/>
                    <a:ext cx="703650" cy="601850"/>
                    <a:chOff x="2113175" y="2411050"/>
                    <a:chExt cx="703650" cy="601850"/>
                  </a:xfrm>
                </p:grpSpPr>
                <p:sp>
                  <p:nvSpPr>
                    <p:cNvPr id="1590" name="Google Shape;1590;p43"/>
                    <p:cNvSpPr/>
                    <p:nvPr/>
                  </p:nvSpPr>
                  <p:spPr>
                    <a:xfrm>
                      <a:off x="211317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591" name="Google Shape;1591;p43"/>
                    <p:cNvSpPr/>
                    <p:nvPr/>
                  </p:nvSpPr>
                  <p:spPr>
                    <a:xfrm>
                      <a:off x="223045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592" name="Google Shape;1592;p43"/>
                    <p:cNvSpPr/>
                    <p:nvPr/>
                  </p:nvSpPr>
                  <p:spPr>
                    <a:xfrm>
                      <a:off x="234772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593" name="Google Shape;1593;p43"/>
                    <p:cNvSpPr/>
                    <p:nvPr/>
                  </p:nvSpPr>
                  <p:spPr>
                    <a:xfrm>
                      <a:off x="246500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594" name="Google Shape;1594;p43"/>
                    <p:cNvSpPr/>
                    <p:nvPr/>
                  </p:nvSpPr>
                  <p:spPr>
                    <a:xfrm>
                      <a:off x="258227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sp>
                  <p:nvSpPr>
                    <p:cNvPr id="1595" name="Google Shape;1595;p43"/>
                    <p:cNvSpPr/>
                    <p:nvPr/>
                  </p:nvSpPr>
                  <p:spPr>
                    <a:xfrm>
                      <a:off x="269955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rgbClr val="0089CF"/>
                      </a:solidFill>
                      <a:prstDash val="solid"/>
                      <a:round/>
                      <a:headEnd type="none" w="med" len="med"/>
                      <a:tailEnd type="triangle" w="med" len="med"/>
                    </a:ln>
                  </p:spPr>
                  <p:txBody>
                    <a:bodyPr/>
                    <a:lstStyle/>
                    <a:p>
                      <a:endParaRPr lang="en-NL"/>
                    </a:p>
                  </p:txBody>
                </p:sp>
              </p:grpSp>
            </p:grpSp>
            <p:sp>
              <p:nvSpPr>
                <p:cNvPr id="1596" name="Google Shape;1596;p43"/>
                <p:cNvSpPr txBox="1"/>
                <p:nvPr/>
              </p:nvSpPr>
              <p:spPr>
                <a:xfrm>
                  <a:off x="3246270" y="2337522"/>
                  <a:ext cx="150600" cy="153841"/>
                </a:xfrm>
                <a:prstGeom prst="rect">
                  <a:avLst/>
                </a:prstGeom>
                <a:noFill/>
                <a:ln>
                  <a:noFill/>
                </a:ln>
              </p:spPr>
              <p:txBody>
                <a:bodyPr spcFirstLastPara="1" wrap="square" lIns="0" tIns="0" rIns="0" bIns="0" anchor="t" anchorCtr="0">
                  <a:spAutoFit/>
                </a:bodyPr>
                <a:lstStyle/>
                <a:p>
                  <a:pPr algn="ctr" rtl="0"/>
                  <a:r>
                    <a:rPr lang="en-GB" sz="1333">
                      <a:solidFill>
                        <a:schemeClr val="dk2"/>
                      </a:solidFill>
                      <a:latin typeface="Lato"/>
                      <a:ea typeface="Lato"/>
                      <a:cs typeface="Lato"/>
                      <a:sym typeface="Lato"/>
                    </a:rPr>
                    <a:t>t</a:t>
                  </a:r>
                  <a:r>
                    <a:rPr lang="en-GB" sz="1333" baseline="-25000">
                      <a:solidFill>
                        <a:schemeClr val="dk2"/>
                      </a:solidFill>
                      <a:latin typeface="Lato"/>
                      <a:ea typeface="Lato"/>
                      <a:cs typeface="Lato"/>
                      <a:sym typeface="Lato"/>
                    </a:rPr>
                    <a:t>0</a:t>
                  </a:r>
                  <a:endParaRPr sz="1333" baseline="-25000">
                    <a:solidFill>
                      <a:schemeClr val="dk2"/>
                    </a:solidFill>
                    <a:latin typeface="Lato"/>
                    <a:ea typeface="Lato"/>
                    <a:cs typeface="Lato"/>
                    <a:sym typeface="Lato"/>
                  </a:endParaRPr>
                </a:p>
              </p:txBody>
            </p:sp>
            <p:sp>
              <p:nvSpPr>
                <p:cNvPr id="1597" name="Google Shape;1597;p43"/>
                <p:cNvSpPr txBox="1"/>
                <p:nvPr/>
              </p:nvSpPr>
              <p:spPr>
                <a:xfrm>
                  <a:off x="3350073" y="2337522"/>
                  <a:ext cx="150600" cy="153841"/>
                </a:xfrm>
                <a:prstGeom prst="rect">
                  <a:avLst/>
                </a:prstGeom>
                <a:noFill/>
                <a:ln>
                  <a:noFill/>
                </a:ln>
              </p:spPr>
              <p:txBody>
                <a:bodyPr spcFirstLastPara="1" wrap="square" lIns="0" tIns="0" rIns="0" bIns="0" anchor="t" anchorCtr="0">
                  <a:spAutoFit/>
                </a:bodyPr>
                <a:lstStyle/>
                <a:p>
                  <a:pPr algn="ctr" rtl="0"/>
                  <a:r>
                    <a:rPr lang="en-GB" sz="1333">
                      <a:solidFill>
                        <a:schemeClr val="dk2"/>
                      </a:solidFill>
                      <a:latin typeface="Lato"/>
                      <a:ea typeface="Lato"/>
                      <a:cs typeface="Lato"/>
                      <a:sym typeface="Lato"/>
                    </a:rPr>
                    <a:t>t</a:t>
                  </a:r>
                  <a:r>
                    <a:rPr lang="en-GB" sz="1333" baseline="-25000">
                      <a:solidFill>
                        <a:schemeClr val="dk2"/>
                      </a:solidFill>
                      <a:latin typeface="Lato"/>
                      <a:ea typeface="Lato"/>
                      <a:cs typeface="Lato"/>
                      <a:sym typeface="Lato"/>
                    </a:rPr>
                    <a:t>1</a:t>
                  </a:r>
                  <a:endParaRPr sz="1333" baseline="-25000">
                    <a:solidFill>
                      <a:schemeClr val="dk2"/>
                    </a:solidFill>
                    <a:latin typeface="Lato"/>
                    <a:ea typeface="Lato"/>
                    <a:cs typeface="Lato"/>
                    <a:sym typeface="Lato"/>
                  </a:endParaRPr>
                </a:p>
              </p:txBody>
            </p:sp>
            <p:sp>
              <p:nvSpPr>
                <p:cNvPr id="1598" name="Google Shape;1598;p43"/>
                <p:cNvSpPr txBox="1"/>
                <p:nvPr/>
              </p:nvSpPr>
              <p:spPr>
                <a:xfrm>
                  <a:off x="3654873" y="2337522"/>
                  <a:ext cx="150600" cy="153841"/>
                </a:xfrm>
                <a:prstGeom prst="rect">
                  <a:avLst/>
                </a:prstGeom>
                <a:noFill/>
                <a:ln>
                  <a:noFill/>
                </a:ln>
              </p:spPr>
              <p:txBody>
                <a:bodyPr spcFirstLastPara="1" wrap="square" lIns="0" tIns="0" rIns="0" bIns="0" anchor="t" anchorCtr="0">
                  <a:spAutoFit/>
                </a:bodyPr>
                <a:lstStyle/>
                <a:p>
                  <a:pPr algn="ctr" rtl="0"/>
                  <a:r>
                    <a:rPr lang="en-GB" sz="1333">
                      <a:solidFill>
                        <a:schemeClr val="dk2"/>
                      </a:solidFill>
                      <a:latin typeface="Lato"/>
                      <a:ea typeface="Lato"/>
                      <a:cs typeface="Lato"/>
                      <a:sym typeface="Lato"/>
                    </a:rPr>
                    <a:t>t</a:t>
                  </a:r>
                  <a:r>
                    <a:rPr lang="en-GB" sz="1333" baseline="-25000">
                      <a:solidFill>
                        <a:schemeClr val="dk2"/>
                      </a:solidFill>
                      <a:latin typeface="Lato"/>
                      <a:ea typeface="Lato"/>
                      <a:cs typeface="Lato"/>
                      <a:sym typeface="Lato"/>
                    </a:rPr>
                    <a:t>31</a:t>
                  </a:r>
                  <a:endParaRPr sz="1333" baseline="-25000">
                    <a:solidFill>
                      <a:schemeClr val="dk2"/>
                    </a:solidFill>
                    <a:latin typeface="Lato"/>
                    <a:ea typeface="Lato"/>
                    <a:cs typeface="Lato"/>
                    <a:sym typeface="Lato"/>
                  </a:endParaRPr>
                </a:p>
              </p:txBody>
            </p:sp>
            <p:sp>
              <p:nvSpPr>
                <p:cNvPr id="1599" name="Google Shape;1599;p43"/>
                <p:cNvSpPr txBox="1"/>
                <p:nvPr/>
              </p:nvSpPr>
              <p:spPr>
                <a:xfrm>
                  <a:off x="3481234" y="2337522"/>
                  <a:ext cx="150600" cy="153841"/>
                </a:xfrm>
                <a:prstGeom prst="rect">
                  <a:avLst/>
                </a:prstGeom>
                <a:noFill/>
                <a:ln>
                  <a:noFill/>
                </a:ln>
              </p:spPr>
              <p:txBody>
                <a:bodyPr spcFirstLastPara="1" wrap="square" lIns="0" tIns="0" rIns="0" bIns="0" anchor="t" anchorCtr="0">
                  <a:spAutoFit/>
                </a:bodyPr>
                <a:lstStyle/>
                <a:p>
                  <a:pPr algn="ctr" rtl="0"/>
                  <a:r>
                    <a:rPr lang="en-GB" sz="1333">
                      <a:solidFill>
                        <a:schemeClr val="dk2"/>
                      </a:solidFill>
                      <a:latin typeface="Lato"/>
                      <a:ea typeface="Lato"/>
                      <a:cs typeface="Lato"/>
                      <a:sym typeface="Lato"/>
                    </a:rPr>
                    <a:t>…</a:t>
                  </a:r>
                  <a:endParaRPr sz="1333" baseline="-25000">
                    <a:solidFill>
                      <a:schemeClr val="dk2"/>
                    </a:solidFill>
                    <a:latin typeface="Lato"/>
                    <a:ea typeface="Lato"/>
                    <a:cs typeface="Lato"/>
                    <a:sym typeface="Lato"/>
                  </a:endParaRPr>
                </a:p>
              </p:txBody>
            </p:sp>
          </p:grpSp>
          <p:sp>
            <p:nvSpPr>
              <p:cNvPr id="1600" name="Google Shape;1600;p43"/>
              <p:cNvSpPr txBox="1"/>
              <p:nvPr/>
            </p:nvSpPr>
            <p:spPr>
              <a:xfrm>
                <a:off x="4053675" y="2348800"/>
                <a:ext cx="621300" cy="523286"/>
              </a:xfrm>
              <a:prstGeom prst="rect">
                <a:avLst/>
              </a:prstGeom>
              <a:noFill/>
              <a:ln>
                <a:noFill/>
              </a:ln>
            </p:spPr>
            <p:txBody>
              <a:bodyPr spcFirstLastPara="1" wrap="square" lIns="121900" tIns="121900" rIns="121900" bIns="121900" anchor="t" anchorCtr="0">
                <a:spAutoFit/>
              </a:bodyPr>
              <a:lstStyle/>
              <a:p>
                <a:pPr algn="ctr" rtl="0"/>
                <a:r>
                  <a:rPr lang="en-GB" sz="1467">
                    <a:solidFill>
                      <a:schemeClr val="dk2"/>
                    </a:solidFill>
                    <a:latin typeface="Lato"/>
                    <a:ea typeface="Lato"/>
                    <a:cs typeface="Lato"/>
                    <a:sym typeface="Lato"/>
                  </a:rPr>
                  <a:t>B1 warps</a:t>
                </a:r>
                <a:endParaRPr sz="1467">
                  <a:solidFill>
                    <a:schemeClr val="dk2"/>
                  </a:solidFill>
                  <a:latin typeface="Lato"/>
                  <a:ea typeface="Lato"/>
                  <a:cs typeface="Lato"/>
                  <a:sym typeface="Lato"/>
                </a:endParaRPr>
              </a:p>
            </p:txBody>
          </p:sp>
        </p:grpSp>
        <p:cxnSp>
          <p:nvCxnSpPr>
            <p:cNvPr id="1601" name="Google Shape;1601;p43"/>
            <p:cNvCxnSpPr/>
            <p:nvPr/>
          </p:nvCxnSpPr>
          <p:spPr>
            <a:xfrm rot="10800000">
              <a:off x="2511285" y="2746385"/>
              <a:ext cx="557100" cy="0"/>
            </a:xfrm>
            <a:prstGeom prst="straightConnector1">
              <a:avLst/>
            </a:prstGeom>
            <a:noFill/>
            <a:ln w="19050" cap="flat" cmpd="sng">
              <a:solidFill>
                <a:schemeClr val="dk2"/>
              </a:solidFill>
              <a:prstDash val="solid"/>
              <a:round/>
              <a:headEnd type="none" w="med" len="med"/>
              <a:tailEnd type="triangle" w="med" len="med"/>
            </a:ln>
          </p:spPr>
        </p:cxnSp>
      </p:grpSp>
      <p:grpSp>
        <p:nvGrpSpPr>
          <p:cNvPr id="1602" name="Google Shape;1602;p43"/>
          <p:cNvGrpSpPr/>
          <p:nvPr/>
        </p:nvGrpSpPr>
        <p:grpSpPr>
          <a:xfrm>
            <a:off x="3348380" y="4227212"/>
            <a:ext cx="2783320" cy="2173700"/>
            <a:chOff x="2511285" y="3170410"/>
            <a:chExt cx="2087490" cy="1630275"/>
          </a:xfrm>
        </p:grpSpPr>
        <p:grpSp>
          <p:nvGrpSpPr>
            <p:cNvPr id="1603" name="Google Shape;1603;p43"/>
            <p:cNvGrpSpPr/>
            <p:nvPr/>
          </p:nvGrpSpPr>
          <p:grpSpPr>
            <a:xfrm>
              <a:off x="3144585" y="3170410"/>
              <a:ext cx="743742" cy="772436"/>
              <a:chOff x="3220785" y="3094210"/>
              <a:chExt cx="743742" cy="772436"/>
            </a:xfrm>
          </p:grpSpPr>
          <p:sp>
            <p:nvSpPr>
              <p:cNvPr id="1604" name="Google Shape;1604;p43"/>
              <p:cNvSpPr/>
              <p:nvPr/>
            </p:nvSpPr>
            <p:spPr>
              <a:xfrm flipH="1">
                <a:off x="3343227" y="3094210"/>
                <a:ext cx="621300" cy="678900"/>
              </a:xfrm>
              <a:prstGeom prst="rect">
                <a:avLst/>
              </a:prstGeom>
              <a:solidFill>
                <a:srgbClr val="FFFFFF"/>
              </a:solid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1605" name="Google Shape;1605;p43"/>
              <p:cNvSpPr/>
              <p:nvPr/>
            </p:nvSpPr>
            <p:spPr>
              <a:xfrm flipH="1">
                <a:off x="3286465" y="3141251"/>
                <a:ext cx="621300" cy="678900"/>
              </a:xfrm>
              <a:prstGeom prst="rect">
                <a:avLst/>
              </a:prstGeom>
              <a:solidFill>
                <a:srgbClr val="FFFFFF"/>
              </a:solid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grpSp>
            <p:nvGrpSpPr>
              <p:cNvPr id="1606" name="Google Shape;1606;p43"/>
              <p:cNvGrpSpPr/>
              <p:nvPr/>
            </p:nvGrpSpPr>
            <p:grpSpPr>
              <a:xfrm flipH="1">
                <a:off x="3220785" y="3187825"/>
                <a:ext cx="621290" cy="678821"/>
                <a:chOff x="2037367" y="2131955"/>
                <a:chExt cx="855300" cy="934500"/>
              </a:xfrm>
            </p:grpSpPr>
            <p:sp>
              <p:nvSpPr>
                <p:cNvPr id="1607" name="Google Shape;1607;p43"/>
                <p:cNvSpPr/>
                <p:nvPr/>
              </p:nvSpPr>
              <p:spPr>
                <a:xfrm>
                  <a:off x="2037367" y="2131955"/>
                  <a:ext cx="855300" cy="934500"/>
                </a:xfrm>
                <a:prstGeom prst="rect">
                  <a:avLst/>
                </a:prstGeom>
                <a:solidFill>
                  <a:srgbClr val="FFFFFF"/>
                </a:solid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grpSp>
              <p:nvGrpSpPr>
                <p:cNvPr id="1608" name="Google Shape;1608;p43"/>
                <p:cNvGrpSpPr/>
                <p:nvPr/>
              </p:nvGrpSpPr>
              <p:grpSpPr>
                <a:xfrm>
                  <a:off x="2113175" y="2411050"/>
                  <a:ext cx="703650" cy="601850"/>
                  <a:chOff x="2113175" y="2411050"/>
                  <a:chExt cx="703650" cy="601850"/>
                </a:xfrm>
              </p:grpSpPr>
              <p:sp>
                <p:nvSpPr>
                  <p:cNvPr id="1609" name="Google Shape;1609;p43"/>
                  <p:cNvSpPr/>
                  <p:nvPr/>
                </p:nvSpPr>
                <p:spPr>
                  <a:xfrm>
                    <a:off x="211317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2"/>
                    </a:solidFill>
                    <a:prstDash val="solid"/>
                    <a:round/>
                    <a:headEnd type="none" w="med" len="med"/>
                    <a:tailEnd type="triangle" w="med" len="med"/>
                  </a:ln>
                </p:spPr>
                <p:txBody>
                  <a:bodyPr/>
                  <a:lstStyle/>
                  <a:p>
                    <a:endParaRPr lang="en-NL"/>
                  </a:p>
                </p:txBody>
              </p:sp>
              <p:sp>
                <p:nvSpPr>
                  <p:cNvPr id="1610" name="Google Shape;1610;p43"/>
                  <p:cNvSpPr/>
                  <p:nvPr/>
                </p:nvSpPr>
                <p:spPr>
                  <a:xfrm>
                    <a:off x="223045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2"/>
                    </a:solidFill>
                    <a:prstDash val="solid"/>
                    <a:round/>
                    <a:headEnd type="none" w="med" len="med"/>
                    <a:tailEnd type="triangle" w="med" len="med"/>
                  </a:ln>
                </p:spPr>
                <p:txBody>
                  <a:bodyPr/>
                  <a:lstStyle/>
                  <a:p>
                    <a:endParaRPr lang="en-NL"/>
                  </a:p>
                </p:txBody>
              </p:sp>
              <p:sp>
                <p:nvSpPr>
                  <p:cNvPr id="1611" name="Google Shape;1611;p43"/>
                  <p:cNvSpPr/>
                  <p:nvPr/>
                </p:nvSpPr>
                <p:spPr>
                  <a:xfrm>
                    <a:off x="234772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2"/>
                    </a:solidFill>
                    <a:prstDash val="solid"/>
                    <a:round/>
                    <a:headEnd type="none" w="med" len="med"/>
                    <a:tailEnd type="triangle" w="med" len="med"/>
                  </a:ln>
                </p:spPr>
                <p:txBody>
                  <a:bodyPr/>
                  <a:lstStyle/>
                  <a:p>
                    <a:endParaRPr lang="en-NL"/>
                  </a:p>
                </p:txBody>
              </p:sp>
              <p:sp>
                <p:nvSpPr>
                  <p:cNvPr id="1612" name="Google Shape;1612;p43"/>
                  <p:cNvSpPr/>
                  <p:nvPr/>
                </p:nvSpPr>
                <p:spPr>
                  <a:xfrm>
                    <a:off x="246500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2"/>
                    </a:solidFill>
                    <a:prstDash val="solid"/>
                    <a:round/>
                    <a:headEnd type="none" w="med" len="med"/>
                    <a:tailEnd type="triangle" w="med" len="med"/>
                  </a:ln>
                </p:spPr>
                <p:txBody>
                  <a:bodyPr/>
                  <a:lstStyle/>
                  <a:p>
                    <a:endParaRPr lang="en-NL"/>
                  </a:p>
                </p:txBody>
              </p:sp>
              <p:sp>
                <p:nvSpPr>
                  <p:cNvPr id="1613" name="Google Shape;1613;p43"/>
                  <p:cNvSpPr/>
                  <p:nvPr/>
                </p:nvSpPr>
                <p:spPr>
                  <a:xfrm>
                    <a:off x="258227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2"/>
                    </a:solidFill>
                    <a:prstDash val="solid"/>
                    <a:round/>
                    <a:headEnd type="none" w="med" len="med"/>
                    <a:tailEnd type="triangle" w="med" len="med"/>
                  </a:ln>
                </p:spPr>
                <p:txBody>
                  <a:bodyPr/>
                  <a:lstStyle/>
                  <a:p>
                    <a:endParaRPr lang="en-NL"/>
                  </a:p>
                </p:txBody>
              </p:sp>
              <p:sp>
                <p:nvSpPr>
                  <p:cNvPr id="1614" name="Google Shape;1614;p43"/>
                  <p:cNvSpPr/>
                  <p:nvPr/>
                </p:nvSpPr>
                <p:spPr>
                  <a:xfrm>
                    <a:off x="269955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2"/>
                    </a:solidFill>
                    <a:prstDash val="solid"/>
                    <a:round/>
                    <a:headEnd type="none" w="med" len="med"/>
                    <a:tailEnd type="triangle" w="med" len="med"/>
                  </a:ln>
                </p:spPr>
                <p:txBody>
                  <a:bodyPr/>
                  <a:lstStyle/>
                  <a:p>
                    <a:endParaRPr lang="en-NL"/>
                  </a:p>
                </p:txBody>
              </p:sp>
            </p:grpSp>
          </p:grpSp>
          <p:sp>
            <p:nvSpPr>
              <p:cNvPr id="1615" name="Google Shape;1615;p43"/>
              <p:cNvSpPr txBox="1"/>
              <p:nvPr/>
            </p:nvSpPr>
            <p:spPr>
              <a:xfrm>
                <a:off x="3246270" y="3194572"/>
                <a:ext cx="150600" cy="153841"/>
              </a:xfrm>
              <a:prstGeom prst="rect">
                <a:avLst/>
              </a:prstGeom>
              <a:noFill/>
              <a:ln>
                <a:noFill/>
              </a:ln>
            </p:spPr>
            <p:txBody>
              <a:bodyPr spcFirstLastPara="1" wrap="square" lIns="0" tIns="0" rIns="0" bIns="0" anchor="t" anchorCtr="0">
                <a:spAutoFit/>
              </a:bodyPr>
              <a:lstStyle/>
              <a:p>
                <a:pPr algn="ctr" rtl="0"/>
                <a:r>
                  <a:rPr lang="en-GB" sz="1333">
                    <a:solidFill>
                      <a:schemeClr val="accent2"/>
                    </a:solidFill>
                    <a:latin typeface="Lato"/>
                    <a:ea typeface="Lato"/>
                    <a:cs typeface="Lato"/>
                    <a:sym typeface="Lato"/>
                  </a:rPr>
                  <a:t>t</a:t>
                </a:r>
                <a:r>
                  <a:rPr lang="en-GB" sz="1333" baseline="-25000">
                    <a:solidFill>
                      <a:schemeClr val="accent2"/>
                    </a:solidFill>
                    <a:latin typeface="Lato"/>
                    <a:ea typeface="Lato"/>
                    <a:cs typeface="Lato"/>
                    <a:sym typeface="Lato"/>
                  </a:rPr>
                  <a:t>0</a:t>
                </a:r>
                <a:endParaRPr sz="1333" baseline="-25000">
                  <a:solidFill>
                    <a:schemeClr val="accent2"/>
                  </a:solidFill>
                  <a:latin typeface="Lato"/>
                  <a:ea typeface="Lato"/>
                  <a:cs typeface="Lato"/>
                  <a:sym typeface="Lato"/>
                </a:endParaRPr>
              </a:p>
            </p:txBody>
          </p:sp>
          <p:sp>
            <p:nvSpPr>
              <p:cNvPr id="1616" name="Google Shape;1616;p43"/>
              <p:cNvSpPr txBox="1"/>
              <p:nvPr/>
            </p:nvSpPr>
            <p:spPr>
              <a:xfrm>
                <a:off x="3350073" y="3194572"/>
                <a:ext cx="150600" cy="153841"/>
              </a:xfrm>
              <a:prstGeom prst="rect">
                <a:avLst/>
              </a:prstGeom>
              <a:noFill/>
              <a:ln>
                <a:noFill/>
              </a:ln>
            </p:spPr>
            <p:txBody>
              <a:bodyPr spcFirstLastPara="1" wrap="square" lIns="0" tIns="0" rIns="0" bIns="0" anchor="t" anchorCtr="0">
                <a:spAutoFit/>
              </a:bodyPr>
              <a:lstStyle/>
              <a:p>
                <a:pPr algn="ctr" rtl="0"/>
                <a:r>
                  <a:rPr lang="en-GB" sz="1333">
                    <a:solidFill>
                      <a:schemeClr val="accent2"/>
                    </a:solidFill>
                    <a:latin typeface="Lato"/>
                    <a:ea typeface="Lato"/>
                    <a:cs typeface="Lato"/>
                    <a:sym typeface="Lato"/>
                  </a:rPr>
                  <a:t>t</a:t>
                </a:r>
                <a:r>
                  <a:rPr lang="en-GB" sz="1333" baseline="-25000">
                    <a:solidFill>
                      <a:schemeClr val="accent2"/>
                    </a:solidFill>
                    <a:latin typeface="Lato"/>
                    <a:ea typeface="Lato"/>
                    <a:cs typeface="Lato"/>
                    <a:sym typeface="Lato"/>
                  </a:rPr>
                  <a:t>1</a:t>
                </a:r>
                <a:endParaRPr sz="1333" baseline="-25000">
                  <a:solidFill>
                    <a:schemeClr val="accent2"/>
                  </a:solidFill>
                  <a:latin typeface="Lato"/>
                  <a:ea typeface="Lato"/>
                  <a:cs typeface="Lato"/>
                  <a:sym typeface="Lato"/>
                </a:endParaRPr>
              </a:p>
            </p:txBody>
          </p:sp>
          <p:sp>
            <p:nvSpPr>
              <p:cNvPr id="1617" name="Google Shape;1617;p43"/>
              <p:cNvSpPr txBox="1"/>
              <p:nvPr/>
            </p:nvSpPr>
            <p:spPr>
              <a:xfrm>
                <a:off x="3654873" y="3194572"/>
                <a:ext cx="150600" cy="153841"/>
              </a:xfrm>
              <a:prstGeom prst="rect">
                <a:avLst/>
              </a:prstGeom>
              <a:noFill/>
              <a:ln>
                <a:noFill/>
              </a:ln>
            </p:spPr>
            <p:txBody>
              <a:bodyPr spcFirstLastPara="1" wrap="square" lIns="0" tIns="0" rIns="0" bIns="0" anchor="t" anchorCtr="0">
                <a:spAutoFit/>
              </a:bodyPr>
              <a:lstStyle/>
              <a:p>
                <a:pPr algn="ctr" rtl="0"/>
                <a:r>
                  <a:rPr lang="en-GB" sz="1333">
                    <a:solidFill>
                      <a:schemeClr val="accent2"/>
                    </a:solidFill>
                    <a:latin typeface="Lato"/>
                    <a:ea typeface="Lato"/>
                    <a:cs typeface="Lato"/>
                    <a:sym typeface="Lato"/>
                  </a:rPr>
                  <a:t>t</a:t>
                </a:r>
                <a:r>
                  <a:rPr lang="en-GB" sz="1333" baseline="-25000">
                    <a:solidFill>
                      <a:schemeClr val="accent2"/>
                    </a:solidFill>
                    <a:latin typeface="Lato"/>
                    <a:ea typeface="Lato"/>
                    <a:cs typeface="Lato"/>
                    <a:sym typeface="Lato"/>
                  </a:rPr>
                  <a:t>31</a:t>
                </a:r>
                <a:endParaRPr sz="1333" baseline="-25000">
                  <a:solidFill>
                    <a:schemeClr val="accent2"/>
                  </a:solidFill>
                  <a:latin typeface="Lato"/>
                  <a:ea typeface="Lato"/>
                  <a:cs typeface="Lato"/>
                  <a:sym typeface="Lato"/>
                </a:endParaRPr>
              </a:p>
            </p:txBody>
          </p:sp>
          <p:sp>
            <p:nvSpPr>
              <p:cNvPr id="1618" name="Google Shape;1618;p43"/>
              <p:cNvSpPr txBox="1"/>
              <p:nvPr/>
            </p:nvSpPr>
            <p:spPr>
              <a:xfrm>
                <a:off x="3481234" y="3194572"/>
                <a:ext cx="150600" cy="153841"/>
              </a:xfrm>
              <a:prstGeom prst="rect">
                <a:avLst/>
              </a:prstGeom>
              <a:noFill/>
              <a:ln>
                <a:noFill/>
              </a:ln>
            </p:spPr>
            <p:txBody>
              <a:bodyPr spcFirstLastPara="1" wrap="square" lIns="0" tIns="0" rIns="0" bIns="0" anchor="t" anchorCtr="0">
                <a:spAutoFit/>
              </a:bodyPr>
              <a:lstStyle/>
              <a:p>
                <a:pPr algn="ctr" rtl="0"/>
                <a:r>
                  <a:rPr lang="en-GB" sz="1333">
                    <a:solidFill>
                      <a:schemeClr val="accent2"/>
                    </a:solidFill>
                    <a:latin typeface="Lato"/>
                    <a:ea typeface="Lato"/>
                    <a:cs typeface="Lato"/>
                    <a:sym typeface="Lato"/>
                  </a:rPr>
                  <a:t>…</a:t>
                </a:r>
                <a:endParaRPr sz="1333" baseline="-25000">
                  <a:solidFill>
                    <a:schemeClr val="accent2"/>
                  </a:solidFill>
                  <a:latin typeface="Lato"/>
                  <a:ea typeface="Lato"/>
                  <a:cs typeface="Lato"/>
                  <a:sym typeface="Lato"/>
                </a:endParaRPr>
              </a:p>
            </p:txBody>
          </p:sp>
        </p:grpSp>
        <p:sp>
          <p:nvSpPr>
            <p:cNvPr id="1619" name="Google Shape;1619;p43"/>
            <p:cNvSpPr txBox="1"/>
            <p:nvPr/>
          </p:nvSpPr>
          <p:spPr>
            <a:xfrm>
              <a:off x="3977475" y="3295025"/>
              <a:ext cx="621300" cy="523286"/>
            </a:xfrm>
            <a:prstGeom prst="rect">
              <a:avLst/>
            </a:prstGeom>
            <a:noFill/>
            <a:ln>
              <a:noFill/>
            </a:ln>
          </p:spPr>
          <p:txBody>
            <a:bodyPr spcFirstLastPara="1" wrap="square" lIns="121900" tIns="121900" rIns="121900" bIns="121900" anchor="t" anchorCtr="0">
              <a:spAutoFit/>
            </a:bodyPr>
            <a:lstStyle/>
            <a:p>
              <a:pPr algn="ctr" rtl="0"/>
              <a:r>
                <a:rPr lang="en-GB" sz="1467">
                  <a:solidFill>
                    <a:schemeClr val="accent2"/>
                  </a:solidFill>
                  <a:latin typeface="Lato"/>
                  <a:ea typeface="Lato"/>
                  <a:cs typeface="Lato"/>
                  <a:sym typeface="Lato"/>
                </a:rPr>
                <a:t>B2 warps</a:t>
              </a:r>
              <a:endParaRPr sz="1467">
                <a:solidFill>
                  <a:schemeClr val="accent2"/>
                </a:solidFill>
                <a:latin typeface="Lato"/>
                <a:ea typeface="Lato"/>
                <a:cs typeface="Lato"/>
                <a:sym typeface="Lato"/>
              </a:endParaRPr>
            </a:p>
          </p:txBody>
        </p:sp>
        <p:grpSp>
          <p:nvGrpSpPr>
            <p:cNvPr id="1620" name="Google Shape;1620;p43"/>
            <p:cNvGrpSpPr/>
            <p:nvPr/>
          </p:nvGrpSpPr>
          <p:grpSpPr>
            <a:xfrm>
              <a:off x="3144585" y="4028249"/>
              <a:ext cx="1454190" cy="772436"/>
              <a:chOff x="3220785" y="4008610"/>
              <a:chExt cx="1454190" cy="772436"/>
            </a:xfrm>
          </p:grpSpPr>
          <p:sp>
            <p:nvSpPr>
              <p:cNvPr id="1621" name="Google Shape;1621;p43"/>
              <p:cNvSpPr/>
              <p:nvPr/>
            </p:nvSpPr>
            <p:spPr>
              <a:xfrm flipH="1">
                <a:off x="3343227" y="4008610"/>
                <a:ext cx="621300" cy="678900"/>
              </a:xfrm>
              <a:prstGeom prst="rect">
                <a:avLst/>
              </a:prstGeom>
              <a:solidFill>
                <a:srgbClr val="FFFFFF"/>
              </a:solidFill>
              <a:ln w="9525"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1622" name="Google Shape;1622;p43"/>
              <p:cNvSpPr/>
              <p:nvPr/>
            </p:nvSpPr>
            <p:spPr>
              <a:xfrm flipH="1">
                <a:off x="3286465" y="4055651"/>
                <a:ext cx="621300" cy="678900"/>
              </a:xfrm>
              <a:prstGeom prst="rect">
                <a:avLst/>
              </a:prstGeom>
              <a:solidFill>
                <a:srgbClr val="FFFFFF"/>
              </a:solidFill>
              <a:ln w="9525"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grpSp>
            <p:nvGrpSpPr>
              <p:cNvPr id="1623" name="Google Shape;1623;p43"/>
              <p:cNvGrpSpPr/>
              <p:nvPr/>
            </p:nvGrpSpPr>
            <p:grpSpPr>
              <a:xfrm flipH="1">
                <a:off x="3220785" y="4102225"/>
                <a:ext cx="621290" cy="678821"/>
                <a:chOff x="2037367" y="2131955"/>
                <a:chExt cx="855300" cy="934500"/>
              </a:xfrm>
            </p:grpSpPr>
            <p:sp>
              <p:nvSpPr>
                <p:cNvPr id="1624" name="Google Shape;1624;p43"/>
                <p:cNvSpPr/>
                <p:nvPr/>
              </p:nvSpPr>
              <p:spPr>
                <a:xfrm>
                  <a:off x="2037367" y="2131955"/>
                  <a:ext cx="855300" cy="934500"/>
                </a:xfrm>
                <a:prstGeom prst="rect">
                  <a:avLst/>
                </a:prstGeom>
                <a:solidFill>
                  <a:srgbClr val="FFFFFF"/>
                </a:solidFill>
                <a:ln w="9525"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grpSp>
              <p:nvGrpSpPr>
                <p:cNvPr id="1625" name="Google Shape;1625;p43"/>
                <p:cNvGrpSpPr/>
                <p:nvPr/>
              </p:nvGrpSpPr>
              <p:grpSpPr>
                <a:xfrm>
                  <a:off x="2113175" y="2411050"/>
                  <a:ext cx="703650" cy="601850"/>
                  <a:chOff x="2113175" y="2411050"/>
                  <a:chExt cx="703650" cy="601850"/>
                </a:xfrm>
              </p:grpSpPr>
              <p:sp>
                <p:nvSpPr>
                  <p:cNvPr id="1626" name="Google Shape;1626;p43"/>
                  <p:cNvSpPr/>
                  <p:nvPr/>
                </p:nvSpPr>
                <p:spPr>
                  <a:xfrm>
                    <a:off x="211317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1627" name="Google Shape;1627;p43"/>
                  <p:cNvSpPr/>
                  <p:nvPr/>
                </p:nvSpPr>
                <p:spPr>
                  <a:xfrm>
                    <a:off x="223045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1628" name="Google Shape;1628;p43"/>
                  <p:cNvSpPr/>
                  <p:nvPr/>
                </p:nvSpPr>
                <p:spPr>
                  <a:xfrm>
                    <a:off x="234772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1629" name="Google Shape;1629;p43"/>
                  <p:cNvSpPr/>
                  <p:nvPr/>
                </p:nvSpPr>
                <p:spPr>
                  <a:xfrm>
                    <a:off x="246500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1630" name="Google Shape;1630;p43"/>
                  <p:cNvSpPr/>
                  <p:nvPr/>
                </p:nvSpPr>
                <p:spPr>
                  <a:xfrm>
                    <a:off x="2582275"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sp>
                <p:nvSpPr>
                  <p:cNvPr id="1631" name="Google Shape;1631;p43"/>
                  <p:cNvSpPr/>
                  <p:nvPr/>
                </p:nvSpPr>
                <p:spPr>
                  <a:xfrm>
                    <a:off x="2699550" y="2411050"/>
                    <a:ext cx="117275" cy="601850"/>
                  </a:xfrm>
                  <a:custGeom>
                    <a:avLst/>
                    <a:gdLst/>
                    <a:ahLst/>
                    <a:cxnLst/>
                    <a:rect l="l" t="t" r="r" b="b"/>
                    <a:pathLst>
                      <a:path w="4691" h="24074" extrusionOk="0">
                        <a:moveTo>
                          <a:pt x="0" y="0"/>
                        </a:moveTo>
                        <a:cubicBezTo>
                          <a:pt x="1467" y="0"/>
                          <a:pt x="4381" y="473"/>
                          <a:pt x="3978" y="1884"/>
                        </a:cubicBezTo>
                        <a:cubicBezTo>
                          <a:pt x="3567" y="3320"/>
                          <a:pt x="1442" y="3961"/>
                          <a:pt x="1256" y="5443"/>
                        </a:cubicBezTo>
                        <a:cubicBezTo>
                          <a:pt x="1027" y="7271"/>
                          <a:pt x="5253" y="8114"/>
                          <a:pt x="4606" y="9839"/>
                        </a:cubicBezTo>
                        <a:cubicBezTo>
                          <a:pt x="3885" y="11761"/>
                          <a:pt x="757" y="12832"/>
                          <a:pt x="1047" y="14864"/>
                        </a:cubicBezTo>
                        <a:cubicBezTo>
                          <a:pt x="1317" y="16761"/>
                          <a:pt x="4714" y="17836"/>
                          <a:pt x="4187" y="19678"/>
                        </a:cubicBezTo>
                        <a:cubicBezTo>
                          <a:pt x="3756" y="21186"/>
                          <a:pt x="2132" y="22553"/>
                          <a:pt x="2512" y="24074"/>
                        </a:cubicBezTo>
                      </a:path>
                    </a:pathLst>
                  </a:custGeom>
                  <a:noFill/>
                  <a:ln w="9525" cap="flat" cmpd="sng">
                    <a:solidFill>
                      <a:schemeClr val="accent3"/>
                    </a:solidFill>
                    <a:prstDash val="solid"/>
                    <a:round/>
                    <a:headEnd type="none" w="med" len="med"/>
                    <a:tailEnd type="triangle" w="med" len="med"/>
                  </a:ln>
                </p:spPr>
                <p:txBody>
                  <a:bodyPr/>
                  <a:lstStyle/>
                  <a:p>
                    <a:endParaRPr lang="en-NL"/>
                  </a:p>
                </p:txBody>
              </p:sp>
            </p:grpSp>
          </p:grpSp>
          <p:sp>
            <p:nvSpPr>
              <p:cNvPr id="1632" name="Google Shape;1632;p43"/>
              <p:cNvSpPr txBox="1"/>
              <p:nvPr/>
            </p:nvSpPr>
            <p:spPr>
              <a:xfrm>
                <a:off x="3246270" y="4108972"/>
                <a:ext cx="150600" cy="153841"/>
              </a:xfrm>
              <a:prstGeom prst="rect">
                <a:avLst/>
              </a:prstGeom>
              <a:noFill/>
              <a:ln>
                <a:noFill/>
              </a:ln>
            </p:spPr>
            <p:txBody>
              <a:bodyPr spcFirstLastPara="1" wrap="square" lIns="0" tIns="0" rIns="0" bIns="0" anchor="t" anchorCtr="0">
                <a:spAutoFit/>
              </a:bodyPr>
              <a:lstStyle/>
              <a:p>
                <a:pPr algn="ctr" rtl="0"/>
                <a:r>
                  <a:rPr lang="en-GB" sz="1333">
                    <a:solidFill>
                      <a:schemeClr val="accent3"/>
                    </a:solidFill>
                    <a:latin typeface="Lato"/>
                    <a:ea typeface="Lato"/>
                    <a:cs typeface="Lato"/>
                    <a:sym typeface="Lato"/>
                  </a:rPr>
                  <a:t>t</a:t>
                </a:r>
                <a:r>
                  <a:rPr lang="en-GB" sz="1333" baseline="-25000">
                    <a:solidFill>
                      <a:schemeClr val="accent3"/>
                    </a:solidFill>
                    <a:latin typeface="Lato"/>
                    <a:ea typeface="Lato"/>
                    <a:cs typeface="Lato"/>
                    <a:sym typeface="Lato"/>
                  </a:rPr>
                  <a:t>0</a:t>
                </a:r>
                <a:endParaRPr sz="1333" baseline="-25000">
                  <a:solidFill>
                    <a:schemeClr val="accent3"/>
                  </a:solidFill>
                  <a:latin typeface="Lato"/>
                  <a:ea typeface="Lato"/>
                  <a:cs typeface="Lato"/>
                  <a:sym typeface="Lato"/>
                </a:endParaRPr>
              </a:p>
            </p:txBody>
          </p:sp>
          <p:sp>
            <p:nvSpPr>
              <p:cNvPr id="1633" name="Google Shape;1633;p43"/>
              <p:cNvSpPr txBox="1"/>
              <p:nvPr/>
            </p:nvSpPr>
            <p:spPr>
              <a:xfrm>
                <a:off x="3350073" y="4108972"/>
                <a:ext cx="150600" cy="153841"/>
              </a:xfrm>
              <a:prstGeom prst="rect">
                <a:avLst/>
              </a:prstGeom>
              <a:noFill/>
              <a:ln>
                <a:noFill/>
              </a:ln>
            </p:spPr>
            <p:txBody>
              <a:bodyPr spcFirstLastPara="1" wrap="square" lIns="0" tIns="0" rIns="0" bIns="0" anchor="t" anchorCtr="0">
                <a:spAutoFit/>
              </a:bodyPr>
              <a:lstStyle/>
              <a:p>
                <a:pPr algn="ctr" rtl="0"/>
                <a:r>
                  <a:rPr lang="en-GB" sz="1333">
                    <a:solidFill>
                      <a:schemeClr val="accent3"/>
                    </a:solidFill>
                    <a:latin typeface="Lato"/>
                    <a:ea typeface="Lato"/>
                    <a:cs typeface="Lato"/>
                    <a:sym typeface="Lato"/>
                  </a:rPr>
                  <a:t>t</a:t>
                </a:r>
                <a:r>
                  <a:rPr lang="en-GB" sz="1333" baseline="-25000">
                    <a:solidFill>
                      <a:schemeClr val="accent3"/>
                    </a:solidFill>
                    <a:latin typeface="Lato"/>
                    <a:ea typeface="Lato"/>
                    <a:cs typeface="Lato"/>
                    <a:sym typeface="Lato"/>
                  </a:rPr>
                  <a:t>1</a:t>
                </a:r>
                <a:endParaRPr sz="1333" baseline="-25000">
                  <a:solidFill>
                    <a:schemeClr val="accent3"/>
                  </a:solidFill>
                  <a:latin typeface="Lato"/>
                  <a:ea typeface="Lato"/>
                  <a:cs typeface="Lato"/>
                  <a:sym typeface="Lato"/>
                </a:endParaRPr>
              </a:p>
            </p:txBody>
          </p:sp>
          <p:sp>
            <p:nvSpPr>
              <p:cNvPr id="1634" name="Google Shape;1634;p43"/>
              <p:cNvSpPr txBox="1"/>
              <p:nvPr/>
            </p:nvSpPr>
            <p:spPr>
              <a:xfrm>
                <a:off x="3654873" y="4108972"/>
                <a:ext cx="150600" cy="153841"/>
              </a:xfrm>
              <a:prstGeom prst="rect">
                <a:avLst/>
              </a:prstGeom>
              <a:noFill/>
              <a:ln>
                <a:noFill/>
              </a:ln>
            </p:spPr>
            <p:txBody>
              <a:bodyPr spcFirstLastPara="1" wrap="square" lIns="0" tIns="0" rIns="0" bIns="0" anchor="t" anchorCtr="0">
                <a:spAutoFit/>
              </a:bodyPr>
              <a:lstStyle/>
              <a:p>
                <a:pPr algn="ctr" rtl="0"/>
                <a:r>
                  <a:rPr lang="en-GB" sz="1333">
                    <a:solidFill>
                      <a:schemeClr val="accent3"/>
                    </a:solidFill>
                    <a:latin typeface="Lato"/>
                    <a:ea typeface="Lato"/>
                    <a:cs typeface="Lato"/>
                    <a:sym typeface="Lato"/>
                  </a:rPr>
                  <a:t>t</a:t>
                </a:r>
                <a:r>
                  <a:rPr lang="en-GB" sz="1333" baseline="-25000">
                    <a:solidFill>
                      <a:schemeClr val="accent3"/>
                    </a:solidFill>
                    <a:latin typeface="Lato"/>
                    <a:ea typeface="Lato"/>
                    <a:cs typeface="Lato"/>
                    <a:sym typeface="Lato"/>
                  </a:rPr>
                  <a:t>31</a:t>
                </a:r>
                <a:endParaRPr sz="1333" baseline="-25000">
                  <a:solidFill>
                    <a:schemeClr val="accent3"/>
                  </a:solidFill>
                  <a:latin typeface="Lato"/>
                  <a:ea typeface="Lato"/>
                  <a:cs typeface="Lato"/>
                  <a:sym typeface="Lato"/>
                </a:endParaRPr>
              </a:p>
            </p:txBody>
          </p:sp>
          <p:sp>
            <p:nvSpPr>
              <p:cNvPr id="1635" name="Google Shape;1635;p43"/>
              <p:cNvSpPr txBox="1"/>
              <p:nvPr/>
            </p:nvSpPr>
            <p:spPr>
              <a:xfrm>
                <a:off x="3481234" y="4108972"/>
                <a:ext cx="150600" cy="153841"/>
              </a:xfrm>
              <a:prstGeom prst="rect">
                <a:avLst/>
              </a:prstGeom>
              <a:noFill/>
              <a:ln>
                <a:noFill/>
              </a:ln>
            </p:spPr>
            <p:txBody>
              <a:bodyPr spcFirstLastPara="1" wrap="square" lIns="0" tIns="0" rIns="0" bIns="0" anchor="t" anchorCtr="0">
                <a:spAutoFit/>
              </a:bodyPr>
              <a:lstStyle/>
              <a:p>
                <a:pPr algn="ctr" rtl="0"/>
                <a:r>
                  <a:rPr lang="en-GB" sz="1333">
                    <a:solidFill>
                      <a:schemeClr val="accent3"/>
                    </a:solidFill>
                    <a:latin typeface="Lato"/>
                    <a:ea typeface="Lato"/>
                    <a:cs typeface="Lato"/>
                    <a:sym typeface="Lato"/>
                  </a:rPr>
                  <a:t>…</a:t>
                </a:r>
                <a:endParaRPr sz="1333" baseline="-25000">
                  <a:solidFill>
                    <a:schemeClr val="accent3"/>
                  </a:solidFill>
                  <a:latin typeface="Lato"/>
                  <a:ea typeface="Lato"/>
                  <a:cs typeface="Lato"/>
                  <a:sym typeface="Lato"/>
                </a:endParaRPr>
              </a:p>
            </p:txBody>
          </p:sp>
          <p:sp>
            <p:nvSpPr>
              <p:cNvPr id="1636" name="Google Shape;1636;p43"/>
              <p:cNvSpPr txBox="1"/>
              <p:nvPr/>
            </p:nvSpPr>
            <p:spPr>
              <a:xfrm>
                <a:off x="4053675" y="4177600"/>
                <a:ext cx="621300" cy="523286"/>
              </a:xfrm>
              <a:prstGeom prst="rect">
                <a:avLst/>
              </a:prstGeom>
              <a:noFill/>
              <a:ln>
                <a:noFill/>
              </a:ln>
            </p:spPr>
            <p:txBody>
              <a:bodyPr spcFirstLastPara="1" wrap="square" lIns="121900" tIns="121900" rIns="121900" bIns="121900" anchor="t" anchorCtr="0">
                <a:spAutoFit/>
              </a:bodyPr>
              <a:lstStyle/>
              <a:p>
                <a:pPr algn="ctr" rtl="0"/>
                <a:r>
                  <a:rPr lang="en-GB" sz="1467">
                    <a:solidFill>
                      <a:schemeClr val="accent3"/>
                    </a:solidFill>
                    <a:latin typeface="Lato"/>
                    <a:ea typeface="Lato"/>
                    <a:cs typeface="Lato"/>
                    <a:sym typeface="Lato"/>
                  </a:rPr>
                  <a:t>B3 warps</a:t>
                </a:r>
                <a:endParaRPr sz="1467">
                  <a:solidFill>
                    <a:schemeClr val="accent3"/>
                  </a:solidFill>
                  <a:latin typeface="Lato"/>
                  <a:ea typeface="Lato"/>
                  <a:cs typeface="Lato"/>
                  <a:sym typeface="Lato"/>
                </a:endParaRPr>
              </a:p>
            </p:txBody>
          </p:sp>
        </p:grpSp>
        <p:cxnSp>
          <p:nvCxnSpPr>
            <p:cNvPr id="1637" name="Google Shape;1637;p43"/>
            <p:cNvCxnSpPr/>
            <p:nvPr/>
          </p:nvCxnSpPr>
          <p:spPr>
            <a:xfrm rot="10800000">
              <a:off x="2511285" y="3584585"/>
              <a:ext cx="557100" cy="0"/>
            </a:xfrm>
            <a:prstGeom prst="straightConnector1">
              <a:avLst/>
            </a:prstGeom>
            <a:noFill/>
            <a:ln w="19050" cap="flat" cmpd="sng">
              <a:solidFill>
                <a:schemeClr val="accent2"/>
              </a:solidFill>
              <a:prstDash val="solid"/>
              <a:round/>
              <a:headEnd type="none" w="med" len="med"/>
              <a:tailEnd type="triangle" w="med" len="med"/>
            </a:ln>
          </p:spPr>
        </p:cxnSp>
        <p:cxnSp>
          <p:nvCxnSpPr>
            <p:cNvPr id="1638" name="Google Shape;1638;p43"/>
            <p:cNvCxnSpPr/>
            <p:nvPr/>
          </p:nvCxnSpPr>
          <p:spPr>
            <a:xfrm rot="10800000">
              <a:off x="2511285" y="4422785"/>
              <a:ext cx="557100" cy="0"/>
            </a:xfrm>
            <a:prstGeom prst="straightConnector1">
              <a:avLst/>
            </a:prstGeom>
            <a:noFill/>
            <a:ln w="19050" cap="flat" cmpd="sng">
              <a:solidFill>
                <a:schemeClr val="accent3"/>
              </a:solidFill>
              <a:prstDash val="solid"/>
              <a:round/>
              <a:headEnd type="none" w="med" len="med"/>
              <a:tailEnd type="triangle" w="med" len="med"/>
            </a:ln>
          </p:spPr>
        </p:cxnSp>
      </p:grpSp>
      <p:sp>
        <p:nvSpPr>
          <p:cNvPr id="1639" name="Google Shape;1639;p43"/>
          <p:cNvSpPr txBox="1">
            <a:spLocks noGrp="1"/>
          </p:cNvSpPr>
          <p:nvPr>
            <p:ph type="body" idx="1"/>
          </p:nvPr>
        </p:nvSpPr>
        <p:spPr>
          <a:xfrm>
            <a:off x="6625167" y="3799300"/>
            <a:ext cx="5315600" cy="541200"/>
          </a:xfrm>
          <a:prstGeom prst="rect">
            <a:avLst/>
          </a:prstGeom>
        </p:spPr>
        <p:txBody>
          <a:bodyPr spcFirstLastPara="1" wrap="square" lIns="91433" tIns="91433" rIns="91433" bIns="91433" anchor="t" anchorCtr="0">
            <a:noAutofit/>
          </a:bodyPr>
          <a:lstStyle/>
          <a:p>
            <a:pPr marL="0" indent="0" rtl="0">
              <a:buNone/>
            </a:pPr>
            <a:r>
              <a:rPr lang="en-GB" b="1">
                <a:solidFill>
                  <a:schemeClr val="accent4"/>
                </a:solidFill>
              </a:rPr>
              <a:t>Q: </a:t>
            </a:r>
            <a:r>
              <a:rPr lang="en-GB">
                <a:solidFill>
                  <a:schemeClr val="accent4"/>
                </a:solidFill>
              </a:rPr>
              <a:t>If three blocks of 256 threads are assigned to an SM, how many warps are there in the SM?</a:t>
            </a:r>
            <a:endParaRPr>
              <a:solidFill>
                <a:schemeClr val="accent4"/>
              </a:solidFill>
            </a:endParaRPr>
          </a:p>
        </p:txBody>
      </p:sp>
      <p:sp>
        <p:nvSpPr>
          <p:cNvPr id="1640" name="Google Shape;1640;p43"/>
          <p:cNvSpPr txBox="1">
            <a:spLocks noGrp="1"/>
          </p:cNvSpPr>
          <p:nvPr>
            <p:ph type="body" idx="1"/>
          </p:nvPr>
        </p:nvSpPr>
        <p:spPr>
          <a:xfrm>
            <a:off x="6625167" y="4941200"/>
            <a:ext cx="5315600" cy="541200"/>
          </a:xfrm>
          <a:prstGeom prst="rect">
            <a:avLst/>
          </a:prstGeom>
        </p:spPr>
        <p:txBody>
          <a:bodyPr spcFirstLastPara="1" wrap="square" lIns="91433" tIns="91433" rIns="91433" bIns="91433" anchor="t" anchorCtr="0">
            <a:noAutofit/>
          </a:bodyPr>
          <a:lstStyle/>
          <a:p>
            <a:pPr rtl="0">
              <a:buClr>
                <a:schemeClr val="accent6"/>
              </a:buClr>
            </a:pPr>
            <a:r>
              <a:rPr lang="en-GB" dirty="0">
                <a:solidFill>
                  <a:schemeClr val="accent6"/>
                </a:solidFill>
              </a:rPr>
              <a:t>256/32 = 8 warps per block</a:t>
            </a:r>
            <a:endParaRPr dirty="0">
              <a:solidFill>
                <a:schemeClr val="accent6"/>
              </a:solidFill>
            </a:endParaRPr>
          </a:p>
          <a:p>
            <a:pPr rtl="0">
              <a:spcBef>
                <a:spcPts val="0"/>
              </a:spcBef>
              <a:buClr>
                <a:schemeClr val="accent6"/>
              </a:buClr>
            </a:pPr>
            <a:r>
              <a:rPr lang="en-GB" dirty="0">
                <a:solidFill>
                  <a:schemeClr val="accent6"/>
                </a:solidFill>
              </a:rPr>
              <a:t>8*3 = 24 warps in the SM</a:t>
            </a:r>
            <a:endParaRPr dirty="0">
              <a:solidFill>
                <a:schemeClr val="accent6"/>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4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8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0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3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640">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64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C0DBC-E783-288B-1868-3F60097827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4A419D-DE4C-2618-00E9-FD9832670184}"/>
              </a:ext>
            </a:extLst>
          </p:cNvPr>
          <p:cNvSpPr>
            <a:spLocks noGrp="1"/>
          </p:cNvSpPr>
          <p:nvPr>
            <p:ph type="title"/>
          </p:nvPr>
        </p:nvSpPr>
        <p:spPr>
          <a:xfrm>
            <a:off x="698499" y="729741"/>
            <a:ext cx="10795000" cy="451342"/>
          </a:xfrm>
        </p:spPr>
        <p:txBody>
          <a:bodyPr/>
          <a:lstStyle/>
          <a:p>
            <a:r>
              <a:rPr lang="en-NL" sz="2933" cap="small" dirty="0">
                <a:solidFill>
                  <a:schemeClr val="dk2"/>
                </a:solidFill>
              </a:rPr>
              <a:t>Warps</a:t>
            </a:r>
          </a:p>
        </p:txBody>
      </p:sp>
      <p:sp>
        <p:nvSpPr>
          <p:cNvPr id="6" name="object 3">
            <a:extLst>
              <a:ext uri="{FF2B5EF4-FFF2-40B4-BE49-F238E27FC236}">
                <a16:creationId xmlns:a16="http://schemas.microsoft.com/office/drawing/2014/main" id="{8DBE374C-4542-D89A-7E72-A520E2B4FA86}"/>
              </a:ext>
            </a:extLst>
          </p:cNvPr>
          <p:cNvSpPr txBox="1"/>
          <p:nvPr/>
        </p:nvSpPr>
        <p:spPr>
          <a:xfrm>
            <a:off x="762000" y="1534336"/>
            <a:ext cx="11125200" cy="796372"/>
          </a:xfrm>
          <a:prstGeom prst="rect">
            <a:avLst/>
          </a:prstGeom>
        </p:spPr>
        <p:txBody>
          <a:bodyPr vert="horz" wrap="square" lIns="0" tIns="54610" rIns="0" bIns="0" rtlCol="0">
            <a:spAutoFit/>
          </a:bodyPr>
          <a:lstStyle/>
          <a:p>
            <a:pPr marL="355600" indent="-342900">
              <a:spcBef>
                <a:spcPts val="530"/>
              </a:spcBef>
              <a:buClr>
                <a:srgbClr val="4F80BC"/>
              </a:buClr>
              <a:buSzPct val="84090"/>
              <a:buFont typeface="Arial" panose="020B0604020202020204" pitchFamily="34" charset="0"/>
              <a:buChar char="•"/>
              <a:tabLst>
                <a:tab pos="194945" algn="l"/>
              </a:tabLst>
            </a:pPr>
            <a:r>
              <a:rPr lang="en-GB" sz="2200" dirty="0">
                <a:latin typeface="Arial"/>
                <a:cs typeface="Arial"/>
              </a:rPr>
              <a:t>Warps are the basic unit of execution on the GPU. </a:t>
            </a:r>
          </a:p>
          <a:p>
            <a:pPr marL="12700">
              <a:spcBef>
                <a:spcPts val="530"/>
              </a:spcBef>
              <a:buClr>
                <a:srgbClr val="4F80BC"/>
              </a:buClr>
              <a:buSzPct val="84090"/>
              <a:tabLst>
                <a:tab pos="194945" algn="l"/>
              </a:tabLst>
            </a:pPr>
            <a:r>
              <a:rPr lang="en-GB" sz="2200" dirty="0">
                <a:latin typeface="Arial"/>
                <a:cs typeface="Arial"/>
              </a:rPr>
              <a:t>		</a:t>
            </a:r>
          </a:p>
        </p:txBody>
      </p:sp>
      <p:pic>
        <p:nvPicPr>
          <p:cNvPr id="3" name="Picture 2">
            <a:extLst>
              <a:ext uri="{FF2B5EF4-FFF2-40B4-BE49-F238E27FC236}">
                <a16:creationId xmlns:a16="http://schemas.microsoft.com/office/drawing/2014/main" id="{038B9EFF-3D1B-41E1-40A6-95DF83A82122}"/>
              </a:ext>
            </a:extLst>
          </p:cNvPr>
          <p:cNvPicPr>
            <a:picLocks noChangeAspect="1"/>
          </p:cNvPicPr>
          <p:nvPr/>
        </p:nvPicPr>
        <p:blipFill>
          <a:blip r:embed="rId2"/>
          <a:srcRect t="3579" r="1961"/>
          <a:stretch/>
        </p:blipFill>
        <p:spPr>
          <a:xfrm>
            <a:off x="2209800" y="2495036"/>
            <a:ext cx="7620000" cy="3966334"/>
          </a:xfrm>
          <a:prstGeom prst="rect">
            <a:avLst/>
          </a:prstGeom>
        </p:spPr>
      </p:pic>
    </p:spTree>
    <p:extLst>
      <p:ext uri="{BB962C8B-B14F-4D97-AF65-F5344CB8AC3E}">
        <p14:creationId xmlns:p14="http://schemas.microsoft.com/office/powerpoint/2010/main" val="3985636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2B407-6EF5-7CC7-B831-E877D3F76357}"/>
              </a:ext>
            </a:extLst>
          </p:cNvPr>
          <p:cNvSpPr>
            <a:spLocks noGrp="1"/>
          </p:cNvSpPr>
          <p:nvPr>
            <p:ph type="title"/>
          </p:nvPr>
        </p:nvSpPr>
        <p:spPr>
          <a:xfrm>
            <a:off x="698499" y="729741"/>
            <a:ext cx="10795000" cy="451342"/>
          </a:xfrm>
        </p:spPr>
        <p:txBody>
          <a:bodyPr/>
          <a:lstStyle/>
          <a:p>
            <a:r>
              <a:rPr lang="en-NL" sz="2933" cap="small" dirty="0">
                <a:solidFill>
                  <a:schemeClr val="dk2"/>
                </a:solidFill>
              </a:rPr>
              <a:t>Warps</a:t>
            </a:r>
          </a:p>
        </p:txBody>
      </p:sp>
      <p:sp>
        <p:nvSpPr>
          <p:cNvPr id="6" name="object 3">
            <a:extLst>
              <a:ext uri="{FF2B5EF4-FFF2-40B4-BE49-F238E27FC236}">
                <a16:creationId xmlns:a16="http://schemas.microsoft.com/office/drawing/2014/main" id="{7425A4D8-F440-7C25-07AC-7E7008CAAFD4}"/>
              </a:ext>
            </a:extLst>
          </p:cNvPr>
          <p:cNvSpPr txBox="1"/>
          <p:nvPr/>
        </p:nvSpPr>
        <p:spPr>
          <a:xfrm>
            <a:off x="762000" y="1534336"/>
            <a:ext cx="11125200" cy="5225790"/>
          </a:xfrm>
          <a:prstGeom prst="rect">
            <a:avLst/>
          </a:prstGeom>
        </p:spPr>
        <p:txBody>
          <a:bodyPr vert="horz" wrap="square" lIns="0" tIns="54610" rIns="0" bIns="0" rtlCol="0">
            <a:spAutoFit/>
          </a:bodyPr>
          <a:lstStyle/>
          <a:p>
            <a:pPr marL="355600" indent="-342900">
              <a:spcBef>
                <a:spcPts val="530"/>
              </a:spcBef>
              <a:buClr>
                <a:srgbClr val="4F80BC"/>
              </a:buClr>
              <a:buSzPct val="84090"/>
              <a:buFont typeface="Arial" panose="020B0604020202020204" pitchFamily="34" charset="0"/>
              <a:buChar char="•"/>
              <a:tabLst>
                <a:tab pos="194945" algn="l"/>
              </a:tabLst>
            </a:pPr>
            <a:r>
              <a:rPr lang="en-GB" sz="2200" dirty="0">
                <a:latin typeface="Arial"/>
                <a:cs typeface="Arial"/>
              </a:rPr>
              <a:t>Warps are the basic unit of execution on the GPU. </a:t>
            </a:r>
          </a:p>
          <a:p>
            <a:pPr marL="12700">
              <a:spcBef>
                <a:spcPts val="530"/>
              </a:spcBef>
              <a:buClr>
                <a:srgbClr val="4F80BC"/>
              </a:buClr>
              <a:buSzPct val="84090"/>
              <a:tabLst>
                <a:tab pos="194945" algn="l"/>
              </a:tabLst>
            </a:pPr>
            <a:r>
              <a:rPr lang="en-GB" sz="2200" dirty="0">
                <a:latin typeface="Arial"/>
                <a:cs typeface="Arial"/>
              </a:rPr>
              <a:t>		&gt; Number of threads in a warp are fixed as per GPU architecture</a:t>
            </a:r>
          </a:p>
          <a:p>
            <a:pPr marL="12700">
              <a:spcBef>
                <a:spcPts val="530"/>
              </a:spcBef>
              <a:buClr>
                <a:srgbClr val="4F80BC"/>
              </a:buClr>
              <a:buSzPct val="84090"/>
              <a:tabLst>
                <a:tab pos="194945" algn="l"/>
              </a:tabLst>
            </a:pPr>
            <a:r>
              <a:rPr lang="en-GB" sz="2200" dirty="0">
                <a:latin typeface="Arial"/>
                <a:cs typeface="Arial"/>
              </a:rPr>
              <a:t>		&gt; A </a:t>
            </a:r>
            <a:r>
              <a:rPr lang="en-GB" sz="2200" u="sng" dirty="0">
                <a:latin typeface="Arial"/>
                <a:cs typeface="Arial"/>
              </a:rPr>
              <a:t>block</a:t>
            </a:r>
            <a:r>
              <a:rPr lang="en-GB" sz="2200" dirty="0">
                <a:latin typeface="Arial"/>
                <a:cs typeface="Arial"/>
              </a:rPr>
              <a:t> forms the unit of resource assignment</a:t>
            </a:r>
          </a:p>
          <a:p>
            <a:pPr marL="12700">
              <a:spcBef>
                <a:spcPts val="530"/>
              </a:spcBef>
              <a:buClr>
                <a:srgbClr val="4F80BC"/>
              </a:buClr>
              <a:buSzPct val="84090"/>
              <a:tabLst>
                <a:tab pos="194945" algn="l"/>
              </a:tabLst>
            </a:pPr>
            <a:r>
              <a:rPr lang="en-GB" sz="2200" dirty="0">
                <a:latin typeface="Arial"/>
                <a:cs typeface="Arial"/>
              </a:rPr>
              <a:t>		&gt; A </a:t>
            </a:r>
            <a:r>
              <a:rPr lang="en-GB" sz="2200" u="sng" dirty="0">
                <a:latin typeface="Arial"/>
                <a:cs typeface="Arial"/>
              </a:rPr>
              <a:t>warp</a:t>
            </a:r>
            <a:r>
              <a:rPr lang="en-GB" sz="2200" dirty="0">
                <a:latin typeface="Arial"/>
                <a:cs typeface="Arial"/>
              </a:rPr>
              <a:t> is the basic unit of actual execution. </a:t>
            </a:r>
          </a:p>
          <a:p>
            <a:pPr marL="12700">
              <a:spcBef>
                <a:spcPts val="530"/>
              </a:spcBef>
              <a:buClr>
                <a:srgbClr val="4F80BC"/>
              </a:buClr>
              <a:buSzPct val="84090"/>
              <a:tabLst>
                <a:tab pos="194945" algn="l"/>
              </a:tabLst>
            </a:pPr>
            <a:endParaRPr lang="en-GB" sz="2200" dirty="0">
              <a:latin typeface="Arial"/>
              <a:cs typeface="Arial"/>
            </a:endParaRPr>
          </a:p>
          <a:p>
            <a:pPr marL="12700">
              <a:spcBef>
                <a:spcPts val="530"/>
              </a:spcBef>
              <a:buClr>
                <a:srgbClr val="4F80BC"/>
              </a:buClr>
              <a:buSzPct val="84090"/>
              <a:tabLst>
                <a:tab pos="194945" algn="l"/>
              </a:tabLst>
            </a:pPr>
            <a:r>
              <a:rPr lang="en-GB" sz="2200" dirty="0">
                <a:latin typeface="Arial"/>
                <a:cs typeface="Arial"/>
              </a:rPr>
              <a:t>		&gt; Programmer chooses block size/dimensions</a:t>
            </a:r>
          </a:p>
          <a:p>
            <a:pPr marL="12700">
              <a:spcBef>
                <a:spcPts val="530"/>
              </a:spcBef>
              <a:buClr>
                <a:srgbClr val="4F80BC"/>
              </a:buClr>
              <a:buSzPct val="84090"/>
              <a:tabLst>
                <a:tab pos="194945" algn="l"/>
              </a:tabLst>
            </a:pPr>
            <a:r>
              <a:rPr lang="en-GB" sz="2200" dirty="0">
                <a:latin typeface="Arial"/>
                <a:cs typeface="Arial"/>
              </a:rPr>
              <a:t>		&gt; Modern GPUs have </a:t>
            </a:r>
            <a:r>
              <a:rPr lang="en-GB" sz="2200" u="sng" dirty="0">
                <a:latin typeface="Arial"/>
                <a:cs typeface="Arial"/>
              </a:rPr>
              <a:t>32 threads </a:t>
            </a:r>
            <a:r>
              <a:rPr lang="en-GB" sz="2200" dirty="0">
                <a:latin typeface="Arial"/>
                <a:cs typeface="Arial"/>
              </a:rPr>
              <a:t>in a warp. (</a:t>
            </a:r>
            <a:r>
              <a:rPr lang="en-GB" sz="2200" dirty="0">
                <a:latin typeface="Arial"/>
                <a:cs typeface="Arial"/>
                <a:sym typeface="Wingdings" pitchFamily="2" charset="2"/>
              </a:rPr>
              <a:t>Fixed number)</a:t>
            </a:r>
          </a:p>
          <a:p>
            <a:pPr marL="12700">
              <a:spcBef>
                <a:spcPts val="530"/>
              </a:spcBef>
              <a:buClr>
                <a:srgbClr val="4F80BC"/>
              </a:buClr>
              <a:buSzPct val="84090"/>
              <a:tabLst>
                <a:tab pos="194945" algn="l"/>
              </a:tabLst>
            </a:pPr>
            <a:endParaRPr lang="en-GB" sz="2200" dirty="0">
              <a:latin typeface="Arial"/>
              <a:cs typeface="Arial"/>
              <a:sym typeface="Wingdings" pitchFamily="2" charset="2"/>
            </a:endParaRPr>
          </a:p>
          <a:p>
            <a:pPr marL="12700">
              <a:spcBef>
                <a:spcPts val="530"/>
              </a:spcBef>
              <a:buClr>
                <a:srgbClr val="4F80BC"/>
              </a:buClr>
              <a:buSzPct val="84090"/>
              <a:tabLst>
                <a:tab pos="194945" algn="l"/>
              </a:tabLst>
            </a:pPr>
            <a:r>
              <a:rPr lang="en-GB" sz="2200" dirty="0">
                <a:latin typeface="Arial"/>
                <a:cs typeface="Arial"/>
                <a:sym typeface="Wingdings" pitchFamily="2" charset="2"/>
              </a:rPr>
              <a:t>		&gt; If less number of threads than warp size, then some cores would be inactive.</a:t>
            </a:r>
          </a:p>
          <a:p>
            <a:pPr marL="12700">
              <a:spcBef>
                <a:spcPts val="530"/>
              </a:spcBef>
              <a:buClr>
                <a:srgbClr val="4F80BC"/>
              </a:buClr>
              <a:buSzPct val="84090"/>
              <a:tabLst>
                <a:tab pos="194945" algn="l"/>
              </a:tabLst>
            </a:pPr>
            <a:endParaRPr lang="en-GB" sz="2200" dirty="0">
              <a:latin typeface="Arial"/>
              <a:cs typeface="Arial"/>
              <a:sym typeface="Wingdings" pitchFamily="2" charset="2"/>
            </a:endParaRPr>
          </a:p>
          <a:p>
            <a:pPr marL="12700">
              <a:spcBef>
                <a:spcPts val="530"/>
              </a:spcBef>
              <a:buClr>
                <a:srgbClr val="4F80BC"/>
              </a:buClr>
              <a:buSzPct val="84090"/>
              <a:tabLst>
                <a:tab pos="194945" algn="l"/>
              </a:tabLst>
            </a:pPr>
            <a:r>
              <a:rPr lang="en-GB" sz="2200" dirty="0">
                <a:latin typeface="Arial"/>
                <a:cs typeface="Arial"/>
                <a:sym typeface="Wingdings" pitchFamily="2" charset="2"/>
              </a:rPr>
              <a:t>		&gt; All warps within a block are launched on a particular SM</a:t>
            </a:r>
          </a:p>
          <a:p>
            <a:pPr marL="12700">
              <a:spcBef>
                <a:spcPts val="530"/>
              </a:spcBef>
              <a:buClr>
                <a:srgbClr val="4F80BC"/>
              </a:buClr>
              <a:buSzPct val="84090"/>
              <a:tabLst>
                <a:tab pos="194945" algn="l"/>
              </a:tabLst>
            </a:pPr>
            <a:r>
              <a:rPr lang="en-GB" sz="2200" dirty="0">
                <a:latin typeface="Arial"/>
                <a:cs typeface="Arial"/>
                <a:sym typeface="Wingdings" pitchFamily="2" charset="2"/>
              </a:rPr>
              <a:t>		&gt; A warp cannot have threads from different blocks.</a:t>
            </a:r>
            <a:endParaRPr lang="en-GB" sz="2200" dirty="0">
              <a:latin typeface="Arial"/>
              <a:cs typeface="Arial"/>
            </a:endParaRPr>
          </a:p>
          <a:p>
            <a:pPr marL="12700" lvl="3">
              <a:spcBef>
                <a:spcPts val="525"/>
              </a:spcBef>
              <a:buClr>
                <a:srgbClr val="4F80BC"/>
              </a:buClr>
              <a:buSzPct val="84090"/>
              <a:tabLst>
                <a:tab pos="194945" algn="l"/>
              </a:tabLst>
            </a:pPr>
            <a:r>
              <a:rPr lang="en-GB" sz="2200" dirty="0">
                <a:latin typeface="Arial"/>
                <a:cs typeface="Arial"/>
              </a:rPr>
              <a:t> </a:t>
            </a:r>
          </a:p>
        </p:txBody>
      </p:sp>
    </p:spTree>
    <p:extLst>
      <p:ext uri="{BB962C8B-B14F-4D97-AF65-F5344CB8AC3E}">
        <p14:creationId xmlns:p14="http://schemas.microsoft.com/office/powerpoint/2010/main" val="38936104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20F9A-6AD4-40EA-ECE5-B2C7CB4919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89730B-9C8D-450F-1E4A-8740300A7D28}"/>
              </a:ext>
            </a:extLst>
          </p:cNvPr>
          <p:cNvSpPr>
            <a:spLocks noGrp="1"/>
          </p:cNvSpPr>
          <p:nvPr>
            <p:ph type="title"/>
          </p:nvPr>
        </p:nvSpPr>
        <p:spPr>
          <a:xfrm>
            <a:off x="698499" y="729741"/>
            <a:ext cx="10795000" cy="451342"/>
          </a:xfrm>
        </p:spPr>
        <p:txBody>
          <a:bodyPr/>
          <a:lstStyle/>
          <a:p>
            <a:r>
              <a:rPr lang="en-NL" sz="2933" cap="small" dirty="0">
                <a:solidFill>
                  <a:schemeClr val="dk2"/>
                </a:solidFill>
              </a:rPr>
              <a:t>Warps</a:t>
            </a:r>
          </a:p>
        </p:txBody>
      </p:sp>
      <p:sp>
        <p:nvSpPr>
          <p:cNvPr id="3" name="object 3">
            <a:extLst>
              <a:ext uri="{FF2B5EF4-FFF2-40B4-BE49-F238E27FC236}">
                <a16:creationId xmlns:a16="http://schemas.microsoft.com/office/drawing/2014/main" id="{1126D5F7-C287-4092-9E59-208DCDA3905A}"/>
              </a:ext>
            </a:extLst>
          </p:cNvPr>
          <p:cNvSpPr txBox="1"/>
          <p:nvPr/>
        </p:nvSpPr>
        <p:spPr>
          <a:xfrm>
            <a:off x="762000" y="1534336"/>
            <a:ext cx="11125200" cy="4420441"/>
          </a:xfrm>
          <a:prstGeom prst="rect">
            <a:avLst/>
          </a:prstGeom>
        </p:spPr>
        <p:txBody>
          <a:bodyPr vert="horz" wrap="square" lIns="0" tIns="54610" rIns="0" bIns="0" rtlCol="0">
            <a:spAutoFit/>
          </a:bodyPr>
          <a:lstStyle/>
          <a:p>
            <a:pPr marL="355600" indent="-342900">
              <a:spcBef>
                <a:spcPts val="530"/>
              </a:spcBef>
              <a:buClr>
                <a:srgbClr val="4F80BC"/>
              </a:buClr>
              <a:buSzPct val="84090"/>
              <a:buFont typeface="Arial" panose="020B0604020202020204" pitchFamily="34" charset="0"/>
              <a:buChar char="•"/>
              <a:tabLst>
                <a:tab pos="194945" algn="l"/>
              </a:tabLst>
            </a:pPr>
            <a:r>
              <a:rPr lang="en-GB" sz="2200" dirty="0">
                <a:latin typeface="Arial"/>
                <a:cs typeface="Arial"/>
              </a:rPr>
              <a:t>The SM creates, manages, schedules and executes warps</a:t>
            </a:r>
          </a:p>
          <a:p>
            <a:pPr marL="355600" indent="-342900">
              <a:spcBef>
                <a:spcPts val="530"/>
              </a:spcBef>
              <a:buClr>
                <a:srgbClr val="4F80BC"/>
              </a:buClr>
              <a:buSzPct val="84090"/>
              <a:buFont typeface="Arial" panose="020B0604020202020204" pitchFamily="34" charset="0"/>
              <a:buChar char="•"/>
              <a:tabLst>
                <a:tab pos="194945" algn="l"/>
              </a:tabLst>
            </a:pPr>
            <a:endParaRPr lang="en-GB" sz="2200" dirty="0">
              <a:latin typeface="Arial"/>
              <a:cs typeface="Arial"/>
            </a:endParaRPr>
          </a:p>
          <a:p>
            <a:pPr marL="355600" indent="-342900">
              <a:spcBef>
                <a:spcPts val="530"/>
              </a:spcBef>
              <a:buClr>
                <a:srgbClr val="4F80BC"/>
              </a:buClr>
              <a:buSzPct val="84090"/>
              <a:buFont typeface="Arial" panose="020B0604020202020204" pitchFamily="34" charset="0"/>
              <a:buChar char="•"/>
              <a:tabLst>
                <a:tab pos="194945" algn="l"/>
              </a:tabLst>
            </a:pPr>
            <a:r>
              <a:rPr lang="en-GB" sz="2200" dirty="0">
                <a:latin typeface="Arial"/>
                <a:cs typeface="Arial"/>
              </a:rPr>
              <a:t>Each warp has contiguous thread-ID</a:t>
            </a:r>
          </a:p>
          <a:p>
            <a:pPr marL="355600" indent="-342900">
              <a:spcBef>
                <a:spcPts val="530"/>
              </a:spcBef>
              <a:buClr>
                <a:srgbClr val="4F80BC"/>
              </a:buClr>
              <a:buSzPct val="84090"/>
              <a:buFont typeface="Arial" panose="020B0604020202020204" pitchFamily="34" charset="0"/>
              <a:buChar char="•"/>
              <a:tabLst>
                <a:tab pos="194945" algn="l"/>
              </a:tabLst>
            </a:pPr>
            <a:endParaRPr lang="en-GB" sz="2200" dirty="0">
              <a:latin typeface="Arial"/>
              <a:cs typeface="Arial"/>
            </a:endParaRPr>
          </a:p>
          <a:p>
            <a:pPr marL="355600" indent="-342900">
              <a:spcBef>
                <a:spcPts val="530"/>
              </a:spcBef>
              <a:buClr>
                <a:srgbClr val="4F80BC"/>
              </a:buClr>
              <a:buSzPct val="84090"/>
              <a:buFont typeface="Arial" panose="020B0604020202020204" pitchFamily="34" charset="0"/>
              <a:buChar char="•"/>
              <a:tabLst>
                <a:tab pos="194945" algn="l"/>
              </a:tabLst>
            </a:pPr>
            <a:r>
              <a:rPr lang="en-GB" sz="2200" dirty="0">
                <a:latin typeface="Arial"/>
                <a:cs typeface="Arial"/>
              </a:rPr>
              <a:t>All threads in a warp executes the same instruction.</a:t>
            </a:r>
          </a:p>
          <a:p>
            <a:pPr marL="355600" indent="-342900">
              <a:spcBef>
                <a:spcPts val="530"/>
              </a:spcBef>
              <a:buClr>
                <a:srgbClr val="4F80BC"/>
              </a:buClr>
              <a:buSzPct val="84090"/>
              <a:buFont typeface="Arial" panose="020B0604020202020204" pitchFamily="34" charset="0"/>
              <a:buChar char="•"/>
              <a:tabLst>
                <a:tab pos="194945" algn="l"/>
              </a:tabLst>
            </a:pPr>
            <a:r>
              <a:rPr lang="en-GB" sz="2200" dirty="0">
                <a:latin typeface="Arial"/>
                <a:cs typeface="Arial"/>
              </a:rPr>
              <a:t>If there is execution divergence, each branch is executed serially.</a:t>
            </a:r>
          </a:p>
          <a:p>
            <a:pPr marL="355600" indent="-342900">
              <a:spcBef>
                <a:spcPts val="530"/>
              </a:spcBef>
              <a:buClr>
                <a:srgbClr val="4F80BC"/>
              </a:buClr>
              <a:buSzPct val="84090"/>
              <a:buFont typeface="Arial" panose="020B0604020202020204" pitchFamily="34" charset="0"/>
              <a:buChar char="•"/>
              <a:tabLst>
                <a:tab pos="194945" algn="l"/>
              </a:tabLst>
            </a:pPr>
            <a:endParaRPr lang="en-GB" sz="2200" dirty="0">
              <a:latin typeface="Arial"/>
              <a:cs typeface="Arial"/>
            </a:endParaRPr>
          </a:p>
          <a:p>
            <a:pPr marL="355600" indent="-342900">
              <a:spcBef>
                <a:spcPts val="530"/>
              </a:spcBef>
              <a:buClr>
                <a:srgbClr val="4F80BC"/>
              </a:buClr>
              <a:buSzPct val="84090"/>
              <a:buFont typeface="Arial" panose="020B0604020202020204" pitchFamily="34" charset="0"/>
              <a:buChar char="•"/>
              <a:tabLst>
                <a:tab pos="194945" algn="l"/>
              </a:tabLst>
            </a:pPr>
            <a:r>
              <a:rPr lang="en-GB" sz="2200" dirty="0">
                <a:latin typeface="Arial"/>
                <a:cs typeface="Arial"/>
              </a:rPr>
              <a:t>Warp “wants to” access the memory at contiguous locations &gt;&gt; More in next lecture</a:t>
            </a:r>
          </a:p>
          <a:p>
            <a:pPr marL="355600" indent="-342900">
              <a:spcBef>
                <a:spcPts val="530"/>
              </a:spcBef>
              <a:buClr>
                <a:srgbClr val="4F80BC"/>
              </a:buClr>
              <a:buSzPct val="84090"/>
              <a:buFont typeface="Arial" panose="020B0604020202020204" pitchFamily="34" charset="0"/>
              <a:buChar char="•"/>
              <a:tabLst>
                <a:tab pos="194945" algn="l"/>
              </a:tabLst>
            </a:pPr>
            <a:endParaRPr lang="en-GB" sz="2200" dirty="0">
              <a:latin typeface="Arial"/>
              <a:cs typeface="Arial"/>
            </a:endParaRPr>
          </a:p>
          <a:p>
            <a:pPr marL="355600" lvl="1" indent="-342900">
              <a:spcBef>
                <a:spcPts val="530"/>
              </a:spcBef>
              <a:buClr>
                <a:srgbClr val="4F80BC"/>
              </a:buClr>
              <a:buSzPct val="84090"/>
              <a:buFont typeface="Arial" panose="020B0604020202020204" pitchFamily="34" charset="0"/>
              <a:buChar char="•"/>
              <a:tabLst>
                <a:tab pos="194945" algn="l"/>
              </a:tabLst>
            </a:pPr>
            <a:r>
              <a:rPr lang="en-GB" sz="2200" dirty="0">
                <a:latin typeface="Arial"/>
                <a:cs typeface="Arial"/>
              </a:rPr>
              <a:t>All the warps of a block are resident in SM memory until their execution finishes. </a:t>
            </a:r>
          </a:p>
          <a:p>
            <a:pPr marL="355600" indent="-342900">
              <a:spcBef>
                <a:spcPts val="530"/>
              </a:spcBef>
              <a:buClr>
                <a:srgbClr val="4F80BC"/>
              </a:buClr>
              <a:buSzPct val="84090"/>
              <a:buFont typeface="Arial" panose="020B0604020202020204" pitchFamily="34" charset="0"/>
              <a:buChar char="•"/>
              <a:tabLst>
                <a:tab pos="194945" algn="l"/>
              </a:tabLst>
            </a:pPr>
            <a:endParaRPr lang="en-GB" sz="2200" dirty="0">
              <a:latin typeface="Arial"/>
              <a:cs typeface="Arial"/>
            </a:endParaRPr>
          </a:p>
        </p:txBody>
      </p:sp>
    </p:spTree>
    <p:extLst>
      <p:ext uri="{BB962C8B-B14F-4D97-AF65-F5344CB8AC3E}">
        <p14:creationId xmlns:p14="http://schemas.microsoft.com/office/powerpoint/2010/main" val="23467349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B0E56-2A5C-0196-C807-0EEB955FEF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CF73D-2F03-2946-A832-8C8774C390EB}"/>
              </a:ext>
            </a:extLst>
          </p:cNvPr>
          <p:cNvSpPr>
            <a:spLocks noGrp="1"/>
          </p:cNvSpPr>
          <p:nvPr>
            <p:ph type="title"/>
          </p:nvPr>
        </p:nvSpPr>
        <p:spPr>
          <a:xfrm>
            <a:off x="698499" y="729741"/>
            <a:ext cx="10795000" cy="451342"/>
          </a:xfrm>
        </p:spPr>
        <p:txBody>
          <a:bodyPr/>
          <a:lstStyle/>
          <a:p>
            <a:r>
              <a:rPr lang="en-NL" sz="2933" cap="small" dirty="0">
                <a:solidFill>
                  <a:schemeClr val="dk2"/>
                </a:solidFill>
              </a:rPr>
              <a:t>Warps</a:t>
            </a:r>
          </a:p>
        </p:txBody>
      </p:sp>
      <p:sp>
        <p:nvSpPr>
          <p:cNvPr id="3" name="object 3">
            <a:extLst>
              <a:ext uri="{FF2B5EF4-FFF2-40B4-BE49-F238E27FC236}">
                <a16:creationId xmlns:a16="http://schemas.microsoft.com/office/drawing/2014/main" id="{D2B3F5C8-0AF7-85EA-FC4D-68529F4FFE5F}"/>
              </a:ext>
            </a:extLst>
          </p:cNvPr>
          <p:cNvSpPr txBox="1"/>
          <p:nvPr/>
        </p:nvSpPr>
        <p:spPr>
          <a:xfrm>
            <a:off x="762000" y="1534336"/>
            <a:ext cx="6629400" cy="5033429"/>
          </a:xfrm>
          <a:prstGeom prst="rect">
            <a:avLst/>
          </a:prstGeom>
        </p:spPr>
        <p:txBody>
          <a:bodyPr vert="horz" wrap="square" lIns="0" tIns="54610" rIns="0" bIns="0" rtlCol="0">
            <a:spAutoFit/>
          </a:bodyPr>
          <a:lstStyle/>
          <a:p>
            <a:pPr marL="355600" indent="-342900">
              <a:spcBef>
                <a:spcPts val="530"/>
              </a:spcBef>
              <a:buClr>
                <a:srgbClr val="4F80BC"/>
              </a:buClr>
              <a:buSzPct val="84090"/>
              <a:buFont typeface="Arial" panose="020B0604020202020204" pitchFamily="34" charset="0"/>
              <a:buChar char="•"/>
              <a:tabLst>
                <a:tab pos="194945" algn="l"/>
              </a:tabLst>
            </a:pPr>
            <a:r>
              <a:rPr lang="en-GB" sz="2200" dirty="0">
                <a:latin typeface="Arial"/>
                <a:cs typeface="Arial"/>
              </a:rPr>
              <a:t>Warps are scheduled for best performance</a:t>
            </a:r>
          </a:p>
          <a:p>
            <a:pPr marL="355600" indent="-342900">
              <a:spcBef>
                <a:spcPts val="530"/>
              </a:spcBef>
              <a:buClr>
                <a:srgbClr val="4F80BC"/>
              </a:buClr>
              <a:buSzPct val="84090"/>
              <a:buFont typeface="Arial" panose="020B0604020202020204" pitchFamily="34" charset="0"/>
              <a:buChar char="•"/>
              <a:tabLst>
                <a:tab pos="194945" algn="l"/>
              </a:tabLst>
            </a:pPr>
            <a:endParaRPr lang="en-GB" sz="2200" dirty="0">
              <a:latin typeface="Arial"/>
              <a:cs typeface="Arial"/>
            </a:endParaRPr>
          </a:p>
          <a:p>
            <a:pPr marL="355600" indent="-342900">
              <a:spcBef>
                <a:spcPts val="530"/>
              </a:spcBef>
              <a:buClr>
                <a:srgbClr val="4F80BC"/>
              </a:buClr>
              <a:buSzPct val="84090"/>
              <a:buFont typeface="Arial" panose="020B0604020202020204" pitchFamily="34" charset="0"/>
              <a:buChar char="•"/>
              <a:tabLst>
                <a:tab pos="194945" algn="l"/>
              </a:tabLst>
            </a:pPr>
            <a:r>
              <a:rPr lang="en-GB" sz="2200" b="1" dirty="0">
                <a:solidFill>
                  <a:schemeClr val="accent2">
                    <a:lumMod val="75000"/>
                  </a:schemeClr>
                </a:solidFill>
                <a:latin typeface="Arial"/>
                <a:cs typeface="Arial"/>
              </a:rPr>
              <a:t>Context Switching</a:t>
            </a:r>
          </a:p>
          <a:p>
            <a:pPr marL="355600" indent="-342900">
              <a:spcBef>
                <a:spcPts val="530"/>
              </a:spcBef>
              <a:buClr>
                <a:srgbClr val="4F80BC"/>
              </a:buClr>
              <a:buSzPct val="84090"/>
              <a:buFont typeface="Arial" panose="020B0604020202020204" pitchFamily="34" charset="0"/>
              <a:buChar char="•"/>
              <a:tabLst>
                <a:tab pos="194945" algn="l"/>
              </a:tabLst>
            </a:pPr>
            <a:endParaRPr lang="en-GB" sz="2200" dirty="0">
              <a:latin typeface="Arial"/>
              <a:cs typeface="Arial"/>
            </a:endParaRPr>
          </a:p>
          <a:p>
            <a:pPr marL="355600" indent="-342900">
              <a:spcBef>
                <a:spcPts val="530"/>
              </a:spcBef>
              <a:buClr>
                <a:srgbClr val="4F80BC"/>
              </a:buClr>
              <a:buSzPct val="84090"/>
              <a:buFont typeface="Arial" panose="020B0604020202020204" pitchFamily="34" charset="0"/>
              <a:buChar char="•"/>
              <a:tabLst>
                <a:tab pos="194945" algn="l"/>
              </a:tabLst>
            </a:pPr>
            <a:r>
              <a:rPr lang="en-GB" sz="2200" dirty="0">
                <a:latin typeface="Arial"/>
                <a:cs typeface="Arial"/>
              </a:rPr>
              <a:t>All Warp data stay in registers allocated to the warp</a:t>
            </a:r>
          </a:p>
          <a:p>
            <a:pPr marL="355600" indent="-342900">
              <a:spcBef>
                <a:spcPts val="530"/>
              </a:spcBef>
              <a:buClr>
                <a:srgbClr val="4F80BC"/>
              </a:buClr>
              <a:buSzPct val="84090"/>
              <a:buFont typeface="Arial" panose="020B0604020202020204" pitchFamily="34" charset="0"/>
              <a:buChar char="•"/>
              <a:tabLst>
                <a:tab pos="194945" algn="l"/>
              </a:tabLst>
            </a:pPr>
            <a:endParaRPr lang="en-GB" sz="2200" dirty="0">
              <a:latin typeface="Arial"/>
              <a:cs typeface="Arial"/>
            </a:endParaRPr>
          </a:p>
          <a:p>
            <a:pPr marL="355600" indent="-342900">
              <a:spcBef>
                <a:spcPts val="530"/>
              </a:spcBef>
              <a:buClr>
                <a:srgbClr val="4F80BC"/>
              </a:buClr>
              <a:buSzPct val="84090"/>
              <a:buFont typeface="Arial" panose="020B0604020202020204" pitchFamily="34" charset="0"/>
              <a:buChar char="•"/>
              <a:tabLst>
                <a:tab pos="194945" algn="l"/>
              </a:tabLst>
            </a:pPr>
            <a:r>
              <a:rPr lang="en-GB" sz="2200" dirty="0">
                <a:latin typeface="Arial"/>
                <a:cs typeface="Arial"/>
              </a:rPr>
              <a:t>Overlap possible between a warp’s data access and another warp’s execution</a:t>
            </a:r>
          </a:p>
          <a:p>
            <a:pPr marL="355600" indent="-342900">
              <a:spcBef>
                <a:spcPts val="530"/>
              </a:spcBef>
              <a:buClr>
                <a:srgbClr val="4F80BC"/>
              </a:buClr>
              <a:buSzPct val="84090"/>
              <a:buFont typeface="Arial" panose="020B0604020202020204" pitchFamily="34" charset="0"/>
              <a:buChar char="•"/>
              <a:tabLst>
                <a:tab pos="194945" algn="l"/>
              </a:tabLst>
            </a:pPr>
            <a:endParaRPr lang="en-GB" sz="2200" dirty="0">
              <a:latin typeface="Arial"/>
              <a:cs typeface="Arial"/>
            </a:endParaRPr>
          </a:p>
          <a:p>
            <a:pPr marL="355600" indent="-342900">
              <a:spcBef>
                <a:spcPts val="530"/>
              </a:spcBef>
              <a:buClr>
                <a:srgbClr val="4F80BC"/>
              </a:buClr>
              <a:buSzPct val="84090"/>
              <a:buFont typeface="Arial" panose="020B0604020202020204" pitchFamily="34" charset="0"/>
              <a:buChar char="•"/>
              <a:tabLst>
                <a:tab pos="194945" algn="l"/>
              </a:tabLst>
            </a:pPr>
            <a:r>
              <a:rPr lang="en-GB" sz="2200" dirty="0">
                <a:latin typeface="Arial"/>
                <a:cs typeface="Arial"/>
              </a:rPr>
              <a:t>GPUs have large number of registers to allow for scalable scheduling via context switching</a:t>
            </a:r>
          </a:p>
          <a:p>
            <a:pPr marL="355600" indent="-342900">
              <a:spcBef>
                <a:spcPts val="530"/>
              </a:spcBef>
              <a:buClr>
                <a:srgbClr val="4F80BC"/>
              </a:buClr>
              <a:buSzPct val="84090"/>
              <a:buFont typeface="Arial" panose="020B0604020202020204" pitchFamily="34" charset="0"/>
              <a:buChar char="•"/>
              <a:tabLst>
                <a:tab pos="194945" algn="l"/>
              </a:tabLst>
            </a:pPr>
            <a:endParaRPr lang="en-GB" sz="2200" dirty="0">
              <a:latin typeface="Arial"/>
              <a:cs typeface="Arial"/>
            </a:endParaRPr>
          </a:p>
        </p:txBody>
      </p:sp>
      <p:pic>
        <p:nvPicPr>
          <p:cNvPr id="2050" name="Picture 2">
            <a:extLst>
              <a:ext uri="{FF2B5EF4-FFF2-40B4-BE49-F238E27FC236}">
                <a16:creationId xmlns:a16="http://schemas.microsoft.com/office/drawing/2014/main" id="{02B11A53-A0B2-2207-8454-F3D87FBB01A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333" r="44580"/>
          <a:stretch/>
        </p:blipFill>
        <p:spPr bwMode="auto">
          <a:xfrm>
            <a:off x="7315200" y="304800"/>
            <a:ext cx="4683125" cy="594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06417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75017-260F-CC2A-45C4-AA24503746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047581-B9C0-545E-965C-D6F88B6281E8}"/>
              </a:ext>
            </a:extLst>
          </p:cNvPr>
          <p:cNvSpPr>
            <a:spLocks noGrp="1"/>
          </p:cNvSpPr>
          <p:nvPr>
            <p:ph type="title"/>
          </p:nvPr>
        </p:nvSpPr>
        <p:spPr>
          <a:xfrm>
            <a:off x="698499" y="729741"/>
            <a:ext cx="10795000" cy="451342"/>
          </a:xfrm>
        </p:spPr>
        <p:txBody>
          <a:bodyPr/>
          <a:lstStyle/>
          <a:p>
            <a:r>
              <a:rPr lang="en-NL" sz="2933" cap="small" dirty="0">
                <a:solidFill>
                  <a:schemeClr val="dk2"/>
                </a:solidFill>
              </a:rPr>
              <a:t>Warps</a:t>
            </a:r>
          </a:p>
        </p:txBody>
      </p:sp>
      <p:pic>
        <p:nvPicPr>
          <p:cNvPr id="2050" name="Picture 2">
            <a:extLst>
              <a:ext uri="{FF2B5EF4-FFF2-40B4-BE49-F238E27FC236}">
                <a16:creationId xmlns:a16="http://schemas.microsoft.com/office/drawing/2014/main" id="{90D0C966-AB3A-6D82-1D0A-93BCD2A44C3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74" t="-1710" r="-8184" b="15042"/>
          <a:stretch/>
        </p:blipFill>
        <p:spPr bwMode="auto">
          <a:xfrm>
            <a:off x="2743200" y="1447800"/>
            <a:ext cx="6253276" cy="4164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60822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7AAEE-182E-C371-4952-429A41BA89FE}"/>
              </a:ext>
            </a:extLst>
          </p:cNvPr>
          <p:cNvSpPr>
            <a:spLocks noGrp="1"/>
          </p:cNvSpPr>
          <p:nvPr>
            <p:ph type="title"/>
          </p:nvPr>
        </p:nvSpPr>
        <p:spPr/>
        <p:txBody>
          <a:bodyPr/>
          <a:lstStyle/>
          <a:p>
            <a:r>
              <a:rPr lang="en-NL" sz="2933" cap="small" dirty="0">
                <a:solidFill>
                  <a:schemeClr val="dk2"/>
                </a:solidFill>
              </a:rPr>
              <a:t>Stalled</a:t>
            </a:r>
            <a:r>
              <a:rPr lang="en-NL" dirty="0"/>
              <a:t> </a:t>
            </a:r>
            <a:r>
              <a:rPr lang="en-NL" sz="2933" cap="small" dirty="0">
                <a:solidFill>
                  <a:schemeClr val="dk2"/>
                </a:solidFill>
              </a:rPr>
              <a:t>Warps</a:t>
            </a:r>
          </a:p>
        </p:txBody>
      </p:sp>
      <p:sp>
        <p:nvSpPr>
          <p:cNvPr id="5" name="TextBox 4">
            <a:extLst>
              <a:ext uri="{FF2B5EF4-FFF2-40B4-BE49-F238E27FC236}">
                <a16:creationId xmlns:a16="http://schemas.microsoft.com/office/drawing/2014/main" id="{8D035520-8338-6999-21D8-F143C5C0B1B1}"/>
              </a:ext>
            </a:extLst>
          </p:cNvPr>
          <p:cNvSpPr txBox="1"/>
          <p:nvPr/>
        </p:nvSpPr>
        <p:spPr>
          <a:xfrm>
            <a:off x="838200" y="1524000"/>
            <a:ext cx="8448589" cy="5509200"/>
          </a:xfrm>
          <a:prstGeom prst="rect">
            <a:avLst/>
          </a:prstGeom>
          <a:noFill/>
        </p:spPr>
        <p:txBody>
          <a:bodyPr wrap="square">
            <a:spAutoFit/>
          </a:bodyPr>
          <a:lstStyle/>
          <a:p>
            <a:r>
              <a:rPr lang="en-GB" sz="2200" dirty="0">
                <a:solidFill>
                  <a:srgbClr val="3F6CAF"/>
                </a:solidFill>
                <a:effectLst/>
                <a:latin typeface="Arial" panose="020B0604020202020204" pitchFamily="34" charset="0"/>
              </a:rPr>
              <a:t>• </a:t>
            </a:r>
            <a:r>
              <a:rPr lang="en-GB" sz="2200" dirty="0">
                <a:solidFill>
                  <a:srgbClr val="000000"/>
                </a:solidFill>
                <a:effectLst/>
                <a:latin typeface="Arial" panose="020B0604020202020204" pitchFamily="34" charset="0"/>
              </a:rPr>
              <a:t>What happens if all warps are stalled?</a:t>
            </a:r>
          </a:p>
          <a:p>
            <a:r>
              <a:rPr lang="en-GB" sz="2200" dirty="0">
                <a:solidFill>
                  <a:srgbClr val="3F6CAF"/>
                </a:solidFill>
                <a:effectLst/>
                <a:latin typeface="Arial" panose="020B0604020202020204" pitchFamily="34" charset="0"/>
              </a:rPr>
              <a:t> 	&gt; </a:t>
            </a:r>
            <a:r>
              <a:rPr lang="en-GB" sz="2200" dirty="0">
                <a:solidFill>
                  <a:srgbClr val="000000"/>
                </a:solidFill>
                <a:effectLst/>
                <a:latin typeface="Arial" panose="020B0604020202020204" pitchFamily="34" charset="0"/>
              </a:rPr>
              <a:t>No instruction issued → performance lost</a:t>
            </a:r>
          </a:p>
          <a:p>
            <a:endParaRPr lang="en-GB" sz="2200" dirty="0">
              <a:solidFill>
                <a:srgbClr val="000000"/>
              </a:solidFill>
              <a:effectLst/>
              <a:latin typeface="Arial" panose="020B0604020202020204" pitchFamily="34" charset="0"/>
            </a:endParaRPr>
          </a:p>
          <a:p>
            <a:r>
              <a:rPr lang="en-GB" sz="2200" dirty="0">
                <a:solidFill>
                  <a:srgbClr val="3F6CAF"/>
                </a:solidFill>
                <a:effectLst/>
                <a:latin typeface="Arial" panose="020B0604020202020204" pitchFamily="34" charset="0"/>
              </a:rPr>
              <a:t>• </a:t>
            </a:r>
            <a:r>
              <a:rPr lang="en-GB" sz="2200" dirty="0">
                <a:solidFill>
                  <a:srgbClr val="000000"/>
                </a:solidFill>
                <a:effectLst/>
                <a:latin typeface="Arial" panose="020B0604020202020204" pitchFamily="34" charset="0"/>
              </a:rPr>
              <a:t>Most common reason for stalling?</a:t>
            </a:r>
          </a:p>
          <a:p>
            <a:r>
              <a:rPr lang="en-GB" sz="2200" dirty="0">
                <a:solidFill>
                  <a:srgbClr val="3F6CAF"/>
                </a:solidFill>
                <a:effectLst/>
                <a:latin typeface="Arial" panose="020B0604020202020204" pitchFamily="34" charset="0"/>
              </a:rPr>
              <a:t> 	&gt; </a:t>
            </a:r>
            <a:r>
              <a:rPr lang="en-GB" sz="2200" dirty="0">
                <a:solidFill>
                  <a:srgbClr val="000000"/>
                </a:solidFill>
                <a:effectLst/>
                <a:latin typeface="Arial" panose="020B0604020202020204" pitchFamily="34" charset="0"/>
              </a:rPr>
              <a:t>Waiting on global memory</a:t>
            </a:r>
          </a:p>
          <a:p>
            <a:endParaRPr lang="en-GB" sz="2200" dirty="0">
              <a:solidFill>
                <a:srgbClr val="000000"/>
              </a:solidFill>
              <a:latin typeface="Arial" panose="020B0604020202020204" pitchFamily="34" charset="0"/>
            </a:endParaRPr>
          </a:p>
          <a:p>
            <a:r>
              <a:rPr lang="en-GB" sz="2200" dirty="0">
                <a:solidFill>
                  <a:srgbClr val="000000"/>
                </a:solidFill>
                <a:effectLst/>
                <a:latin typeface="Arial" panose="020B0604020202020204" pitchFamily="34" charset="0"/>
              </a:rPr>
              <a:t>You should try to maximize </a:t>
            </a:r>
            <a:r>
              <a:rPr lang="en-GB" sz="2200" b="1" dirty="0">
                <a:solidFill>
                  <a:srgbClr val="000000"/>
                </a:solidFill>
                <a:effectLst/>
                <a:latin typeface="Arial" panose="020B0604020202020204" pitchFamily="34" charset="0"/>
              </a:rPr>
              <a:t>occupancy</a:t>
            </a:r>
          </a:p>
          <a:p>
            <a:endParaRPr lang="en-GB" sz="2200" b="1" dirty="0">
              <a:solidFill>
                <a:srgbClr val="000000"/>
              </a:solidFill>
              <a:latin typeface="Arial" panose="020B0604020202020204" pitchFamily="34" charset="0"/>
            </a:endParaRPr>
          </a:p>
          <a:p>
            <a:r>
              <a:rPr lang="en-GB" sz="2200" dirty="0">
                <a:solidFill>
                  <a:srgbClr val="B13B3C"/>
                </a:solidFill>
                <a:effectLst/>
                <a:latin typeface="Arial" panose="020B0604020202020204" pitchFamily="34" charset="0"/>
              </a:rPr>
              <a:t>Occupancy = Active Warps / Maximum Active Warps</a:t>
            </a:r>
          </a:p>
          <a:p>
            <a:endParaRPr lang="en-GB" sz="2200" b="1" dirty="0">
              <a:solidFill>
                <a:srgbClr val="000000"/>
              </a:solidFill>
              <a:effectLst/>
              <a:latin typeface="Arial" panose="020B0604020202020204" pitchFamily="34" charset="0"/>
            </a:endParaRPr>
          </a:p>
          <a:p>
            <a:r>
              <a:rPr lang="en-GB" sz="2200" dirty="0">
                <a:solidFill>
                  <a:srgbClr val="000000"/>
                </a:solidFill>
                <a:effectLst/>
                <a:latin typeface="Arial" panose="020B0604020202020204" pitchFamily="34" charset="0"/>
              </a:rPr>
              <a:t>Potential occupancy limiters:</a:t>
            </a:r>
          </a:p>
          <a:p>
            <a:pPr lvl="4" algn="just"/>
            <a:r>
              <a:rPr lang="en-GB" sz="2200" dirty="0">
                <a:solidFill>
                  <a:srgbClr val="3F6CAF"/>
                </a:solidFill>
                <a:effectLst/>
                <a:latin typeface="Arial" panose="020B0604020202020204" pitchFamily="34" charset="0"/>
              </a:rPr>
              <a:t>• 	</a:t>
            </a:r>
            <a:r>
              <a:rPr lang="en-GB" sz="2200" dirty="0">
                <a:solidFill>
                  <a:srgbClr val="000000"/>
                </a:solidFill>
                <a:effectLst/>
                <a:latin typeface="Arial" panose="020B0604020202020204" pitchFamily="34" charset="0"/>
              </a:rPr>
              <a:t>Register usage</a:t>
            </a:r>
          </a:p>
          <a:p>
            <a:pPr lvl="4" algn="just"/>
            <a:r>
              <a:rPr lang="en-GB" sz="2200" dirty="0">
                <a:solidFill>
                  <a:srgbClr val="3F6CAF"/>
                </a:solidFill>
                <a:effectLst/>
                <a:latin typeface="Arial" panose="020B0604020202020204" pitchFamily="34" charset="0"/>
              </a:rPr>
              <a:t>• 	</a:t>
            </a:r>
            <a:r>
              <a:rPr lang="en-GB" sz="2200" dirty="0">
                <a:solidFill>
                  <a:srgbClr val="000000"/>
                </a:solidFill>
                <a:effectLst/>
                <a:latin typeface="Arial" panose="020B0604020202020204" pitchFamily="34" charset="0"/>
              </a:rPr>
              <a:t>Shared memory usage</a:t>
            </a:r>
          </a:p>
          <a:p>
            <a:pPr lvl="4" algn="just"/>
            <a:r>
              <a:rPr lang="en-GB" sz="2200" dirty="0">
                <a:solidFill>
                  <a:srgbClr val="3F6CAF"/>
                </a:solidFill>
                <a:effectLst/>
                <a:latin typeface="Arial" panose="020B0604020202020204" pitchFamily="34" charset="0"/>
              </a:rPr>
              <a:t>• 	</a:t>
            </a:r>
            <a:r>
              <a:rPr lang="en-GB" sz="2200" dirty="0">
                <a:solidFill>
                  <a:srgbClr val="000000"/>
                </a:solidFill>
                <a:effectLst/>
                <a:latin typeface="Arial" panose="020B0604020202020204" pitchFamily="34" charset="0"/>
              </a:rPr>
              <a:t>Block size</a:t>
            </a:r>
          </a:p>
          <a:p>
            <a:endParaRPr lang="en-GB" sz="2200" dirty="0">
              <a:solidFill>
                <a:srgbClr val="000000"/>
              </a:solidFill>
              <a:effectLst/>
              <a:latin typeface="Arial" panose="020B0604020202020204" pitchFamily="34" charset="0"/>
            </a:endParaRPr>
          </a:p>
          <a:p>
            <a:endParaRPr lang="en-GB" sz="220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23939676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69D99-08D3-44E5-B208-48EE8CDF882E}"/>
              </a:ext>
            </a:extLst>
          </p:cNvPr>
          <p:cNvSpPr>
            <a:spLocks noGrp="1"/>
          </p:cNvSpPr>
          <p:nvPr>
            <p:ph type="title"/>
          </p:nvPr>
        </p:nvSpPr>
        <p:spPr/>
        <p:txBody>
          <a:bodyPr/>
          <a:lstStyle/>
          <a:p>
            <a:r>
              <a:rPr lang="en-NL" sz="2933" cap="small" dirty="0">
                <a:solidFill>
                  <a:schemeClr val="dk2"/>
                </a:solidFill>
              </a:rPr>
              <a:t>Resource</a:t>
            </a:r>
            <a:r>
              <a:rPr lang="en-NL" dirty="0"/>
              <a:t> </a:t>
            </a:r>
            <a:r>
              <a:rPr lang="en-NL" sz="2933" cap="small" dirty="0">
                <a:solidFill>
                  <a:schemeClr val="dk2"/>
                </a:solidFill>
              </a:rPr>
              <a:t>limitations on SM</a:t>
            </a:r>
          </a:p>
        </p:txBody>
      </p:sp>
      <p:pic>
        <p:nvPicPr>
          <p:cNvPr id="4" name="Picture 3">
            <a:extLst>
              <a:ext uri="{FF2B5EF4-FFF2-40B4-BE49-F238E27FC236}">
                <a16:creationId xmlns:a16="http://schemas.microsoft.com/office/drawing/2014/main" id="{D85044BB-2938-392F-2453-3C2DF3FB258E}"/>
              </a:ext>
            </a:extLst>
          </p:cNvPr>
          <p:cNvPicPr>
            <a:picLocks noChangeAspect="1"/>
          </p:cNvPicPr>
          <p:nvPr/>
        </p:nvPicPr>
        <p:blipFill>
          <a:blip r:embed="rId2"/>
          <a:stretch>
            <a:fillRect/>
          </a:stretch>
        </p:blipFill>
        <p:spPr>
          <a:xfrm>
            <a:off x="2057400" y="1600200"/>
            <a:ext cx="7772400" cy="4810425"/>
          </a:xfrm>
          <a:prstGeom prst="rect">
            <a:avLst/>
          </a:prstGeom>
        </p:spPr>
      </p:pic>
    </p:spTree>
    <p:extLst>
      <p:ext uri="{BB962C8B-B14F-4D97-AF65-F5344CB8AC3E}">
        <p14:creationId xmlns:p14="http://schemas.microsoft.com/office/powerpoint/2010/main" val="28271349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820"/>
        <p:cNvGrpSpPr/>
        <p:nvPr/>
      </p:nvGrpSpPr>
      <p:grpSpPr>
        <a:xfrm>
          <a:off x="0" y="0"/>
          <a:ext cx="0" cy="0"/>
          <a:chOff x="0" y="0"/>
          <a:chExt cx="0" cy="0"/>
        </a:xfrm>
      </p:grpSpPr>
      <p:sp>
        <p:nvSpPr>
          <p:cNvPr id="1821" name="Google Shape;1821;p47"/>
          <p:cNvSpPr txBox="1">
            <a:spLocks noGrp="1"/>
          </p:cNvSpPr>
          <p:nvPr>
            <p:ph type="title"/>
          </p:nvPr>
        </p:nvSpPr>
        <p:spPr>
          <a:xfrm>
            <a:off x="314400" y="405800"/>
            <a:ext cx="10650400" cy="709600"/>
          </a:xfrm>
          <a:prstGeom prst="rect">
            <a:avLst/>
          </a:prstGeom>
          <a:noFill/>
        </p:spPr>
        <p:txBody>
          <a:bodyPr spcFirstLastPara="1" wrap="square" lIns="91433" tIns="91433" rIns="91433" bIns="91433" anchor="b" anchorCtr="0">
            <a:noAutofit/>
          </a:bodyPr>
          <a:lstStyle/>
          <a:p>
            <a:pPr rtl="0"/>
            <a:r>
              <a:rPr lang="en-GB"/>
              <a:t>Synchronization (preview)</a:t>
            </a:r>
            <a:endParaRPr/>
          </a:p>
        </p:txBody>
      </p:sp>
      <p:sp>
        <p:nvSpPr>
          <p:cNvPr id="1822" name="Google Shape;1822;p47"/>
          <p:cNvSpPr txBox="1">
            <a:spLocks noGrp="1"/>
          </p:cNvSpPr>
          <p:nvPr>
            <p:ph type="body" idx="1"/>
          </p:nvPr>
        </p:nvSpPr>
        <p:spPr>
          <a:xfrm>
            <a:off x="418000" y="927167"/>
            <a:ext cx="11326400" cy="1077600"/>
          </a:xfrm>
          <a:prstGeom prst="rect">
            <a:avLst/>
          </a:prstGeom>
        </p:spPr>
        <p:txBody>
          <a:bodyPr spcFirstLastPara="1" wrap="square" lIns="91433" tIns="91433" rIns="91433" bIns="91433" anchor="t" anchorCtr="0">
            <a:noAutofit/>
          </a:bodyPr>
          <a:lstStyle/>
          <a:p>
            <a:pPr marL="0" indent="0" rtl="0">
              <a:buNone/>
            </a:pPr>
            <a:r>
              <a:rPr lang="en-GB" sz="2267"/>
              <a:t>In CUDA programs, multiple blocks and multiple threads are simultaneously in execution, without any particular ordering. </a:t>
            </a:r>
            <a:r>
              <a:rPr lang="en-GB" sz="2267" b="1">
                <a:solidFill>
                  <a:schemeClr val="accent4"/>
                </a:solidFill>
              </a:rPr>
              <a:t>Q: Is this an issue?</a:t>
            </a:r>
            <a:endParaRPr sz="2267" b="1">
              <a:solidFill>
                <a:schemeClr val="accent4"/>
              </a:solidFill>
            </a:endParaRPr>
          </a:p>
        </p:txBody>
      </p:sp>
      <p:sp>
        <p:nvSpPr>
          <p:cNvPr id="1823" name="Google Shape;1823;p47"/>
          <p:cNvSpPr txBox="1">
            <a:spLocks noGrp="1"/>
          </p:cNvSpPr>
          <p:nvPr>
            <p:ph type="sldNum" idx="12"/>
          </p:nvPr>
        </p:nvSpPr>
        <p:spPr>
          <a:xfrm>
            <a:off x="11466783" y="5913927"/>
            <a:ext cx="731600" cy="418000"/>
          </a:xfrm>
          <a:prstGeom prst="rect">
            <a:avLst/>
          </a:prstGeom>
        </p:spPr>
        <p:txBody>
          <a:bodyPr spcFirstLastPara="1" wrap="square" lIns="91433" tIns="91433" rIns="91433" bIns="91433" anchor="t" anchorCtr="0">
            <a:noAutofit/>
          </a:bodyPr>
          <a:lstStyle/>
          <a:p>
            <a:pPr rtl="0"/>
            <a:fld id="{00000000-1234-1234-1234-123412341234}" type="slidenum">
              <a:rPr lang="en-GB"/>
              <a:pPr rtl="0"/>
              <a:t>48</a:t>
            </a:fld>
            <a:endParaRPr/>
          </a:p>
        </p:txBody>
      </p:sp>
      <p:sp>
        <p:nvSpPr>
          <p:cNvPr id="1824" name="Google Shape;1824;p47"/>
          <p:cNvSpPr txBox="1"/>
          <p:nvPr/>
        </p:nvSpPr>
        <p:spPr>
          <a:xfrm>
            <a:off x="314400" y="2004767"/>
            <a:ext cx="7978000" cy="2046674"/>
          </a:xfrm>
          <a:prstGeom prst="rect">
            <a:avLst/>
          </a:prstGeom>
          <a:noFill/>
          <a:ln>
            <a:noFill/>
          </a:ln>
        </p:spPr>
        <p:txBody>
          <a:bodyPr spcFirstLastPara="1" wrap="square" lIns="121900" tIns="121900" rIns="121900" bIns="121900" anchor="t" anchorCtr="0">
            <a:spAutoFit/>
          </a:bodyPr>
          <a:lstStyle/>
          <a:p>
            <a:pPr algn="l" rtl="0"/>
            <a:r>
              <a:rPr lang="en-GB">
                <a:solidFill>
                  <a:srgbClr val="37474F"/>
                </a:solidFill>
                <a:latin typeface="Roboto Mono"/>
                <a:ea typeface="Roboto Mono"/>
                <a:cs typeface="Roboto Mono"/>
                <a:sym typeface="Roboto Mono"/>
              </a:rPr>
              <a:t>__global__ </a:t>
            </a:r>
            <a:r>
              <a:rPr lang="en-GB">
                <a:solidFill>
                  <a:srgbClr val="3F51B5"/>
                </a:solidFill>
                <a:latin typeface="Roboto Mono"/>
                <a:ea typeface="Roboto Mono"/>
                <a:cs typeface="Roboto Mono"/>
                <a:sym typeface="Roboto Mono"/>
              </a:rPr>
              <a:t>void</a:t>
            </a:r>
            <a:r>
              <a:rPr lang="en-GB">
                <a:solidFill>
                  <a:srgbClr val="9C27B0"/>
                </a:solidFill>
                <a:latin typeface="Roboto Mono"/>
                <a:ea typeface="Roboto Mono"/>
                <a:cs typeface="Roboto Mono"/>
                <a:sym typeface="Roboto Mono"/>
              </a:rPr>
              <a:t> sumArray</a:t>
            </a:r>
            <a:r>
              <a:rPr lang="en-GB">
                <a:solidFill>
                  <a:srgbClr val="37474F"/>
                </a:solidFill>
                <a:latin typeface="Roboto Mono"/>
                <a:ea typeface="Roboto Mono"/>
                <a:cs typeface="Roboto Mono"/>
                <a:sym typeface="Roboto Mono"/>
              </a:rPr>
              <a:t>(</a:t>
            </a:r>
            <a:r>
              <a:rPr lang="en-GB">
                <a:solidFill>
                  <a:srgbClr val="3F51B5"/>
                </a:solidFill>
                <a:latin typeface="Roboto Mono"/>
                <a:ea typeface="Roboto Mono"/>
                <a:cs typeface="Roboto Mono"/>
                <a:sym typeface="Roboto Mono"/>
              </a:rPr>
              <a:t>int *</a:t>
            </a:r>
            <a:r>
              <a:rPr lang="en-GB">
                <a:solidFill>
                  <a:srgbClr val="37474F"/>
                </a:solidFill>
                <a:latin typeface="Roboto Mono"/>
                <a:ea typeface="Roboto Mono"/>
                <a:cs typeface="Roboto Mono"/>
                <a:sym typeface="Roboto Mono"/>
              </a:rPr>
              <a:t>arr, </a:t>
            </a:r>
            <a:r>
              <a:rPr lang="en-GB">
                <a:solidFill>
                  <a:srgbClr val="3F51B5"/>
                </a:solidFill>
                <a:latin typeface="Roboto Mono"/>
                <a:ea typeface="Roboto Mono"/>
                <a:cs typeface="Roboto Mono"/>
                <a:sym typeface="Roboto Mono"/>
              </a:rPr>
              <a:t>int *</a:t>
            </a:r>
            <a:r>
              <a:rPr lang="en-GB">
                <a:solidFill>
                  <a:srgbClr val="37474F"/>
                </a:solidFill>
                <a:latin typeface="Roboto Mono"/>
                <a:ea typeface="Roboto Mono"/>
                <a:cs typeface="Roboto Mono"/>
                <a:sym typeface="Roboto Mono"/>
              </a:rPr>
              <a:t>sum, </a:t>
            </a:r>
            <a:r>
              <a:rPr lang="en-GB">
                <a:solidFill>
                  <a:srgbClr val="3F51B5"/>
                </a:solidFill>
                <a:latin typeface="Roboto Mono"/>
                <a:ea typeface="Roboto Mono"/>
                <a:cs typeface="Roboto Mono"/>
                <a:sym typeface="Roboto Mono"/>
              </a:rPr>
              <a:t>int</a:t>
            </a:r>
            <a:r>
              <a:rPr lang="en-GB">
                <a:solidFill>
                  <a:srgbClr val="37474F"/>
                </a:solidFill>
                <a:latin typeface="Roboto Mono"/>
                <a:ea typeface="Roboto Mono"/>
                <a:cs typeface="Roboto Mono"/>
                <a:sym typeface="Roboto Mono"/>
              </a:rPr>
              <a:t> n) {</a:t>
            </a:r>
            <a:endParaRPr>
              <a:solidFill>
                <a:schemeClr val="dk1"/>
              </a:solidFill>
              <a:latin typeface="Roboto Mono"/>
              <a:ea typeface="Roboto Mono"/>
              <a:cs typeface="Roboto Mono"/>
              <a:sym typeface="Roboto Mono"/>
            </a:endParaRPr>
          </a:p>
          <a:p>
            <a:pPr algn="l" rtl="0"/>
            <a:r>
              <a:rPr lang="en-GB">
                <a:solidFill>
                  <a:srgbClr val="3F51B5"/>
                </a:solidFill>
                <a:latin typeface="Roboto Mono"/>
                <a:ea typeface="Roboto Mono"/>
                <a:cs typeface="Roboto Mono"/>
                <a:sym typeface="Roboto Mono"/>
              </a:rPr>
              <a:t>  int</a:t>
            </a:r>
            <a:r>
              <a:rPr lang="en-GB">
                <a:solidFill>
                  <a:srgbClr val="37474F"/>
                </a:solidFill>
                <a:latin typeface="Roboto Mono"/>
                <a:ea typeface="Roboto Mono"/>
                <a:cs typeface="Roboto Mono"/>
                <a:sym typeface="Roboto Mono"/>
              </a:rPr>
              <a:t> my_id </a:t>
            </a:r>
            <a:r>
              <a:rPr lang="en-GB">
                <a:solidFill>
                  <a:srgbClr val="3F51B5"/>
                </a:solidFill>
                <a:latin typeface="Roboto Mono"/>
                <a:ea typeface="Roboto Mono"/>
                <a:cs typeface="Roboto Mono"/>
                <a:sym typeface="Roboto Mono"/>
              </a:rPr>
              <a:t>=</a:t>
            </a:r>
            <a:r>
              <a:rPr lang="en-GB">
                <a:solidFill>
                  <a:srgbClr val="37474F"/>
                </a:solidFill>
                <a:latin typeface="Roboto Mono"/>
                <a:ea typeface="Roboto Mono"/>
                <a:cs typeface="Roboto Mono"/>
                <a:sym typeface="Roboto Mono"/>
              </a:rPr>
              <a:t> threadIdx.x </a:t>
            </a:r>
            <a:r>
              <a:rPr lang="en-GB">
                <a:solidFill>
                  <a:srgbClr val="3F51B5"/>
                </a:solidFill>
                <a:latin typeface="Roboto Mono"/>
                <a:ea typeface="Roboto Mono"/>
                <a:cs typeface="Roboto Mono"/>
                <a:sym typeface="Roboto Mono"/>
              </a:rPr>
              <a:t>+</a:t>
            </a:r>
            <a:r>
              <a:rPr lang="en-GB">
                <a:solidFill>
                  <a:srgbClr val="37474F"/>
                </a:solidFill>
                <a:latin typeface="Roboto Mono"/>
                <a:ea typeface="Roboto Mono"/>
                <a:cs typeface="Roboto Mono"/>
                <a:sym typeface="Roboto Mono"/>
              </a:rPr>
              <a:t> blockIdx.x </a:t>
            </a:r>
            <a:r>
              <a:rPr lang="en-GB">
                <a:solidFill>
                  <a:srgbClr val="3F51B5"/>
                </a:solidFill>
                <a:latin typeface="Roboto Mono"/>
                <a:ea typeface="Roboto Mono"/>
                <a:cs typeface="Roboto Mono"/>
                <a:sym typeface="Roboto Mono"/>
              </a:rPr>
              <a:t>*</a:t>
            </a:r>
            <a:r>
              <a:rPr lang="en-GB">
                <a:solidFill>
                  <a:srgbClr val="37474F"/>
                </a:solidFill>
                <a:latin typeface="Roboto Mono"/>
                <a:ea typeface="Roboto Mono"/>
                <a:cs typeface="Roboto Mono"/>
                <a:sym typeface="Roboto Mono"/>
              </a:rPr>
              <a:t> blockDim.x;</a:t>
            </a:r>
            <a:endParaRPr>
              <a:solidFill>
                <a:schemeClr val="dk1"/>
              </a:solidFill>
              <a:latin typeface="Roboto Mono"/>
              <a:ea typeface="Roboto Mono"/>
              <a:cs typeface="Roboto Mono"/>
              <a:sym typeface="Roboto Mono"/>
            </a:endParaRPr>
          </a:p>
          <a:p>
            <a:pPr algn="l" rtl="0"/>
            <a:r>
              <a:rPr lang="en-GB">
                <a:solidFill>
                  <a:srgbClr val="3F51B5"/>
                </a:solidFill>
                <a:latin typeface="Roboto Mono"/>
                <a:ea typeface="Roboto Mono"/>
                <a:cs typeface="Roboto Mono"/>
                <a:sym typeface="Roboto Mono"/>
              </a:rPr>
              <a:t>  if</a:t>
            </a:r>
            <a:r>
              <a:rPr lang="en-GB">
                <a:solidFill>
                  <a:srgbClr val="37474F"/>
                </a:solidFill>
                <a:latin typeface="Roboto Mono"/>
                <a:ea typeface="Roboto Mono"/>
                <a:cs typeface="Roboto Mono"/>
                <a:sym typeface="Roboto Mono"/>
              </a:rPr>
              <a:t> (my_id </a:t>
            </a:r>
            <a:r>
              <a:rPr lang="en-GB">
                <a:solidFill>
                  <a:srgbClr val="3F51B5"/>
                </a:solidFill>
                <a:latin typeface="Roboto Mono"/>
                <a:ea typeface="Roboto Mono"/>
                <a:cs typeface="Roboto Mono"/>
                <a:sym typeface="Roboto Mono"/>
              </a:rPr>
              <a:t>&lt;</a:t>
            </a:r>
            <a:r>
              <a:rPr lang="en-GB">
                <a:solidFill>
                  <a:srgbClr val="37474F"/>
                </a:solidFill>
                <a:latin typeface="Roboto Mono"/>
                <a:ea typeface="Roboto Mono"/>
                <a:cs typeface="Roboto Mono"/>
                <a:sym typeface="Roboto Mono"/>
              </a:rPr>
              <a:t> n) {</a:t>
            </a:r>
            <a:endParaRPr>
              <a:solidFill>
                <a:schemeClr val="dk1"/>
              </a:solidFill>
              <a:latin typeface="Roboto Mono"/>
              <a:ea typeface="Roboto Mono"/>
              <a:cs typeface="Roboto Mono"/>
              <a:sym typeface="Roboto Mono"/>
            </a:endParaRPr>
          </a:p>
          <a:p>
            <a:pPr algn="l" rtl="0"/>
            <a:r>
              <a:rPr lang="en-GB">
                <a:solidFill>
                  <a:srgbClr val="3F51B5"/>
                </a:solidFill>
                <a:latin typeface="Roboto Mono"/>
                <a:ea typeface="Roboto Mono"/>
                <a:cs typeface="Roboto Mono"/>
                <a:sym typeface="Roboto Mono"/>
              </a:rPr>
              <a:t>    *</a:t>
            </a:r>
            <a:r>
              <a:rPr lang="en-GB">
                <a:solidFill>
                  <a:srgbClr val="37474F"/>
                </a:solidFill>
                <a:latin typeface="Roboto Mono"/>
                <a:ea typeface="Roboto Mono"/>
                <a:cs typeface="Roboto Mono"/>
                <a:sym typeface="Roboto Mono"/>
              </a:rPr>
              <a:t>sum </a:t>
            </a:r>
            <a:r>
              <a:rPr lang="en-GB">
                <a:solidFill>
                  <a:srgbClr val="3F51B5"/>
                </a:solidFill>
                <a:latin typeface="Roboto Mono"/>
                <a:ea typeface="Roboto Mono"/>
                <a:cs typeface="Roboto Mono"/>
                <a:sym typeface="Roboto Mono"/>
              </a:rPr>
              <a:t>+=</a:t>
            </a:r>
            <a:r>
              <a:rPr lang="en-GB">
                <a:solidFill>
                  <a:srgbClr val="37474F"/>
                </a:solidFill>
                <a:latin typeface="Roboto Mono"/>
                <a:ea typeface="Roboto Mono"/>
                <a:cs typeface="Roboto Mono"/>
                <a:sym typeface="Roboto Mono"/>
              </a:rPr>
              <a:t> arr[my_id];</a:t>
            </a:r>
            <a:endParaRPr>
              <a:solidFill>
                <a:schemeClr val="dk1"/>
              </a:solidFill>
              <a:latin typeface="Roboto Mono"/>
              <a:ea typeface="Roboto Mono"/>
              <a:cs typeface="Roboto Mono"/>
              <a:sym typeface="Roboto Mono"/>
            </a:endParaRPr>
          </a:p>
          <a:p>
            <a:pPr algn="l" rtl="0"/>
            <a:r>
              <a:rPr lang="en-GB">
                <a:solidFill>
                  <a:srgbClr val="37474F"/>
                </a:solidFill>
                <a:latin typeface="Roboto Mono"/>
                <a:ea typeface="Roboto Mono"/>
                <a:cs typeface="Roboto Mono"/>
                <a:sym typeface="Roboto Mono"/>
              </a:rPr>
              <a:t>  }</a:t>
            </a:r>
            <a:endParaRPr>
              <a:solidFill>
                <a:schemeClr val="dk1"/>
              </a:solidFill>
              <a:latin typeface="Roboto Mono"/>
              <a:ea typeface="Roboto Mono"/>
              <a:cs typeface="Roboto Mono"/>
              <a:sym typeface="Roboto Mono"/>
            </a:endParaRPr>
          </a:p>
          <a:p>
            <a:pPr algn="l" rtl="0">
              <a:lnSpc>
                <a:spcPct val="150000"/>
              </a:lnSpc>
            </a:pPr>
            <a:r>
              <a:rPr lang="en-GB">
                <a:solidFill>
                  <a:srgbClr val="37474F"/>
                </a:solidFill>
                <a:latin typeface="Roboto Mono"/>
                <a:ea typeface="Roboto Mono"/>
                <a:cs typeface="Roboto Mono"/>
                <a:sym typeface="Roboto Mono"/>
              </a:rPr>
              <a:t>}</a:t>
            </a:r>
            <a:endParaRPr>
              <a:solidFill>
                <a:srgbClr val="37474F"/>
              </a:solidFill>
              <a:latin typeface="Roboto Mono"/>
              <a:ea typeface="Roboto Mono"/>
              <a:cs typeface="Roboto Mono"/>
              <a:sym typeface="Roboto Mono"/>
            </a:endParaRPr>
          </a:p>
        </p:txBody>
      </p:sp>
      <p:sp>
        <p:nvSpPr>
          <p:cNvPr id="1825" name="Google Shape;1825;p47"/>
          <p:cNvSpPr/>
          <p:nvPr/>
        </p:nvSpPr>
        <p:spPr>
          <a:xfrm>
            <a:off x="767967" y="2988233"/>
            <a:ext cx="3249600" cy="336000"/>
          </a:xfrm>
          <a:prstGeom prst="rect">
            <a:avLst/>
          </a:prstGeom>
          <a:noFill/>
          <a:ln w="9525" cap="flat" cmpd="sng">
            <a:solidFill>
              <a:schemeClr val="accent4"/>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grpSp>
        <p:nvGrpSpPr>
          <p:cNvPr id="1826" name="Google Shape;1826;p47"/>
          <p:cNvGrpSpPr/>
          <p:nvPr/>
        </p:nvGrpSpPr>
        <p:grpSpPr>
          <a:xfrm>
            <a:off x="8790400" y="1940666"/>
            <a:ext cx="2954000" cy="574412"/>
            <a:chOff x="6592800" y="1455500"/>
            <a:chExt cx="2215500" cy="430809"/>
          </a:xfrm>
        </p:grpSpPr>
        <p:sp>
          <p:nvSpPr>
            <p:cNvPr id="1827" name="Google Shape;1827;p47"/>
            <p:cNvSpPr/>
            <p:nvPr/>
          </p:nvSpPr>
          <p:spPr>
            <a:xfrm>
              <a:off x="7828050" y="1514300"/>
              <a:ext cx="308100" cy="313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rtl="0"/>
              <a:r>
                <a:rPr lang="en-GB">
                  <a:latin typeface="Lato"/>
                  <a:ea typeface="Lato"/>
                  <a:cs typeface="Lato"/>
                  <a:sym typeface="Lato"/>
                </a:rPr>
                <a:t>7</a:t>
              </a:r>
              <a:endParaRPr>
                <a:latin typeface="Lato"/>
                <a:ea typeface="Lato"/>
                <a:cs typeface="Lato"/>
                <a:sym typeface="Lato"/>
              </a:endParaRPr>
            </a:p>
          </p:txBody>
        </p:sp>
        <p:sp>
          <p:nvSpPr>
            <p:cNvPr id="1828" name="Google Shape;1828;p47"/>
            <p:cNvSpPr/>
            <p:nvPr/>
          </p:nvSpPr>
          <p:spPr>
            <a:xfrm>
              <a:off x="8118900" y="1514300"/>
              <a:ext cx="308100" cy="313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rtl="0"/>
              <a:r>
                <a:rPr lang="en-GB">
                  <a:latin typeface="Lato"/>
                  <a:ea typeface="Lato"/>
                  <a:cs typeface="Lato"/>
                  <a:sym typeface="Lato"/>
                </a:rPr>
                <a:t>4</a:t>
              </a:r>
              <a:endParaRPr>
                <a:latin typeface="Lato"/>
                <a:ea typeface="Lato"/>
                <a:cs typeface="Lato"/>
                <a:sym typeface="Lato"/>
              </a:endParaRPr>
            </a:p>
          </p:txBody>
        </p:sp>
        <p:sp>
          <p:nvSpPr>
            <p:cNvPr id="1829" name="Google Shape;1829;p47"/>
            <p:cNvSpPr txBox="1"/>
            <p:nvPr/>
          </p:nvSpPr>
          <p:spPr>
            <a:xfrm>
              <a:off x="6592800" y="1455500"/>
              <a:ext cx="719100" cy="430809"/>
            </a:xfrm>
            <a:prstGeom prst="rect">
              <a:avLst/>
            </a:prstGeom>
            <a:noFill/>
            <a:ln>
              <a:noFill/>
            </a:ln>
          </p:spPr>
          <p:txBody>
            <a:bodyPr spcFirstLastPara="1" wrap="square" lIns="121900" tIns="121900" rIns="121900" bIns="121900" anchor="t" anchorCtr="0">
              <a:spAutoFit/>
            </a:bodyPr>
            <a:lstStyle/>
            <a:p>
              <a:pPr algn="l" rtl="0"/>
              <a:r>
                <a:rPr lang="en-GB" sz="2133">
                  <a:solidFill>
                    <a:srgbClr val="595959"/>
                  </a:solidFill>
                  <a:latin typeface="Lato"/>
                  <a:ea typeface="Lato"/>
                  <a:cs typeface="Lato"/>
                  <a:sym typeface="Lato"/>
                </a:rPr>
                <a:t>arr = </a:t>
              </a:r>
              <a:endParaRPr sz="2133">
                <a:solidFill>
                  <a:srgbClr val="595959"/>
                </a:solidFill>
                <a:latin typeface="Lato"/>
                <a:ea typeface="Lato"/>
                <a:cs typeface="Lato"/>
                <a:sym typeface="Lato"/>
              </a:endParaRPr>
            </a:p>
          </p:txBody>
        </p:sp>
        <p:cxnSp>
          <p:nvCxnSpPr>
            <p:cNvPr id="1830" name="Google Shape;1830;p47"/>
            <p:cNvCxnSpPr/>
            <p:nvPr/>
          </p:nvCxnSpPr>
          <p:spPr>
            <a:xfrm>
              <a:off x="7429875" y="1671050"/>
              <a:ext cx="280200" cy="0"/>
            </a:xfrm>
            <a:prstGeom prst="straightConnector1">
              <a:avLst/>
            </a:prstGeom>
            <a:noFill/>
            <a:ln w="28575" cap="flat" cmpd="sng">
              <a:solidFill>
                <a:schemeClr val="dk2"/>
              </a:solidFill>
              <a:prstDash val="dot"/>
              <a:round/>
              <a:headEnd type="none" w="med" len="med"/>
              <a:tailEnd type="none" w="med" len="med"/>
            </a:ln>
          </p:spPr>
        </p:cxnSp>
        <p:cxnSp>
          <p:nvCxnSpPr>
            <p:cNvPr id="1831" name="Google Shape;1831;p47"/>
            <p:cNvCxnSpPr/>
            <p:nvPr/>
          </p:nvCxnSpPr>
          <p:spPr>
            <a:xfrm>
              <a:off x="8528100" y="1671050"/>
              <a:ext cx="280200" cy="0"/>
            </a:xfrm>
            <a:prstGeom prst="straightConnector1">
              <a:avLst/>
            </a:prstGeom>
            <a:noFill/>
            <a:ln w="28575" cap="flat" cmpd="sng">
              <a:solidFill>
                <a:schemeClr val="dk2"/>
              </a:solidFill>
              <a:prstDash val="dot"/>
              <a:round/>
              <a:headEnd type="none" w="med" len="med"/>
              <a:tailEnd type="none" w="med" len="med"/>
            </a:ln>
          </p:spPr>
        </p:cxnSp>
      </p:grpSp>
      <p:grpSp>
        <p:nvGrpSpPr>
          <p:cNvPr id="1832" name="Google Shape;1832;p47"/>
          <p:cNvGrpSpPr/>
          <p:nvPr/>
        </p:nvGrpSpPr>
        <p:grpSpPr>
          <a:xfrm>
            <a:off x="8255033" y="2749434"/>
            <a:ext cx="3902722" cy="2758767"/>
            <a:chOff x="6191275" y="2062075"/>
            <a:chExt cx="2927042" cy="2069075"/>
          </a:xfrm>
        </p:grpSpPr>
        <p:sp>
          <p:nvSpPr>
            <p:cNvPr id="1833" name="Google Shape;1833;p47"/>
            <p:cNvSpPr/>
            <p:nvPr/>
          </p:nvSpPr>
          <p:spPr>
            <a:xfrm>
              <a:off x="6340675" y="2493175"/>
              <a:ext cx="420300" cy="252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rtl="0"/>
              <a:r>
                <a:rPr lang="en-GB">
                  <a:latin typeface="Lato"/>
                  <a:ea typeface="Lato"/>
                  <a:cs typeface="Lato"/>
                  <a:sym typeface="Lato"/>
                </a:rPr>
                <a:t>3</a:t>
              </a:r>
              <a:endParaRPr>
                <a:latin typeface="Lato"/>
                <a:ea typeface="Lato"/>
                <a:cs typeface="Lato"/>
                <a:sym typeface="Lato"/>
              </a:endParaRPr>
            </a:p>
          </p:txBody>
        </p:sp>
        <p:sp>
          <p:nvSpPr>
            <p:cNvPr id="1834" name="Google Shape;1834;p47"/>
            <p:cNvSpPr txBox="1"/>
            <p:nvPr/>
          </p:nvSpPr>
          <p:spPr>
            <a:xfrm>
              <a:off x="6191275" y="2062075"/>
              <a:ext cx="719100" cy="430809"/>
            </a:xfrm>
            <a:prstGeom prst="rect">
              <a:avLst/>
            </a:prstGeom>
            <a:noFill/>
            <a:ln>
              <a:noFill/>
            </a:ln>
          </p:spPr>
          <p:txBody>
            <a:bodyPr spcFirstLastPara="1" wrap="square" lIns="121900" tIns="121900" rIns="121900" bIns="121900" anchor="t" anchorCtr="0">
              <a:spAutoFit/>
            </a:bodyPr>
            <a:lstStyle/>
            <a:p>
              <a:pPr algn="ctr" rtl="0"/>
              <a:r>
                <a:rPr lang="en-GB" sz="2133">
                  <a:solidFill>
                    <a:srgbClr val="595959"/>
                  </a:solidFill>
                  <a:latin typeface="Lato"/>
                  <a:ea typeface="Lato"/>
                  <a:cs typeface="Lato"/>
                  <a:sym typeface="Lato"/>
                </a:rPr>
                <a:t>sum</a:t>
              </a:r>
              <a:endParaRPr sz="2133">
                <a:solidFill>
                  <a:srgbClr val="595959"/>
                </a:solidFill>
                <a:latin typeface="Lato"/>
                <a:ea typeface="Lato"/>
                <a:cs typeface="Lato"/>
                <a:sym typeface="Lato"/>
              </a:endParaRPr>
            </a:p>
          </p:txBody>
        </p:sp>
        <p:sp>
          <p:nvSpPr>
            <p:cNvPr id="1835" name="Google Shape;1835;p47"/>
            <p:cNvSpPr txBox="1"/>
            <p:nvPr/>
          </p:nvSpPr>
          <p:spPr>
            <a:xfrm>
              <a:off x="7181875" y="2062075"/>
              <a:ext cx="642000" cy="430809"/>
            </a:xfrm>
            <a:prstGeom prst="rect">
              <a:avLst/>
            </a:prstGeom>
            <a:noFill/>
            <a:ln>
              <a:noFill/>
            </a:ln>
          </p:spPr>
          <p:txBody>
            <a:bodyPr spcFirstLastPara="1" wrap="square" lIns="121900" tIns="121900" rIns="121900" bIns="121900" anchor="t" anchorCtr="0">
              <a:spAutoFit/>
            </a:bodyPr>
            <a:lstStyle/>
            <a:p>
              <a:pPr algn="ctr" rtl="0"/>
              <a:r>
                <a:rPr lang="en-GB" sz="2133">
                  <a:solidFill>
                    <a:schemeClr val="accent3"/>
                  </a:solidFill>
                  <a:latin typeface="Lato"/>
                  <a:ea typeface="Lato"/>
                  <a:cs typeface="Lato"/>
                  <a:sym typeface="Lato"/>
                </a:rPr>
                <a:t>Ti</a:t>
              </a:r>
              <a:endParaRPr sz="2133">
                <a:solidFill>
                  <a:schemeClr val="accent3"/>
                </a:solidFill>
                <a:latin typeface="Lato"/>
                <a:ea typeface="Lato"/>
                <a:cs typeface="Lato"/>
                <a:sym typeface="Lato"/>
              </a:endParaRPr>
            </a:p>
          </p:txBody>
        </p:sp>
        <p:sp>
          <p:nvSpPr>
            <p:cNvPr id="1836" name="Google Shape;1836;p47"/>
            <p:cNvSpPr txBox="1"/>
            <p:nvPr/>
          </p:nvSpPr>
          <p:spPr>
            <a:xfrm>
              <a:off x="7942975" y="2062075"/>
              <a:ext cx="642000" cy="430809"/>
            </a:xfrm>
            <a:prstGeom prst="rect">
              <a:avLst/>
            </a:prstGeom>
            <a:noFill/>
            <a:ln>
              <a:noFill/>
            </a:ln>
          </p:spPr>
          <p:txBody>
            <a:bodyPr spcFirstLastPara="1" wrap="square" lIns="121900" tIns="121900" rIns="121900" bIns="121900" anchor="t" anchorCtr="0">
              <a:spAutoFit/>
            </a:bodyPr>
            <a:lstStyle/>
            <a:p>
              <a:pPr algn="ctr" rtl="0"/>
              <a:r>
                <a:rPr lang="en-GB" sz="2133">
                  <a:solidFill>
                    <a:schemeClr val="accent4"/>
                  </a:solidFill>
                  <a:latin typeface="Lato"/>
                  <a:ea typeface="Lato"/>
                  <a:cs typeface="Lato"/>
                  <a:sym typeface="Lato"/>
                </a:rPr>
                <a:t>Tj</a:t>
              </a:r>
              <a:endParaRPr sz="2133">
                <a:solidFill>
                  <a:schemeClr val="accent4"/>
                </a:solidFill>
                <a:latin typeface="Lato"/>
                <a:ea typeface="Lato"/>
                <a:cs typeface="Lato"/>
                <a:sym typeface="Lato"/>
              </a:endParaRPr>
            </a:p>
          </p:txBody>
        </p:sp>
        <p:cxnSp>
          <p:nvCxnSpPr>
            <p:cNvPr id="1837" name="Google Shape;1837;p47"/>
            <p:cNvCxnSpPr/>
            <p:nvPr/>
          </p:nvCxnSpPr>
          <p:spPr>
            <a:xfrm>
              <a:off x="8722025" y="2571750"/>
              <a:ext cx="0" cy="1559400"/>
            </a:xfrm>
            <a:prstGeom prst="straightConnector1">
              <a:avLst/>
            </a:prstGeom>
            <a:noFill/>
            <a:ln w="9525" cap="flat" cmpd="sng">
              <a:solidFill>
                <a:schemeClr val="dk2"/>
              </a:solidFill>
              <a:prstDash val="solid"/>
              <a:round/>
              <a:headEnd type="none" w="med" len="med"/>
              <a:tailEnd type="triangle" w="med" len="med"/>
            </a:ln>
          </p:spPr>
        </p:cxnSp>
        <p:sp>
          <p:nvSpPr>
            <p:cNvPr id="1838" name="Google Shape;1838;p47"/>
            <p:cNvSpPr txBox="1"/>
            <p:nvPr/>
          </p:nvSpPr>
          <p:spPr>
            <a:xfrm rot="5400000">
              <a:off x="8601125" y="3133883"/>
              <a:ext cx="642000" cy="392385"/>
            </a:xfrm>
            <a:prstGeom prst="rect">
              <a:avLst/>
            </a:prstGeom>
            <a:noFill/>
            <a:ln>
              <a:noFill/>
            </a:ln>
          </p:spPr>
          <p:txBody>
            <a:bodyPr spcFirstLastPara="1" wrap="square" lIns="121900" tIns="121900" rIns="121900" bIns="121900" anchor="t" anchorCtr="0">
              <a:spAutoFit/>
            </a:bodyPr>
            <a:lstStyle/>
            <a:p>
              <a:pPr algn="ctr" rtl="0"/>
              <a:r>
                <a:rPr lang="en-GB">
                  <a:solidFill>
                    <a:srgbClr val="595959"/>
                  </a:solidFill>
                  <a:latin typeface="Lato"/>
                  <a:ea typeface="Lato"/>
                  <a:cs typeface="Lato"/>
                  <a:sym typeface="Lato"/>
                </a:rPr>
                <a:t>time</a:t>
              </a:r>
              <a:endParaRPr>
                <a:solidFill>
                  <a:srgbClr val="595959"/>
                </a:solidFill>
                <a:latin typeface="Lato"/>
                <a:ea typeface="Lato"/>
                <a:cs typeface="Lato"/>
                <a:sym typeface="Lato"/>
              </a:endParaRPr>
            </a:p>
          </p:txBody>
        </p:sp>
      </p:grpSp>
      <p:grpSp>
        <p:nvGrpSpPr>
          <p:cNvPr id="1839" name="Google Shape;1839;p47"/>
          <p:cNvGrpSpPr/>
          <p:nvPr/>
        </p:nvGrpSpPr>
        <p:grpSpPr>
          <a:xfrm>
            <a:off x="10456000" y="1666632"/>
            <a:ext cx="780000" cy="328230"/>
            <a:chOff x="7842000" y="1249975"/>
            <a:chExt cx="585000" cy="246173"/>
          </a:xfrm>
        </p:grpSpPr>
        <p:sp>
          <p:nvSpPr>
            <p:cNvPr id="1840" name="Google Shape;1840;p47"/>
            <p:cNvSpPr txBox="1"/>
            <p:nvPr/>
          </p:nvSpPr>
          <p:spPr>
            <a:xfrm>
              <a:off x="7842000" y="1249975"/>
              <a:ext cx="280200" cy="246173"/>
            </a:xfrm>
            <a:prstGeom prst="rect">
              <a:avLst/>
            </a:prstGeom>
            <a:noFill/>
            <a:ln>
              <a:noFill/>
            </a:ln>
          </p:spPr>
          <p:txBody>
            <a:bodyPr spcFirstLastPara="1" wrap="square" lIns="0" tIns="0" rIns="0" bIns="0" anchor="t" anchorCtr="0">
              <a:spAutoFit/>
            </a:bodyPr>
            <a:lstStyle/>
            <a:p>
              <a:pPr algn="ctr" rtl="0"/>
              <a:r>
                <a:rPr lang="en-GB" sz="2133">
                  <a:solidFill>
                    <a:srgbClr val="595959"/>
                  </a:solidFill>
                  <a:latin typeface="Lato"/>
                  <a:ea typeface="Lato"/>
                  <a:cs typeface="Lato"/>
                  <a:sym typeface="Lato"/>
                </a:rPr>
                <a:t>i</a:t>
              </a:r>
              <a:endParaRPr sz="2133">
                <a:solidFill>
                  <a:srgbClr val="595959"/>
                </a:solidFill>
                <a:latin typeface="Lato"/>
                <a:ea typeface="Lato"/>
                <a:cs typeface="Lato"/>
                <a:sym typeface="Lato"/>
              </a:endParaRPr>
            </a:p>
          </p:txBody>
        </p:sp>
        <p:sp>
          <p:nvSpPr>
            <p:cNvPr id="1841" name="Google Shape;1841;p47"/>
            <p:cNvSpPr txBox="1"/>
            <p:nvPr/>
          </p:nvSpPr>
          <p:spPr>
            <a:xfrm>
              <a:off x="8146800" y="1249975"/>
              <a:ext cx="280200" cy="246173"/>
            </a:xfrm>
            <a:prstGeom prst="rect">
              <a:avLst/>
            </a:prstGeom>
            <a:noFill/>
            <a:ln>
              <a:noFill/>
            </a:ln>
          </p:spPr>
          <p:txBody>
            <a:bodyPr spcFirstLastPara="1" wrap="square" lIns="0" tIns="0" rIns="0" bIns="0" anchor="t" anchorCtr="0">
              <a:spAutoFit/>
            </a:bodyPr>
            <a:lstStyle/>
            <a:p>
              <a:pPr algn="ctr" rtl="0"/>
              <a:r>
                <a:rPr lang="en-GB" sz="2133">
                  <a:solidFill>
                    <a:srgbClr val="595959"/>
                  </a:solidFill>
                  <a:latin typeface="Lato"/>
                  <a:ea typeface="Lato"/>
                  <a:cs typeface="Lato"/>
                  <a:sym typeface="Lato"/>
                </a:rPr>
                <a:t>j</a:t>
              </a:r>
              <a:endParaRPr sz="2133">
                <a:solidFill>
                  <a:srgbClr val="595959"/>
                </a:solidFill>
                <a:latin typeface="Lato"/>
                <a:ea typeface="Lato"/>
                <a:cs typeface="Lato"/>
                <a:sym typeface="Lato"/>
              </a:endParaRPr>
            </a:p>
          </p:txBody>
        </p:sp>
      </p:grpSp>
      <p:grpSp>
        <p:nvGrpSpPr>
          <p:cNvPr id="1842" name="Google Shape;1842;p47"/>
          <p:cNvGrpSpPr/>
          <p:nvPr/>
        </p:nvGrpSpPr>
        <p:grpSpPr>
          <a:xfrm>
            <a:off x="8454233" y="3492233"/>
            <a:ext cx="2818200" cy="1692000"/>
            <a:chOff x="6340675" y="2619175"/>
            <a:chExt cx="2113650" cy="1269000"/>
          </a:xfrm>
        </p:grpSpPr>
        <p:sp>
          <p:nvSpPr>
            <p:cNvPr id="1843" name="Google Shape;1843;p47"/>
            <p:cNvSpPr/>
            <p:nvPr/>
          </p:nvSpPr>
          <p:spPr>
            <a:xfrm>
              <a:off x="8075425" y="2874175"/>
              <a:ext cx="378900" cy="252000"/>
            </a:xfrm>
            <a:prstGeom prst="rect">
              <a:avLst/>
            </a:prstGeom>
            <a:solidFill>
              <a:schemeClr val="lt2"/>
            </a:solidFill>
            <a:ln w="9525" cap="flat" cmpd="sng">
              <a:solidFill>
                <a:schemeClr val="accent4"/>
              </a:solidFill>
              <a:prstDash val="solid"/>
              <a:round/>
              <a:headEnd type="none" w="sm" len="sm"/>
              <a:tailEnd type="none" w="sm" len="sm"/>
            </a:ln>
          </p:spPr>
          <p:txBody>
            <a:bodyPr spcFirstLastPara="1" wrap="square" lIns="121900" tIns="121900" rIns="121900" bIns="121900" anchor="ctr" anchorCtr="0">
              <a:noAutofit/>
            </a:bodyPr>
            <a:lstStyle/>
            <a:p>
              <a:pPr algn="ctr" rtl="0"/>
              <a:r>
                <a:rPr lang="en-GB">
                  <a:solidFill>
                    <a:schemeClr val="accent4"/>
                  </a:solidFill>
                  <a:latin typeface="Lato"/>
                  <a:ea typeface="Lato"/>
                  <a:cs typeface="Lato"/>
                  <a:sym typeface="Lato"/>
                </a:rPr>
                <a:t>R</a:t>
              </a:r>
              <a:endParaRPr>
                <a:solidFill>
                  <a:schemeClr val="accent4"/>
                </a:solidFill>
                <a:latin typeface="Lato"/>
                <a:ea typeface="Lato"/>
                <a:cs typeface="Lato"/>
                <a:sym typeface="Lato"/>
              </a:endParaRPr>
            </a:p>
          </p:txBody>
        </p:sp>
        <p:sp>
          <p:nvSpPr>
            <p:cNvPr id="1844" name="Google Shape;1844;p47"/>
            <p:cNvSpPr/>
            <p:nvPr/>
          </p:nvSpPr>
          <p:spPr>
            <a:xfrm>
              <a:off x="8075425" y="3127875"/>
              <a:ext cx="378900" cy="252000"/>
            </a:xfrm>
            <a:prstGeom prst="rect">
              <a:avLst/>
            </a:prstGeom>
            <a:solidFill>
              <a:schemeClr val="lt2"/>
            </a:solidFill>
            <a:ln w="9525" cap="flat" cmpd="sng">
              <a:solidFill>
                <a:schemeClr val="accent4"/>
              </a:solidFill>
              <a:prstDash val="solid"/>
              <a:round/>
              <a:headEnd type="none" w="sm" len="sm"/>
              <a:tailEnd type="none" w="sm" len="sm"/>
            </a:ln>
          </p:spPr>
          <p:txBody>
            <a:bodyPr spcFirstLastPara="1" wrap="square" lIns="121900" tIns="121900" rIns="121900" bIns="121900" anchor="ctr" anchorCtr="0">
              <a:noAutofit/>
            </a:bodyPr>
            <a:lstStyle/>
            <a:p>
              <a:pPr algn="ctr" rtl="0"/>
              <a:r>
                <a:rPr lang="en-GB">
                  <a:solidFill>
                    <a:schemeClr val="accent4"/>
                  </a:solidFill>
                  <a:latin typeface="Lato"/>
                  <a:ea typeface="Lato"/>
                  <a:cs typeface="Lato"/>
                  <a:sym typeface="Lato"/>
                </a:rPr>
                <a:t>+</a:t>
              </a:r>
              <a:endParaRPr>
                <a:solidFill>
                  <a:schemeClr val="accent4"/>
                </a:solidFill>
                <a:latin typeface="Lato"/>
                <a:ea typeface="Lato"/>
                <a:cs typeface="Lato"/>
                <a:sym typeface="Lato"/>
              </a:endParaRPr>
            </a:p>
          </p:txBody>
        </p:sp>
        <p:sp>
          <p:nvSpPr>
            <p:cNvPr id="1845" name="Google Shape;1845;p47"/>
            <p:cNvSpPr/>
            <p:nvPr/>
          </p:nvSpPr>
          <p:spPr>
            <a:xfrm>
              <a:off x="8075425" y="3381575"/>
              <a:ext cx="378900" cy="252000"/>
            </a:xfrm>
            <a:prstGeom prst="rect">
              <a:avLst/>
            </a:prstGeom>
            <a:solidFill>
              <a:schemeClr val="lt2"/>
            </a:solidFill>
            <a:ln w="9525" cap="flat" cmpd="sng">
              <a:solidFill>
                <a:schemeClr val="accent4"/>
              </a:solidFill>
              <a:prstDash val="solid"/>
              <a:round/>
              <a:headEnd type="none" w="sm" len="sm"/>
              <a:tailEnd type="none" w="sm" len="sm"/>
            </a:ln>
          </p:spPr>
          <p:txBody>
            <a:bodyPr spcFirstLastPara="1" wrap="square" lIns="121900" tIns="121900" rIns="121900" bIns="121900" anchor="ctr" anchorCtr="0">
              <a:noAutofit/>
            </a:bodyPr>
            <a:lstStyle/>
            <a:p>
              <a:pPr algn="ctr" rtl="0"/>
              <a:r>
                <a:rPr lang="en-GB">
                  <a:solidFill>
                    <a:schemeClr val="accent4"/>
                  </a:solidFill>
                  <a:latin typeface="Lato"/>
                  <a:ea typeface="Lato"/>
                  <a:cs typeface="Lato"/>
                  <a:sym typeface="Lato"/>
                </a:rPr>
                <a:t>W</a:t>
              </a:r>
              <a:endParaRPr>
                <a:solidFill>
                  <a:schemeClr val="accent4"/>
                </a:solidFill>
                <a:latin typeface="Lato"/>
                <a:ea typeface="Lato"/>
                <a:cs typeface="Lato"/>
                <a:sym typeface="Lato"/>
              </a:endParaRPr>
            </a:p>
          </p:txBody>
        </p:sp>
        <p:cxnSp>
          <p:nvCxnSpPr>
            <p:cNvPr id="1846" name="Google Shape;1846;p47"/>
            <p:cNvCxnSpPr>
              <a:stCxn id="1833" idx="3"/>
              <a:endCxn id="1843" idx="1"/>
            </p:cNvCxnSpPr>
            <p:nvPr/>
          </p:nvCxnSpPr>
          <p:spPr>
            <a:xfrm>
              <a:off x="6760975" y="2619175"/>
              <a:ext cx="1314600" cy="381000"/>
            </a:xfrm>
            <a:prstGeom prst="straightConnector1">
              <a:avLst/>
            </a:prstGeom>
            <a:noFill/>
            <a:ln w="9525" cap="flat" cmpd="sng">
              <a:solidFill>
                <a:schemeClr val="accent4"/>
              </a:solidFill>
              <a:prstDash val="solid"/>
              <a:round/>
              <a:headEnd type="none" w="med" len="med"/>
              <a:tailEnd type="stealth" w="med" len="med"/>
            </a:ln>
          </p:spPr>
        </p:cxnSp>
        <p:sp>
          <p:nvSpPr>
            <p:cNvPr id="1847" name="Google Shape;1847;p47"/>
            <p:cNvSpPr/>
            <p:nvPr/>
          </p:nvSpPr>
          <p:spPr>
            <a:xfrm>
              <a:off x="6340675" y="3636175"/>
              <a:ext cx="420300" cy="252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rtl="0"/>
              <a:r>
                <a:rPr lang="en-GB">
                  <a:latin typeface="Lato"/>
                  <a:ea typeface="Lato"/>
                  <a:cs typeface="Lato"/>
                  <a:sym typeface="Lato"/>
                </a:rPr>
                <a:t>7</a:t>
              </a:r>
              <a:endParaRPr>
                <a:latin typeface="Lato"/>
                <a:ea typeface="Lato"/>
                <a:cs typeface="Lato"/>
                <a:sym typeface="Lato"/>
              </a:endParaRPr>
            </a:p>
          </p:txBody>
        </p:sp>
        <p:cxnSp>
          <p:nvCxnSpPr>
            <p:cNvPr id="1848" name="Google Shape;1848;p47"/>
            <p:cNvCxnSpPr>
              <a:stCxn id="1845" idx="1"/>
              <a:endCxn id="1847" idx="3"/>
            </p:cNvCxnSpPr>
            <p:nvPr/>
          </p:nvCxnSpPr>
          <p:spPr>
            <a:xfrm flipH="1">
              <a:off x="6761125" y="3507575"/>
              <a:ext cx="1314300" cy="254700"/>
            </a:xfrm>
            <a:prstGeom prst="straightConnector1">
              <a:avLst/>
            </a:prstGeom>
            <a:noFill/>
            <a:ln w="9525" cap="flat" cmpd="sng">
              <a:solidFill>
                <a:schemeClr val="accent4"/>
              </a:solidFill>
              <a:prstDash val="solid"/>
              <a:round/>
              <a:headEnd type="none" w="med" len="med"/>
              <a:tailEnd type="triangle" w="med" len="med"/>
            </a:ln>
          </p:spPr>
        </p:cxnSp>
      </p:grpSp>
      <p:grpSp>
        <p:nvGrpSpPr>
          <p:cNvPr id="1849" name="Google Shape;1849;p47"/>
          <p:cNvGrpSpPr/>
          <p:nvPr/>
        </p:nvGrpSpPr>
        <p:grpSpPr>
          <a:xfrm>
            <a:off x="8454233" y="3492233"/>
            <a:ext cx="1802200" cy="1996800"/>
            <a:chOff x="6340675" y="2619175"/>
            <a:chExt cx="1351650" cy="1497600"/>
          </a:xfrm>
        </p:grpSpPr>
        <p:sp>
          <p:nvSpPr>
            <p:cNvPr id="1850" name="Google Shape;1850;p47"/>
            <p:cNvSpPr/>
            <p:nvPr/>
          </p:nvSpPr>
          <p:spPr>
            <a:xfrm>
              <a:off x="7313425" y="3127875"/>
              <a:ext cx="378900" cy="252000"/>
            </a:xfrm>
            <a:prstGeom prst="rect">
              <a:avLst/>
            </a:prstGeom>
            <a:solidFill>
              <a:schemeClr val="lt2"/>
            </a:solidFill>
            <a:ln w="9525"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r>
                <a:rPr lang="en-GB">
                  <a:solidFill>
                    <a:schemeClr val="accent3"/>
                  </a:solidFill>
                  <a:latin typeface="Lato"/>
                  <a:ea typeface="Lato"/>
                  <a:cs typeface="Lato"/>
                  <a:sym typeface="Lato"/>
                </a:rPr>
                <a:t>+</a:t>
              </a:r>
              <a:endParaRPr>
                <a:solidFill>
                  <a:schemeClr val="accent3"/>
                </a:solidFill>
                <a:latin typeface="Lato"/>
                <a:ea typeface="Lato"/>
                <a:cs typeface="Lato"/>
                <a:sym typeface="Lato"/>
              </a:endParaRPr>
            </a:p>
          </p:txBody>
        </p:sp>
        <p:sp>
          <p:nvSpPr>
            <p:cNvPr id="1851" name="Google Shape;1851;p47"/>
            <p:cNvSpPr/>
            <p:nvPr/>
          </p:nvSpPr>
          <p:spPr>
            <a:xfrm>
              <a:off x="7313425" y="3686375"/>
              <a:ext cx="378900" cy="252000"/>
            </a:xfrm>
            <a:prstGeom prst="rect">
              <a:avLst/>
            </a:prstGeom>
            <a:solidFill>
              <a:schemeClr val="lt2"/>
            </a:solidFill>
            <a:ln w="9525"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r>
                <a:rPr lang="en-GB">
                  <a:solidFill>
                    <a:schemeClr val="accent3"/>
                  </a:solidFill>
                  <a:latin typeface="Lato"/>
                  <a:ea typeface="Lato"/>
                  <a:cs typeface="Lato"/>
                  <a:sym typeface="Lato"/>
                </a:rPr>
                <a:t>W</a:t>
              </a:r>
              <a:endParaRPr>
                <a:solidFill>
                  <a:schemeClr val="accent3"/>
                </a:solidFill>
                <a:latin typeface="Lato"/>
                <a:ea typeface="Lato"/>
                <a:cs typeface="Lato"/>
                <a:sym typeface="Lato"/>
              </a:endParaRPr>
            </a:p>
          </p:txBody>
        </p:sp>
        <p:cxnSp>
          <p:nvCxnSpPr>
            <p:cNvPr id="1852" name="Google Shape;1852;p47"/>
            <p:cNvCxnSpPr>
              <a:stCxn id="1833" idx="3"/>
              <a:endCxn id="1853" idx="1"/>
            </p:cNvCxnSpPr>
            <p:nvPr/>
          </p:nvCxnSpPr>
          <p:spPr>
            <a:xfrm>
              <a:off x="6760975" y="2619175"/>
              <a:ext cx="552600" cy="228600"/>
            </a:xfrm>
            <a:prstGeom prst="straightConnector1">
              <a:avLst/>
            </a:prstGeom>
            <a:noFill/>
            <a:ln w="9525" cap="flat" cmpd="sng">
              <a:solidFill>
                <a:schemeClr val="accent3"/>
              </a:solidFill>
              <a:prstDash val="solid"/>
              <a:round/>
              <a:headEnd type="none" w="med" len="med"/>
              <a:tailEnd type="stealth" w="med" len="med"/>
            </a:ln>
          </p:spPr>
        </p:cxnSp>
        <p:sp>
          <p:nvSpPr>
            <p:cNvPr id="1853" name="Google Shape;1853;p47"/>
            <p:cNvSpPr/>
            <p:nvPr/>
          </p:nvSpPr>
          <p:spPr>
            <a:xfrm>
              <a:off x="7313425" y="2721775"/>
              <a:ext cx="378900" cy="252000"/>
            </a:xfrm>
            <a:prstGeom prst="rect">
              <a:avLst/>
            </a:prstGeom>
            <a:solidFill>
              <a:schemeClr val="lt2"/>
            </a:solidFill>
            <a:ln w="9525"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r>
                <a:rPr lang="en-GB">
                  <a:solidFill>
                    <a:schemeClr val="accent3"/>
                  </a:solidFill>
                  <a:latin typeface="Lato"/>
                  <a:ea typeface="Lato"/>
                  <a:cs typeface="Lato"/>
                  <a:sym typeface="Lato"/>
                </a:rPr>
                <a:t>R</a:t>
              </a:r>
              <a:endParaRPr>
                <a:solidFill>
                  <a:schemeClr val="accent3"/>
                </a:solidFill>
                <a:latin typeface="Lato"/>
                <a:ea typeface="Lato"/>
                <a:cs typeface="Lato"/>
                <a:sym typeface="Lato"/>
              </a:endParaRPr>
            </a:p>
          </p:txBody>
        </p:sp>
        <p:cxnSp>
          <p:nvCxnSpPr>
            <p:cNvPr id="1854" name="Google Shape;1854;p47"/>
            <p:cNvCxnSpPr>
              <a:stCxn id="1851" idx="1"/>
            </p:cNvCxnSpPr>
            <p:nvPr/>
          </p:nvCxnSpPr>
          <p:spPr>
            <a:xfrm flipH="1">
              <a:off x="6844825" y="3812375"/>
              <a:ext cx="468600" cy="137700"/>
            </a:xfrm>
            <a:prstGeom prst="straightConnector1">
              <a:avLst/>
            </a:prstGeom>
            <a:noFill/>
            <a:ln w="9525" cap="flat" cmpd="sng">
              <a:solidFill>
                <a:schemeClr val="accent3"/>
              </a:solidFill>
              <a:prstDash val="solid"/>
              <a:round/>
              <a:headEnd type="none" w="med" len="med"/>
              <a:tailEnd type="triangle" w="med" len="med"/>
            </a:ln>
          </p:spPr>
        </p:cxnSp>
        <p:sp>
          <p:nvSpPr>
            <p:cNvPr id="1855" name="Google Shape;1855;p47"/>
            <p:cNvSpPr/>
            <p:nvPr/>
          </p:nvSpPr>
          <p:spPr>
            <a:xfrm>
              <a:off x="6340675" y="3864775"/>
              <a:ext cx="420300" cy="252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rtl="0"/>
              <a:r>
                <a:rPr lang="en-GB">
                  <a:latin typeface="Lato"/>
                  <a:ea typeface="Lato"/>
                  <a:cs typeface="Lato"/>
                  <a:sym typeface="Lato"/>
                </a:rPr>
                <a:t>10</a:t>
              </a:r>
              <a:endParaRPr>
                <a:latin typeface="Lato"/>
                <a:ea typeface="Lato"/>
                <a:cs typeface="Lato"/>
                <a:sym typeface="Lato"/>
              </a:endParaRPr>
            </a:p>
          </p:txBody>
        </p:sp>
      </p:grpSp>
      <p:sp>
        <p:nvSpPr>
          <p:cNvPr id="1856" name="Google Shape;1856;p47"/>
          <p:cNvSpPr txBox="1">
            <a:spLocks noGrp="1"/>
          </p:cNvSpPr>
          <p:nvPr>
            <p:ph type="body" idx="1"/>
          </p:nvPr>
        </p:nvSpPr>
        <p:spPr>
          <a:xfrm>
            <a:off x="1157933" y="4279967"/>
            <a:ext cx="6213200" cy="1077600"/>
          </a:xfrm>
          <a:prstGeom prst="rect">
            <a:avLst/>
          </a:prstGeom>
        </p:spPr>
        <p:txBody>
          <a:bodyPr spcFirstLastPara="1" wrap="square" lIns="91433" tIns="91433" rIns="91433" bIns="91433" anchor="t" anchorCtr="0">
            <a:noAutofit/>
          </a:bodyPr>
          <a:lstStyle/>
          <a:p>
            <a:pPr marL="0" indent="0" rtl="0">
              <a:buNone/>
            </a:pPr>
            <a:r>
              <a:rPr lang="en-GB" sz="2267" b="1">
                <a:solidFill>
                  <a:srgbClr val="C53929"/>
                </a:solidFill>
              </a:rPr>
              <a:t>Race conditions</a:t>
            </a:r>
            <a:r>
              <a:rPr lang="en-GB" sz="2267"/>
              <a:t> can occur when multiple threads try to operate on the same shared data</a:t>
            </a:r>
            <a:endParaRPr sz="2267" b="1">
              <a:solidFill>
                <a:schemeClr val="accent4"/>
              </a:solidFill>
            </a:endParaRPr>
          </a:p>
        </p:txBody>
      </p:sp>
      <p:pic>
        <p:nvPicPr>
          <p:cNvPr id="1857" name="Google Shape;1857;p47" title="alert_iconscout_akveo.png"/>
          <p:cNvPicPr preferRelativeResize="0"/>
          <p:nvPr/>
        </p:nvPicPr>
        <p:blipFill>
          <a:blip r:embed="rId3">
            <a:alphaModFix/>
          </a:blip>
          <a:stretch>
            <a:fillRect/>
          </a:stretch>
        </p:blipFill>
        <p:spPr>
          <a:xfrm>
            <a:off x="450867" y="4412201"/>
            <a:ext cx="609668" cy="609668"/>
          </a:xfrm>
          <a:prstGeom prst="rect">
            <a:avLst/>
          </a:prstGeom>
          <a:noFill/>
          <a:ln>
            <a:noFill/>
          </a:ln>
        </p:spPr>
      </p:pic>
      <p:sp>
        <p:nvSpPr>
          <p:cNvPr id="1858" name="Google Shape;1858;p47"/>
          <p:cNvSpPr txBox="1">
            <a:spLocks noGrp="1"/>
          </p:cNvSpPr>
          <p:nvPr>
            <p:ph type="body" idx="1"/>
          </p:nvPr>
        </p:nvSpPr>
        <p:spPr>
          <a:xfrm>
            <a:off x="314400" y="5198667"/>
            <a:ext cx="7193600" cy="574800"/>
          </a:xfrm>
          <a:prstGeom prst="rect">
            <a:avLst/>
          </a:prstGeom>
        </p:spPr>
        <p:txBody>
          <a:bodyPr spcFirstLastPara="1" wrap="square" lIns="91433" tIns="91433" rIns="91433" bIns="91433" anchor="t" anchorCtr="0">
            <a:noAutofit/>
          </a:bodyPr>
          <a:lstStyle/>
          <a:p>
            <a:pPr marL="0" indent="0" rtl="0">
              <a:buNone/>
            </a:pPr>
            <a:r>
              <a:rPr lang="en-GB" sz="2267" b="1">
                <a:solidFill>
                  <a:schemeClr val="accent4"/>
                </a:solidFill>
              </a:rPr>
              <a:t>Q: How to fix this?</a:t>
            </a:r>
            <a:endParaRPr sz="2267" b="1">
              <a:solidFill>
                <a:schemeClr val="accent4"/>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4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4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5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85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85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8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862"/>
        <p:cNvGrpSpPr/>
        <p:nvPr/>
      </p:nvGrpSpPr>
      <p:grpSpPr>
        <a:xfrm>
          <a:off x="0" y="0"/>
          <a:ext cx="0" cy="0"/>
          <a:chOff x="0" y="0"/>
          <a:chExt cx="0" cy="0"/>
        </a:xfrm>
      </p:grpSpPr>
      <p:sp>
        <p:nvSpPr>
          <p:cNvPr id="1863" name="Google Shape;1863;p48"/>
          <p:cNvSpPr txBox="1">
            <a:spLocks noGrp="1"/>
          </p:cNvSpPr>
          <p:nvPr>
            <p:ph type="title"/>
          </p:nvPr>
        </p:nvSpPr>
        <p:spPr>
          <a:xfrm>
            <a:off x="418000" y="331140"/>
            <a:ext cx="10650400" cy="709600"/>
          </a:xfrm>
          <a:prstGeom prst="rect">
            <a:avLst/>
          </a:prstGeom>
          <a:noFill/>
        </p:spPr>
        <p:txBody>
          <a:bodyPr spcFirstLastPara="1" wrap="square" lIns="91433" tIns="91433" rIns="91433" bIns="91433" anchor="b" anchorCtr="0">
            <a:noAutofit/>
          </a:bodyPr>
          <a:lstStyle/>
          <a:p>
            <a:pPr rtl="0"/>
            <a:r>
              <a:rPr lang="en-GB"/>
              <a:t>Atomic Operations (preview)</a:t>
            </a:r>
            <a:endParaRPr/>
          </a:p>
        </p:txBody>
      </p:sp>
      <p:sp>
        <p:nvSpPr>
          <p:cNvPr id="1864" name="Google Shape;1864;p48"/>
          <p:cNvSpPr txBox="1">
            <a:spLocks noGrp="1"/>
          </p:cNvSpPr>
          <p:nvPr>
            <p:ph type="sldNum" idx="12"/>
          </p:nvPr>
        </p:nvSpPr>
        <p:spPr>
          <a:xfrm>
            <a:off x="11466783" y="5913927"/>
            <a:ext cx="731600" cy="418000"/>
          </a:xfrm>
          <a:prstGeom prst="rect">
            <a:avLst/>
          </a:prstGeom>
        </p:spPr>
        <p:txBody>
          <a:bodyPr spcFirstLastPara="1" wrap="square" lIns="91433" tIns="91433" rIns="91433" bIns="91433" anchor="t" anchorCtr="0">
            <a:noAutofit/>
          </a:bodyPr>
          <a:lstStyle/>
          <a:p>
            <a:pPr rtl="0"/>
            <a:fld id="{00000000-1234-1234-1234-123412341234}" type="slidenum">
              <a:rPr lang="en-GB"/>
              <a:pPr rtl="0"/>
              <a:t>49</a:t>
            </a:fld>
            <a:endParaRPr/>
          </a:p>
        </p:txBody>
      </p:sp>
      <p:sp>
        <p:nvSpPr>
          <p:cNvPr id="1865" name="Google Shape;1865;p48"/>
          <p:cNvSpPr txBox="1"/>
          <p:nvPr/>
        </p:nvSpPr>
        <p:spPr>
          <a:xfrm>
            <a:off x="314400" y="1598367"/>
            <a:ext cx="7978000" cy="2046674"/>
          </a:xfrm>
          <a:prstGeom prst="rect">
            <a:avLst/>
          </a:prstGeom>
          <a:noFill/>
          <a:ln>
            <a:noFill/>
          </a:ln>
        </p:spPr>
        <p:txBody>
          <a:bodyPr spcFirstLastPara="1" wrap="square" lIns="121900" tIns="121900" rIns="121900" bIns="121900" anchor="t" anchorCtr="0">
            <a:spAutoFit/>
          </a:bodyPr>
          <a:lstStyle/>
          <a:p>
            <a:pPr algn="l" rtl="0"/>
            <a:r>
              <a:rPr lang="en-GB">
                <a:solidFill>
                  <a:srgbClr val="37474F"/>
                </a:solidFill>
                <a:latin typeface="Roboto Mono"/>
                <a:ea typeface="Roboto Mono"/>
                <a:cs typeface="Roboto Mono"/>
                <a:sym typeface="Roboto Mono"/>
              </a:rPr>
              <a:t>__global__ </a:t>
            </a:r>
            <a:r>
              <a:rPr lang="en-GB">
                <a:solidFill>
                  <a:srgbClr val="3F51B5"/>
                </a:solidFill>
                <a:latin typeface="Roboto Mono"/>
                <a:ea typeface="Roboto Mono"/>
                <a:cs typeface="Roboto Mono"/>
                <a:sym typeface="Roboto Mono"/>
              </a:rPr>
              <a:t>void</a:t>
            </a:r>
            <a:r>
              <a:rPr lang="en-GB">
                <a:solidFill>
                  <a:srgbClr val="9C27B0"/>
                </a:solidFill>
                <a:latin typeface="Roboto Mono"/>
                <a:ea typeface="Roboto Mono"/>
                <a:cs typeface="Roboto Mono"/>
                <a:sym typeface="Roboto Mono"/>
              </a:rPr>
              <a:t> sumArray</a:t>
            </a:r>
            <a:r>
              <a:rPr lang="en-GB">
                <a:solidFill>
                  <a:srgbClr val="37474F"/>
                </a:solidFill>
                <a:latin typeface="Roboto Mono"/>
                <a:ea typeface="Roboto Mono"/>
                <a:cs typeface="Roboto Mono"/>
                <a:sym typeface="Roboto Mono"/>
              </a:rPr>
              <a:t>(</a:t>
            </a:r>
            <a:r>
              <a:rPr lang="en-GB">
                <a:solidFill>
                  <a:srgbClr val="3F51B5"/>
                </a:solidFill>
                <a:latin typeface="Roboto Mono"/>
                <a:ea typeface="Roboto Mono"/>
                <a:cs typeface="Roboto Mono"/>
                <a:sym typeface="Roboto Mono"/>
              </a:rPr>
              <a:t>int *</a:t>
            </a:r>
            <a:r>
              <a:rPr lang="en-GB">
                <a:solidFill>
                  <a:srgbClr val="37474F"/>
                </a:solidFill>
                <a:latin typeface="Roboto Mono"/>
                <a:ea typeface="Roboto Mono"/>
                <a:cs typeface="Roboto Mono"/>
                <a:sym typeface="Roboto Mono"/>
              </a:rPr>
              <a:t>arr, </a:t>
            </a:r>
            <a:r>
              <a:rPr lang="en-GB">
                <a:solidFill>
                  <a:srgbClr val="3F51B5"/>
                </a:solidFill>
                <a:latin typeface="Roboto Mono"/>
                <a:ea typeface="Roboto Mono"/>
                <a:cs typeface="Roboto Mono"/>
                <a:sym typeface="Roboto Mono"/>
              </a:rPr>
              <a:t>int *</a:t>
            </a:r>
            <a:r>
              <a:rPr lang="en-GB">
                <a:solidFill>
                  <a:srgbClr val="37474F"/>
                </a:solidFill>
                <a:latin typeface="Roboto Mono"/>
                <a:ea typeface="Roboto Mono"/>
                <a:cs typeface="Roboto Mono"/>
                <a:sym typeface="Roboto Mono"/>
              </a:rPr>
              <a:t>sum, </a:t>
            </a:r>
            <a:r>
              <a:rPr lang="en-GB">
                <a:solidFill>
                  <a:srgbClr val="3F51B5"/>
                </a:solidFill>
                <a:latin typeface="Roboto Mono"/>
                <a:ea typeface="Roboto Mono"/>
                <a:cs typeface="Roboto Mono"/>
                <a:sym typeface="Roboto Mono"/>
              </a:rPr>
              <a:t>int</a:t>
            </a:r>
            <a:r>
              <a:rPr lang="en-GB">
                <a:solidFill>
                  <a:srgbClr val="37474F"/>
                </a:solidFill>
                <a:latin typeface="Roboto Mono"/>
                <a:ea typeface="Roboto Mono"/>
                <a:cs typeface="Roboto Mono"/>
                <a:sym typeface="Roboto Mono"/>
              </a:rPr>
              <a:t> n) {</a:t>
            </a:r>
            <a:endParaRPr>
              <a:solidFill>
                <a:schemeClr val="dk1"/>
              </a:solidFill>
              <a:latin typeface="Roboto Mono"/>
              <a:ea typeface="Roboto Mono"/>
              <a:cs typeface="Roboto Mono"/>
              <a:sym typeface="Roboto Mono"/>
            </a:endParaRPr>
          </a:p>
          <a:p>
            <a:pPr algn="l" rtl="0"/>
            <a:r>
              <a:rPr lang="en-GB">
                <a:solidFill>
                  <a:srgbClr val="3F51B5"/>
                </a:solidFill>
                <a:latin typeface="Roboto Mono"/>
                <a:ea typeface="Roboto Mono"/>
                <a:cs typeface="Roboto Mono"/>
                <a:sym typeface="Roboto Mono"/>
              </a:rPr>
              <a:t>  int</a:t>
            </a:r>
            <a:r>
              <a:rPr lang="en-GB">
                <a:solidFill>
                  <a:srgbClr val="37474F"/>
                </a:solidFill>
                <a:latin typeface="Roboto Mono"/>
                <a:ea typeface="Roboto Mono"/>
                <a:cs typeface="Roboto Mono"/>
                <a:sym typeface="Roboto Mono"/>
              </a:rPr>
              <a:t> my_id </a:t>
            </a:r>
            <a:r>
              <a:rPr lang="en-GB">
                <a:solidFill>
                  <a:srgbClr val="3F51B5"/>
                </a:solidFill>
                <a:latin typeface="Roboto Mono"/>
                <a:ea typeface="Roboto Mono"/>
                <a:cs typeface="Roboto Mono"/>
                <a:sym typeface="Roboto Mono"/>
              </a:rPr>
              <a:t>=</a:t>
            </a:r>
            <a:r>
              <a:rPr lang="en-GB">
                <a:solidFill>
                  <a:srgbClr val="37474F"/>
                </a:solidFill>
                <a:latin typeface="Roboto Mono"/>
                <a:ea typeface="Roboto Mono"/>
                <a:cs typeface="Roboto Mono"/>
                <a:sym typeface="Roboto Mono"/>
              </a:rPr>
              <a:t> threadIdx.x </a:t>
            </a:r>
            <a:r>
              <a:rPr lang="en-GB">
                <a:solidFill>
                  <a:srgbClr val="3F51B5"/>
                </a:solidFill>
                <a:latin typeface="Roboto Mono"/>
                <a:ea typeface="Roboto Mono"/>
                <a:cs typeface="Roboto Mono"/>
                <a:sym typeface="Roboto Mono"/>
              </a:rPr>
              <a:t>+</a:t>
            </a:r>
            <a:r>
              <a:rPr lang="en-GB">
                <a:solidFill>
                  <a:srgbClr val="37474F"/>
                </a:solidFill>
                <a:latin typeface="Roboto Mono"/>
                <a:ea typeface="Roboto Mono"/>
                <a:cs typeface="Roboto Mono"/>
                <a:sym typeface="Roboto Mono"/>
              </a:rPr>
              <a:t> blockIdx.x </a:t>
            </a:r>
            <a:r>
              <a:rPr lang="en-GB">
                <a:solidFill>
                  <a:srgbClr val="3F51B5"/>
                </a:solidFill>
                <a:latin typeface="Roboto Mono"/>
                <a:ea typeface="Roboto Mono"/>
                <a:cs typeface="Roboto Mono"/>
                <a:sym typeface="Roboto Mono"/>
              </a:rPr>
              <a:t>*</a:t>
            </a:r>
            <a:r>
              <a:rPr lang="en-GB">
                <a:solidFill>
                  <a:srgbClr val="37474F"/>
                </a:solidFill>
                <a:latin typeface="Roboto Mono"/>
                <a:ea typeface="Roboto Mono"/>
                <a:cs typeface="Roboto Mono"/>
                <a:sym typeface="Roboto Mono"/>
              </a:rPr>
              <a:t> blockDim.x;</a:t>
            </a:r>
            <a:endParaRPr>
              <a:solidFill>
                <a:schemeClr val="dk1"/>
              </a:solidFill>
              <a:latin typeface="Roboto Mono"/>
              <a:ea typeface="Roboto Mono"/>
              <a:cs typeface="Roboto Mono"/>
              <a:sym typeface="Roboto Mono"/>
            </a:endParaRPr>
          </a:p>
          <a:p>
            <a:pPr algn="l" rtl="0"/>
            <a:r>
              <a:rPr lang="en-GB">
                <a:solidFill>
                  <a:srgbClr val="3F51B5"/>
                </a:solidFill>
                <a:latin typeface="Roboto Mono"/>
                <a:ea typeface="Roboto Mono"/>
                <a:cs typeface="Roboto Mono"/>
                <a:sym typeface="Roboto Mono"/>
              </a:rPr>
              <a:t>  if</a:t>
            </a:r>
            <a:r>
              <a:rPr lang="en-GB">
                <a:solidFill>
                  <a:srgbClr val="37474F"/>
                </a:solidFill>
                <a:latin typeface="Roboto Mono"/>
                <a:ea typeface="Roboto Mono"/>
                <a:cs typeface="Roboto Mono"/>
                <a:sym typeface="Roboto Mono"/>
              </a:rPr>
              <a:t> (my_id </a:t>
            </a:r>
            <a:r>
              <a:rPr lang="en-GB">
                <a:solidFill>
                  <a:srgbClr val="3F51B5"/>
                </a:solidFill>
                <a:latin typeface="Roboto Mono"/>
                <a:ea typeface="Roboto Mono"/>
                <a:cs typeface="Roboto Mono"/>
                <a:sym typeface="Roboto Mono"/>
              </a:rPr>
              <a:t>&lt;</a:t>
            </a:r>
            <a:r>
              <a:rPr lang="en-GB">
                <a:solidFill>
                  <a:srgbClr val="37474F"/>
                </a:solidFill>
                <a:latin typeface="Roboto Mono"/>
                <a:ea typeface="Roboto Mono"/>
                <a:cs typeface="Roboto Mono"/>
                <a:sym typeface="Roboto Mono"/>
              </a:rPr>
              <a:t> n) {</a:t>
            </a:r>
            <a:endParaRPr>
              <a:solidFill>
                <a:schemeClr val="dk1"/>
              </a:solidFill>
              <a:latin typeface="Roboto Mono"/>
              <a:ea typeface="Roboto Mono"/>
              <a:cs typeface="Roboto Mono"/>
              <a:sym typeface="Roboto Mono"/>
            </a:endParaRPr>
          </a:p>
          <a:p>
            <a:pPr algn="l" rtl="0"/>
            <a:r>
              <a:rPr lang="en-GB">
                <a:solidFill>
                  <a:srgbClr val="3F51B5"/>
                </a:solidFill>
                <a:latin typeface="Roboto Mono"/>
                <a:ea typeface="Roboto Mono"/>
                <a:cs typeface="Roboto Mono"/>
                <a:sym typeface="Roboto Mono"/>
              </a:rPr>
              <a:t>    atomicAdd(</a:t>
            </a:r>
            <a:r>
              <a:rPr lang="en-GB">
                <a:solidFill>
                  <a:srgbClr val="37474F"/>
                </a:solidFill>
                <a:latin typeface="Roboto Mono"/>
                <a:ea typeface="Roboto Mono"/>
                <a:cs typeface="Roboto Mono"/>
                <a:sym typeface="Roboto Mono"/>
              </a:rPr>
              <a:t>sum, arr[idx]</a:t>
            </a:r>
            <a:r>
              <a:rPr lang="en-GB">
                <a:solidFill>
                  <a:srgbClr val="3F51B5"/>
                </a:solidFill>
                <a:latin typeface="Roboto Mono"/>
                <a:ea typeface="Roboto Mono"/>
                <a:cs typeface="Roboto Mono"/>
                <a:sym typeface="Roboto Mono"/>
              </a:rPr>
              <a:t>);</a:t>
            </a:r>
            <a:endParaRPr>
              <a:solidFill>
                <a:schemeClr val="dk1"/>
              </a:solidFill>
              <a:latin typeface="Roboto Mono"/>
              <a:ea typeface="Roboto Mono"/>
              <a:cs typeface="Roboto Mono"/>
              <a:sym typeface="Roboto Mono"/>
            </a:endParaRPr>
          </a:p>
          <a:p>
            <a:pPr algn="l" rtl="0"/>
            <a:r>
              <a:rPr lang="en-GB">
                <a:solidFill>
                  <a:srgbClr val="37474F"/>
                </a:solidFill>
                <a:latin typeface="Roboto Mono"/>
                <a:ea typeface="Roboto Mono"/>
                <a:cs typeface="Roboto Mono"/>
                <a:sym typeface="Roboto Mono"/>
              </a:rPr>
              <a:t>  }</a:t>
            </a:r>
            <a:endParaRPr>
              <a:solidFill>
                <a:schemeClr val="dk1"/>
              </a:solidFill>
              <a:latin typeface="Roboto Mono"/>
              <a:ea typeface="Roboto Mono"/>
              <a:cs typeface="Roboto Mono"/>
              <a:sym typeface="Roboto Mono"/>
            </a:endParaRPr>
          </a:p>
          <a:p>
            <a:pPr algn="l" rtl="0">
              <a:lnSpc>
                <a:spcPct val="150000"/>
              </a:lnSpc>
            </a:pPr>
            <a:r>
              <a:rPr lang="en-GB">
                <a:solidFill>
                  <a:srgbClr val="37474F"/>
                </a:solidFill>
                <a:latin typeface="Roboto Mono"/>
                <a:ea typeface="Roboto Mono"/>
                <a:cs typeface="Roboto Mono"/>
                <a:sym typeface="Roboto Mono"/>
              </a:rPr>
              <a:t>}</a:t>
            </a:r>
            <a:endParaRPr>
              <a:solidFill>
                <a:srgbClr val="37474F"/>
              </a:solidFill>
              <a:latin typeface="Roboto Mono"/>
              <a:ea typeface="Roboto Mono"/>
              <a:cs typeface="Roboto Mono"/>
              <a:sym typeface="Roboto Mono"/>
            </a:endParaRPr>
          </a:p>
        </p:txBody>
      </p:sp>
      <p:grpSp>
        <p:nvGrpSpPr>
          <p:cNvPr id="1866" name="Google Shape;1866;p48"/>
          <p:cNvGrpSpPr/>
          <p:nvPr/>
        </p:nvGrpSpPr>
        <p:grpSpPr>
          <a:xfrm>
            <a:off x="8790400" y="1940666"/>
            <a:ext cx="2954000" cy="574412"/>
            <a:chOff x="6592800" y="1455500"/>
            <a:chExt cx="2215500" cy="430809"/>
          </a:xfrm>
        </p:grpSpPr>
        <p:sp>
          <p:nvSpPr>
            <p:cNvPr id="1867" name="Google Shape;1867;p48"/>
            <p:cNvSpPr/>
            <p:nvPr/>
          </p:nvSpPr>
          <p:spPr>
            <a:xfrm>
              <a:off x="7828050" y="1514300"/>
              <a:ext cx="308100" cy="313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rtl="0"/>
              <a:r>
                <a:rPr lang="en-GB">
                  <a:latin typeface="Lato"/>
                  <a:ea typeface="Lato"/>
                  <a:cs typeface="Lato"/>
                  <a:sym typeface="Lato"/>
                </a:rPr>
                <a:t>7</a:t>
              </a:r>
              <a:endParaRPr>
                <a:latin typeface="Lato"/>
                <a:ea typeface="Lato"/>
                <a:cs typeface="Lato"/>
                <a:sym typeface="Lato"/>
              </a:endParaRPr>
            </a:p>
          </p:txBody>
        </p:sp>
        <p:sp>
          <p:nvSpPr>
            <p:cNvPr id="1868" name="Google Shape;1868;p48"/>
            <p:cNvSpPr/>
            <p:nvPr/>
          </p:nvSpPr>
          <p:spPr>
            <a:xfrm>
              <a:off x="8118900" y="1514300"/>
              <a:ext cx="308100" cy="313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rtl="0"/>
              <a:r>
                <a:rPr lang="en-GB">
                  <a:latin typeface="Lato"/>
                  <a:ea typeface="Lato"/>
                  <a:cs typeface="Lato"/>
                  <a:sym typeface="Lato"/>
                </a:rPr>
                <a:t>4</a:t>
              </a:r>
              <a:endParaRPr>
                <a:latin typeface="Lato"/>
                <a:ea typeface="Lato"/>
                <a:cs typeface="Lato"/>
                <a:sym typeface="Lato"/>
              </a:endParaRPr>
            </a:p>
          </p:txBody>
        </p:sp>
        <p:sp>
          <p:nvSpPr>
            <p:cNvPr id="1869" name="Google Shape;1869;p48"/>
            <p:cNvSpPr txBox="1"/>
            <p:nvPr/>
          </p:nvSpPr>
          <p:spPr>
            <a:xfrm>
              <a:off x="6592800" y="1455500"/>
              <a:ext cx="719100" cy="430809"/>
            </a:xfrm>
            <a:prstGeom prst="rect">
              <a:avLst/>
            </a:prstGeom>
            <a:noFill/>
            <a:ln>
              <a:noFill/>
            </a:ln>
          </p:spPr>
          <p:txBody>
            <a:bodyPr spcFirstLastPara="1" wrap="square" lIns="121900" tIns="121900" rIns="121900" bIns="121900" anchor="t" anchorCtr="0">
              <a:spAutoFit/>
            </a:bodyPr>
            <a:lstStyle/>
            <a:p>
              <a:pPr algn="l" rtl="0"/>
              <a:r>
                <a:rPr lang="en-GB" sz="2133">
                  <a:solidFill>
                    <a:srgbClr val="595959"/>
                  </a:solidFill>
                  <a:latin typeface="Lato"/>
                  <a:ea typeface="Lato"/>
                  <a:cs typeface="Lato"/>
                  <a:sym typeface="Lato"/>
                </a:rPr>
                <a:t>arr = </a:t>
              </a:r>
              <a:endParaRPr sz="2133">
                <a:solidFill>
                  <a:srgbClr val="595959"/>
                </a:solidFill>
                <a:latin typeface="Lato"/>
                <a:ea typeface="Lato"/>
                <a:cs typeface="Lato"/>
                <a:sym typeface="Lato"/>
              </a:endParaRPr>
            </a:p>
          </p:txBody>
        </p:sp>
        <p:cxnSp>
          <p:nvCxnSpPr>
            <p:cNvPr id="1870" name="Google Shape;1870;p48"/>
            <p:cNvCxnSpPr/>
            <p:nvPr/>
          </p:nvCxnSpPr>
          <p:spPr>
            <a:xfrm>
              <a:off x="7429875" y="1671050"/>
              <a:ext cx="280200" cy="0"/>
            </a:xfrm>
            <a:prstGeom prst="straightConnector1">
              <a:avLst/>
            </a:prstGeom>
            <a:noFill/>
            <a:ln w="28575" cap="flat" cmpd="sng">
              <a:solidFill>
                <a:schemeClr val="dk2"/>
              </a:solidFill>
              <a:prstDash val="dot"/>
              <a:round/>
              <a:headEnd type="none" w="med" len="med"/>
              <a:tailEnd type="none" w="med" len="med"/>
            </a:ln>
          </p:spPr>
        </p:cxnSp>
        <p:cxnSp>
          <p:nvCxnSpPr>
            <p:cNvPr id="1871" name="Google Shape;1871;p48"/>
            <p:cNvCxnSpPr/>
            <p:nvPr/>
          </p:nvCxnSpPr>
          <p:spPr>
            <a:xfrm>
              <a:off x="8528100" y="1671050"/>
              <a:ext cx="280200" cy="0"/>
            </a:xfrm>
            <a:prstGeom prst="straightConnector1">
              <a:avLst/>
            </a:prstGeom>
            <a:noFill/>
            <a:ln w="28575" cap="flat" cmpd="sng">
              <a:solidFill>
                <a:schemeClr val="dk2"/>
              </a:solidFill>
              <a:prstDash val="dot"/>
              <a:round/>
              <a:headEnd type="none" w="med" len="med"/>
              <a:tailEnd type="none" w="med" len="med"/>
            </a:ln>
          </p:spPr>
        </p:cxnSp>
      </p:grpSp>
      <p:grpSp>
        <p:nvGrpSpPr>
          <p:cNvPr id="1872" name="Google Shape;1872;p48"/>
          <p:cNvGrpSpPr/>
          <p:nvPr/>
        </p:nvGrpSpPr>
        <p:grpSpPr>
          <a:xfrm>
            <a:off x="8255033" y="2749434"/>
            <a:ext cx="3902722" cy="2758767"/>
            <a:chOff x="6191275" y="2062075"/>
            <a:chExt cx="2927042" cy="2069075"/>
          </a:xfrm>
        </p:grpSpPr>
        <p:sp>
          <p:nvSpPr>
            <p:cNvPr id="1873" name="Google Shape;1873;p48"/>
            <p:cNvSpPr/>
            <p:nvPr/>
          </p:nvSpPr>
          <p:spPr>
            <a:xfrm>
              <a:off x="6340675" y="2493175"/>
              <a:ext cx="420300" cy="252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rtl="0"/>
              <a:r>
                <a:rPr lang="en-GB">
                  <a:latin typeface="Lato"/>
                  <a:ea typeface="Lato"/>
                  <a:cs typeface="Lato"/>
                  <a:sym typeface="Lato"/>
                </a:rPr>
                <a:t>3</a:t>
              </a:r>
              <a:endParaRPr>
                <a:latin typeface="Lato"/>
                <a:ea typeface="Lato"/>
                <a:cs typeface="Lato"/>
                <a:sym typeface="Lato"/>
              </a:endParaRPr>
            </a:p>
          </p:txBody>
        </p:sp>
        <p:sp>
          <p:nvSpPr>
            <p:cNvPr id="1874" name="Google Shape;1874;p48"/>
            <p:cNvSpPr txBox="1"/>
            <p:nvPr/>
          </p:nvSpPr>
          <p:spPr>
            <a:xfrm>
              <a:off x="6191275" y="2062075"/>
              <a:ext cx="719100" cy="430809"/>
            </a:xfrm>
            <a:prstGeom prst="rect">
              <a:avLst/>
            </a:prstGeom>
            <a:noFill/>
            <a:ln>
              <a:noFill/>
            </a:ln>
          </p:spPr>
          <p:txBody>
            <a:bodyPr spcFirstLastPara="1" wrap="square" lIns="121900" tIns="121900" rIns="121900" bIns="121900" anchor="t" anchorCtr="0">
              <a:spAutoFit/>
            </a:bodyPr>
            <a:lstStyle/>
            <a:p>
              <a:pPr algn="ctr" rtl="0"/>
              <a:r>
                <a:rPr lang="en-GB" sz="2133">
                  <a:solidFill>
                    <a:srgbClr val="595959"/>
                  </a:solidFill>
                  <a:latin typeface="Lato"/>
                  <a:ea typeface="Lato"/>
                  <a:cs typeface="Lato"/>
                  <a:sym typeface="Lato"/>
                </a:rPr>
                <a:t>sum</a:t>
              </a:r>
              <a:endParaRPr sz="2133">
                <a:solidFill>
                  <a:srgbClr val="595959"/>
                </a:solidFill>
                <a:latin typeface="Lato"/>
                <a:ea typeface="Lato"/>
                <a:cs typeface="Lato"/>
                <a:sym typeface="Lato"/>
              </a:endParaRPr>
            </a:p>
          </p:txBody>
        </p:sp>
        <p:sp>
          <p:nvSpPr>
            <p:cNvPr id="1875" name="Google Shape;1875;p48"/>
            <p:cNvSpPr txBox="1"/>
            <p:nvPr/>
          </p:nvSpPr>
          <p:spPr>
            <a:xfrm>
              <a:off x="7181875" y="2062075"/>
              <a:ext cx="642000" cy="430809"/>
            </a:xfrm>
            <a:prstGeom prst="rect">
              <a:avLst/>
            </a:prstGeom>
            <a:noFill/>
            <a:ln>
              <a:noFill/>
            </a:ln>
          </p:spPr>
          <p:txBody>
            <a:bodyPr spcFirstLastPara="1" wrap="square" lIns="121900" tIns="121900" rIns="121900" bIns="121900" anchor="t" anchorCtr="0">
              <a:spAutoFit/>
            </a:bodyPr>
            <a:lstStyle/>
            <a:p>
              <a:pPr algn="ctr" rtl="0"/>
              <a:r>
                <a:rPr lang="en-GB" sz="2133">
                  <a:solidFill>
                    <a:schemeClr val="accent3"/>
                  </a:solidFill>
                  <a:latin typeface="Lato"/>
                  <a:ea typeface="Lato"/>
                  <a:cs typeface="Lato"/>
                  <a:sym typeface="Lato"/>
                </a:rPr>
                <a:t>Ti</a:t>
              </a:r>
              <a:endParaRPr sz="2133">
                <a:solidFill>
                  <a:schemeClr val="accent3"/>
                </a:solidFill>
                <a:latin typeface="Lato"/>
                <a:ea typeface="Lato"/>
                <a:cs typeface="Lato"/>
                <a:sym typeface="Lato"/>
              </a:endParaRPr>
            </a:p>
          </p:txBody>
        </p:sp>
        <p:sp>
          <p:nvSpPr>
            <p:cNvPr id="1876" name="Google Shape;1876;p48"/>
            <p:cNvSpPr txBox="1"/>
            <p:nvPr/>
          </p:nvSpPr>
          <p:spPr>
            <a:xfrm>
              <a:off x="7942975" y="2062075"/>
              <a:ext cx="642000" cy="430809"/>
            </a:xfrm>
            <a:prstGeom prst="rect">
              <a:avLst/>
            </a:prstGeom>
            <a:noFill/>
            <a:ln>
              <a:noFill/>
            </a:ln>
          </p:spPr>
          <p:txBody>
            <a:bodyPr spcFirstLastPara="1" wrap="square" lIns="121900" tIns="121900" rIns="121900" bIns="121900" anchor="t" anchorCtr="0">
              <a:spAutoFit/>
            </a:bodyPr>
            <a:lstStyle/>
            <a:p>
              <a:pPr algn="ctr" rtl="0"/>
              <a:r>
                <a:rPr lang="en-GB" sz="2133">
                  <a:solidFill>
                    <a:schemeClr val="accent4"/>
                  </a:solidFill>
                  <a:latin typeface="Lato"/>
                  <a:ea typeface="Lato"/>
                  <a:cs typeface="Lato"/>
                  <a:sym typeface="Lato"/>
                </a:rPr>
                <a:t>Tj</a:t>
              </a:r>
              <a:endParaRPr sz="2133">
                <a:solidFill>
                  <a:schemeClr val="accent4"/>
                </a:solidFill>
                <a:latin typeface="Lato"/>
                <a:ea typeface="Lato"/>
                <a:cs typeface="Lato"/>
                <a:sym typeface="Lato"/>
              </a:endParaRPr>
            </a:p>
          </p:txBody>
        </p:sp>
        <p:cxnSp>
          <p:nvCxnSpPr>
            <p:cNvPr id="1877" name="Google Shape;1877;p48"/>
            <p:cNvCxnSpPr/>
            <p:nvPr/>
          </p:nvCxnSpPr>
          <p:spPr>
            <a:xfrm>
              <a:off x="8722025" y="2571750"/>
              <a:ext cx="0" cy="1559400"/>
            </a:xfrm>
            <a:prstGeom prst="straightConnector1">
              <a:avLst/>
            </a:prstGeom>
            <a:noFill/>
            <a:ln w="9525" cap="flat" cmpd="sng">
              <a:solidFill>
                <a:schemeClr val="dk2"/>
              </a:solidFill>
              <a:prstDash val="solid"/>
              <a:round/>
              <a:headEnd type="none" w="med" len="med"/>
              <a:tailEnd type="triangle" w="med" len="med"/>
            </a:ln>
          </p:spPr>
        </p:cxnSp>
        <p:sp>
          <p:nvSpPr>
            <p:cNvPr id="1878" name="Google Shape;1878;p48"/>
            <p:cNvSpPr txBox="1"/>
            <p:nvPr/>
          </p:nvSpPr>
          <p:spPr>
            <a:xfrm rot="5400000">
              <a:off x="8601125" y="3133883"/>
              <a:ext cx="642000" cy="392385"/>
            </a:xfrm>
            <a:prstGeom prst="rect">
              <a:avLst/>
            </a:prstGeom>
            <a:noFill/>
            <a:ln>
              <a:noFill/>
            </a:ln>
          </p:spPr>
          <p:txBody>
            <a:bodyPr spcFirstLastPara="1" wrap="square" lIns="121900" tIns="121900" rIns="121900" bIns="121900" anchor="t" anchorCtr="0">
              <a:spAutoFit/>
            </a:bodyPr>
            <a:lstStyle/>
            <a:p>
              <a:pPr algn="ctr" rtl="0"/>
              <a:r>
                <a:rPr lang="en-GB">
                  <a:solidFill>
                    <a:srgbClr val="595959"/>
                  </a:solidFill>
                  <a:latin typeface="Lato"/>
                  <a:ea typeface="Lato"/>
                  <a:cs typeface="Lato"/>
                  <a:sym typeface="Lato"/>
                </a:rPr>
                <a:t>time</a:t>
              </a:r>
              <a:endParaRPr>
                <a:solidFill>
                  <a:srgbClr val="595959"/>
                </a:solidFill>
                <a:latin typeface="Lato"/>
                <a:ea typeface="Lato"/>
                <a:cs typeface="Lato"/>
                <a:sym typeface="Lato"/>
              </a:endParaRPr>
            </a:p>
          </p:txBody>
        </p:sp>
      </p:grpSp>
      <p:grpSp>
        <p:nvGrpSpPr>
          <p:cNvPr id="1879" name="Google Shape;1879;p48"/>
          <p:cNvGrpSpPr/>
          <p:nvPr/>
        </p:nvGrpSpPr>
        <p:grpSpPr>
          <a:xfrm>
            <a:off x="10456000" y="1666632"/>
            <a:ext cx="780000" cy="328230"/>
            <a:chOff x="7842000" y="1249975"/>
            <a:chExt cx="585000" cy="246173"/>
          </a:xfrm>
        </p:grpSpPr>
        <p:sp>
          <p:nvSpPr>
            <p:cNvPr id="1880" name="Google Shape;1880;p48"/>
            <p:cNvSpPr txBox="1"/>
            <p:nvPr/>
          </p:nvSpPr>
          <p:spPr>
            <a:xfrm>
              <a:off x="7842000" y="1249975"/>
              <a:ext cx="280200" cy="246173"/>
            </a:xfrm>
            <a:prstGeom prst="rect">
              <a:avLst/>
            </a:prstGeom>
            <a:noFill/>
            <a:ln>
              <a:noFill/>
            </a:ln>
          </p:spPr>
          <p:txBody>
            <a:bodyPr spcFirstLastPara="1" wrap="square" lIns="0" tIns="0" rIns="0" bIns="0" anchor="t" anchorCtr="0">
              <a:spAutoFit/>
            </a:bodyPr>
            <a:lstStyle/>
            <a:p>
              <a:pPr algn="ctr" rtl="0"/>
              <a:r>
                <a:rPr lang="en-GB" sz="2133">
                  <a:solidFill>
                    <a:srgbClr val="595959"/>
                  </a:solidFill>
                  <a:latin typeface="Lato"/>
                  <a:ea typeface="Lato"/>
                  <a:cs typeface="Lato"/>
                  <a:sym typeface="Lato"/>
                </a:rPr>
                <a:t>i</a:t>
              </a:r>
              <a:endParaRPr sz="2133">
                <a:solidFill>
                  <a:srgbClr val="595959"/>
                </a:solidFill>
                <a:latin typeface="Lato"/>
                <a:ea typeface="Lato"/>
                <a:cs typeface="Lato"/>
                <a:sym typeface="Lato"/>
              </a:endParaRPr>
            </a:p>
          </p:txBody>
        </p:sp>
        <p:sp>
          <p:nvSpPr>
            <p:cNvPr id="1881" name="Google Shape;1881;p48"/>
            <p:cNvSpPr txBox="1"/>
            <p:nvPr/>
          </p:nvSpPr>
          <p:spPr>
            <a:xfrm>
              <a:off x="8146800" y="1249975"/>
              <a:ext cx="280200" cy="246173"/>
            </a:xfrm>
            <a:prstGeom prst="rect">
              <a:avLst/>
            </a:prstGeom>
            <a:noFill/>
            <a:ln>
              <a:noFill/>
            </a:ln>
          </p:spPr>
          <p:txBody>
            <a:bodyPr spcFirstLastPara="1" wrap="square" lIns="0" tIns="0" rIns="0" bIns="0" anchor="t" anchorCtr="0">
              <a:spAutoFit/>
            </a:bodyPr>
            <a:lstStyle/>
            <a:p>
              <a:pPr algn="ctr" rtl="0"/>
              <a:r>
                <a:rPr lang="en-GB" sz="2133">
                  <a:solidFill>
                    <a:srgbClr val="595959"/>
                  </a:solidFill>
                  <a:latin typeface="Lato"/>
                  <a:ea typeface="Lato"/>
                  <a:cs typeface="Lato"/>
                  <a:sym typeface="Lato"/>
                </a:rPr>
                <a:t>j</a:t>
              </a:r>
              <a:endParaRPr sz="2133">
                <a:solidFill>
                  <a:srgbClr val="595959"/>
                </a:solidFill>
                <a:latin typeface="Lato"/>
                <a:ea typeface="Lato"/>
                <a:cs typeface="Lato"/>
                <a:sym typeface="Lato"/>
              </a:endParaRPr>
            </a:p>
          </p:txBody>
        </p:sp>
      </p:grpSp>
      <p:grpSp>
        <p:nvGrpSpPr>
          <p:cNvPr id="1882" name="Google Shape;1882;p48"/>
          <p:cNvGrpSpPr/>
          <p:nvPr/>
        </p:nvGrpSpPr>
        <p:grpSpPr>
          <a:xfrm>
            <a:off x="8454233" y="5016233"/>
            <a:ext cx="2818200" cy="1285600"/>
            <a:chOff x="6340675" y="2923975"/>
            <a:chExt cx="2113650" cy="964200"/>
          </a:xfrm>
        </p:grpSpPr>
        <p:sp>
          <p:nvSpPr>
            <p:cNvPr id="1883" name="Google Shape;1883;p48"/>
            <p:cNvSpPr/>
            <p:nvPr/>
          </p:nvSpPr>
          <p:spPr>
            <a:xfrm>
              <a:off x="8075425" y="3026575"/>
              <a:ext cx="378900" cy="252000"/>
            </a:xfrm>
            <a:prstGeom prst="rect">
              <a:avLst/>
            </a:prstGeom>
            <a:solidFill>
              <a:schemeClr val="lt2"/>
            </a:solidFill>
            <a:ln w="9525" cap="flat" cmpd="sng">
              <a:solidFill>
                <a:schemeClr val="accent4"/>
              </a:solidFill>
              <a:prstDash val="solid"/>
              <a:round/>
              <a:headEnd type="none" w="sm" len="sm"/>
              <a:tailEnd type="none" w="sm" len="sm"/>
            </a:ln>
          </p:spPr>
          <p:txBody>
            <a:bodyPr spcFirstLastPara="1" wrap="square" lIns="121900" tIns="121900" rIns="121900" bIns="121900" anchor="ctr" anchorCtr="0">
              <a:noAutofit/>
            </a:bodyPr>
            <a:lstStyle/>
            <a:p>
              <a:pPr algn="ctr" rtl="0"/>
              <a:r>
                <a:rPr lang="en-GB">
                  <a:solidFill>
                    <a:schemeClr val="accent4"/>
                  </a:solidFill>
                  <a:latin typeface="Lato"/>
                  <a:ea typeface="Lato"/>
                  <a:cs typeface="Lato"/>
                  <a:sym typeface="Lato"/>
                </a:rPr>
                <a:t>R</a:t>
              </a:r>
              <a:endParaRPr>
                <a:solidFill>
                  <a:schemeClr val="accent4"/>
                </a:solidFill>
                <a:latin typeface="Lato"/>
                <a:ea typeface="Lato"/>
                <a:cs typeface="Lato"/>
                <a:sym typeface="Lato"/>
              </a:endParaRPr>
            </a:p>
          </p:txBody>
        </p:sp>
        <p:sp>
          <p:nvSpPr>
            <p:cNvPr id="1884" name="Google Shape;1884;p48"/>
            <p:cNvSpPr/>
            <p:nvPr/>
          </p:nvSpPr>
          <p:spPr>
            <a:xfrm>
              <a:off x="8075425" y="3280275"/>
              <a:ext cx="378900" cy="252000"/>
            </a:xfrm>
            <a:prstGeom prst="rect">
              <a:avLst/>
            </a:prstGeom>
            <a:solidFill>
              <a:schemeClr val="lt2"/>
            </a:solidFill>
            <a:ln w="9525" cap="flat" cmpd="sng">
              <a:solidFill>
                <a:schemeClr val="accent4"/>
              </a:solidFill>
              <a:prstDash val="solid"/>
              <a:round/>
              <a:headEnd type="none" w="sm" len="sm"/>
              <a:tailEnd type="none" w="sm" len="sm"/>
            </a:ln>
          </p:spPr>
          <p:txBody>
            <a:bodyPr spcFirstLastPara="1" wrap="square" lIns="121900" tIns="121900" rIns="121900" bIns="121900" anchor="ctr" anchorCtr="0">
              <a:noAutofit/>
            </a:bodyPr>
            <a:lstStyle/>
            <a:p>
              <a:pPr algn="ctr" rtl="0"/>
              <a:r>
                <a:rPr lang="en-GB">
                  <a:solidFill>
                    <a:schemeClr val="accent4"/>
                  </a:solidFill>
                  <a:latin typeface="Lato"/>
                  <a:ea typeface="Lato"/>
                  <a:cs typeface="Lato"/>
                  <a:sym typeface="Lato"/>
                </a:rPr>
                <a:t>+</a:t>
              </a:r>
              <a:endParaRPr>
                <a:solidFill>
                  <a:schemeClr val="accent4"/>
                </a:solidFill>
                <a:latin typeface="Lato"/>
                <a:ea typeface="Lato"/>
                <a:cs typeface="Lato"/>
                <a:sym typeface="Lato"/>
              </a:endParaRPr>
            </a:p>
          </p:txBody>
        </p:sp>
        <p:sp>
          <p:nvSpPr>
            <p:cNvPr id="1885" name="Google Shape;1885;p48"/>
            <p:cNvSpPr/>
            <p:nvPr/>
          </p:nvSpPr>
          <p:spPr>
            <a:xfrm>
              <a:off x="8075425" y="3533975"/>
              <a:ext cx="378900" cy="252000"/>
            </a:xfrm>
            <a:prstGeom prst="rect">
              <a:avLst/>
            </a:prstGeom>
            <a:solidFill>
              <a:schemeClr val="lt2"/>
            </a:solidFill>
            <a:ln w="9525" cap="flat" cmpd="sng">
              <a:solidFill>
                <a:schemeClr val="accent4"/>
              </a:solidFill>
              <a:prstDash val="solid"/>
              <a:round/>
              <a:headEnd type="none" w="sm" len="sm"/>
              <a:tailEnd type="none" w="sm" len="sm"/>
            </a:ln>
          </p:spPr>
          <p:txBody>
            <a:bodyPr spcFirstLastPara="1" wrap="square" lIns="121900" tIns="121900" rIns="121900" bIns="121900" anchor="ctr" anchorCtr="0">
              <a:noAutofit/>
            </a:bodyPr>
            <a:lstStyle/>
            <a:p>
              <a:pPr algn="ctr" rtl="0"/>
              <a:r>
                <a:rPr lang="en-GB">
                  <a:solidFill>
                    <a:schemeClr val="accent4"/>
                  </a:solidFill>
                  <a:latin typeface="Lato"/>
                  <a:ea typeface="Lato"/>
                  <a:cs typeface="Lato"/>
                  <a:sym typeface="Lato"/>
                </a:rPr>
                <a:t>W</a:t>
              </a:r>
              <a:endParaRPr>
                <a:solidFill>
                  <a:schemeClr val="accent4"/>
                </a:solidFill>
                <a:latin typeface="Lato"/>
                <a:ea typeface="Lato"/>
                <a:cs typeface="Lato"/>
                <a:sym typeface="Lato"/>
              </a:endParaRPr>
            </a:p>
          </p:txBody>
        </p:sp>
        <p:cxnSp>
          <p:nvCxnSpPr>
            <p:cNvPr id="1886" name="Google Shape;1886;p48"/>
            <p:cNvCxnSpPr>
              <a:stCxn id="1887" idx="3"/>
              <a:endCxn id="1883" idx="1"/>
            </p:cNvCxnSpPr>
            <p:nvPr/>
          </p:nvCxnSpPr>
          <p:spPr>
            <a:xfrm>
              <a:off x="6760975" y="2923975"/>
              <a:ext cx="1314600" cy="228600"/>
            </a:xfrm>
            <a:prstGeom prst="straightConnector1">
              <a:avLst/>
            </a:prstGeom>
            <a:noFill/>
            <a:ln w="9525" cap="flat" cmpd="sng">
              <a:solidFill>
                <a:schemeClr val="accent4"/>
              </a:solidFill>
              <a:prstDash val="solid"/>
              <a:round/>
              <a:headEnd type="none" w="med" len="med"/>
              <a:tailEnd type="stealth" w="med" len="med"/>
            </a:ln>
          </p:spPr>
        </p:cxnSp>
        <p:sp>
          <p:nvSpPr>
            <p:cNvPr id="1888" name="Google Shape;1888;p48"/>
            <p:cNvSpPr/>
            <p:nvPr/>
          </p:nvSpPr>
          <p:spPr>
            <a:xfrm>
              <a:off x="6340675" y="3636175"/>
              <a:ext cx="420300" cy="252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rtl="0"/>
              <a:r>
                <a:rPr lang="en-GB">
                  <a:latin typeface="Lato"/>
                  <a:ea typeface="Lato"/>
                  <a:cs typeface="Lato"/>
                  <a:sym typeface="Lato"/>
                </a:rPr>
                <a:t>14</a:t>
              </a:r>
              <a:endParaRPr>
                <a:latin typeface="Lato"/>
                <a:ea typeface="Lato"/>
                <a:cs typeface="Lato"/>
                <a:sym typeface="Lato"/>
              </a:endParaRPr>
            </a:p>
          </p:txBody>
        </p:sp>
        <p:cxnSp>
          <p:nvCxnSpPr>
            <p:cNvPr id="1889" name="Google Shape;1889;p48"/>
            <p:cNvCxnSpPr>
              <a:stCxn id="1885" idx="1"/>
              <a:endCxn id="1888" idx="3"/>
            </p:cNvCxnSpPr>
            <p:nvPr/>
          </p:nvCxnSpPr>
          <p:spPr>
            <a:xfrm flipH="1">
              <a:off x="6761125" y="3659975"/>
              <a:ext cx="1314300" cy="102300"/>
            </a:xfrm>
            <a:prstGeom prst="straightConnector1">
              <a:avLst/>
            </a:prstGeom>
            <a:noFill/>
            <a:ln w="9525" cap="flat" cmpd="sng">
              <a:solidFill>
                <a:schemeClr val="accent4"/>
              </a:solidFill>
              <a:prstDash val="solid"/>
              <a:round/>
              <a:headEnd type="none" w="med" len="med"/>
              <a:tailEnd type="triangle" w="med" len="med"/>
            </a:ln>
          </p:spPr>
        </p:cxnSp>
      </p:grpSp>
      <p:grpSp>
        <p:nvGrpSpPr>
          <p:cNvPr id="1890" name="Google Shape;1890;p48"/>
          <p:cNvGrpSpPr/>
          <p:nvPr/>
        </p:nvGrpSpPr>
        <p:grpSpPr>
          <a:xfrm>
            <a:off x="8454233" y="3492233"/>
            <a:ext cx="1802200" cy="1692000"/>
            <a:chOff x="6340675" y="2619175"/>
            <a:chExt cx="1351650" cy="1269000"/>
          </a:xfrm>
        </p:grpSpPr>
        <p:sp>
          <p:nvSpPr>
            <p:cNvPr id="1891" name="Google Shape;1891;p48"/>
            <p:cNvSpPr/>
            <p:nvPr/>
          </p:nvSpPr>
          <p:spPr>
            <a:xfrm>
              <a:off x="7313425" y="3051675"/>
              <a:ext cx="378900" cy="252000"/>
            </a:xfrm>
            <a:prstGeom prst="rect">
              <a:avLst/>
            </a:prstGeom>
            <a:solidFill>
              <a:schemeClr val="lt2"/>
            </a:solidFill>
            <a:ln w="9525"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r>
                <a:rPr lang="en-GB">
                  <a:solidFill>
                    <a:schemeClr val="accent3"/>
                  </a:solidFill>
                  <a:latin typeface="Lato"/>
                  <a:ea typeface="Lato"/>
                  <a:cs typeface="Lato"/>
                  <a:sym typeface="Lato"/>
                </a:rPr>
                <a:t>+</a:t>
              </a:r>
              <a:endParaRPr>
                <a:solidFill>
                  <a:schemeClr val="accent3"/>
                </a:solidFill>
                <a:latin typeface="Lato"/>
                <a:ea typeface="Lato"/>
                <a:cs typeface="Lato"/>
                <a:sym typeface="Lato"/>
              </a:endParaRPr>
            </a:p>
          </p:txBody>
        </p:sp>
        <p:sp>
          <p:nvSpPr>
            <p:cNvPr id="1892" name="Google Shape;1892;p48"/>
            <p:cNvSpPr/>
            <p:nvPr/>
          </p:nvSpPr>
          <p:spPr>
            <a:xfrm>
              <a:off x="7313425" y="3533975"/>
              <a:ext cx="378900" cy="252000"/>
            </a:xfrm>
            <a:prstGeom prst="rect">
              <a:avLst/>
            </a:prstGeom>
            <a:solidFill>
              <a:schemeClr val="lt2"/>
            </a:solidFill>
            <a:ln w="9525"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r>
                <a:rPr lang="en-GB">
                  <a:solidFill>
                    <a:schemeClr val="accent3"/>
                  </a:solidFill>
                  <a:latin typeface="Lato"/>
                  <a:ea typeface="Lato"/>
                  <a:cs typeface="Lato"/>
                  <a:sym typeface="Lato"/>
                </a:rPr>
                <a:t>W</a:t>
              </a:r>
              <a:endParaRPr>
                <a:solidFill>
                  <a:schemeClr val="accent3"/>
                </a:solidFill>
                <a:latin typeface="Lato"/>
                <a:ea typeface="Lato"/>
                <a:cs typeface="Lato"/>
                <a:sym typeface="Lato"/>
              </a:endParaRPr>
            </a:p>
          </p:txBody>
        </p:sp>
        <p:cxnSp>
          <p:nvCxnSpPr>
            <p:cNvPr id="1893" name="Google Shape;1893;p48"/>
            <p:cNvCxnSpPr>
              <a:stCxn id="1873" idx="3"/>
              <a:endCxn id="1894" idx="1"/>
            </p:cNvCxnSpPr>
            <p:nvPr/>
          </p:nvCxnSpPr>
          <p:spPr>
            <a:xfrm>
              <a:off x="6760975" y="2619175"/>
              <a:ext cx="552600" cy="228600"/>
            </a:xfrm>
            <a:prstGeom prst="straightConnector1">
              <a:avLst/>
            </a:prstGeom>
            <a:noFill/>
            <a:ln w="9525" cap="flat" cmpd="sng">
              <a:solidFill>
                <a:schemeClr val="accent3"/>
              </a:solidFill>
              <a:prstDash val="solid"/>
              <a:round/>
              <a:headEnd type="none" w="med" len="med"/>
              <a:tailEnd type="stealth" w="med" len="med"/>
            </a:ln>
          </p:spPr>
        </p:cxnSp>
        <p:sp>
          <p:nvSpPr>
            <p:cNvPr id="1894" name="Google Shape;1894;p48"/>
            <p:cNvSpPr/>
            <p:nvPr/>
          </p:nvSpPr>
          <p:spPr>
            <a:xfrm>
              <a:off x="7313425" y="2721775"/>
              <a:ext cx="378900" cy="252000"/>
            </a:xfrm>
            <a:prstGeom prst="rect">
              <a:avLst/>
            </a:prstGeom>
            <a:solidFill>
              <a:schemeClr val="lt2"/>
            </a:solidFill>
            <a:ln w="9525"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r>
                <a:rPr lang="en-GB">
                  <a:solidFill>
                    <a:schemeClr val="accent3"/>
                  </a:solidFill>
                  <a:latin typeface="Lato"/>
                  <a:ea typeface="Lato"/>
                  <a:cs typeface="Lato"/>
                  <a:sym typeface="Lato"/>
                </a:rPr>
                <a:t>R</a:t>
              </a:r>
              <a:endParaRPr>
                <a:solidFill>
                  <a:schemeClr val="accent3"/>
                </a:solidFill>
                <a:latin typeface="Lato"/>
                <a:ea typeface="Lato"/>
                <a:cs typeface="Lato"/>
                <a:sym typeface="Lato"/>
              </a:endParaRPr>
            </a:p>
          </p:txBody>
        </p:sp>
        <p:cxnSp>
          <p:nvCxnSpPr>
            <p:cNvPr id="1895" name="Google Shape;1895;p48"/>
            <p:cNvCxnSpPr>
              <a:stCxn id="1892" idx="1"/>
              <a:endCxn id="1887" idx="3"/>
            </p:cNvCxnSpPr>
            <p:nvPr/>
          </p:nvCxnSpPr>
          <p:spPr>
            <a:xfrm flipH="1">
              <a:off x="6761125" y="3659975"/>
              <a:ext cx="552300" cy="102300"/>
            </a:xfrm>
            <a:prstGeom prst="straightConnector1">
              <a:avLst/>
            </a:prstGeom>
            <a:noFill/>
            <a:ln w="9525" cap="flat" cmpd="sng">
              <a:solidFill>
                <a:schemeClr val="accent3"/>
              </a:solidFill>
              <a:prstDash val="solid"/>
              <a:round/>
              <a:headEnd type="none" w="med" len="med"/>
              <a:tailEnd type="triangle" w="med" len="med"/>
            </a:ln>
          </p:spPr>
        </p:cxnSp>
        <p:sp>
          <p:nvSpPr>
            <p:cNvPr id="1887" name="Google Shape;1887;p48"/>
            <p:cNvSpPr/>
            <p:nvPr/>
          </p:nvSpPr>
          <p:spPr>
            <a:xfrm>
              <a:off x="6340675" y="3636175"/>
              <a:ext cx="420300" cy="252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rtl="0"/>
              <a:r>
                <a:rPr lang="en-GB">
                  <a:latin typeface="Lato"/>
                  <a:ea typeface="Lato"/>
                  <a:cs typeface="Lato"/>
                  <a:sym typeface="Lato"/>
                </a:rPr>
                <a:t>10</a:t>
              </a:r>
              <a:endParaRPr>
                <a:latin typeface="Lato"/>
                <a:ea typeface="Lato"/>
                <a:cs typeface="Lato"/>
                <a:sym typeface="Lato"/>
              </a:endParaRPr>
            </a:p>
          </p:txBody>
        </p:sp>
      </p:grpSp>
      <p:sp>
        <p:nvSpPr>
          <p:cNvPr id="1896" name="Google Shape;1896;p48"/>
          <p:cNvSpPr txBox="1">
            <a:spLocks noGrp="1"/>
          </p:cNvSpPr>
          <p:nvPr>
            <p:ph type="body" idx="1"/>
          </p:nvPr>
        </p:nvSpPr>
        <p:spPr>
          <a:xfrm>
            <a:off x="418000" y="825567"/>
            <a:ext cx="11326400" cy="1077600"/>
          </a:xfrm>
          <a:prstGeom prst="rect">
            <a:avLst/>
          </a:prstGeom>
        </p:spPr>
        <p:txBody>
          <a:bodyPr spcFirstLastPara="1" wrap="square" lIns="91433" tIns="91433" rIns="91433" bIns="91433" anchor="t" anchorCtr="0">
            <a:noAutofit/>
          </a:bodyPr>
          <a:lstStyle/>
          <a:p>
            <a:pPr marL="0" indent="0" rtl="0">
              <a:buNone/>
            </a:pPr>
            <a:r>
              <a:rPr lang="en-GB" sz="2267"/>
              <a:t>Atomic operations guarantee that a single thread can read, modify, and write a value back to memory without the interference of any other threads.</a:t>
            </a:r>
            <a:endParaRPr sz="2267" b="1">
              <a:solidFill>
                <a:schemeClr val="accent4"/>
              </a:solidFill>
            </a:endParaRPr>
          </a:p>
        </p:txBody>
      </p:sp>
      <p:sp>
        <p:nvSpPr>
          <p:cNvPr id="1897" name="Google Shape;1897;p48"/>
          <p:cNvSpPr txBox="1">
            <a:spLocks noGrp="1"/>
          </p:cNvSpPr>
          <p:nvPr>
            <p:ph type="body" idx="1"/>
          </p:nvPr>
        </p:nvSpPr>
        <p:spPr>
          <a:xfrm>
            <a:off x="316400" y="3365567"/>
            <a:ext cx="7874400" cy="1077600"/>
          </a:xfrm>
          <a:prstGeom prst="rect">
            <a:avLst/>
          </a:prstGeom>
        </p:spPr>
        <p:txBody>
          <a:bodyPr spcFirstLastPara="1" wrap="square" lIns="91433" tIns="91433" rIns="91433" bIns="91433" anchor="t" anchorCtr="0">
            <a:noAutofit/>
          </a:bodyPr>
          <a:lstStyle/>
          <a:p>
            <a:pPr marL="0" indent="0" rtl="0">
              <a:buNone/>
            </a:pPr>
            <a:r>
              <a:rPr lang="en-GB" sz="2267" dirty="0"/>
              <a:t>CUDA offers:</a:t>
            </a:r>
            <a:endParaRPr sz="2267" dirty="0"/>
          </a:p>
          <a:p>
            <a:pPr indent="-448722" rtl="0">
              <a:buSzPts val="1700"/>
            </a:pPr>
            <a:r>
              <a:rPr lang="en-GB" sz="2267" dirty="0"/>
              <a:t>Various atomic operations as intrinsics (</a:t>
            </a:r>
            <a:r>
              <a:rPr lang="en-GB" sz="2267" dirty="0" err="1">
                <a:solidFill>
                  <a:srgbClr val="188038"/>
                </a:solidFill>
                <a:latin typeface="Roboto Mono"/>
                <a:ea typeface="Roboto Mono"/>
                <a:cs typeface="Roboto Mono"/>
                <a:sym typeface="Roboto Mono"/>
              </a:rPr>
              <a:t>atomicAdd</a:t>
            </a:r>
            <a:r>
              <a:rPr lang="en-GB" sz="2267" dirty="0"/>
              <a:t>, </a:t>
            </a:r>
            <a:r>
              <a:rPr lang="en-GB" sz="2267" dirty="0" err="1">
                <a:solidFill>
                  <a:srgbClr val="188038"/>
                </a:solidFill>
                <a:latin typeface="Roboto Mono"/>
                <a:ea typeface="Roboto Mono"/>
                <a:cs typeface="Roboto Mono"/>
                <a:sym typeface="Roboto Mono"/>
              </a:rPr>
              <a:t>atomicSub</a:t>
            </a:r>
            <a:r>
              <a:rPr lang="en-GB" sz="2267" dirty="0"/>
              <a:t>, </a:t>
            </a:r>
            <a:r>
              <a:rPr lang="en-GB" sz="2267" dirty="0" err="1">
                <a:solidFill>
                  <a:srgbClr val="188038"/>
                </a:solidFill>
                <a:latin typeface="Roboto Mono"/>
                <a:ea typeface="Roboto Mono"/>
                <a:cs typeface="Roboto Mono"/>
                <a:sym typeface="Roboto Mono"/>
              </a:rPr>
              <a:t>atomicExch</a:t>
            </a:r>
            <a:r>
              <a:rPr lang="en-GB" sz="2267" dirty="0"/>
              <a:t>)</a:t>
            </a:r>
            <a:endParaRPr sz="2267" dirty="0"/>
          </a:p>
          <a:p>
            <a:pPr indent="-448722" rtl="0">
              <a:spcBef>
                <a:spcPts val="0"/>
              </a:spcBef>
              <a:buSzPts val="1700"/>
            </a:pPr>
            <a:r>
              <a:rPr lang="en-GB" sz="2267" dirty="0"/>
              <a:t>Operations to let threads in the same block coordinate execution (</a:t>
            </a:r>
            <a:r>
              <a:rPr lang="en-GB" sz="2267" dirty="0">
                <a:solidFill>
                  <a:srgbClr val="188038"/>
                </a:solidFill>
                <a:latin typeface="Roboto Mono"/>
                <a:ea typeface="Roboto Mono"/>
                <a:cs typeface="Roboto Mono"/>
                <a:sym typeface="Roboto Mono"/>
              </a:rPr>
              <a:t>__</a:t>
            </a:r>
            <a:r>
              <a:rPr lang="en-GB" sz="2267" dirty="0" err="1">
                <a:solidFill>
                  <a:srgbClr val="188038"/>
                </a:solidFill>
                <a:latin typeface="Roboto Mono"/>
                <a:ea typeface="Roboto Mono"/>
                <a:cs typeface="Roboto Mono"/>
                <a:sym typeface="Roboto Mono"/>
              </a:rPr>
              <a:t>syncthreads</a:t>
            </a:r>
            <a:r>
              <a:rPr lang="en-GB" sz="2267" dirty="0">
                <a:solidFill>
                  <a:srgbClr val="188038"/>
                </a:solidFill>
                <a:latin typeface="Roboto Mono"/>
                <a:ea typeface="Roboto Mono"/>
                <a:cs typeface="Roboto Mono"/>
                <a:sym typeface="Roboto Mono"/>
              </a:rPr>
              <a:t>()</a:t>
            </a:r>
            <a:r>
              <a:rPr lang="en-GB" sz="2267" dirty="0"/>
              <a:t>, acts as a barrier)</a:t>
            </a:r>
            <a:endParaRPr sz="2267" dirty="0"/>
          </a:p>
          <a:p>
            <a:pPr marL="0" indent="0" rtl="0">
              <a:buNone/>
            </a:pPr>
            <a:endParaRPr sz="2267" dirty="0"/>
          </a:p>
        </p:txBody>
      </p:sp>
      <p:sp>
        <p:nvSpPr>
          <p:cNvPr id="1898" name="Google Shape;1898;p48"/>
          <p:cNvSpPr txBox="1">
            <a:spLocks noGrp="1"/>
          </p:cNvSpPr>
          <p:nvPr>
            <p:ph type="body" idx="1"/>
          </p:nvPr>
        </p:nvSpPr>
        <p:spPr>
          <a:xfrm>
            <a:off x="316400" y="5499167"/>
            <a:ext cx="7874400" cy="1077600"/>
          </a:xfrm>
          <a:prstGeom prst="rect">
            <a:avLst/>
          </a:prstGeom>
        </p:spPr>
        <p:txBody>
          <a:bodyPr spcFirstLastPara="1" wrap="square" lIns="91433" tIns="91433" rIns="91433" bIns="91433" anchor="t" anchorCtr="0">
            <a:noAutofit/>
          </a:bodyPr>
          <a:lstStyle/>
          <a:p>
            <a:pPr marL="0" indent="0" rtl="0">
              <a:buNone/>
            </a:pPr>
            <a:r>
              <a:rPr lang="en-GB" sz="2267"/>
              <a:t>We will discuss them more, but in the meanwhile a useful preview</a:t>
            </a:r>
            <a:endParaRPr sz="2267"/>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6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6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7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7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9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8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97">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97">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97">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8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53E0E-9F8B-0A41-E45A-8BEA4C975D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08D434-A3C7-9AAF-3000-4493AA6F437E}"/>
              </a:ext>
            </a:extLst>
          </p:cNvPr>
          <p:cNvSpPr>
            <a:spLocks noGrp="1"/>
          </p:cNvSpPr>
          <p:nvPr>
            <p:ph type="title"/>
          </p:nvPr>
        </p:nvSpPr>
        <p:spPr>
          <a:xfrm>
            <a:off x="698499" y="729741"/>
            <a:ext cx="10795000" cy="451342"/>
          </a:xfrm>
        </p:spPr>
        <p:txBody>
          <a:bodyPr/>
          <a:lstStyle/>
          <a:p>
            <a:r>
              <a:rPr lang="en-NL" sz="2933" cap="small" dirty="0">
                <a:solidFill>
                  <a:schemeClr val="dk2"/>
                </a:solidFill>
              </a:rPr>
              <a:t>Thread Divergence</a:t>
            </a:r>
          </a:p>
        </p:txBody>
      </p:sp>
      <p:sp>
        <p:nvSpPr>
          <p:cNvPr id="7" name="object 3">
            <a:extLst>
              <a:ext uri="{FF2B5EF4-FFF2-40B4-BE49-F238E27FC236}">
                <a16:creationId xmlns:a16="http://schemas.microsoft.com/office/drawing/2014/main" id="{09F45FB0-B498-B18B-B8FA-34E340C2887E}"/>
              </a:ext>
            </a:extLst>
          </p:cNvPr>
          <p:cNvSpPr txBox="1"/>
          <p:nvPr/>
        </p:nvSpPr>
        <p:spPr>
          <a:xfrm>
            <a:off x="533400" y="1685574"/>
            <a:ext cx="9525000" cy="2809744"/>
          </a:xfrm>
          <a:prstGeom prst="rect">
            <a:avLst/>
          </a:prstGeom>
        </p:spPr>
        <p:txBody>
          <a:bodyPr vert="horz" wrap="square" lIns="0" tIns="54610" rIns="0" bIns="0" rtlCol="0">
            <a:spAutoFit/>
          </a:bodyPr>
          <a:lstStyle/>
          <a:p>
            <a:pPr marL="355600" indent="-342900">
              <a:spcBef>
                <a:spcPts val="530"/>
              </a:spcBef>
              <a:buClr>
                <a:srgbClr val="4F80BC"/>
              </a:buClr>
              <a:buSzPct val="84090"/>
              <a:buFont typeface="Arial" panose="020B0604020202020204" pitchFamily="34" charset="0"/>
              <a:buChar char="•"/>
              <a:tabLst>
                <a:tab pos="194945" algn="l"/>
              </a:tabLst>
            </a:pPr>
            <a:r>
              <a:rPr lang="en-GB" sz="2200" dirty="0">
                <a:latin typeface="Arial"/>
                <a:cs typeface="Arial"/>
              </a:rPr>
              <a:t>Through conditional branches, there can be control-flow divergence.</a:t>
            </a:r>
          </a:p>
          <a:p>
            <a:pPr marL="355600" indent="-342900">
              <a:spcBef>
                <a:spcPts val="530"/>
              </a:spcBef>
              <a:buClr>
                <a:srgbClr val="4F80BC"/>
              </a:buClr>
              <a:buSzPct val="84090"/>
              <a:buFont typeface="Arial" panose="020B0604020202020204" pitchFamily="34" charset="0"/>
              <a:buChar char="•"/>
              <a:tabLst>
                <a:tab pos="194945" algn="l"/>
              </a:tabLst>
            </a:pPr>
            <a:endParaRPr lang="en-GB" sz="2200" dirty="0">
              <a:latin typeface="Arial"/>
              <a:cs typeface="Arial"/>
            </a:endParaRPr>
          </a:p>
          <a:p>
            <a:pPr marL="355600" indent="-342900">
              <a:spcBef>
                <a:spcPts val="530"/>
              </a:spcBef>
              <a:buClr>
                <a:srgbClr val="4F80BC"/>
              </a:buClr>
              <a:buSzPct val="84090"/>
              <a:buFont typeface="Arial" panose="020B0604020202020204" pitchFamily="34" charset="0"/>
              <a:buChar char="•"/>
              <a:tabLst>
                <a:tab pos="194945" algn="l"/>
              </a:tabLst>
            </a:pPr>
            <a:r>
              <a:rPr lang="en-GB" sz="2200" dirty="0">
                <a:latin typeface="Arial"/>
                <a:cs typeface="Arial"/>
              </a:rPr>
              <a:t>This adds heavy latency and should be avoided</a:t>
            </a:r>
          </a:p>
          <a:p>
            <a:pPr marL="355600" indent="-342900">
              <a:spcBef>
                <a:spcPts val="530"/>
              </a:spcBef>
              <a:buClr>
                <a:srgbClr val="4F80BC"/>
              </a:buClr>
              <a:buSzPct val="84090"/>
              <a:buFont typeface="Arial" panose="020B0604020202020204" pitchFamily="34" charset="0"/>
              <a:buChar char="•"/>
              <a:tabLst>
                <a:tab pos="194945" algn="l"/>
              </a:tabLst>
            </a:pPr>
            <a:endParaRPr lang="en-GB" sz="2200" dirty="0">
              <a:latin typeface="Arial"/>
              <a:cs typeface="Arial"/>
            </a:endParaRPr>
          </a:p>
          <a:p>
            <a:pPr marL="355600" indent="-342900">
              <a:spcBef>
                <a:spcPts val="530"/>
              </a:spcBef>
              <a:buClr>
                <a:srgbClr val="4F80BC"/>
              </a:buClr>
              <a:buSzPct val="84090"/>
              <a:buFont typeface="Arial" panose="020B0604020202020204" pitchFamily="34" charset="0"/>
              <a:buChar char="•"/>
              <a:tabLst>
                <a:tab pos="194945" algn="l"/>
              </a:tabLst>
            </a:pPr>
            <a:r>
              <a:rPr lang="en-GB" sz="2200" dirty="0">
                <a:latin typeface="Arial"/>
                <a:cs typeface="Arial"/>
              </a:rPr>
              <a:t>Remember:  All threads in a warp execute same instruction</a:t>
            </a:r>
          </a:p>
          <a:p>
            <a:pPr marL="355600" indent="-342900">
              <a:spcBef>
                <a:spcPts val="530"/>
              </a:spcBef>
              <a:buClr>
                <a:srgbClr val="4F80BC"/>
              </a:buClr>
              <a:buSzPct val="84090"/>
              <a:buFont typeface="Arial" panose="020B0604020202020204" pitchFamily="34" charset="0"/>
              <a:buChar char="•"/>
              <a:tabLst>
                <a:tab pos="194945" algn="l"/>
              </a:tabLst>
            </a:pPr>
            <a:endParaRPr lang="en-GB" sz="2200" dirty="0">
              <a:latin typeface="Arial"/>
              <a:cs typeface="Arial"/>
            </a:endParaRPr>
          </a:p>
          <a:p>
            <a:pPr marL="355600" indent="-342900">
              <a:spcBef>
                <a:spcPts val="530"/>
              </a:spcBef>
              <a:buClr>
                <a:srgbClr val="4F80BC"/>
              </a:buClr>
              <a:buSzPct val="84090"/>
              <a:buFont typeface="Arial" panose="020B0604020202020204" pitchFamily="34" charset="0"/>
              <a:buChar char="•"/>
              <a:tabLst>
                <a:tab pos="194945" algn="l"/>
              </a:tabLst>
            </a:pPr>
            <a:endParaRPr lang="en-GB" sz="2200" dirty="0">
              <a:latin typeface="Arial"/>
              <a:cs typeface="Arial"/>
            </a:endParaRPr>
          </a:p>
        </p:txBody>
      </p:sp>
    </p:spTree>
    <p:extLst>
      <p:ext uri="{BB962C8B-B14F-4D97-AF65-F5344CB8AC3E}">
        <p14:creationId xmlns:p14="http://schemas.microsoft.com/office/powerpoint/2010/main" val="26543364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5668D-05DA-381F-AA29-6C3EB9B74A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958080-1630-E235-17CD-23BD49C70A8D}"/>
              </a:ext>
            </a:extLst>
          </p:cNvPr>
          <p:cNvSpPr>
            <a:spLocks noGrp="1"/>
          </p:cNvSpPr>
          <p:nvPr>
            <p:ph type="title"/>
          </p:nvPr>
        </p:nvSpPr>
        <p:spPr>
          <a:xfrm>
            <a:off x="698499" y="729741"/>
            <a:ext cx="10795000" cy="451342"/>
          </a:xfrm>
        </p:spPr>
        <p:txBody>
          <a:bodyPr/>
          <a:lstStyle/>
          <a:p>
            <a:r>
              <a:rPr lang="en-NL" sz="2933" cap="small" dirty="0">
                <a:solidFill>
                  <a:schemeClr val="dk2"/>
                </a:solidFill>
              </a:rPr>
              <a:t>Thread Divergence</a:t>
            </a:r>
          </a:p>
        </p:txBody>
      </p:sp>
      <p:sp>
        <p:nvSpPr>
          <p:cNvPr id="4" name="object 3">
            <a:extLst>
              <a:ext uri="{FF2B5EF4-FFF2-40B4-BE49-F238E27FC236}">
                <a16:creationId xmlns:a16="http://schemas.microsoft.com/office/drawing/2014/main" id="{E5B76CE3-4A28-5811-273D-0F46F139C304}"/>
              </a:ext>
            </a:extLst>
          </p:cNvPr>
          <p:cNvSpPr txBox="1"/>
          <p:nvPr/>
        </p:nvSpPr>
        <p:spPr>
          <a:xfrm>
            <a:off x="1219200" y="1828800"/>
            <a:ext cx="4036061" cy="3428503"/>
          </a:xfrm>
          <a:prstGeom prst="rect">
            <a:avLst/>
          </a:prstGeom>
        </p:spPr>
        <p:txBody>
          <a:bodyPr vert="horz" wrap="square" lIns="0" tIns="12065" rIns="0" bIns="0" rtlCol="0">
            <a:spAutoFit/>
          </a:bodyPr>
          <a:lstStyle/>
          <a:p>
            <a:pPr marL="621665" marR="5080" indent="-609600">
              <a:lnSpc>
                <a:spcPct val="120100"/>
              </a:lnSpc>
              <a:spcBef>
                <a:spcPts val="95"/>
              </a:spcBef>
              <a:tabLst>
                <a:tab pos="774700" algn="l"/>
                <a:tab pos="1840864" algn="l"/>
                <a:tab pos="2602865" algn="l"/>
                <a:tab pos="3060700" algn="l"/>
                <a:tab pos="3365500" algn="l"/>
                <a:tab pos="3517900" algn="l"/>
                <a:tab pos="4127500" algn="l"/>
                <a:tab pos="4584700" algn="l"/>
                <a:tab pos="5041900" algn="l"/>
                <a:tab pos="6108700" algn="l"/>
                <a:tab pos="6565900" algn="l"/>
                <a:tab pos="7632700" algn="l"/>
                <a:tab pos="8089900" algn="l"/>
              </a:tabLst>
            </a:pPr>
            <a:r>
              <a:rPr sz="2000" b="1" spc="-20" dirty="0">
                <a:latin typeface="Courier New" panose="02070309020205020404" pitchFamily="49" charset="0"/>
                <a:ea typeface="Menlo" panose="020B0609030804020204" pitchFamily="49" charset="0"/>
                <a:cs typeface="Courier New" panose="02070309020205020404" pitchFamily="49" charset="0"/>
              </a:rPr>
              <a:t>void</a:t>
            </a:r>
            <a:r>
              <a:rPr sz="2000" b="1" dirty="0">
                <a:latin typeface="Courier New" panose="02070309020205020404" pitchFamily="49" charset="0"/>
                <a:ea typeface="Menlo" panose="020B0609030804020204" pitchFamily="49" charset="0"/>
                <a:cs typeface="Courier New" panose="02070309020205020404" pitchFamily="49" charset="0"/>
              </a:rPr>
              <a:t>	</a:t>
            </a:r>
            <a:r>
              <a:rPr lang="en-US" sz="2000" b="1" spc="-10" dirty="0">
                <a:latin typeface="Courier New" panose="02070309020205020404" pitchFamily="49" charset="0"/>
                <a:ea typeface="Menlo" panose="020B0609030804020204" pitchFamily="49" charset="0"/>
                <a:cs typeface="Courier New" panose="02070309020205020404" pitchFamily="49" charset="0"/>
              </a:rPr>
              <a:t> kernel</a:t>
            </a:r>
            <a:r>
              <a:rPr sz="2000" b="1" spc="-10" dirty="0">
                <a:latin typeface="Courier New" panose="02070309020205020404" pitchFamily="49" charset="0"/>
                <a:ea typeface="Menlo" panose="020B0609030804020204" pitchFamily="49" charset="0"/>
                <a:cs typeface="Courier New" panose="02070309020205020404" pitchFamily="49" charset="0"/>
              </a:rPr>
              <a:t>(</a:t>
            </a:r>
            <a:r>
              <a:rPr lang="en-US" sz="2000" b="1" spc="-10" dirty="0">
                <a:latin typeface="Courier New" panose="02070309020205020404" pitchFamily="49" charset="0"/>
                <a:ea typeface="Menlo" panose="020B0609030804020204" pitchFamily="49" charset="0"/>
                <a:cs typeface="Courier New" panose="02070309020205020404" pitchFamily="49" charset="0"/>
              </a:rPr>
              <a:t>int *x</a:t>
            </a:r>
            <a:r>
              <a:rPr sz="2000" b="1" spc="-25" dirty="0">
                <a:latin typeface="Courier New" panose="02070309020205020404" pitchFamily="49" charset="0"/>
                <a:ea typeface="Menlo" panose="020B0609030804020204" pitchFamily="49" charset="0"/>
                <a:cs typeface="Courier New" panose="02070309020205020404" pitchFamily="49" charset="0"/>
              </a:rPr>
              <a:t>)</a:t>
            </a:r>
            <a:r>
              <a:rPr sz="2000" b="1" dirty="0">
                <a:latin typeface="Courier New" panose="02070309020205020404" pitchFamily="49" charset="0"/>
                <a:ea typeface="Menlo" panose="020B0609030804020204" pitchFamily="49" charset="0"/>
                <a:cs typeface="Courier New" panose="02070309020205020404" pitchFamily="49" charset="0"/>
              </a:rPr>
              <a:t>	</a:t>
            </a:r>
            <a:endParaRPr lang="en-US" sz="2000" b="1" dirty="0">
              <a:latin typeface="Courier New" panose="02070309020205020404" pitchFamily="49" charset="0"/>
              <a:ea typeface="Menlo" panose="020B0609030804020204" pitchFamily="49" charset="0"/>
              <a:cs typeface="Courier New" panose="02070309020205020404" pitchFamily="49" charset="0"/>
            </a:endParaRPr>
          </a:p>
          <a:p>
            <a:pPr marL="621665" marR="5080" indent="-609600">
              <a:lnSpc>
                <a:spcPct val="120100"/>
              </a:lnSpc>
              <a:spcBef>
                <a:spcPts val="95"/>
              </a:spcBef>
              <a:tabLst>
                <a:tab pos="774700" algn="l"/>
                <a:tab pos="1840864" algn="l"/>
                <a:tab pos="2602865" algn="l"/>
                <a:tab pos="3060700" algn="l"/>
                <a:tab pos="3365500" algn="l"/>
                <a:tab pos="3517900" algn="l"/>
                <a:tab pos="4127500" algn="l"/>
                <a:tab pos="4584700" algn="l"/>
                <a:tab pos="5041900" algn="l"/>
                <a:tab pos="6108700" algn="l"/>
                <a:tab pos="6565900" algn="l"/>
                <a:tab pos="7632700" algn="l"/>
                <a:tab pos="8089900" algn="l"/>
              </a:tabLst>
            </a:pPr>
            <a:r>
              <a:rPr sz="2000" b="1" spc="-50" dirty="0">
                <a:latin typeface="Courier New" panose="02070309020205020404" pitchFamily="49" charset="0"/>
                <a:ea typeface="Menlo" panose="020B0609030804020204" pitchFamily="49" charset="0"/>
                <a:cs typeface="Courier New" panose="02070309020205020404" pitchFamily="49" charset="0"/>
              </a:rPr>
              <a:t>{</a:t>
            </a:r>
            <a:endParaRPr lang="en-US" sz="2000" b="1" spc="-50" dirty="0">
              <a:latin typeface="Courier New" panose="02070309020205020404" pitchFamily="49" charset="0"/>
              <a:ea typeface="Menlo" panose="020B0609030804020204" pitchFamily="49" charset="0"/>
              <a:cs typeface="Courier New" panose="02070309020205020404" pitchFamily="49" charset="0"/>
            </a:endParaRPr>
          </a:p>
          <a:p>
            <a:pPr marL="621665" marR="5080" indent="-609600">
              <a:lnSpc>
                <a:spcPct val="120100"/>
              </a:lnSpc>
              <a:spcBef>
                <a:spcPts val="95"/>
              </a:spcBef>
              <a:tabLst>
                <a:tab pos="774700" algn="l"/>
                <a:tab pos="1840864" algn="l"/>
                <a:tab pos="2602865" algn="l"/>
                <a:tab pos="3060700" algn="l"/>
                <a:tab pos="3365500" algn="l"/>
                <a:tab pos="3517900" algn="l"/>
                <a:tab pos="4127500" algn="l"/>
                <a:tab pos="4584700" algn="l"/>
                <a:tab pos="5041900" algn="l"/>
                <a:tab pos="6108700" algn="l"/>
                <a:tab pos="6565900" algn="l"/>
                <a:tab pos="7632700" algn="l"/>
                <a:tab pos="8089900" algn="l"/>
              </a:tabLst>
            </a:pPr>
            <a:r>
              <a:rPr lang="en-NL" sz="2000" b="1" spc="-50" dirty="0">
                <a:latin typeface="Courier New" panose="02070309020205020404" pitchFamily="49" charset="0"/>
                <a:ea typeface="Menlo" panose="020B0609030804020204" pitchFamily="49" charset="0"/>
                <a:cs typeface="Courier New" panose="02070309020205020404" pitchFamily="49" charset="0"/>
              </a:rPr>
              <a:t>	</a:t>
            </a:r>
            <a:r>
              <a:rPr lang="en-GB" sz="2000" b="1" spc="-50" dirty="0">
                <a:latin typeface="Courier New" panose="02070309020205020404" pitchFamily="49" charset="0"/>
                <a:ea typeface="Menlo" panose="020B0609030804020204" pitchFamily="49" charset="0"/>
                <a:cs typeface="Courier New" panose="02070309020205020404" pitchFamily="49" charset="0"/>
              </a:rPr>
              <a:t>i</a:t>
            </a:r>
            <a:r>
              <a:rPr lang="en-NL" sz="2000" b="1" spc="-50" dirty="0">
                <a:latin typeface="Courier New" panose="02070309020205020404" pitchFamily="49" charset="0"/>
                <a:ea typeface="Menlo" panose="020B0609030804020204" pitchFamily="49" charset="0"/>
                <a:cs typeface="Courier New" panose="02070309020205020404" pitchFamily="49" charset="0"/>
              </a:rPr>
              <a:t> = int threadIdx.x;</a:t>
            </a:r>
          </a:p>
          <a:p>
            <a:pPr marL="621665" marR="5080" indent="-609600">
              <a:lnSpc>
                <a:spcPct val="120100"/>
              </a:lnSpc>
              <a:spcBef>
                <a:spcPts val="95"/>
              </a:spcBef>
              <a:tabLst>
                <a:tab pos="774700" algn="l"/>
                <a:tab pos="1840864" algn="l"/>
                <a:tab pos="2602865" algn="l"/>
                <a:tab pos="3060700" algn="l"/>
                <a:tab pos="3365500" algn="l"/>
                <a:tab pos="3517900" algn="l"/>
                <a:tab pos="4127500" algn="l"/>
                <a:tab pos="4584700" algn="l"/>
                <a:tab pos="5041900" algn="l"/>
                <a:tab pos="6108700" algn="l"/>
                <a:tab pos="6565900" algn="l"/>
                <a:tab pos="7632700" algn="l"/>
                <a:tab pos="8089900" algn="l"/>
              </a:tabLst>
            </a:pPr>
            <a:r>
              <a:rPr lang="en-GB" sz="2000" b="1" spc="-50" dirty="0">
                <a:latin typeface="Courier New" panose="02070309020205020404" pitchFamily="49" charset="0"/>
                <a:ea typeface="Menlo" panose="020B0609030804020204" pitchFamily="49" charset="0"/>
                <a:cs typeface="Courier New" panose="02070309020205020404" pitchFamily="49" charset="0"/>
              </a:rPr>
              <a:t>	i</a:t>
            </a:r>
            <a:r>
              <a:rPr lang="en-NL" sz="2000" b="1" spc="-50" dirty="0">
                <a:latin typeface="Courier New" panose="02070309020205020404" pitchFamily="49" charset="0"/>
                <a:ea typeface="Menlo" panose="020B0609030804020204" pitchFamily="49" charset="0"/>
                <a:cs typeface="Courier New" panose="02070309020205020404" pitchFamily="49" charset="0"/>
              </a:rPr>
              <a:t>f(i%2 == 0) </a:t>
            </a:r>
            <a:r>
              <a:rPr sz="2000" b="1" spc="-50" dirty="0">
                <a:latin typeface="Courier New" panose="02070309020205020404" pitchFamily="49" charset="0"/>
                <a:ea typeface="Menlo" panose="020B0609030804020204" pitchFamily="49" charset="0"/>
                <a:cs typeface="Courier New" panose="02070309020205020404" pitchFamily="49" charset="0"/>
              </a:rPr>
              <a:t> </a:t>
            </a:r>
            <a:endParaRPr lang="en-US" sz="2000" b="1" spc="-50" dirty="0">
              <a:latin typeface="Courier New" panose="02070309020205020404" pitchFamily="49" charset="0"/>
              <a:ea typeface="Menlo" panose="020B0609030804020204" pitchFamily="49" charset="0"/>
              <a:cs typeface="Courier New" panose="02070309020205020404" pitchFamily="49" charset="0"/>
            </a:endParaRPr>
          </a:p>
          <a:p>
            <a:pPr marL="621665" marR="5080" indent="-609600">
              <a:lnSpc>
                <a:spcPct val="120100"/>
              </a:lnSpc>
              <a:spcBef>
                <a:spcPts val="95"/>
              </a:spcBef>
              <a:tabLst>
                <a:tab pos="774700" algn="l"/>
                <a:tab pos="1840864" algn="l"/>
                <a:tab pos="2602865" algn="l"/>
                <a:tab pos="3060700" algn="l"/>
                <a:tab pos="3365500" algn="l"/>
                <a:tab pos="3517900" algn="l"/>
                <a:tab pos="4127500" algn="l"/>
                <a:tab pos="4584700" algn="l"/>
                <a:tab pos="5041900" algn="l"/>
                <a:tab pos="6108700" algn="l"/>
                <a:tab pos="6565900" algn="l"/>
                <a:tab pos="7632700" algn="l"/>
                <a:tab pos="8089900" algn="l"/>
              </a:tabLst>
            </a:pPr>
            <a:r>
              <a:rPr lang="en-NL" sz="2000" b="1" spc="-50" dirty="0">
                <a:latin typeface="Courier New" panose="02070309020205020404" pitchFamily="49" charset="0"/>
                <a:ea typeface="Menlo" panose="020B0609030804020204" pitchFamily="49" charset="0"/>
                <a:cs typeface="Courier New" panose="02070309020205020404" pitchFamily="49" charset="0"/>
              </a:rPr>
              <a:t>		  </a:t>
            </a:r>
            <a:r>
              <a:rPr lang="en-US" sz="2000" b="1" spc="-50" dirty="0">
                <a:latin typeface="Courier New" panose="02070309020205020404" pitchFamily="49" charset="0"/>
                <a:ea typeface="Menlo" panose="020B0609030804020204" pitchFamily="49" charset="0"/>
                <a:cs typeface="Courier New" panose="02070309020205020404" pitchFamily="49" charset="0"/>
              </a:rPr>
              <a:t>x[</a:t>
            </a:r>
            <a:r>
              <a:rPr lang="en-US" sz="2000" b="1" spc="-50" dirty="0" err="1">
                <a:latin typeface="Courier New" panose="02070309020205020404" pitchFamily="49" charset="0"/>
                <a:ea typeface="Menlo" panose="020B0609030804020204" pitchFamily="49" charset="0"/>
                <a:cs typeface="Courier New" panose="02070309020205020404" pitchFamily="49" charset="0"/>
              </a:rPr>
              <a:t>i</a:t>
            </a:r>
            <a:r>
              <a:rPr lang="en-US" sz="2000" b="1" spc="-50" dirty="0">
                <a:latin typeface="Courier New" panose="02070309020205020404" pitchFamily="49" charset="0"/>
                <a:ea typeface="Menlo" panose="020B0609030804020204" pitchFamily="49" charset="0"/>
                <a:cs typeface="Courier New" panose="02070309020205020404" pitchFamily="49" charset="0"/>
              </a:rPr>
              <a:t>] = 5;</a:t>
            </a:r>
          </a:p>
          <a:p>
            <a:pPr marL="621665" marR="5080" indent="-609600">
              <a:lnSpc>
                <a:spcPct val="120100"/>
              </a:lnSpc>
              <a:spcBef>
                <a:spcPts val="95"/>
              </a:spcBef>
              <a:tabLst>
                <a:tab pos="774700" algn="l"/>
                <a:tab pos="1840864" algn="l"/>
                <a:tab pos="2602865" algn="l"/>
                <a:tab pos="3060700" algn="l"/>
                <a:tab pos="3365500" algn="l"/>
                <a:tab pos="3517900" algn="l"/>
                <a:tab pos="4127500" algn="l"/>
                <a:tab pos="4584700" algn="l"/>
                <a:tab pos="5041900" algn="l"/>
                <a:tab pos="6108700" algn="l"/>
                <a:tab pos="6565900" algn="l"/>
                <a:tab pos="7632700" algn="l"/>
                <a:tab pos="8089900" algn="l"/>
              </a:tabLst>
            </a:pPr>
            <a:r>
              <a:rPr lang="en-US" sz="2000" b="1" spc="-50" dirty="0">
                <a:latin typeface="Courier New" panose="02070309020205020404" pitchFamily="49" charset="0"/>
                <a:ea typeface="Menlo" panose="020B0609030804020204" pitchFamily="49" charset="0"/>
                <a:cs typeface="Courier New" panose="02070309020205020404" pitchFamily="49" charset="0"/>
              </a:rPr>
              <a:t>	else</a:t>
            </a:r>
          </a:p>
          <a:p>
            <a:pPr marL="621665" marR="5080" indent="-609600">
              <a:lnSpc>
                <a:spcPct val="120100"/>
              </a:lnSpc>
              <a:spcBef>
                <a:spcPts val="95"/>
              </a:spcBef>
              <a:tabLst>
                <a:tab pos="774700" algn="l"/>
                <a:tab pos="1840864" algn="l"/>
                <a:tab pos="2602865" algn="l"/>
                <a:tab pos="3060700" algn="l"/>
                <a:tab pos="3365500" algn="l"/>
                <a:tab pos="3517900" algn="l"/>
                <a:tab pos="4127500" algn="l"/>
                <a:tab pos="4584700" algn="l"/>
                <a:tab pos="5041900" algn="l"/>
                <a:tab pos="6108700" algn="l"/>
                <a:tab pos="6565900" algn="l"/>
                <a:tab pos="7632700" algn="l"/>
                <a:tab pos="8089900" algn="l"/>
              </a:tabLst>
            </a:pPr>
            <a:r>
              <a:rPr lang="en-US" sz="2000" b="1" spc="-50" dirty="0">
                <a:latin typeface="Courier New" panose="02070309020205020404" pitchFamily="49" charset="0"/>
                <a:ea typeface="Menlo" panose="020B0609030804020204" pitchFamily="49" charset="0"/>
                <a:cs typeface="Courier New" panose="02070309020205020404" pitchFamily="49" charset="0"/>
              </a:rPr>
              <a:t>	   </a:t>
            </a:r>
            <a:r>
              <a:rPr lang="en-GB" sz="2000" b="1" spc="-50" dirty="0">
                <a:latin typeface="Courier New" panose="02070309020205020404" pitchFamily="49" charset="0"/>
                <a:ea typeface="Menlo" panose="020B0609030804020204" pitchFamily="49" charset="0"/>
                <a:cs typeface="Courier New" panose="02070309020205020404" pitchFamily="49" charset="0"/>
              </a:rPr>
              <a:t>x[</a:t>
            </a:r>
            <a:r>
              <a:rPr lang="en-GB" sz="2000" b="1" spc="-50" dirty="0" err="1">
                <a:latin typeface="Courier New" panose="02070309020205020404" pitchFamily="49" charset="0"/>
                <a:ea typeface="Menlo" panose="020B0609030804020204" pitchFamily="49" charset="0"/>
                <a:cs typeface="Courier New" panose="02070309020205020404" pitchFamily="49" charset="0"/>
              </a:rPr>
              <a:t>i</a:t>
            </a:r>
            <a:r>
              <a:rPr lang="en-GB" sz="2000" b="1" spc="-50" dirty="0">
                <a:latin typeface="Courier New" panose="02070309020205020404" pitchFamily="49" charset="0"/>
                <a:ea typeface="Menlo" panose="020B0609030804020204" pitchFamily="49" charset="0"/>
                <a:cs typeface="Courier New" panose="02070309020205020404" pitchFamily="49" charset="0"/>
              </a:rPr>
              <a:t>] = 10;</a:t>
            </a:r>
          </a:p>
          <a:p>
            <a:pPr marL="621665" marR="5080" indent="-609600">
              <a:lnSpc>
                <a:spcPct val="120100"/>
              </a:lnSpc>
              <a:spcBef>
                <a:spcPts val="95"/>
              </a:spcBef>
              <a:tabLst>
                <a:tab pos="774700" algn="l"/>
                <a:tab pos="1840864" algn="l"/>
                <a:tab pos="2602865" algn="l"/>
                <a:tab pos="3060700" algn="l"/>
                <a:tab pos="3365500" algn="l"/>
                <a:tab pos="3517900" algn="l"/>
                <a:tab pos="4127500" algn="l"/>
                <a:tab pos="4584700" algn="l"/>
                <a:tab pos="5041900" algn="l"/>
                <a:tab pos="6108700" algn="l"/>
                <a:tab pos="6565900" algn="l"/>
                <a:tab pos="7632700" algn="l"/>
                <a:tab pos="8089900" algn="l"/>
              </a:tabLst>
            </a:pPr>
            <a:endParaRPr lang="en-US" sz="2000" b="1" spc="-50" dirty="0">
              <a:latin typeface="Courier New" panose="02070309020205020404" pitchFamily="49" charset="0"/>
              <a:ea typeface="Menlo" panose="020B0609030804020204" pitchFamily="49" charset="0"/>
              <a:cs typeface="Courier New" panose="02070309020205020404" pitchFamily="49" charset="0"/>
            </a:endParaRPr>
          </a:p>
          <a:p>
            <a:pPr marL="12700">
              <a:spcBef>
                <a:spcPts val="480"/>
              </a:spcBef>
            </a:pPr>
            <a:r>
              <a:rPr sz="2000" b="1" spc="-50" dirty="0">
                <a:latin typeface="Courier New" panose="02070309020205020404" pitchFamily="49" charset="0"/>
                <a:ea typeface="Menlo" panose="020B0609030804020204" pitchFamily="49" charset="0"/>
                <a:cs typeface="Courier New" panose="02070309020205020404" pitchFamily="49" charset="0"/>
              </a:rPr>
              <a:t>}</a:t>
            </a:r>
            <a:endParaRPr sz="2000" b="1" dirty="0">
              <a:latin typeface="Courier New" panose="02070309020205020404" pitchFamily="49" charset="0"/>
              <a:ea typeface="Menlo" panose="020B0609030804020204" pitchFamily="49" charset="0"/>
              <a:cs typeface="Courier New" panose="02070309020205020404" pitchFamily="49" charset="0"/>
            </a:endParaRPr>
          </a:p>
        </p:txBody>
      </p:sp>
    </p:spTree>
    <p:extLst>
      <p:ext uri="{BB962C8B-B14F-4D97-AF65-F5344CB8AC3E}">
        <p14:creationId xmlns:p14="http://schemas.microsoft.com/office/powerpoint/2010/main" val="24005002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1165D-FE8C-929F-D81D-B0D7225EE3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039968-080B-BC68-BC02-118EB61E39E5}"/>
              </a:ext>
            </a:extLst>
          </p:cNvPr>
          <p:cNvSpPr>
            <a:spLocks noGrp="1"/>
          </p:cNvSpPr>
          <p:nvPr>
            <p:ph type="title"/>
          </p:nvPr>
        </p:nvSpPr>
        <p:spPr>
          <a:xfrm>
            <a:off x="698499" y="729741"/>
            <a:ext cx="10795000" cy="451342"/>
          </a:xfrm>
        </p:spPr>
        <p:txBody>
          <a:bodyPr/>
          <a:lstStyle/>
          <a:p>
            <a:r>
              <a:rPr lang="en-NL" sz="2933" cap="small" dirty="0">
                <a:solidFill>
                  <a:schemeClr val="dk2"/>
                </a:solidFill>
              </a:rPr>
              <a:t>Thread Divergence</a:t>
            </a:r>
          </a:p>
        </p:txBody>
      </p:sp>
      <p:pic>
        <p:nvPicPr>
          <p:cNvPr id="3" name="Picture 2">
            <a:extLst>
              <a:ext uri="{FF2B5EF4-FFF2-40B4-BE49-F238E27FC236}">
                <a16:creationId xmlns:a16="http://schemas.microsoft.com/office/drawing/2014/main" id="{071DB27A-0C40-A89C-53D3-B9379744E2E9}"/>
              </a:ext>
            </a:extLst>
          </p:cNvPr>
          <p:cNvPicPr>
            <a:picLocks noChangeAspect="1"/>
          </p:cNvPicPr>
          <p:nvPr/>
        </p:nvPicPr>
        <p:blipFill>
          <a:blip r:embed="rId3"/>
          <a:stretch>
            <a:fillRect/>
          </a:stretch>
        </p:blipFill>
        <p:spPr>
          <a:xfrm>
            <a:off x="838200" y="1447800"/>
            <a:ext cx="11049001" cy="4936787"/>
          </a:xfrm>
          <a:prstGeom prst="rect">
            <a:avLst/>
          </a:prstGeom>
        </p:spPr>
      </p:pic>
    </p:spTree>
    <p:extLst>
      <p:ext uri="{BB962C8B-B14F-4D97-AF65-F5344CB8AC3E}">
        <p14:creationId xmlns:p14="http://schemas.microsoft.com/office/powerpoint/2010/main" val="42816088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48555-B15D-2E09-CFE6-377FA8D141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1AA479-3713-0FA3-EE49-75AA446F583C}"/>
              </a:ext>
            </a:extLst>
          </p:cNvPr>
          <p:cNvSpPr>
            <a:spLocks noGrp="1"/>
          </p:cNvSpPr>
          <p:nvPr>
            <p:ph type="title"/>
          </p:nvPr>
        </p:nvSpPr>
        <p:spPr>
          <a:xfrm>
            <a:off x="698499" y="729741"/>
            <a:ext cx="10795000" cy="451342"/>
          </a:xfrm>
        </p:spPr>
        <p:txBody>
          <a:bodyPr/>
          <a:lstStyle/>
          <a:p>
            <a:r>
              <a:rPr lang="en-NL" sz="2933" cap="small" dirty="0">
                <a:solidFill>
                  <a:schemeClr val="dk2"/>
                </a:solidFill>
              </a:rPr>
              <a:t>Divergence can cause deadlocks</a:t>
            </a:r>
          </a:p>
        </p:txBody>
      </p:sp>
      <p:sp>
        <p:nvSpPr>
          <p:cNvPr id="4" name="object 3">
            <a:extLst>
              <a:ext uri="{FF2B5EF4-FFF2-40B4-BE49-F238E27FC236}">
                <a16:creationId xmlns:a16="http://schemas.microsoft.com/office/drawing/2014/main" id="{D2F5AEF3-587B-1FFE-5A37-DE1E197DD7E0}"/>
              </a:ext>
            </a:extLst>
          </p:cNvPr>
          <p:cNvSpPr txBox="1"/>
          <p:nvPr/>
        </p:nvSpPr>
        <p:spPr>
          <a:xfrm>
            <a:off x="1219200" y="1828800"/>
            <a:ext cx="5486400" cy="3428503"/>
          </a:xfrm>
          <a:prstGeom prst="rect">
            <a:avLst/>
          </a:prstGeom>
        </p:spPr>
        <p:txBody>
          <a:bodyPr vert="horz" wrap="square" lIns="0" tIns="12065" rIns="0" bIns="0" rtlCol="0">
            <a:spAutoFit/>
          </a:bodyPr>
          <a:lstStyle/>
          <a:p>
            <a:pPr marL="621665" marR="5080" indent="-609600">
              <a:lnSpc>
                <a:spcPct val="120100"/>
              </a:lnSpc>
              <a:spcBef>
                <a:spcPts val="95"/>
              </a:spcBef>
              <a:tabLst>
                <a:tab pos="774700" algn="l"/>
                <a:tab pos="1840864" algn="l"/>
                <a:tab pos="2602865" algn="l"/>
                <a:tab pos="3060700" algn="l"/>
                <a:tab pos="3365500" algn="l"/>
                <a:tab pos="3517900" algn="l"/>
                <a:tab pos="4127500" algn="l"/>
                <a:tab pos="4584700" algn="l"/>
                <a:tab pos="5041900" algn="l"/>
                <a:tab pos="6108700" algn="l"/>
                <a:tab pos="6565900" algn="l"/>
                <a:tab pos="7632700" algn="l"/>
                <a:tab pos="8089900" algn="l"/>
              </a:tabLst>
            </a:pPr>
            <a:r>
              <a:rPr sz="2000" b="1" spc="-20" dirty="0">
                <a:latin typeface="Courier New" panose="02070309020205020404" pitchFamily="49" charset="0"/>
                <a:ea typeface="Menlo" panose="020B0609030804020204" pitchFamily="49" charset="0"/>
                <a:cs typeface="Courier New" panose="02070309020205020404" pitchFamily="49" charset="0"/>
              </a:rPr>
              <a:t>void</a:t>
            </a:r>
            <a:r>
              <a:rPr sz="2000" b="1" dirty="0">
                <a:latin typeface="Courier New" panose="02070309020205020404" pitchFamily="49" charset="0"/>
                <a:ea typeface="Menlo" panose="020B0609030804020204" pitchFamily="49" charset="0"/>
                <a:cs typeface="Courier New" panose="02070309020205020404" pitchFamily="49" charset="0"/>
              </a:rPr>
              <a:t>	</a:t>
            </a:r>
            <a:r>
              <a:rPr lang="en-US" sz="2000" b="1" spc="-10" dirty="0">
                <a:latin typeface="Courier New" panose="02070309020205020404" pitchFamily="49" charset="0"/>
                <a:ea typeface="Menlo" panose="020B0609030804020204" pitchFamily="49" charset="0"/>
                <a:cs typeface="Courier New" panose="02070309020205020404" pitchFamily="49" charset="0"/>
              </a:rPr>
              <a:t> kernel</a:t>
            </a:r>
            <a:r>
              <a:rPr sz="2000" b="1" spc="-10" dirty="0">
                <a:latin typeface="Courier New" panose="02070309020205020404" pitchFamily="49" charset="0"/>
                <a:ea typeface="Menlo" panose="020B0609030804020204" pitchFamily="49" charset="0"/>
                <a:cs typeface="Courier New" panose="02070309020205020404" pitchFamily="49" charset="0"/>
              </a:rPr>
              <a:t>(</a:t>
            </a:r>
            <a:r>
              <a:rPr lang="en-US" sz="2000" b="1" spc="-10" dirty="0">
                <a:latin typeface="Courier New" panose="02070309020205020404" pitchFamily="49" charset="0"/>
                <a:ea typeface="Menlo" panose="020B0609030804020204" pitchFamily="49" charset="0"/>
                <a:cs typeface="Courier New" panose="02070309020205020404" pitchFamily="49" charset="0"/>
              </a:rPr>
              <a:t>int *x</a:t>
            </a:r>
            <a:r>
              <a:rPr sz="2000" b="1" spc="-25" dirty="0">
                <a:latin typeface="Courier New" panose="02070309020205020404" pitchFamily="49" charset="0"/>
                <a:ea typeface="Menlo" panose="020B0609030804020204" pitchFamily="49" charset="0"/>
                <a:cs typeface="Courier New" panose="02070309020205020404" pitchFamily="49" charset="0"/>
              </a:rPr>
              <a:t>)</a:t>
            </a:r>
            <a:r>
              <a:rPr sz="2000" b="1" dirty="0">
                <a:latin typeface="Courier New" panose="02070309020205020404" pitchFamily="49" charset="0"/>
                <a:ea typeface="Menlo" panose="020B0609030804020204" pitchFamily="49" charset="0"/>
                <a:cs typeface="Courier New" panose="02070309020205020404" pitchFamily="49" charset="0"/>
              </a:rPr>
              <a:t>	</a:t>
            </a:r>
            <a:endParaRPr lang="en-US" sz="2000" b="1" dirty="0">
              <a:latin typeface="Courier New" panose="02070309020205020404" pitchFamily="49" charset="0"/>
              <a:ea typeface="Menlo" panose="020B0609030804020204" pitchFamily="49" charset="0"/>
              <a:cs typeface="Courier New" panose="02070309020205020404" pitchFamily="49" charset="0"/>
            </a:endParaRPr>
          </a:p>
          <a:p>
            <a:pPr marL="621665" marR="5080" indent="-609600">
              <a:lnSpc>
                <a:spcPct val="120100"/>
              </a:lnSpc>
              <a:spcBef>
                <a:spcPts val="95"/>
              </a:spcBef>
              <a:tabLst>
                <a:tab pos="774700" algn="l"/>
                <a:tab pos="1840864" algn="l"/>
                <a:tab pos="2602865" algn="l"/>
                <a:tab pos="3060700" algn="l"/>
                <a:tab pos="3365500" algn="l"/>
                <a:tab pos="3517900" algn="l"/>
                <a:tab pos="4127500" algn="l"/>
                <a:tab pos="4584700" algn="l"/>
                <a:tab pos="5041900" algn="l"/>
                <a:tab pos="6108700" algn="l"/>
                <a:tab pos="6565900" algn="l"/>
                <a:tab pos="7632700" algn="l"/>
                <a:tab pos="8089900" algn="l"/>
              </a:tabLst>
            </a:pPr>
            <a:r>
              <a:rPr sz="2000" b="1" spc="-50" dirty="0">
                <a:latin typeface="Courier New" panose="02070309020205020404" pitchFamily="49" charset="0"/>
                <a:ea typeface="Menlo" panose="020B0609030804020204" pitchFamily="49" charset="0"/>
                <a:cs typeface="Courier New" panose="02070309020205020404" pitchFamily="49" charset="0"/>
              </a:rPr>
              <a:t>{</a:t>
            </a:r>
            <a:endParaRPr lang="en-US" sz="2000" b="1" spc="-50" dirty="0">
              <a:latin typeface="Courier New" panose="02070309020205020404" pitchFamily="49" charset="0"/>
              <a:ea typeface="Menlo" panose="020B0609030804020204" pitchFamily="49" charset="0"/>
              <a:cs typeface="Courier New" panose="02070309020205020404" pitchFamily="49" charset="0"/>
            </a:endParaRPr>
          </a:p>
          <a:p>
            <a:pPr marL="621665" marR="5080" indent="-609600">
              <a:lnSpc>
                <a:spcPct val="120100"/>
              </a:lnSpc>
              <a:spcBef>
                <a:spcPts val="95"/>
              </a:spcBef>
              <a:tabLst>
                <a:tab pos="774700" algn="l"/>
                <a:tab pos="1840864" algn="l"/>
                <a:tab pos="2602865" algn="l"/>
                <a:tab pos="3060700" algn="l"/>
                <a:tab pos="3365500" algn="l"/>
                <a:tab pos="3517900" algn="l"/>
                <a:tab pos="4127500" algn="l"/>
                <a:tab pos="4584700" algn="l"/>
                <a:tab pos="5041900" algn="l"/>
                <a:tab pos="6108700" algn="l"/>
                <a:tab pos="6565900" algn="l"/>
                <a:tab pos="7632700" algn="l"/>
                <a:tab pos="8089900" algn="l"/>
              </a:tabLst>
            </a:pPr>
            <a:r>
              <a:rPr lang="en-NL" sz="2000" b="1" spc="-50" dirty="0">
                <a:latin typeface="Courier New" panose="02070309020205020404" pitchFamily="49" charset="0"/>
                <a:ea typeface="Menlo" panose="020B0609030804020204" pitchFamily="49" charset="0"/>
                <a:cs typeface="Courier New" panose="02070309020205020404" pitchFamily="49" charset="0"/>
              </a:rPr>
              <a:t>	</a:t>
            </a:r>
            <a:r>
              <a:rPr lang="en-GB" sz="2000" b="1" spc="-50" dirty="0">
                <a:latin typeface="Courier New" panose="02070309020205020404" pitchFamily="49" charset="0"/>
                <a:ea typeface="Menlo" panose="020B0609030804020204" pitchFamily="49" charset="0"/>
                <a:cs typeface="Courier New" panose="02070309020205020404" pitchFamily="49" charset="0"/>
              </a:rPr>
              <a:t>i</a:t>
            </a:r>
            <a:r>
              <a:rPr lang="en-NL" sz="2000" b="1" spc="-50" dirty="0">
                <a:latin typeface="Courier New" panose="02070309020205020404" pitchFamily="49" charset="0"/>
                <a:ea typeface="Menlo" panose="020B0609030804020204" pitchFamily="49" charset="0"/>
                <a:cs typeface="Courier New" panose="02070309020205020404" pitchFamily="49" charset="0"/>
              </a:rPr>
              <a:t> = int threadIdx.x;</a:t>
            </a:r>
          </a:p>
          <a:p>
            <a:pPr marL="621665" marR="5080" indent="-609600">
              <a:lnSpc>
                <a:spcPct val="120100"/>
              </a:lnSpc>
              <a:spcBef>
                <a:spcPts val="95"/>
              </a:spcBef>
              <a:tabLst>
                <a:tab pos="774700" algn="l"/>
                <a:tab pos="1840864" algn="l"/>
                <a:tab pos="2602865" algn="l"/>
                <a:tab pos="3060700" algn="l"/>
                <a:tab pos="3365500" algn="l"/>
                <a:tab pos="3517900" algn="l"/>
                <a:tab pos="4127500" algn="l"/>
                <a:tab pos="4584700" algn="l"/>
                <a:tab pos="5041900" algn="l"/>
                <a:tab pos="6108700" algn="l"/>
                <a:tab pos="6565900" algn="l"/>
                <a:tab pos="7632700" algn="l"/>
                <a:tab pos="8089900" algn="l"/>
              </a:tabLst>
            </a:pPr>
            <a:r>
              <a:rPr lang="en-GB" sz="2000" b="1" spc="-50" dirty="0">
                <a:latin typeface="Courier New" panose="02070309020205020404" pitchFamily="49" charset="0"/>
                <a:ea typeface="Menlo" panose="020B0609030804020204" pitchFamily="49" charset="0"/>
                <a:cs typeface="Courier New" panose="02070309020205020404" pitchFamily="49" charset="0"/>
              </a:rPr>
              <a:t>	i</a:t>
            </a:r>
            <a:r>
              <a:rPr lang="en-NL" sz="2000" b="1" spc="-50" dirty="0">
                <a:latin typeface="Courier New" panose="02070309020205020404" pitchFamily="49" charset="0"/>
                <a:ea typeface="Menlo" panose="020B0609030804020204" pitchFamily="49" charset="0"/>
                <a:cs typeface="Courier New" panose="02070309020205020404" pitchFamily="49" charset="0"/>
              </a:rPr>
              <a:t>f(i%2 == 0) </a:t>
            </a:r>
            <a:r>
              <a:rPr sz="2000" b="1" spc="-50" dirty="0">
                <a:latin typeface="Courier New" panose="02070309020205020404" pitchFamily="49" charset="0"/>
                <a:ea typeface="Menlo" panose="020B0609030804020204" pitchFamily="49" charset="0"/>
                <a:cs typeface="Courier New" panose="02070309020205020404" pitchFamily="49" charset="0"/>
              </a:rPr>
              <a:t> </a:t>
            </a:r>
            <a:endParaRPr lang="en-US" sz="2000" b="1" spc="-50" dirty="0">
              <a:latin typeface="Courier New" panose="02070309020205020404" pitchFamily="49" charset="0"/>
              <a:ea typeface="Menlo" panose="020B0609030804020204" pitchFamily="49" charset="0"/>
              <a:cs typeface="Courier New" panose="02070309020205020404" pitchFamily="49" charset="0"/>
            </a:endParaRPr>
          </a:p>
          <a:p>
            <a:pPr marL="621665" marR="5080" indent="-609600">
              <a:lnSpc>
                <a:spcPct val="120100"/>
              </a:lnSpc>
              <a:spcBef>
                <a:spcPts val="95"/>
              </a:spcBef>
              <a:tabLst>
                <a:tab pos="774700" algn="l"/>
                <a:tab pos="1840864" algn="l"/>
                <a:tab pos="2602865" algn="l"/>
                <a:tab pos="3060700" algn="l"/>
                <a:tab pos="3365500" algn="l"/>
                <a:tab pos="3517900" algn="l"/>
                <a:tab pos="4127500" algn="l"/>
                <a:tab pos="4584700" algn="l"/>
                <a:tab pos="5041900" algn="l"/>
                <a:tab pos="6108700" algn="l"/>
                <a:tab pos="6565900" algn="l"/>
                <a:tab pos="7632700" algn="l"/>
                <a:tab pos="8089900" algn="l"/>
              </a:tabLst>
            </a:pPr>
            <a:r>
              <a:rPr lang="en-NL" sz="2000" b="1" spc="-50" dirty="0">
                <a:latin typeface="Courier New" panose="02070309020205020404" pitchFamily="49" charset="0"/>
                <a:ea typeface="Menlo" panose="020B0609030804020204" pitchFamily="49" charset="0"/>
                <a:cs typeface="Courier New" panose="02070309020205020404" pitchFamily="49" charset="0"/>
              </a:rPr>
              <a:t>		  __syncthread();</a:t>
            </a:r>
          </a:p>
          <a:p>
            <a:pPr marL="621665" marR="5080" indent="-609600">
              <a:lnSpc>
                <a:spcPct val="120100"/>
              </a:lnSpc>
              <a:spcBef>
                <a:spcPts val="95"/>
              </a:spcBef>
              <a:tabLst>
                <a:tab pos="774700" algn="l"/>
                <a:tab pos="1840864" algn="l"/>
                <a:tab pos="2602865" algn="l"/>
                <a:tab pos="3060700" algn="l"/>
                <a:tab pos="3365500" algn="l"/>
                <a:tab pos="3517900" algn="l"/>
                <a:tab pos="4127500" algn="l"/>
                <a:tab pos="4584700" algn="l"/>
                <a:tab pos="5041900" algn="l"/>
                <a:tab pos="6108700" algn="l"/>
                <a:tab pos="6565900" algn="l"/>
                <a:tab pos="7632700" algn="l"/>
                <a:tab pos="8089900" algn="l"/>
              </a:tabLst>
            </a:pPr>
            <a:r>
              <a:rPr lang="en-US" sz="2000" b="1" spc="-50" dirty="0">
                <a:latin typeface="Courier New" panose="02070309020205020404" pitchFamily="49" charset="0"/>
                <a:ea typeface="Menlo" panose="020B0609030804020204" pitchFamily="49" charset="0"/>
                <a:cs typeface="Courier New" panose="02070309020205020404" pitchFamily="49" charset="0"/>
              </a:rPr>
              <a:t>	else</a:t>
            </a:r>
          </a:p>
          <a:p>
            <a:pPr marL="621665" marR="5080" indent="-609600">
              <a:lnSpc>
                <a:spcPct val="120100"/>
              </a:lnSpc>
              <a:spcBef>
                <a:spcPts val="95"/>
              </a:spcBef>
              <a:tabLst>
                <a:tab pos="774700" algn="l"/>
                <a:tab pos="1840864" algn="l"/>
                <a:tab pos="2602865" algn="l"/>
                <a:tab pos="3060700" algn="l"/>
                <a:tab pos="3365500" algn="l"/>
                <a:tab pos="3517900" algn="l"/>
                <a:tab pos="4127500" algn="l"/>
                <a:tab pos="4584700" algn="l"/>
                <a:tab pos="5041900" algn="l"/>
                <a:tab pos="6108700" algn="l"/>
                <a:tab pos="6565900" algn="l"/>
                <a:tab pos="7632700" algn="l"/>
                <a:tab pos="8089900" algn="l"/>
              </a:tabLst>
            </a:pPr>
            <a:r>
              <a:rPr lang="en-US" sz="2000" b="1" spc="-50" dirty="0">
                <a:latin typeface="Courier New" panose="02070309020205020404" pitchFamily="49" charset="0"/>
                <a:ea typeface="Menlo" panose="020B0609030804020204" pitchFamily="49" charset="0"/>
                <a:cs typeface="Courier New" panose="02070309020205020404" pitchFamily="49" charset="0"/>
              </a:rPr>
              <a:t>	   </a:t>
            </a:r>
            <a:r>
              <a:rPr lang="en-NL" sz="2000" b="1" spc="-50" dirty="0">
                <a:latin typeface="Courier New" panose="02070309020205020404" pitchFamily="49" charset="0"/>
                <a:ea typeface="Menlo" panose="020B0609030804020204" pitchFamily="49" charset="0"/>
                <a:cs typeface="Courier New" panose="02070309020205020404" pitchFamily="49" charset="0"/>
              </a:rPr>
              <a:t>__syncthread();</a:t>
            </a:r>
          </a:p>
          <a:p>
            <a:pPr marL="621665" marR="5080" indent="-609600">
              <a:lnSpc>
                <a:spcPct val="120100"/>
              </a:lnSpc>
              <a:spcBef>
                <a:spcPts val="95"/>
              </a:spcBef>
              <a:tabLst>
                <a:tab pos="774700" algn="l"/>
                <a:tab pos="1840864" algn="l"/>
                <a:tab pos="2602865" algn="l"/>
                <a:tab pos="3060700" algn="l"/>
                <a:tab pos="3365500" algn="l"/>
                <a:tab pos="3517900" algn="l"/>
                <a:tab pos="4127500" algn="l"/>
                <a:tab pos="4584700" algn="l"/>
                <a:tab pos="5041900" algn="l"/>
                <a:tab pos="6108700" algn="l"/>
                <a:tab pos="6565900" algn="l"/>
                <a:tab pos="7632700" algn="l"/>
                <a:tab pos="8089900" algn="l"/>
              </a:tabLst>
            </a:pPr>
            <a:endParaRPr lang="en-US" sz="2000" b="1" spc="-50" dirty="0">
              <a:latin typeface="Courier New" panose="02070309020205020404" pitchFamily="49" charset="0"/>
              <a:ea typeface="Menlo" panose="020B0609030804020204" pitchFamily="49" charset="0"/>
              <a:cs typeface="Courier New" panose="02070309020205020404" pitchFamily="49" charset="0"/>
            </a:endParaRPr>
          </a:p>
          <a:p>
            <a:pPr marL="12700">
              <a:spcBef>
                <a:spcPts val="480"/>
              </a:spcBef>
            </a:pPr>
            <a:r>
              <a:rPr sz="2000" b="1" spc="-50" dirty="0">
                <a:latin typeface="Courier New" panose="02070309020205020404" pitchFamily="49" charset="0"/>
                <a:ea typeface="Menlo" panose="020B0609030804020204" pitchFamily="49" charset="0"/>
                <a:cs typeface="Courier New" panose="02070309020205020404" pitchFamily="49" charset="0"/>
              </a:rPr>
              <a:t>}</a:t>
            </a:r>
            <a:endParaRPr sz="2000" b="1" dirty="0">
              <a:latin typeface="Courier New" panose="02070309020205020404" pitchFamily="49" charset="0"/>
              <a:ea typeface="Menlo" panose="020B0609030804020204" pitchFamily="49" charset="0"/>
              <a:cs typeface="Courier New" panose="02070309020205020404" pitchFamily="49" charset="0"/>
            </a:endParaRPr>
          </a:p>
        </p:txBody>
      </p:sp>
    </p:spTree>
    <p:extLst>
      <p:ext uri="{BB962C8B-B14F-4D97-AF65-F5344CB8AC3E}">
        <p14:creationId xmlns:p14="http://schemas.microsoft.com/office/powerpoint/2010/main" val="35494711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D450F0C-194C-1AA2-0756-E131139A31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AE9733-12BC-0E58-8868-D8C9A066500F}"/>
              </a:ext>
            </a:extLst>
          </p:cNvPr>
          <p:cNvSpPr>
            <a:spLocks noGrp="1"/>
          </p:cNvSpPr>
          <p:nvPr>
            <p:ph type="title"/>
          </p:nvPr>
        </p:nvSpPr>
        <p:spPr/>
        <p:txBody>
          <a:bodyPr/>
          <a:lstStyle/>
          <a:p>
            <a:r>
              <a:rPr lang="en-NL" sz="2933" cap="small" dirty="0">
                <a:solidFill>
                  <a:schemeClr val="dk2"/>
                </a:solidFill>
              </a:rPr>
              <a:t>Avoiding</a:t>
            </a:r>
            <a:r>
              <a:rPr lang="en-NL" dirty="0"/>
              <a:t> </a:t>
            </a:r>
            <a:r>
              <a:rPr lang="en-NL" sz="2933" cap="small" dirty="0">
                <a:solidFill>
                  <a:schemeClr val="dk2"/>
                </a:solidFill>
              </a:rPr>
              <a:t>divergence</a:t>
            </a:r>
          </a:p>
        </p:txBody>
      </p:sp>
      <p:sp>
        <p:nvSpPr>
          <p:cNvPr id="3" name="object 3">
            <a:extLst>
              <a:ext uri="{FF2B5EF4-FFF2-40B4-BE49-F238E27FC236}">
                <a16:creationId xmlns:a16="http://schemas.microsoft.com/office/drawing/2014/main" id="{E26021E5-96B1-BC0C-6404-9A3B580FD211}"/>
              </a:ext>
            </a:extLst>
          </p:cNvPr>
          <p:cNvSpPr txBox="1"/>
          <p:nvPr/>
        </p:nvSpPr>
        <p:spPr>
          <a:xfrm>
            <a:off x="762000" y="1534336"/>
            <a:ext cx="10287000" cy="3643305"/>
          </a:xfrm>
          <a:prstGeom prst="rect">
            <a:avLst/>
          </a:prstGeom>
        </p:spPr>
        <p:txBody>
          <a:bodyPr vert="horz" wrap="square" lIns="0" tIns="54610" rIns="0" bIns="0" rtlCol="0">
            <a:spAutoFit/>
          </a:bodyPr>
          <a:lstStyle/>
          <a:p>
            <a:r>
              <a:rPr lang="en-GB" sz="2400" dirty="0">
                <a:solidFill>
                  <a:srgbClr val="000000"/>
                </a:solidFill>
                <a:effectLst/>
                <a:latin typeface="Arial" panose="020B0604020202020204" pitchFamily="34" charset="0"/>
              </a:rPr>
              <a:t>Divergence depends on whether branching is data- or ID- dependent</a:t>
            </a:r>
          </a:p>
          <a:p>
            <a:r>
              <a:rPr lang="en-GB" sz="2400" dirty="0">
                <a:solidFill>
                  <a:srgbClr val="3F6CAF"/>
                </a:solidFill>
                <a:effectLst/>
                <a:latin typeface="Arial" panose="020B0604020202020204" pitchFamily="34" charset="0"/>
              </a:rPr>
              <a:t>• </a:t>
            </a:r>
            <a:r>
              <a:rPr lang="en-GB" sz="2400" dirty="0">
                <a:solidFill>
                  <a:srgbClr val="000000"/>
                </a:solidFill>
                <a:effectLst/>
                <a:latin typeface="Arial" panose="020B0604020202020204" pitchFamily="34" charset="0"/>
              </a:rPr>
              <a:t>If ID – consider grouping threads differently</a:t>
            </a:r>
            <a:endParaRPr lang="en-GB" sz="2200" dirty="0">
              <a:latin typeface="Arial"/>
              <a:cs typeface="Arial"/>
            </a:endParaRPr>
          </a:p>
          <a:p>
            <a:pPr marL="355600" indent="-342900">
              <a:spcBef>
                <a:spcPts val="530"/>
              </a:spcBef>
              <a:buClr>
                <a:srgbClr val="4F80BC"/>
              </a:buClr>
              <a:buSzPct val="84090"/>
              <a:buFont typeface="Arial" panose="020B0604020202020204" pitchFamily="34" charset="0"/>
              <a:buChar char="•"/>
              <a:tabLst>
                <a:tab pos="194945" algn="l"/>
              </a:tabLst>
            </a:pPr>
            <a:r>
              <a:rPr lang="en-GB" sz="2200" dirty="0">
                <a:latin typeface="Arial"/>
                <a:cs typeface="Arial"/>
              </a:rPr>
              <a:t>Diverge at warp level</a:t>
            </a:r>
          </a:p>
          <a:p>
            <a:pPr marL="355600" indent="-342900">
              <a:spcBef>
                <a:spcPts val="530"/>
              </a:spcBef>
              <a:buClr>
                <a:srgbClr val="4F80BC"/>
              </a:buClr>
              <a:buSzPct val="84090"/>
              <a:buFont typeface="Arial" panose="020B0604020202020204" pitchFamily="34" charset="0"/>
              <a:buChar char="•"/>
              <a:tabLst>
                <a:tab pos="194945" algn="l"/>
              </a:tabLst>
            </a:pPr>
            <a:r>
              <a:rPr lang="en-GB" sz="2200" dirty="0">
                <a:latin typeface="Arial"/>
                <a:cs typeface="Arial"/>
              </a:rPr>
              <a:t>Diverge at block level</a:t>
            </a:r>
          </a:p>
          <a:p>
            <a:pPr marL="12700" lvl="1">
              <a:spcBef>
                <a:spcPts val="530"/>
              </a:spcBef>
              <a:buClr>
                <a:srgbClr val="4F80BC"/>
              </a:buClr>
              <a:buSzPct val="84090"/>
              <a:tabLst>
                <a:tab pos="194945" algn="l"/>
              </a:tabLst>
            </a:pPr>
            <a:r>
              <a:rPr lang="en-GB" sz="2200" dirty="0">
                <a:latin typeface="Arial"/>
                <a:cs typeface="Arial"/>
              </a:rPr>
              <a:t>		&gt; Use </a:t>
            </a:r>
            <a:r>
              <a:rPr lang="en-GB" sz="2200" dirty="0" err="1">
                <a:latin typeface="Arial"/>
                <a:cs typeface="Arial"/>
              </a:rPr>
              <a:t>threadIdx</a:t>
            </a:r>
            <a:r>
              <a:rPr lang="en-GB" sz="2200" dirty="0">
                <a:latin typeface="Arial"/>
                <a:cs typeface="Arial"/>
              </a:rPr>
              <a:t>, </a:t>
            </a:r>
            <a:r>
              <a:rPr lang="en-GB" sz="2200" dirty="0" err="1">
                <a:latin typeface="Arial"/>
                <a:cs typeface="Arial"/>
              </a:rPr>
              <a:t>blockIdx</a:t>
            </a:r>
            <a:r>
              <a:rPr lang="en-GB" sz="2200" dirty="0">
                <a:latin typeface="Arial"/>
                <a:cs typeface="Arial"/>
              </a:rPr>
              <a:t>, </a:t>
            </a:r>
            <a:r>
              <a:rPr lang="en-GB" sz="2200" dirty="0" err="1">
                <a:latin typeface="Arial"/>
                <a:cs typeface="Arial"/>
              </a:rPr>
              <a:t>blockDims</a:t>
            </a:r>
            <a:r>
              <a:rPr lang="en-GB" sz="2200" dirty="0">
                <a:latin typeface="Arial"/>
                <a:cs typeface="Arial"/>
              </a:rPr>
              <a:t> etc. to ‘allocate’ tasks</a:t>
            </a:r>
          </a:p>
          <a:p>
            <a:pPr marL="12700">
              <a:spcBef>
                <a:spcPts val="530"/>
              </a:spcBef>
              <a:buClr>
                <a:srgbClr val="4F80BC"/>
              </a:buClr>
              <a:buSzPct val="84090"/>
              <a:tabLst>
                <a:tab pos="194945" algn="l"/>
              </a:tabLst>
            </a:pPr>
            <a:endParaRPr lang="en-GB" sz="2200" dirty="0">
              <a:latin typeface="Arial"/>
              <a:cs typeface="Arial"/>
            </a:endParaRPr>
          </a:p>
          <a:p>
            <a:pPr marL="355600" indent="-342900">
              <a:spcBef>
                <a:spcPts val="530"/>
              </a:spcBef>
              <a:buClr>
                <a:srgbClr val="4F80BC"/>
              </a:buClr>
              <a:buSzPct val="84090"/>
              <a:buFont typeface="Arial" panose="020B0604020202020204" pitchFamily="34" charset="0"/>
              <a:buChar char="•"/>
              <a:tabLst>
                <a:tab pos="194945" algn="l"/>
              </a:tabLst>
            </a:pPr>
            <a:r>
              <a:rPr lang="en-GB" sz="2400" dirty="0">
                <a:solidFill>
                  <a:srgbClr val="000000"/>
                </a:solidFill>
                <a:effectLst/>
                <a:latin typeface="Arial" panose="020B0604020202020204" pitchFamily="34" charset="0"/>
              </a:rPr>
              <a:t>If data – consider sorting</a:t>
            </a:r>
          </a:p>
          <a:p>
            <a:pPr marL="12700" lvl="1">
              <a:spcBef>
                <a:spcPts val="530"/>
              </a:spcBef>
              <a:buClr>
                <a:srgbClr val="4F80BC"/>
              </a:buClr>
              <a:buSzPct val="84090"/>
              <a:tabLst>
                <a:tab pos="194945" algn="l"/>
              </a:tabLst>
            </a:pPr>
            <a:r>
              <a:rPr lang="en-GB" sz="2200" dirty="0">
                <a:solidFill>
                  <a:srgbClr val="000000"/>
                </a:solidFill>
                <a:latin typeface="Arial" panose="020B0604020202020204" pitchFamily="34" charset="0"/>
                <a:cs typeface="Arial"/>
              </a:rPr>
              <a:t>		&gt; </a:t>
            </a:r>
            <a:r>
              <a:rPr lang="en-GB" sz="2200" dirty="0">
                <a:latin typeface="Arial"/>
                <a:cs typeface="Arial"/>
              </a:rPr>
              <a:t>Launch different kernels with different execution instructions</a:t>
            </a:r>
          </a:p>
          <a:p>
            <a:pPr marL="355600" indent="-342900">
              <a:spcBef>
                <a:spcPts val="530"/>
              </a:spcBef>
              <a:buClr>
                <a:srgbClr val="4F80BC"/>
              </a:buClr>
              <a:buSzPct val="84090"/>
              <a:buFont typeface="Arial" panose="020B0604020202020204" pitchFamily="34" charset="0"/>
              <a:buChar char="•"/>
              <a:tabLst>
                <a:tab pos="194945" algn="l"/>
              </a:tabLst>
            </a:pPr>
            <a:endParaRPr lang="en-GB" sz="2200" dirty="0">
              <a:latin typeface="Arial"/>
              <a:cs typeface="Arial"/>
            </a:endParaRPr>
          </a:p>
        </p:txBody>
      </p:sp>
    </p:spTree>
    <p:extLst>
      <p:ext uri="{BB962C8B-B14F-4D97-AF65-F5344CB8AC3E}">
        <p14:creationId xmlns:p14="http://schemas.microsoft.com/office/powerpoint/2010/main" val="2590347414"/>
      </p:ext>
    </p:extLst>
  </p:cSld>
  <p:clrMapOvr>
    <a:overrideClrMapping bg1="lt1" tx1="dk1" bg2="lt2" tx2="dk2" accent1="accent1" accent2="accent2" accent3="accent3" accent4="accent4" accent5="accent5" accent6="accent6" hlink="hlink" folHlink="folHlink"/>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D68E5-5BF1-A2B9-B7E6-04FF30D718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F8E2C1-6074-DE14-8DC7-36185A9C7801}"/>
              </a:ext>
            </a:extLst>
          </p:cNvPr>
          <p:cNvSpPr>
            <a:spLocks noGrp="1"/>
          </p:cNvSpPr>
          <p:nvPr>
            <p:ph type="title"/>
          </p:nvPr>
        </p:nvSpPr>
        <p:spPr>
          <a:xfrm>
            <a:off x="698499" y="729741"/>
            <a:ext cx="10795000" cy="451342"/>
          </a:xfrm>
        </p:spPr>
        <p:txBody>
          <a:bodyPr/>
          <a:lstStyle/>
          <a:p>
            <a:r>
              <a:rPr lang="en-NL" sz="2933" cap="small" dirty="0">
                <a:solidFill>
                  <a:schemeClr val="dk2"/>
                </a:solidFill>
              </a:rPr>
              <a:t>Thread Divergence</a:t>
            </a:r>
          </a:p>
        </p:txBody>
      </p:sp>
      <p:sp>
        <p:nvSpPr>
          <p:cNvPr id="4" name="object 3">
            <a:extLst>
              <a:ext uri="{FF2B5EF4-FFF2-40B4-BE49-F238E27FC236}">
                <a16:creationId xmlns:a16="http://schemas.microsoft.com/office/drawing/2014/main" id="{8AEE23D5-96EF-9929-38E5-0C78A13F39A7}"/>
              </a:ext>
            </a:extLst>
          </p:cNvPr>
          <p:cNvSpPr txBox="1"/>
          <p:nvPr/>
        </p:nvSpPr>
        <p:spPr>
          <a:xfrm>
            <a:off x="496956" y="1828800"/>
            <a:ext cx="5141844" cy="3428503"/>
          </a:xfrm>
          <a:prstGeom prst="rect">
            <a:avLst/>
          </a:prstGeom>
        </p:spPr>
        <p:txBody>
          <a:bodyPr vert="horz" wrap="square" lIns="0" tIns="12065" rIns="0" bIns="0" rtlCol="0">
            <a:spAutoFit/>
          </a:bodyPr>
          <a:lstStyle/>
          <a:p>
            <a:pPr marL="621665" marR="5080" indent="-609600">
              <a:lnSpc>
                <a:spcPct val="120100"/>
              </a:lnSpc>
              <a:spcBef>
                <a:spcPts val="95"/>
              </a:spcBef>
              <a:tabLst>
                <a:tab pos="774700" algn="l"/>
                <a:tab pos="1840864" algn="l"/>
                <a:tab pos="2602865" algn="l"/>
                <a:tab pos="3060700" algn="l"/>
                <a:tab pos="3365500" algn="l"/>
                <a:tab pos="3517900" algn="l"/>
                <a:tab pos="4127500" algn="l"/>
                <a:tab pos="4584700" algn="l"/>
                <a:tab pos="5041900" algn="l"/>
                <a:tab pos="6108700" algn="l"/>
                <a:tab pos="6565900" algn="l"/>
                <a:tab pos="7632700" algn="l"/>
                <a:tab pos="8089900" algn="l"/>
              </a:tabLst>
            </a:pPr>
            <a:r>
              <a:rPr lang="en-US" sz="2000" b="1" spc="-20" dirty="0">
                <a:latin typeface="Courier New" panose="02070309020205020404" pitchFamily="49" charset="0"/>
                <a:ea typeface="Menlo" panose="020B0609030804020204" pitchFamily="49" charset="0"/>
                <a:cs typeface="Courier New" panose="02070309020205020404" pitchFamily="49" charset="0"/>
              </a:rPr>
              <a:t>__global__ </a:t>
            </a:r>
            <a:r>
              <a:rPr sz="2000" b="1" spc="-20" dirty="0">
                <a:latin typeface="Courier New" panose="02070309020205020404" pitchFamily="49" charset="0"/>
                <a:ea typeface="Menlo" panose="020B0609030804020204" pitchFamily="49" charset="0"/>
                <a:cs typeface="Courier New" panose="02070309020205020404" pitchFamily="49" charset="0"/>
              </a:rPr>
              <a:t>void</a:t>
            </a:r>
            <a:r>
              <a:rPr sz="2000" b="1" dirty="0">
                <a:latin typeface="Courier New" panose="02070309020205020404" pitchFamily="49" charset="0"/>
                <a:ea typeface="Menlo" panose="020B0609030804020204" pitchFamily="49" charset="0"/>
                <a:cs typeface="Courier New" panose="02070309020205020404" pitchFamily="49" charset="0"/>
              </a:rPr>
              <a:t>	</a:t>
            </a:r>
            <a:r>
              <a:rPr lang="en-US" sz="2000" b="1" spc="-10" dirty="0">
                <a:latin typeface="Courier New" panose="02070309020205020404" pitchFamily="49" charset="0"/>
                <a:ea typeface="Menlo" panose="020B0609030804020204" pitchFamily="49" charset="0"/>
                <a:cs typeface="Courier New" panose="02070309020205020404" pitchFamily="49" charset="0"/>
              </a:rPr>
              <a:t> kernel</a:t>
            </a:r>
            <a:r>
              <a:rPr sz="2000" b="1" spc="-10" dirty="0">
                <a:latin typeface="Courier New" panose="02070309020205020404" pitchFamily="49" charset="0"/>
                <a:ea typeface="Menlo" panose="020B0609030804020204" pitchFamily="49" charset="0"/>
                <a:cs typeface="Courier New" panose="02070309020205020404" pitchFamily="49" charset="0"/>
              </a:rPr>
              <a:t>(</a:t>
            </a:r>
            <a:r>
              <a:rPr lang="en-US" sz="2000" b="1" spc="-10" dirty="0">
                <a:latin typeface="Courier New" panose="02070309020205020404" pitchFamily="49" charset="0"/>
                <a:ea typeface="Menlo" panose="020B0609030804020204" pitchFamily="49" charset="0"/>
                <a:cs typeface="Courier New" panose="02070309020205020404" pitchFamily="49" charset="0"/>
              </a:rPr>
              <a:t>int *x</a:t>
            </a:r>
            <a:r>
              <a:rPr sz="2000" b="1" spc="-25" dirty="0">
                <a:latin typeface="Courier New" panose="02070309020205020404" pitchFamily="49" charset="0"/>
                <a:ea typeface="Menlo" panose="020B0609030804020204" pitchFamily="49" charset="0"/>
                <a:cs typeface="Courier New" panose="02070309020205020404" pitchFamily="49" charset="0"/>
              </a:rPr>
              <a:t>)</a:t>
            </a:r>
            <a:r>
              <a:rPr sz="2000" b="1" dirty="0">
                <a:latin typeface="Courier New" panose="02070309020205020404" pitchFamily="49" charset="0"/>
                <a:ea typeface="Menlo" panose="020B0609030804020204" pitchFamily="49" charset="0"/>
                <a:cs typeface="Courier New" panose="02070309020205020404" pitchFamily="49" charset="0"/>
              </a:rPr>
              <a:t>	</a:t>
            </a:r>
            <a:endParaRPr lang="en-US" sz="2000" b="1" dirty="0">
              <a:latin typeface="Courier New" panose="02070309020205020404" pitchFamily="49" charset="0"/>
              <a:ea typeface="Menlo" panose="020B0609030804020204" pitchFamily="49" charset="0"/>
              <a:cs typeface="Courier New" panose="02070309020205020404" pitchFamily="49" charset="0"/>
            </a:endParaRPr>
          </a:p>
          <a:p>
            <a:pPr marL="621665" marR="5080" indent="-609600">
              <a:lnSpc>
                <a:spcPct val="120100"/>
              </a:lnSpc>
              <a:spcBef>
                <a:spcPts val="95"/>
              </a:spcBef>
              <a:tabLst>
                <a:tab pos="774700" algn="l"/>
                <a:tab pos="1840864" algn="l"/>
                <a:tab pos="2602865" algn="l"/>
                <a:tab pos="3060700" algn="l"/>
                <a:tab pos="3365500" algn="l"/>
                <a:tab pos="3517900" algn="l"/>
                <a:tab pos="4127500" algn="l"/>
                <a:tab pos="4584700" algn="l"/>
                <a:tab pos="5041900" algn="l"/>
                <a:tab pos="6108700" algn="l"/>
                <a:tab pos="6565900" algn="l"/>
                <a:tab pos="7632700" algn="l"/>
                <a:tab pos="8089900" algn="l"/>
              </a:tabLst>
            </a:pPr>
            <a:r>
              <a:rPr sz="2000" b="1" spc="-50" dirty="0">
                <a:latin typeface="Courier New" panose="02070309020205020404" pitchFamily="49" charset="0"/>
                <a:ea typeface="Menlo" panose="020B0609030804020204" pitchFamily="49" charset="0"/>
                <a:cs typeface="Courier New" panose="02070309020205020404" pitchFamily="49" charset="0"/>
              </a:rPr>
              <a:t>{</a:t>
            </a:r>
            <a:endParaRPr lang="en-US" sz="2000" b="1" spc="-50" dirty="0">
              <a:latin typeface="Courier New" panose="02070309020205020404" pitchFamily="49" charset="0"/>
              <a:ea typeface="Menlo" panose="020B0609030804020204" pitchFamily="49" charset="0"/>
              <a:cs typeface="Courier New" panose="02070309020205020404" pitchFamily="49" charset="0"/>
            </a:endParaRPr>
          </a:p>
          <a:p>
            <a:pPr marL="621665" marR="5080" indent="-609600">
              <a:lnSpc>
                <a:spcPct val="120100"/>
              </a:lnSpc>
              <a:spcBef>
                <a:spcPts val="95"/>
              </a:spcBef>
              <a:tabLst>
                <a:tab pos="774700" algn="l"/>
                <a:tab pos="1840864" algn="l"/>
                <a:tab pos="2602865" algn="l"/>
                <a:tab pos="3060700" algn="l"/>
                <a:tab pos="3365500" algn="l"/>
                <a:tab pos="3517900" algn="l"/>
                <a:tab pos="4127500" algn="l"/>
                <a:tab pos="4584700" algn="l"/>
                <a:tab pos="5041900" algn="l"/>
                <a:tab pos="6108700" algn="l"/>
                <a:tab pos="6565900" algn="l"/>
                <a:tab pos="7632700" algn="l"/>
                <a:tab pos="8089900" algn="l"/>
              </a:tabLst>
            </a:pPr>
            <a:r>
              <a:rPr lang="en-NL" sz="2000" b="1" spc="-50" dirty="0">
                <a:latin typeface="Courier New" panose="02070309020205020404" pitchFamily="49" charset="0"/>
                <a:ea typeface="Menlo" panose="020B0609030804020204" pitchFamily="49" charset="0"/>
                <a:cs typeface="Courier New" panose="02070309020205020404" pitchFamily="49" charset="0"/>
              </a:rPr>
              <a:t>	</a:t>
            </a:r>
            <a:r>
              <a:rPr lang="en-GB" sz="2000" b="1" spc="-50" dirty="0">
                <a:latin typeface="Courier New" panose="02070309020205020404" pitchFamily="49" charset="0"/>
                <a:ea typeface="Menlo" panose="020B0609030804020204" pitchFamily="49" charset="0"/>
                <a:cs typeface="Courier New" panose="02070309020205020404" pitchFamily="49" charset="0"/>
              </a:rPr>
              <a:t>i</a:t>
            </a:r>
            <a:r>
              <a:rPr lang="en-NL" sz="2000" b="1" spc="-50" dirty="0">
                <a:latin typeface="Courier New" panose="02070309020205020404" pitchFamily="49" charset="0"/>
                <a:ea typeface="Menlo" panose="020B0609030804020204" pitchFamily="49" charset="0"/>
                <a:cs typeface="Courier New" panose="02070309020205020404" pitchFamily="49" charset="0"/>
              </a:rPr>
              <a:t> = int threadIdx.x;</a:t>
            </a:r>
          </a:p>
          <a:p>
            <a:pPr marL="621665" marR="5080" indent="-609600">
              <a:lnSpc>
                <a:spcPct val="120100"/>
              </a:lnSpc>
              <a:spcBef>
                <a:spcPts val="95"/>
              </a:spcBef>
              <a:tabLst>
                <a:tab pos="774700" algn="l"/>
                <a:tab pos="1840864" algn="l"/>
                <a:tab pos="2602865" algn="l"/>
                <a:tab pos="3060700" algn="l"/>
                <a:tab pos="3365500" algn="l"/>
                <a:tab pos="3517900" algn="l"/>
                <a:tab pos="4127500" algn="l"/>
                <a:tab pos="4584700" algn="l"/>
                <a:tab pos="5041900" algn="l"/>
                <a:tab pos="6108700" algn="l"/>
                <a:tab pos="6565900" algn="l"/>
                <a:tab pos="7632700" algn="l"/>
                <a:tab pos="8089900" algn="l"/>
              </a:tabLst>
            </a:pPr>
            <a:r>
              <a:rPr lang="en-GB" sz="2000" b="1" spc="-50" dirty="0">
                <a:latin typeface="Courier New" panose="02070309020205020404" pitchFamily="49" charset="0"/>
                <a:ea typeface="Menlo" panose="020B0609030804020204" pitchFamily="49" charset="0"/>
                <a:cs typeface="Courier New" panose="02070309020205020404" pitchFamily="49" charset="0"/>
              </a:rPr>
              <a:t>	i</a:t>
            </a:r>
            <a:r>
              <a:rPr lang="en-NL" sz="2000" b="1" spc="-50" dirty="0">
                <a:latin typeface="Courier New" panose="02070309020205020404" pitchFamily="49" charset="0"/>
                <a:ea typeface="Menlo" panose="020B0609030804020204" pitchFamily="49" charset="0"/>
                <a:cs typeface="Courier New" panose="02070309020205020404" pitchFamily="49" charset="0"/>
              </a:rPr>
              <a:t>f(i%2 == 0) </a:t>
            </a:r>
            <a:r>
              <a:rPr sz="2000" b="1" spc="-50" dirty="0">
                <a:latin typeface="Courier New" panose="02070309020205020404" pitchFamily="49" charset="0"/>
                <a:ea typeface="Menlo" panose="020B0609030804020204" pitchFamily="49" charset="0"/>
                <a:cs typeface="Courier New" panose="02070309020205020404" pitchFamily="49" charset="0"/>
              </a:rPr>
              <a:t> </a:t>
            </a:r>
            <a:endParaRPr lang="en-US" sz="2000" b="1" spc="-50" dirty="0">
              <a:latin typeface="Courier New" panose="02070309020205020404" pitchFamily="49" charset="0"/>
              <a:ea typeface="Menlo" panose="020B0609030804020204" pitchFamily="49" charset="0"/>
              <a:cs typeface="Courier New" panose="02070309020205020404" pitchFamily="49" charset="0"/>
            </a:endParaRPr>
          </a:p>
          <a:p>
            <a:pPr marL="621665" marR="5080" indent="-609600">
              <a:lnSpc>
                <a:spcPct val="120100"/>
              </a:lnSpc>
              <a:spcBef>
                <a:spcPts val="95"/>
              </a:spcBef>
              <a:tabLst>
                <a:tab pos="774700" algn="l"/>
                <a:tab pos="1840864" algn="l"/>
                <a:tab pos="2602865" algn="l"/>
                <a:tab pos="3060700" algn="l"/>
                <a:tab pos="3365500" algn="l"/>
                <a:tab pos="3517900" algn="l"/>
                <a:tab pos="4127500" algn="l"/>
                <a:tab pos="4584700" algn="l"/>
                <a:tab pos="5041900" algn="l"/>
                <a:tab pos="6108700" algn="l"/>
                <a:tab pos="6565900" algn="l"/>
                <a:tab pos="7632700" algn="l"/>
                <a:tab pos="8089900" algn="l"/>
              </a:tabLst>
            </a:pPr>
            <a:r>
              <a:rPr lang="en-NL" sz="2000" b="1" spc="-50" dirty="0">
                <a:latin typeface="Courier New" panose="02070309020205020404" pitchFamily="49" charset="0"/>
                <a:ea typeface="Menlo" panose="020B0609030804020204" pitchFamily="49" charset="0"/>
                <a:cs typeface="Courier New" panose="02070309020205020404" pitchFamily="49" charset="0"/>
              </a:rPr>
              <a:t>		  </a:t>
            </a:r>
            <a:r>
              <a:rPr lang="en-US" sz="2000" b="1" spc="-50" dirty="0">
                <a:latin typeface="Courier New" panose="02070309020205020404" pitchFamily="49" charset="0"/>
                <a:ea typeface="Menlo" panose="020B0609030804020204" pitchFamily="49" charset="0"/>
                <a:cs typeface="Courier New" panose="02070309020205020404" pitchFamily="49" charset="0"/>
              </a:rPr>
              <a:t>x[</a:t>
            </a:r>
            <a:r>
              <a:rPr lang="en-US" sz="2000" b="1" spc="-50" dirty="0" err="1">
                <a:latin typeface="Courier New" panose="02070309020205020404" pitchFamily="49" charset="0"/>
                <a:ea typeface="Menlo" panose="020B0609030804020204" pitchFamily="49" charset="0"/>
                <a:cs typeface="Courier New" panose="02070309020205020404" pitchFamily="49" charset="0"/>
              </a:rPr>
              <a:t>i</a:t>
            </a:r>
            <a:r>
              <a:rPr lang="en-US" sz="2000" b="1" spc="-50" dirty="0">
                <a:latin typeface="Courier New" panose="02070309020205020404" pitchFamily="49" charset="0"/>
                <a:ea typeface="Menlo" panose="020B0609030804020204" pitchFamily="49" charset="0"/>
                <a:cs typeface="Courier New" panose="02070309020205020404" pitchFamily="49" charset="0"/>
              </a:rPr>
              <a:t>] = 5;</a:t>
            </a:r>
          </a:p>
          <a:p>
            <a:pPr marL="621665" marR="5080" indent="-609600">
              <a:lnSpc>
                <a:spcPct val="120100"/>
              </a:lnSpc>
              <a:spcBef>
                <a:spcPts val="95"/>
              </a:spcBef>
              <a:tabLst>
                <a:tab pos="774700" algn="l"/>
                <a:tab pos="1840864" algn="l"/>
                <a:tab pos="2602865" algn="l"/>
                <a:tab pos="3060700" algn="l"/>
                <a:tab pos="3365500" algn="l"/>
                <a:tab pos="3517900" algn="l"/>
                <a:tab pos="4127500" algn="l"/>
                <a:tab pos="4584700" algn="l"/>
                <a:tab pos="5041900" algn="l"/>
                <a:tab pos="6108700" algn="l"/>
                <a:tab pos="6565900" algn="l"/>
                <a:tab pos="7632700" algn="l"/>
                <a:tab pos="8089900" algn="l"/>
              </a:tabLst>
            </a:pPr>
            <a:r>
              <a:rPr lang="en-US" sz="2000" b="1" spc="-50" dirty="0">
                <a:latin typeface="Courier New" panose="02070309020205020404" pitchFamily="49" charset="0"/>
                <a:ea typeface="Menlo" panose="020B0609030804020204" pitchFamily="49" charset="0"/>
                <a:cs typeface="Courier New" panose="02070309020205020404" pitchFamily="49" charset="0"/>
              </a:rPr>
              <a:t>	else</a:t>
            </a:r>
          </a:p>
          <a:p>
            <a:pPr marL="621665" marR="5080" indent="-609600">
              <a:lnSpc>
                <a:spcPct val="120100"/>
              </a:lnSpc>
              <a:spcBef>
                <a:spcPts val="95"/>
              </a:spcBef>
              <a:tabLst>
                <a:tab pos="774700" algn="l"/>
                <a:tab pos="1840864" algn="l"/>
                <a:tab pos="2602865" algn="l"/>
                <a:tab pos="3060700" algn="l"/>
                <a:tab pos="3365500" algn="l"/>
                <a:tab pos="3517900" algn="l"/>
                <a:tab pos="4127500" algn="l"/>
                <a:tab pos="4584700" algn="l"/>
                <a:tab pos="5041900" algn="l"/>
                <a:tab pos="6108700" algn="l"/>
                <a:tab pos="6565900" algn="l"/>
                <a:tab pos="7632700" algn="l"/>
                <a:tab pos="8089900" algn="l"/>
              </a:tabLst>
            </a:pPr>
            <a:r>
              <a:rPr lang="en-US" sz="2000" b="1" spc="-50" dirty="0">
                <a:latin typeface="Courier New" panose="02070309020205020404" pitchFamily="49" charset="0"/>
                <a:ea typeface="Menlo" panose="020B0609030804020204" pitchFamily="49" charset="0"/>
                <a:cs typeface="Courier New" panose="02070309020205020404" pitchFamily="49" charset="0"/>
              </a:rPr>
              <a:t>	   </a:t>
            </a:r>
            <a:r>
              <a:rPr lang="en-GB" sz="2000" b="1" spc="-50" dirty="0">
                <a:latin typeface="Courier New" panose="02070309020205020404" pitchFamily="49" charset="0"/>
                <a:ea typeface="Menlo" panose="020B0609030804020204" pitchFamily="49" charset="0"/>
                <a:cs typeface="Courier New" panose="02070309020205020404" pitchFamily="49" charset="0"/>
              </a:rPr>
              <a:t>x[</a:t>
            </a:r>
            <a:r>
              <a:rPr lang="en-GB" sz="2000" b="1" spc="-50" dirty="0" err="1">
                <a:latin typeface="Courier New" panose="02070309020205020404" pitchFamily="49" charset="0"/>
                <a:ea typeface="Menlo" panose="020B0609030804020204" pitchFamily="49" charset="0"/>
                <a:cs typeface="Courier New" panose="02070309020205020404" pitchFamily="49" charset="0"/>
              </a:rPr>
              <a:t>i</a:t>
            </a:r>
            <a:r>
              <a:rPr lang="en-GB" sz="2000" b="1" spc="-50" dirty="0">
                <a:latin typeface="Courier New" panose="02070309020205020404" pitchFamily="49" charset="0"/>
                <a:ea typeface="Menlo" panose="020B0609030804020204" pitchFamily="49" charset="0"/>
                <a:cs typeface="Courier New" panose="02070309020205020404" pitchFamily="49" charset="0"/>
              </a:rPr>
              <a:t>] = 10;</a:t>
            </a:r>
          </a:p>
          <a:p>
            <a:pPr marL="621665" marR="5080" indent="-609600">
              <a:lnSpc>
                <a:spcPct val="120100"/>
              </a:lnSpc>
              <a:spcBef>
                <a:spcPts val="95"/>
              </a:spcBef>
              <a:tabLst>
                <a:tab pos="774700" algn="l"/>
                <a:tab pos="1840864" algn="l"/>
                <a:tab pos="2602865" algn="l"/>
                <a:tab pos="3060700" algn="l"/>
                <a:tab pos="3365500" algn="l"/>
                <a:tab pos="3517900" algn="l"/>
                <a:tab pos="4127500" algn="l"/>
                <a:tab pos="4584700" algn="l"/>
                <a:tab pos="5041900" algn="l"/>
                <a:tab pos="6108700" algn="l"/>
                <a:tab pos="6565900" algn="l"/>
                <a:tab pos="7632700" algn="l"/>
                <a:tab pos="8089900" algn="l"/>
              </a:tabLst>
            </a:pPr>
            <a:endParaRPr lang="en-US" sz="2000" b="1" spc="-50" dirty="0">
              <a:latin typeface="Courier New" panose="02070309020205020404" pitchFamily="49" charset="0"/>
              <a:ea typeface="Menlo" panose="020B0609030804020204" pitchFamily="49" charset="0"/>
              <a:cs typeface="Courier New" panose="02070309020205020404" pitchFamily="49" charset="0"/>
            </a:endParaRPr>
          </a:p>
          <a:p>
            <a:pPr marL="12700">
              <a:spcBef>
                <a:spcPts val="480"/>
              </a:spcBef>
            </a:pPr>
            <a:r>
              <a:rPr sz="2000" b="1" spc="-50" dirty="0">
                <a:latin typeface="Courier New" panose="02070309020205020404" pitchFamily="49" charset="0"/>
                <a:ea typeface="Menlo" panose="020B0609030804020204" pitchFamily="49" charset="0"/>
                <a:cs typeface="Courier New" panose="02070309020205020404" pitchFamily="49" charset="0"/>
              </a:rPr>
              <a:t>}</a:t>
            </a:r>
            <a:endParaRPr sz="2000" b="1" dirty="0">
              <a:latin typeface="Courier New" panose="02070309020205020404" pitchFamily="49" charset="0"/>
              <a:ea typeface="Menlo" panose="020B0609030804020204" pitchFamily="49" charset="0"/>
              <a:cs typeface="Courier New" panose="02070309020205020404" pitchFamily="49" charset="0"/>
            </a:endParaRPr>
          </a:p>
        </p:txBody>
      </p:sp>
      <p:sp>
        <p:nvSpPr>
          <p:cNvPr id="3" name="object 3">
            <a:extLst>
              <a:ext uri="{FF2B5EF4-FFF2-40B4-BE49-F238E27FC236}">
                <a16:creationId xmlns:a16="http://schemas.microsoft.com/office/drawing/2014/main" id="{CB145C34-DB8D-7372-1FBF-3B69FE2A0F75}"/>
              </a:ext>
            </a:extLst>
          </p:cNvPr>
          <p:cNvSpPr txBox="1"/>
          <p:nvPr/>
        </p:nvSpPr>
        <p:spPr>
          <a:xfrm>
            <a:off x="6553200" y="2286000"/>
            <a:ext cx="5141844" cy="1899879"/>
          </a:xfrm>
          <a:prstGeom prst="rect">
            <a:avLst/>
          </a:prstGeom>
        </p:spPr>
        <p:txBody>
          <a:bodyPr vert="horz" wrap="square" lIns="0" tIns="12065" rIns="0" bIns="0" rtlCol="0">
            <a:spAutoFit/>
          </a:bodyPr>
          <a:lstStyle/>
          <a:p>
            <a:pPr marL="621665" marR="5080" indent="-609600">
              <a:lnSpc>
                <a:spcPct val="120100"/>
              </a:lnSpc>
              <a:spcBef>
                <a:spcPts val="95"/>
              </a:spcBef>
              <a:tabLst>
                <a:tab pos="774700" algn="l"/>
                <a:tab pos="1840864" algn="l"/>
                <a:tab pos="2602865" algn="l"/>
                <a:tab pos="3060700" algn="l"/>
                <a:tab pos="3365500" algn="l"/>
                <a:tab pos="3517900" algn="l"/>
                <a:tab pos="4127500" algn="l"/>
                <a:tab pos="4584700" algn="l"/>
                <a:tab pos="5041900" algn="l"/>
                <a:tab pos="6108700" algn="l"/>
                <a:tab pos="6565900" algn="l"/>
                <a:tab pos="7632700" algn="l"/>
                <a:tab pos="8089900" algn="l"/>
              </a:tabLst>
            </a:pPr>
            <a:r>
              <a:rPr lang="en-US" sz="2000" b="1" spc="-20" dirty="0">
                <a:latin typeface="Courier New" panose="02070309020205020404" pitchFamily="49" charset="0"/>
                <a:ea typeface="Menlo" panose="020B0609030804020204" pitchFamily="49" charset="0"/>
                <a:cs typeface="Courier New" panose="02070309020205020404" pitchFamily="49" charset="0"/>
              </a:rPr>
              <a:t>__global__ </a:t>
            </a:r>
            <a:r>
              <a:rPr sz="2000" b="1" spc="-20" dirty="0">
                <a:latin typeface="Courier New" panose="02070309020205020404" pitchFamily="49" charset="0"/>
                <a:ea typeface="Menlo" panose="020B0609030804020204" pitchFamily="49" charset="0"/>
                <a:cs typeface="Courier New" panose="02070309020205020404" pitchFamily="49" charset="0"/>
              </a:rPr>
              <a:t>void</a:t>
            </a:r>
            <a:r>
              <a:rPr sz="2000" b="1" dirty="0">
                <a:latin typeface="Courier New" panose="02070309020205020404" pitchFamily="49" charset="0"/>
                <a:ea typeface="Menlo" panose="020B0609030804020204" pitchFamily="49" charset="0"/>
                <a:cs typeface="Courier New" panose="02070309020205020404" pitchFamily="49" charset="0"/>
              </a:rPr>
              <a:t>	</a:t>
            </a:r>
            <a:r>
              <a:rPr lang="en-US" sz="2000" b="1" spc="-10" dirty="0">
                <a:latin typeface="Courier New" panose="02070309020205020404" pitchFamily="49" charset="0"/>
                <a:ea typeface="Menlo" panose="020B0609030804020204" pitchFamily="49" charset="0"/>
                <a:cs typeface="Courier New" panose="02070309020205020404" pitchFamily="49" charset="0"/>
              </a:rPr>
              <a:t> kernel</a:t>
            </a:r>
            <a:r>
              <a:rPr sz="2000" b="1" spc="-10" dirty="0">
                <a:latin typeface="Courier New" panose="02070309020205020404" pitchFamily="49" charset="0"/>
                <a:ea typeface="Menlo" panose="020B0609030804020204" pitchFamily="49" charset="0"/>
                <a:cs typeface="Courier New" panose="02070309020205020404" pitchFamily="49" charset="0"/>
              </a:rPr>
              <a:t>(</a:t>
            </a:r>
            <a:r>
              <a:rPr lang="en-US" sz="2000" b="1" spc="-10" dirty="0">
                <a:latin typeface="Courier New" panose="02070309020205020404" pitchFamily="49" charset="0"/>
                <a:ea typeface="Menlo" panose="020B0609030804020204" pitchFamily="49" charset="0"/>
                <a:cs typeface="Courier New" panose="02070309020205020404" pitchFamily="49" charset="0"/>
              </a:rPr>
              <a:t>int *x</a:t>
            </a:r>
            <a:r>
              <a:rPr sz="2000" b="1" spc="-25" dirty="0">
                <a:latin typeface="Courier New" panose="02070309020205020404" pitchFamily="49" charset="0"/>
                <a:ea typeface="Menlo" panose="020B0609030804020204" pitchFamily="49" charset="0"/>
                <a:cs typeface="Courier New" panose="02070309020205020404" pitchFamily="49" charset="0"/>
              </a:rPr>
              <a:t>)</a:t>
            </a:r>
            <a:r>
              <a:rPr sz="2000" b="1" dirty="0">
                <a:latin typeface="Courier New" panose="02070309020205020404" pitchFamily="49" charset="0"/>
                <a:ea typeface="Menlo" panose="020B0609030804020204" pitchFamily="49" charset="0"/>
                <a:cs typeface="Courier New" panose="02070309020205020404" pitchFamily="49" charset="0"/>
              </a:rPr>
              <a:t>	</a:t>
            </a:r>
            <a:endParaRPr lang="en-US" sz="2000" b="1" dirty="0">
              <a:latin typeface="Courier New" panose="02070309020205020404" pitchFamily="49" charset="0"/>
              <a:ea typeface="Menlo" panose="020B0609030804020204" pitchFamily="49" charset="0"/>
              <a:cs typeface="Courier New" panose="02070309020205020404" pitchFamily="49" charset="0"/>
            </a:endParaRPr>
          </a:p>
          <a:p>
            <a:pPr marL="621665" marR="5080" indent="-609600">
              <a:lnSpc>
                <a:spcPct val="120100"/>
              </a:lnSpc>
              <a:spcBef>
                <a:spcPts val="95"/>
              </a:spcBef>
              <a:tabLst>
                <a:tab pos="774700" algn="l"/>
                <a:tab pos="1840864" algn="l"/>
                <a:tab pos="2602865" algn="l"/>
                <a:tab pos="3060700" algn="l"/>
                <a:tab pos="3365500" algn="l"/>
                <a:tab pos="3517900" algn="l"/>
                <a:tab pos="4127500" algn="l"/>
                <a:tab pos="4584700" algn="l"/>
                <a:tab pos="5041900" algn="l"/>
                <a:tab pos="6108700" algn="l"/>
                <a:tab pos="6565900" algn="l"/>
                <a:tab pos="7632700" algn="l"/>
                <a:tab pos="8089900" algn="l"/>
              </a:tabLst>
            </a:pPr>
            <a:r>
              <a:rPr sz="2000" b="1" spc="-50" dirty="0">
                <a:latin typeface="Courier New" panose="02070309020205020404" pitchFamily="49" charset="0"/>
                <a:ea typeface="Menlo" panose="020B0609030804020204" pitchFamily="49" charset="0"/>
                <a:cs typeface="Courier New" panose="02070309020205020404" pitchFamily="49" charset="0"/>
              </a:rPr>
              <a:t>{</a:t>
            </a:r>
            <a:endParaRPr lang="en-US" sz="2000" b="1" spc="-50" dirty="0">
              <a:latin typeface="Courier New" panose="02070309020205020404" pitchFamily="49" charset="0"/>
              <a:ea typeface="Menlo" panose="020B0609030804020204" pitchFamily="49" charset="0"/>
              <a:cs typeface="Courier New" panose="02070309020205020404" pitchFamily="49" charset="0"/>
            </a:endParaRPr>
          </a:p>
          <a:p>
            <a:pPr marL="621665" marR="5080" indent="-609600">
              <a:lnSpc>
                <a:spcPct val="120100"/>
              </a:lnSpc>
              <a:spcBef>
                <a:spcPts val="95"/>
              </a:spcBef>
              <a:tabLst>
                <a:tab pos="774700" algn="l"/>
                <a:tab pos="1840864" algn="l"/>
                <a:tab pos="2602865" algn="l"/>
                <a:tab pos="3060700" algn="l"/>
                <a:tab pos="3365500" algn="l"/>
                <a:tab pos="3517900" algn="l"/>
                <a:tab pos="4127500" algn="l"/>
                <a:tab pos="4584700" algn="l"/>
                <a:tab pos="5041900" algn="l"/>
                <a:tab pos="6108700" algn="l"/>
                <a:tab pos="6565900" algn="l"/>
                <a:tab pos="7632700" algn="l"/>
                <a:tab pos="8089900" algn="l"/>
              </a:tabLst>
            </a:pPr>
            <a:r>
              <a:rPr lang="en-NL" sz="2000" b="1" spc="-50" dirty="0">
                <a:latin typeface="Courier New" panose="02070309020205020404" pitchFamily="49" charset="0"/>
                <a:ea typeface="Menlo" panose="020B0609030804020204" pitchFamily="49" charset="0"/>
                <a:cs typeface="Courier New" panose="02070309020205020404" pitchFamily="49" charset="0"/>
              </a:rPr>
              <a:t>	</a:t>
            </a:r>
            <a:r>
              <a:rPr lang="en-GB" sz="2000" b="1" spc="-50" dirty="0" err="1">
                <a:latin typeface="Courier New" panose="02070309020205020404" pitchFamily="49" charset="0"/>
                <a:ea typeface="Menlo" panose="020B0609030804020204" pitchFamily="49" charset="0"/>
                <a:cs typeface="Courier New" panose="02070309020205020404" pitchFamily="49" charset="0"/>
              </a:rPr>
              <a:t>i</a:t>
            </a:r>
            <a:r>
              <a:rPr lang="en-NL" sz="2000" b="1" spc="-50" dirty="0">
                <a:latin typeface="Courier New" panose="02070309020205020404" pitchFamily="49" charset="0"/>
                <a:ea typeface="Menlo" panose="020B0609030804020204" pitchFamily="49" charset="0"/>
                <a:cs typeface="Courier New" panose="02070309020205020404" pitchFamily="49" charset="0"/>
              </a:rPr>
              <a:t> = int threadIdx.x;</a:t>
            </a:r>
          </a:p>
          <a:p>
            <a:pPr marL="621665" marR="5080" indent="-609600">
              <a:lnSpc>
                <a:spcPct val="120100"/>
              </a:lnSpc>
              <a:spcBef>
                <a:spcPts val="95"/>
              </a:spcBef>
              <a:tabLst>
                <a:tab pos="774700" algn="l"/>
                <a:tab pos="1840864" algn="l"/>
                <a:tab pos="2602865" algn="l"/>
                <a:tab pos="3060700" algn="l"/>
                <a:tab pos="3365500" algn="l"/>
                <a:tab pos="3517900" algn="l"/>
                <a:tab pos="4127500" algn="l"/>
                <a:tab pos="4584700" algn="l"/>
                <a:tab pos="5041900" algn="l"/>
                <a:tab pos="6108700" algn="l"/>
                <a:tab pos="6565900" algn="l"/>
                <a:tab pos="7632700" algn="l"/>
                <a:tab pos="8089900" algn="l"/>
              </a:tabLst>
            </a:pPr>
            <a:r>
              <a:rPr lang="en-GB" sz="2000" b="1" spc="-50" dirty="0">
                <a:latin typeface="Courier New" panose="02070309020205020404" pitchFamily="49" charset="0"/>
                <a:ea typeface="Menlo" panose="020B0609030804020204" pitchFamily="49" charset="0"/>
                <a:cs typeface="Courier New" panose="02070309020205020404" pitchFamily="49" charset="0"/>
              </a:rPr>
              <a:t>	x[</a:t>
            </a:r>
            <a:r>
              <a:rPr lang="en-GB" sz="2000" b="1" spc="-50" dirty="0" err="1">
                <a:latin typeface="Courier New" panose="02070309020205020404" pitchFamily="49" charset="0"/>
                <a:ea typeface="Menlo" panose="020B0609030804020204" pitchFamily="49" charset="0"/>
                <a:cs typeface="Courier New" panose="02070309020205020404" pitchFamily="49" charset="0"/>
              </a:rPr>
              <a:t>i</a:t>
            </a:r>
            <a:r>
              <a:rPr lang="en-GB" sz="2000" b="1" spc="-50" dirty="0">
                <a:latin typeface="Courier New" panose="02070309020205020404" pitchFamily="49" charset="0"/>
                <a:ea typeface="Menlo" panose="020B0609030804020204" pitchFamily="49" charset="0"/>
                <a:cs typeface="Courier New" panose="02070309020205020404" pitchFamily="49" charset="0"/>
              </a:rPr>
              <a:t>] = (1 - i%2)*5 + (i%2)*10</a:t>
            </a:r>
            <a:endParaRPr lang="en-US" sz="2000" b="1" spc="-50" dirty="0">
              <a:latin typeface="Courier New" panose="02070309020205020404" pitchFamily="49" charset="0"/>
              <a:ea typeface="Menlo" panose="020B0609030804020204" pitchFamily="49" charset="0"/>
              <a:cs typeface="Courier New" panose="02070309020205020404" pitchFamily="49" charset="0"/>
            </a:endParaRPr>
          </a:p>
          <a:p>
            <a:pPr marL="12700">
              <a:spcBef>
                <a:spcPts val="480"/>
              </a:spcBef>
            </a:pPr>
            <a:r>
              <a:rPr sz="2000" b="1" spc="-50" dirty="0">
                <a:latin typeface="Courier New" panose="02070309020205020404" pitchFamily="49" charset="0"/>
                <a:ea typeface="Menlo" panose="020B0609030804020204" pitchFamily="49" charset="0"/>
                <a:cs typeface="Courier New" panose="02070309020205020404" pitchFamily="49" charset="0"/>
              </a:rPr>
              <a:t>}</a:t>
            </a:r>
            <a:endParaRPr sz="2000" b="1" dirty="0">
              <a:latin typeface="Courier New" panose="02070309020205020404" pitchFamily="49" charset="0"/>
              <a:ea typeface="Menlo" panose="020B0609030804020204" pitchFamily="49" charset="0"/>
              <a:cs typeface="Courier New" panose="02070309020205020404" pitchFamily="49" charset="0"/>
            </a:endParaRPr>
          </a:p>
        </p:txBody>
      </p:sp>
    </p:spTree>
    <p:extLst>
      <p:ext uri="{BB962C8B-B14F-4D97-AF65-F5344CB8AC3E}">
        <p14:creationId xmlns:p14="http://schemas.microsoft.com/office/powerpoint/2010/main" val="21924271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E6C23-7724-D027-F786-A76467F199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AA83B4-7A98-5794-09D4-5A0D393671BB}"/>
              </a:ext>
            </a:extLst>
          </p:cNvPr>
          <p:cNvSpPr>
            <a:spLocks noGrp="1"/>
          </p:cNvSpPr>
          <p:nvPr>
            <p:ph type="title"/>
          </p:nvPr>
        </p:nvSpPr>
        <p:spPr>
          <a:xfrm>
            <a:off x="698499" y="729741"/>
            <a:ext cx="10795000" cy="451342"/>
          </a:xfrm>
        </p:spPr>
        <p:txBody>
          <a:bodyPr/>
          <a:lstStyle/>
          <a:p>
            <a:r>
              <a:rPr lang="en-NL" sz="2933" cap="small" dirty="0">
                <a:solidFill>
                  <a:schemeClr val="dk2"/>
                </a:solidFill>
              </a:rPr>
              <a:t>Avoiding divergence</a:t>
            </a:r>
          </a:p>
        </p:txBody>
      </p:sp>
      <p:sp>
        <p:nvSpPr>
          <p:cNvPr id="3" name="object 3">
            <a:extLst>
              <a:ext uri="{FF2B5EF4-FFF2-40B4-BE49-F238E27FC236}">
                <a16:creationId xmlns:a16="http://schemas.microsoft.com/office/drawing/2014/main" id="{5E3C293E-F33E-14E3-12D3-4C42745E7749}"/>
              </a:ext>
            </a:extLst>
          </p:cNvPr>
          <p:cNvSpPr txBox="1"/>
          <p:nvPr/>
        </p:nvSpPr>
        <p:spPr>
          <a:xfrm>
            <a:off x="762000" y="1534336"/>
            <a:ext cx="10287000" cy="796372"/>
          </a:xfrm>
          <a:prstGeom prst="rect">
            <a:avLst/>
          </a:prstGeom>
        </p:spPr>
        <p:txBody>
          <a:bodyPr vert="horz" wrap="square" lIns="0" tIns="54610" rIns="0" bIns="0" rtlCol="0">
            <a:spAutoFit/>
          </a:bodyPr>
          <a:lstStyle/>
          <a:p>
            <a:pPr marL="355600" indent="-342900">
              <a:spcBef>
                <a:spcPts val="530"/>
              </a:spcBef>
              <a:buClr>
                <a:srgbClr val="4F80BC"/>
              </a:buClr>
              <a:buSzPct val="84090"/>
              <a:buFont typeface="Arial" panose="020B0604020202020204" pitchFamily="34" charset="0"/>
              <a:buChar char="•"/>
              <a:tabLst>
                <a:tab pos="194945" algn="l"/>
              </a:tabLst>
            </a:pPr>
            <a:r>
              <a:rPr lang="en-GB" sz="2200" dirty="0">
                <a:latin typeface="Arial"/>
                <a:cs typeface="Arial"/>
              </a:rPr>
              <a:t>Diverge at warp level</a:t>
            </a:r>
          </a:p>
          <a:p>
            <a:pPr marL="355600" indent="-342900">
              <a:spcBef>
                <a:spcPts val="530"/>
              </a:spcBef>
              <a:buClr>
                <a:srgbClr val="4F80BC"/>
              </a:buClr>
              <a:buSzPct val="84090"/>
              <a:buFont typeface="Arial" panose="020B0604020202020204" pitchFamily="34" charset="0"/>
              <a:buChar char="•"/>
              <a:tabLst>
                <a:tab pos="194945" algn="l"/>
              </a:tabLst>
            </a:pPr>
            <a:endParaRPr lang="en-GB" sz="2200" dirty="0">
              <a:latin typeface="Arial"/>
              <a:cs typeface="Arial"/>
            </a:endParaRPr>
          </a:p>
        </p:txBody>
      </p:sp>
      <p:sp>
        <p:nvSpPr>
          <p:cNvPr id="4" name="object 3">
            <a:extLst>
              <a:ext uri="{FF2B5EF4-FFF2-40B4-BE49-F238E27FC236}">
                <a16:creationId xmlns:a16="http://schemas.microsoft.com/office/drawing/2014/main" id="{A673D4A6-F05E-0816-FAF4-A6CB59D9FDB9}"/>
              </a:ext>
            </a:extLst>
          </p:cNvPr>
          <p:cNvSpPr txBox="1"/>
          <p:nvPr/>
        </p:nvSpPr>
        <p:spPr>
          <a:xfrm>
            <a:off x="457200" y="2501215"/>
            <a:ext cx="7391400" cy="3748077"/>
          </a:xfrm>
          <a:prstGeom prst="rect">
            <a:avLst/>
          </a:prstGeom>
        </p:spPr>
        <p:txBody>
          <a:bodyPr vert="horz" wrap="square" lIns="0" tIns="12065" rIns="0" bIns="0" rtlCol="0">
            <a:spAutoFit/>
          </a:bodyPr>
          <a:lstStyle/>
          <a:p>
            <a:pPr marL="621665" marR="5080" indent="-609600">
              <a:lnSpc>
                <a:spcPct val="120100"/>
              </a:lnSpc>
              <a:spcBef>
                <a:spcPts val="95"/>
              </a:spcBef>
              <a:tabLst>
                <a:tab pos="774700" algn="l"/>
                <a:tab pos="1840864" algn="l"/>
                <a:tab pos="2602865" algn="l"/>
                <a:tab pos="3060700" algn="l"/>
                <a:tab pos="3365500" algn="l"/>
                <a:tab pos="3517900" algn="l"/>
                <a:tab pos="4127500" algn="l"/>
                <a:tab pos="4584700" algn="l"/>
                <a:tab pos="5041900" algn="l"/>
                <a:tab pos="6108700" algn="l"/>
                <a:tab pos="6565900" algn="l"/>
                <a:tab pos="7632700" algn="l"/>
                <a:tab pos="8089900" algn="l"/>
              </a:tabLst>
            </a:pPr>
            <a:r>
              <a:rPr sz="2000" b="1" spc="-20" dirty="0">
                <a:latin typeface="Courier New" panose="02070309020205020404" pitchFamily="49" charset="0"/>
                <a:ea typeface="Menlo" panose="020B0609030804020204" pitchFamily="49" charset="0"/>
                <a:cs typeface="Courier New" panose="02070309020205020404" pitchFamily="49" charset="0"/>
              </a:rPr>
              <a:t>void</a:t>
            </a:r>
            <a:r>
              <a:rPr sz="2000" b="1" dirty="0">
                <a:latin typeface="Courier New" panose="02070309020205020404" pitchFamily="49" charset="0"/>
                <a:ea typeface="Menlo" panose="020B0609030804020204" pitchFamily="49" charset="0"/>
                <a:cs typeface="Courier New" panose="02070309020205020404" pitchFamily="49" charset="0"/>
              </a:rPr>
              <a:t>	</a:t>
            </a:r>
            <a:r>
              <a:rPr lang="en-US" sz="2000" b="1" spc="-10" dirty="0">
                <a:latin typeface="Courier New" panose="02070309020205020404" pitchFamily="49" charset="0"/>
                <a:ea typeface="Menlo" panose="020B0609030804020204" pitchFamily="49" charset="0"/>
                <a:cs typeface="Courier New" panose="02070309020205020404" pitchFamily="49" charset="0"/>
              </a:rPr>
              <a:t> kernel</a:t>
            </a:r>
            <a:r>
              <a:rPr sz="2000" b="1" spc="-10" dirty="0">
                <a:latin typeface="Courier New" panose="02070309020205020404" pitchFamily="49" charset="0"/>
                <a:ea typeface="Menlo" panose="020B0609030804020204" pitchFamily="49" charset="0"/>
                <a:cs typeface="Courier New" panose="02070309020205020404" pitchFamily="49" charset="0"/>
              </a:rPr>
              <a:t>(</a:t>
            </a:r>
            <a:r>
              <a:rPr lang="en-US" sz="2000" b="1" spc="-10" dirty="0">
                <a:latin typeface="Courier New" panose="02070309020205020404" pitchFamily="49" charset="0"/>
                <a:ea typeface="Menlo" panose="020B0609030804020204" pitchFamily="49" charset="0"/>
                <a:cs typeface="Courier New" panose="02070309020205020404" pitchFamily="49" charset="0"/>
              </a:rPr>
              <a:t>int *x</a:t>
            </a:r>
            <a:r>
              <a:rPr sz="2000" b="1" spc="-25" dirty="0">
                <a:latin typeface="Courier New" panose="02070309020205020404" pitchFamily="49" charset="0"/>
                <a:ea typeface="Menlo" panose="020B0609030804020204" pitchFamily="49" charset="0"/>
                <a:cs typeface="Courier New" panose="02070309020205020404" pitchFamily="49" charset="0"/>
              </a:rPr>
              <a:t>)</a:t>
            </a:r>
            <a:r>
              <a:rPr sz="2000" b="1" dirty="0">
                <a:latin typeface="Courier New" panose="02070309020205020404" pitchFamily="49" charset="0"/>
                <a:ea typeface="Menlo" panose="020B0609030804020204" pitchFamily="49" charset="0"/>
                <a:cs typeface="Courier New" panose="02070309020205020404" pitchFamily="49" charset="0"/>
              </a:rPr>
              <a:t>	</a:t>
            </a:r>
            <a:endParaRPr lang="en-US" sz="2000" b="1" dirty="0">
              <a:latin typeface="Courier New" panose="02070309020205020404" pitchFamily="49" charset="0"/>
              <a:ea typeface="Menlo" panose="020B0609030804020204" pitchFamily="49" charset="0"/>
              <a:cs typeface="Courier New" panose="02070309020205020404" pitchFamily="49" charset="0"/>
            </a:endParaRPr>
          </a:p>
          <a:p>
            <a:pPr marL="621665" marR="5080" indent="-609600">
              <a:lnSpc>
                <a:spcPct val="120100"/>
              </a:lnSpc>
              <a:spcBef>
                <a:spcPts val="95"/>
              </a:spcBef>
              <a:tabLst>
                <a:tab pos="774700" algn="l"/>
                <a:tab pos="1840864" algn="l"/>
                <a:tab pos="2602865" algn="l"/>
                <a:tab pos="3060700" algn="l"/>
                <a:tab pos="3365500" algn="l"/>
                <a:tab pos="3517900" algn="l"/>
                <a:tab pos="4127500" algn="l"/>
                <a:tab pos="4584700" algn="l"/>
                <a:tab pos="5041900" algn="l"/>
                <a:tab pos="6108700" algn="l"/>
                <a:tab pos="6565900" algn="l"/>
                <a:tab pos="7632700" algn="l"/>
                <a:tab pos="8089900" algn="l"/>
              </a:tabLst>
            </a:pPr>
            <a:r>
              <a:rPr sz="2000" b="1" spc="-50" dirty="0">
                <a:latin typeface="Courier New" panose="02070309020205020404" pitchFamily="49" charset="0"/>
                <a:ea typeface="Menlo" panose="020B0609030804020204" pitchFamily="49" charset="0"/>
                <a:cs typeface="Courier New" panose="02070309020205020404" pitchFamily="49" charset="0"/>
              </a:rPr>
              <a:t>{</a:t>
            </a:r>
            <a:endParaRPr lang="en-US" sz="2000" b="1" spc="-50" dirty="0">
              <a:latin typeface="Courier New" panose="02070309020205020404" pitchFamily="49" charset="0"/>
              <a:ea typeface="Menlo" panose="020B0609030804020204" pitchFamily="49" charset="0"/>
              <a:cs typeface="Courier New" panose="02070309020205020404" pitchFamily="49" charset="0"/>
            </a:endParaRPr>
          </a:p>
          <a:p>
            <a:pPr marL="559435" marR="5080" indent="-547370">
              <a:lnSpc>
                <a:spcPct val="113900"/>
              </a:lnSpc>
              <a:spcBef>
                <a:spcPts val="10"/>
              </a:spcBef>
              <a:tabLst>
                <a:tab pos="286385" algn="l"/>
                <a:tab pos="1104900" algn="l"/>
                <a:tab pos="1377950" algn="l"/>
                <a:tab pos="1508760" algn="l"/>
                <a:tab pos="1651000" algn="l"/>
                <a:tab pos="2196465" algn="l"/>
                <a:tab pos="3289300" algn="l"/>
                <a:tab pos="3562350" algn="l"/>
                <a:tab pos="4244975" algn="l"/>
                <a:tab pos="4653280" algn="l"/>
                <a:tab pos="5063490" algn="l"/>
                <a:tab pos="5336540" algn="l"/>
                <a:tab pos="5609590" algn="l"/>
                <a:tab pos="6017895" algn="l"/>
                <a:tab pos="6974205" algn="l"/>
                <a:tab pos="7382509" algn="l"/>
                <a:tab pos="8338184" algn="l"/>
                <a:tab pos="8747760" algn="l"/>
              </a:tabLst>
            </a:pPr>
            <a:r>
              <a:rPr lang="en-NL" sz="2000" b="1" spc="-50" dirty="0">
                <a:latin typeface="Courier New" panose="02070309020205020404" pitchFamily="49" charset="0"/>
                <a:ea typeface="Menlo" panose="020B0609030804020204" pitchFamily="49" charset="0"/>
                <a:cs typeface="Courier New" panose="02070309020205020404" pitchFamily="49" charset="0"/>
              </a:rPr>
              <a:t>	</a:t>
            </a:r>
            <a:r>
              <a:rPr lang="en-GB" sz="2000" b="1" spc="-50" dirty="0">
                <a:latin typeface="Courier New" panose="02070309020205020404" pitchFamily="49" charset="0"/>
                <a:ea typeface="Menlo" panose="020B0609030804020204" pitchFamily="49" charset="0"/>
                <a:cs typeface="Courier New" panose="02070309020205020404" pitchFamily="49" charset="0"/>
              </a:rPr>
              <a:t>i</a:t>
            </a:r>
            <a:r>
              <a:rPr lang="en-NL" sz="2000" b="1" spc="-50" dirty="0">
                <a:latin typeface="Courier New" panose="02070309020205020404" pitchFamily="49" charset="0"/>
                <a:ea typeface="Menlo" panose="020B0609030804020204" pitchFamily="49" charset="0"/>
                <a:cs typeface="Courier New" panose="02070309020205020404" pitchFamily="49" charset="0"/>
              </a:rPr>
              <a:t> = </a:t>
            </a:r>
            <a:r>
              <a:rPr lang="en-GB" sz="2000" b="1" spc="-10" dirty="0" err="1">
                <a:solidFill>
                  <a:schemeClr val="tx1"/>
                </a:solidFill>
                <a:latin typeface="Courier New"/>
                <a:cs typeface="Courier New"/>
              </a:rPr>
              <a:t>threadIdx.x</a:t>
            </a:r>
            <a:r>
              <a:rPr lang="en-GB" sz="2000" b="1" spc="-10" dirty="0">
                <a:solidFill>
                  <a:schemeClr val="tx1"/>
                </a:solidFill>
                <a:latin typeface="Times New Roman"/>
                <a:cs typeface="Times New Roman"/>
              </a:rPr>
              <a:t> </a:t>
            </a:r>
            <a:r>
              <a:rPr lang="en-GB" sz="2000" b="1" spc="-50" dirty="0">
                <a:solidFill>
                  <a:schemeClr val="tx1"/>
                </a:solidFill>
                <a:latin typeface="Courier New"/>
                <a:cs typeface="Courier New"/>
              </a:rPr>
              <a:t>+</a:t>
            </a:r>
            <a:r>
              <a:rPr lang="en-GB" sz="2000" dirty="0">
                <a:solidFill>
                  <a:schemeClr val="tx1"/>
                </a:solidFill>
                <a:latin typeface="Times New Roman"/>
                <a:cs typeface="Times New Roman"/>
              </a:rPr>
              <a:t>	</a:t>
            </a:r>
            <a:r>
              <a:rPr lang="en-GB" sz="2000" b="1" spc="-10" dirty="0" err="1">
                <a:solidFill>
                  <a:schemeClr val="tx1"/>
                </a:solidFill>
                <a:latin typeface="Courier New"/>
                <a:cs typeface="Courier New"/>
              </a:rPr>
              <a:t>blockDim.x</a:t>
            </a:r>
            <a:r>
              <a:rPr lang="en-GB" sz="2000" dirty="0">
                <a:solidFill>
                  <a:schemeClr val="tx1"/>
                </a:solidFill>
                <a:latin typeface="Times New Roman"/>
                <a:cs typeface="Times New Roman"/>
              </a:rPr>
              <a:t>	</a:t>
            </a:r>
            <a:r>
              <a:rPr lang="en-GB" sz="2000" b="1" spc="-50" dirty="0">
                <a:solidFill>
                  <a:schemeClr val="tx1"/>
                </a:solidFill>
                <a:latin typeface="Courier New"/>
                <a:cs typeface="Courier New"/>
              </a:rPr>
              <a:t>*</a:t>
            </a:r>
            <a:r>
              <a:rPr lang="en-GB" sz="2000" dirty="0">
                <a:solidFill>
                  <a:schemeClr val="tx1"/>
                </a:solidFill>
                <a:latin typeface="Times New Roman"/>
                <a:cs typeface="Times New Roman"/>
              </a:rPr>
              <a:t>	</a:t>
            </a:r>
            <a:r>
              <a:rPr lang="en-GB" sz="2000" b="1" spc="-10" dirty="0" err="1">
                <a:solidFill>
                  <a:schemeClr val="tx1"/>
                </a:solidFill>
                <a:latin typeface="Courier New"/>
                <a:cs typeface="Courier New"/>
              </a:rPr>
              <a:t>blockIdx.x</a:t>
            </a:r>
            <a:r>
              <a:rPr lang="en-GB" sz="2000" b="1" spc="-10" dirty="0">
                <a:solidFill>
                  <a:schemeClr val="tx1"/>
                </a:solidFill>
                <a:latin typeface="Courier New"/>
                <a:cs typeface="Courier New"/>
              </a:rPr>
              <a:t>;</a:t>
            </a:r>
          </a:p>
          <a:p>
            <a:pPr marL="559435" marR="5080" indent="-547370">
              <a:lnSpc>
                <a:spcPct val="113900"/>
              </a:lnSpc>
              <a:spcBef>
                <a:spcPts val="10"/>
              </a:spcBef>
              <a:tabLst>
                <a:tab pos="286385" algn="l"/>
                <a:tab pos="1104900" algn="l"/>
                <a:tab pos="1377950" algn="l"/>
                <a:tab pos="1508760" algn="l"/>
                <a:tab pos="1651000" algn="l"/>
                <a:tab pos="2196465" algn="l"/>
                <a:tab pos="3289300" algn="l"/>
                <a:tab pos="3562350" algn="l"/>
                <a:tab pos="4244975" algn="l"/>
                <a:tab pos="4653280" algn="l"/>
                <a:tab pos="5063490" algn="l"/>
                <a:tab pos="5336540" algn="l"/>
                <a:tab pos="5609590" algn="l"/>
                <a:tab pos="6017895" algn="l"/>
                <a:tab pos="6974205" algn="l"/>
                <a:tab pos="7382509" algn="l"/>
                <a:tab pos="8338184" algn="l"/>
                <a:tab pos="8747760" algn="l"/>
              </a:tabLst>
            </a:pPr>
            <a:endParaRPr lang="en-GB" sz="2000" dirty="0">
              <a:latin typeface="Courier New"/>
              <a:cs typeface="Courier New"/>
            </a:endParaRPr>
          </a:p>
          <a:p>
            <a:pPr marL="621665" marR="5080" indent="-609600">
              <a:lnSpc>
                <a:spcPct val="120100"/>
              </a:lnSpc>
              <a:spcBef>
                <a:spcPts val="95"/>
              </a:spcBef>
              <a:tabLst>
                <a:tab pos="774700" algn="l"/>
                <a:tab pos="1840864" algn="l"/>
                <a:tab pos="2602865" algn="l"/>
                <a:tab pos="3060700" algn="l"/>
                <a:tab pos="3365500" algn="l"/>
                <a:tab pos="3517900" algn="l"/>
                <a:tab pos="4127500" algn="l"/>
                <a:tab pos="4584700" algn="l"/>
                <a:tab pos="5041900" algn="l"/>
                <a:tab pos="6108700" algn="l"/>
                <a:tab pos="6565900" algn="l"/>
                <a:tab pos="7632700" algn="l"/>
                <a:tab pos="8089900" algn="l"/>
              </a:tabLst>
            </a:pPr>
            <a:r>
              <a:rPr lang="en-GB" sz="2000" b="1" spc="-50" dirty="0">
                <a:latin typeface="Courier New" panose="02070309020205020404" pitchFamily="49" charset="0"/>
                <a:ea typeface="Menlo" panose="020B0609030804020204" pitchFamily="49" charset="0"/>
                <a:cs typeface="Courier New" panose="02070309020205020404" pitchFamily="49" charset="0"/>
              </a:rPr>
              <a:t>	i</a:t>
            </a:r>
            <a:r>
              <a:rPr lang="en-NL" sz="2000" b="1" spc="-50" dirty="0">
                <a:latin typeface="Courier New" panose="02070309020205020404" pitchFamily="49" charset="0"/>
                <a:ea typeface="Menlo" panose="020B0609030804020204" pitchFamily="49" charset="0"/>
                <a:cs typeface="Courier New" panose="02070309020205020404" pitchFamily="49" charset="0"/>
              </a:rPr>
              <a:t>f(i/32) </a:t>
            </a:r>
            <a:r>
              <a:rPr sz="2000" b="1" spc="-50" dirty="0">
                <a:latin typeface="Courier New" panose="02070309020205020404" pitchFamily="49" charset="0"/>
                <a:ea typeface="Menlo" panose="020B0609030804020204" pitchFamily="49" charset="0"/>
                <a:cs typeface="Courier New" panose="02070309020205020404" pitchFamily="49" charset="0"/>
              </a:rPr>
              <a:t> </a:t>
            </a:r>
            <a:endParaRPr lang="en-US" sz="2000" b="1" spc="-50" dirty="0">
              <a:latin typeface="Courier New" panose="02070309020205020404" pitchFamily="49" charset="0"/>
              <a:ea typeface="Menlo" panose="020B0609030804020204" pitchFamily="49" charset="0"/>
              <a:cs typeface="Courier New" panose="02070309020205020404" pitchFamily="49" charset="0"/>
            </a:endParaRPr>
          </a:p>
          <a:p>
            <a:pPr marL="621665" marR="5080" indent="-609600">
              <a:lnSpc>
                <a:spcPct val="120100"/>
              </a:lnSpc>
              <a:spcBef>
                <a:spcPts val="95"/>
              </a:spcBef>
              <a:tabLst>
                <a:tab pos="774700" algn="l"/>
                <a:tab pos="1840864" algn="l"/>
                <a:tab pos="2602865" algn="l"/>
                <a:tab pos="3060700" algn="l"/>
                <a:tab pos="3365500" algn="l"/>
                <a:tab pos="3517900" algn="l"/>
                <a:tab pos="4127500" algn="l"/>
                <a:tab pos="4584700" algn="l"/>
                <a:tab pos="5041900" algn="l"/>
                <a:tab pos="6108700" algn="l"/>
                <a:tab pos="6565900" algn="l"/>
                <a:tab pos="7632700" algn="l"/>
                <a:tab pos="8089900" algn="l"/>
              </a:tabLst>
            </a:pPr>
            <a:r>
              <a:rPr lang="en-NL" sz="2000" b="1" spc="-50" dirty="0">
                <a:latin typeface="Courier New" panose="02070309020205020404" pitchFamily="49" charset="0"/>
                <a:ea typeface="Menlo" panose="020B0609030804020204" pitchFamily="49" charset="0"/>
                <a:cs typeface="Courier New" panose="02070309020205020404" pitchFamily="49" charset="0"/>
              </a:rPr>
              <a:t>		  statement 1;</a:t>
            </a:r>
          </a:p>
          <a:p>
            <a:pPr marL="621665" marR="5080" indent="-609600">
              <a:lnSpc>
                <a:spcPct val="120100"/>
              </a:lnSpc>
              <a:spcBef>
                <a:spcPts val="95"/>
              </a:spcBef>
              <a:tabLst>
                <a:tab pos="774700" algn="l"/>
                <a:tab pos="1840864" algn="l"/>
                <a:tab pos="2602865" algn="l"/>
                <a:tab pos="3060700" algn="l"/>
                <a:tab pos="3365500" algn="l"/>
                <a:tab pos="3517900" algn="l"/>
                <a:tab pos="4127500" algn="l"/>
                <a:tab pos="4584700" algn="l"/>
                <a:tab pos="5041900" algn="l"/>
                <a:tab pos="6108700" algn="l"/>
                <a:tab pos="6565900" algn="l"/>
                <a:tab pos="7632700" algn="l"/>
                <a:tab pos="8089900" algn="l"/>
              </a:tabLst>
            </a:pPr>
            <a:r>
              <a:rPr lang="en-US" sz="2000" b="1" spc="-50" dirty="0">
                <a:latin typeface="Courier New" panose="02070309020205020404" pitchFamily="49" charset="0"/>
                <a:ea typeface="Menlo" panose="020B0609030804020204" pitchFamily="49" charset="0"/>
                <a:cs typeface="Courier New" panose="02070309020205020404" pitchFamily="49" charset="0"/>
              </a:rPr>
              <a:t>	else</a:t>
            </a:r>
          </a:p>
          <a:p>
            <a:pPr marL="621665" marR="5080" indent="-609600">
              <a:lnSpc>
                <a:spcPct val="120100"/>
              </a:lnSpc>
              <a:spcBef>
                <a:spcPts val="95"/>
              </a:spcBef>
              <a:tabLst>
                <a:tab pos="774700" algn="l"/>
                <a:tab pos="1840864" algn="l"/>
                <a:tab pos="2602865" algn="l"/>
                <a:tab pos="3060700" algn="l"/>
                <a:tab pos="3365500" algn="l"/>
                <a:tab pos="3517900" algn="l"/>
                <a:tab pos="4127500" algn="l"/>
                <a:tab pos="4584700" algn="l"/>
                <a:tab pos="5041900" algn="l"/>
                <a:tab pos="6108700" algn="l"/>
                <a:tab pos="6565900" algn="l"/>
                <a:tab pos="7632700" algn="l"/>
                <a:tab pos="8089900" algn="l"/>
              </a:tabLst>
            </a:pPr>
            <a:r>
              <a:rPr lang="en-US" sz="2000" b="1" spc="-50" dirty="0">
                <a:latin typeface="Courier New" panose="02070309020205020404" pitchFamily="49" charset="0"/>
                <a:ea typeface="Menlo" panose="020B0609030804020204" pitchFamily="49" charset="0"/>
                <a:cs typeface="Courier New" panose="02070309020205020404" pitchFamily="49" charset="0"/>
              </a:rPr>
              <a:t>	   </a:t>
            </a:r>
            <a:r>
              <a:rPr lang="en-NL" sz="2000" b="1" spc="-50" dirty="0">
                <a:latin typeface="Courier New" panose="02070309020205020404" pitchFamily="49" charset="0"/>
                <a:ea typeface="Menlo" panose="020B0609030804020204" pitchFamily="49" charset="0"/>
                <a:cs typeface="Courier New" panose="02070309020205020404" pitchFamily="49" charset="0"/>
              </a:rPr>
              <a:t>statement 2;</a:t>
            </a:r>
          </a:p>
          <a:p>
            <a:pPr marL="621665" marR="5080" indent="-609600">
              <a:lnSpc>
                <a:spcPct val="120100"/>
              </a:lnSpc>
              <a:spcBef>
                <a:spcPts val="95"/>
              </a:spcBef>
              <a:tabLst>
                <a:tab pos="774700" algn="l"/>
                <a:tab pos="1840864" algn="l"/>
                <a:tab pos="2602865" algn="l"/>
                <a:tab pos="3060700" algn="l"/>
                <a:tab pos="3365500" algn="l"/>
                <a:tab pos="3517900" algn="l"/>
                <a:tab pos="4127500" algn="l"/>
                <a:tab pos="4584700" algn="l"/>
                <a:tab pos="5041900" algn="l"/>
                <a:tab pos="6108700" algn="l"/>
                <a:tab pos="6565900" algn="l"/>
                <a:tab pos="7632700" algn="l"/>
                <a:tab pos="8089900" algn="l"/>
              </a:tabLst>
            </a:pPr>
            <a:endParaRPr lang="en-US" sz="2000" b="1" spc="-50" dirty="0">
              <a:latin typeface="Courier New" panose="02070309020205020404" pitchFamily="49" charset="0"/>
              <a:ea typeface="Menlo" panose="020B0609030804020204" pitchFamily="49" charset="0"/>
              <a:cs typeface="Courier New" panose="02070309020205020404" pitchFamily="49" charset="0"/>
            </a:endParaRPr>
          </a:p>
          <a:p>
            <a:pPr marL="12700">
              <a:spcBef>
                <a:spcPts val="480"/>
              </a:spcBef>
            </a:pPr>
            <a:r>
              <a:rPr sz="2000" b="1" spc="-50" dirty="0">
                <a:latin typeface="Courier New" panose="02070309020205020404" pitchFamily="49" charset="0"/>
                <a:ea typeface="Menlo" panose="020B0609030804020204" pitchFamily="49" charset="0"/>
                <a:cs typeface="Courier New" panose="02070309020205020404" pitchFamily="49" charset="0"/>
              </a:rPr>
              <a:t>}</a:t>
            </a:r>
            <a:endParaRPr sz="2000" b="1" dirty="0">
              <a:latin typeface="Courier New" panose="02070309020205020404" pitchFamily="49" charset="0"/>
              <a:ea typeface="Menlo" panose="020B0609030804020204" pitchFamily="49" charset="0"/>
              <a:cs typeface="Courier New" panose="02070309020205020404" pitchFamily="49" charset="0"/>
            </a:endParaRPr>
          </a:p>
        </p:txBody>
      </p:sp>
    </p:spTree>
    <p:extLst>
      <p:ext uri="{BB962C8B-B14F-4D97-AF65-F5344CB8AC3E}">
        <p14:creationId xmlns:p14="http://schemas.microsoft.com/office/powerpoint/2010/main" val="8073364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194"/>
        <p:cNvGrpSpPr/>
        <p:nvPr/>
      </p:nvGrpSpPr>
      <p:grpSpPr>
        <a:xfrm>
          <a:off x="0" y="0"/>
          <a:ext cx="0" cy="0"/>
          <a:chOff x="0" y="0"/>
          <a:chExt cx="0" cy="0"/>
        </a:xfrm>
      </p:grpSpPr>
      <p:sp>
        <p:nvSpPr>
          <p:cNvPr id="2195" name="Google Shape;2195;p60"/>
          <p:cNvSpPr txBox="1">
            <a:spLocks noGrp="1"/>
          </p:cNvSpPr>
          <p:nvPr>
            <p:ph type="title"/>
          </p:nvPr>
        </p:nvSpPr>
        <p:spPr>
          <a:xfrm>
            <a:off x="533400" y="571301"/>
            <a:ext cx="10650400" cy="709600"/>
          </a:xfrm>
          <a:prstGeom prst="rect">
            <a:avLst/>
          </a:prstGeom>
          <a:noFill/>
        </p:spPr>
        <p:txBody>
          <a:bodyPr spcFirstLastPara="1" wrap="square" lIns="91433" tIns="91433" rIns="91433" bIns="91433" anchor="b" anchorCtr="0">
            <a:noAutofit/>
          </a:bodyPr>
          <a:lstStyle/>
          <a:p>
            <a:pPr rtl="0"/>
            <a:r>
              <a:rPr lang="en-GB"/>
              <a:t>Exercise - 1</a:t>
            </a:r>
            <a:endParaRPr/>
          </a:p>
        </p:txBody>
      </p:sp>
      <p:sp>
        <p:nvSpPr>
          <p:cNvPr id="2196" name="Google Shape;2196;p60"/>
          <p:cNvSpPr txBox="1">
            <a:spLocks noGrp="1"/>
          </p:cNvSpPr>
          <p:nvPr>
            <p:ph type="body" idx="1"/>
          </p:nvPr>
        </p:nvSpPr>
        <p:spPr>
          <a:xfrm>
            <a:off x="339433" y="4425367"/>
            <a:ext cx="11326400" cy="523600"/>
          </a:xfrm>
          <a:prstGeom prst="rect">
            <a:avLst/>
          </a:prstGeom>
        </p:spPr>
        <p:txBody>
          <a:bodyPr spcFirstLastPara="1" wrap="square" lIns="91433" tIns="91433" rIns="91433" bIns="91433" anchor="t" anchorCtr="0">
            <a:noAutofit/>
          </a:bodyPr>
          <a:lstStyle/>
          <a:p>
            <a:pPr marL="0" indent="0" algn="ctr" rtl="0">
              <a:buNone/>
            </a:pPr>
            <a:r>
              <a:rPr lang="en-GB" sz="2400" b="1">
                <a:solidFill>
                  <a:schemeClr val="accent4"/>
                </a:solidFill>
              </a:rPr>
              <a:t>Q: is this code divergent and, if yes, what is the performance penalty?</a:t>
            </a:r>
            <a:endParaRPr sz="2400" b="1">
              <a:solidFill>
                <a:schemeClr val="accent4"/>
              </a:solidFill>
            </a:endParaRPr>
          </a:p>
        </p:txBody>
      </p:sp>
      <p:sp>
        <p:nvSpPr>
          <p:cNvPr id="2197" name="Google Shape;2197;p60"/>
          <p:cNvSpPr txBox="1">
            <a:spLocks noGrp="1"/>
          </p:cNvSpPr>
          <p:nvPr>
            <p:ph type="sldNum" idx="12"/>
          </p:nvPr>
        </p:nvSpPr>
        <p:spPr>
          <a:xfrm>
            <a:off x="11466783" y="5913927"/>
            <a:ext cx="731600" cy="418000"/>
          </a:xfrm>
          <a:prstGeom prst="rect">
            <a:avLst/>
          </a:prstGeom>
        </p:spPr>
        <p:txBody>
          <a:bodyPr spcFirstLastPara="1" wrap="square" lIns="91433" tIns="91433" rIns="91433" bIns="91433" anchor="t" anchorCtr="0">
            <a:noAutofit/>
          </a:bodyPr>
          <a:lstStyle/>
          <a:p>
            <a:pPr rtl="0"/>
            <a:fld id="{00000000-1234-1234-1234-123412341234}" type="slidenum">
              <a:rPr lang="en-GB"/>
              <a:pPr rtl="0"/>
              <a:t>57</a:t>
            </a:fld>
            <a:endParaRPr/>
          </a:p>
        </p:txBody>
      </p:sp>
      <p:sp>
        <p:nvSpPr>
          <p:cNvPr id="2198" name="Google Shape;2198;p60"/>
          <p:cNvSpPr txBox="1"/>
          <p:nvPr/>
        </p:nvSpPr>
        <p:spPr>
          <a:xfrm>
            <a:off x="1754433" y="1374701"/>
            <a:ext cx="8981600" cy="2877670"/>
          </a:xfrm>
          <a:prstGeom prst="rect">
            <a:avLst/>
          </a:prstGeom>
          <a:noFill/>
          <a:ln>
            <a:noFill/>
          </a:ln>
        </p:spPr>
        <p:txBody>
          <a:bodyPr spcFirstLastPara="1" wrap="square" lIns="121900" tIns="121900" rIns="121900" bIns="121900" anchor="t" anchorCtr="0">
            <a:spAutoFit/>
          </a:bodyPr>
          <a:lstStyle/>
          <a:p>
            <a:pPr algn="l" rtl="0"/>
            <a:r>
              <a:rPr lang="en-GB" dirty="0">
                <a:solidFill>
                  <a:srgbClr val="37474F"/>
                </a:solidFill>
                <a:latin typeface="Roboto Mono"/>
                <a:ea typeface="Roboto Mono"/>
                <a:cs typeface="Roboto Mono"/>
                <a:sym typeface="Roboto Mono"/>
              </a:rPr>
              <a:t>__global__ </a:t>
            </a:r>
            <a:r>
              <a:rPr lang="en-GB" dirty="0">
                <a:solidFill>
                  <a:srgbClr val="3F51B5"/>
                </a:solidFill>
                <a:latin typeface="Roboto Mono"/>
                <a:ea typeface="Roboto Mono"/>
                <a:cs typeface="Roboto Mono"/>
                <a:sym typeface="Roboto Mono"/>
              </a:rPr>
              <a:t>void</a:t>
            </a:r>
            <a:r>
              <a:rPr lang="en-GB" dirty="0">
                <a:solidFill>
                  <a:srgbClr val="37474F"/>
                </a:solidFill>
                <a:latin typeface="Roboto Mono"/>
                <a:ea typeface="Roboto Mono"/>
                <a:cs typeface="Roboto Mono"/>
                <a:sym typeface="Roboto Mono"/>
              </a:rPr>
              <a:t> foo(</a:t>
            </a:r>
            <a:r>
              <a:rPr lang="en-GB" dirty="0">
                <a:solidFill>
                  <a:srgbClr val="3F51B5"/>
                </a:solidFill>
                <a:latin typeface="Roboto Mono"/>
                <a:ea typeface="Roboto Mono"/>
                <a:cs typeface="Roboto Mono"/>
                <a:sym typeface="Roboto Mono"/>
              </a:rPr>
              <a:t>int</a:t>
            </a:r>
            <a:r>
              <a:rPr lang="en-GB" dirty="0">
                <a:solidFill>
                  <a:srgbClr val="37474F"/>
                </a:solidFill>
                <a:latin typeface="Roboto Mono"/>
                <a:ea typeface="Roboto Mono"/>
                <a:cs typeface="Roboto Mono"/>
                <a:sym typeface="Roboto Mono"/>
              </a:rPr>
              <a:t> N, </a:t>
            </a:r>
            <a:r>
              <a:rPr lang="en-GB" dirty="0">
                <a:solidFill>
                  <a:srgbClr val="3F51B5"/>
                </a:solidFill>
                <a:latin typeface="Roboto Mono"/>
                <a:ea typeface="Roboto Mono"/>
                <a:cs typeface="Roboto Mono"/>
                <a:sym typeface="Roboto Mono"/>
              </a:rPr>
              <a:t>int</a:t>
            </a:r>
            <a:r>
              <a:rPr lang="en-GB" dirty="0">
                <a:solidFill>
                  <a:srgbClr val="37474F"/>
                </a:solidFill>
                <a:latin typeface="Roboto Mono"/>
                <a:ea typeface="Roboto Mono"/>
                <a:cs typeface="Roboto Mono"/>
                <a:sym typeface="Roboto Mono"/>
              </a:rPr>
              <a:t> *data){</a:t>
            </a:r>
            <a:endParaRPr dirty="0">
              <a:solidFill>
                <a:srgbClr val="37474F"/>
              </a:solidFill>
              <a:latin typeface="Roboto Mono"/>
              <a:ea typeface="Roboto Mono"/>
              <a:cs typeface="Roboto Mono"/>
              <a:sym typeface="Roboto Mono"/>
            </a:endParaRPr>
          </a:p>
          <a:p>
            <a:pPr algn="l" rtl="0"/>
            <a:r>
              <a:rPr lang="en-GB" dirty="0">
                <a:solidFill>
                  <a:srgbClr val="37474F"/>
                </a:solidFill>
                <a:latin typeface="Roboto Mono"/>
                <a:ea typeface="Roboto Mono"/>
                <a:cs typeface="Roboto Mono"/>
                <a:sym typeface="Roboto Mono"/>
              </a:rPr>
              <a:t>    index = </a:t>
            </a:r>
            <a:r>
              <a:rPr lang="en-GB" dirty="0" err="1">
                <a:solidFill>
                  <a:srgbClr val="37474F"/>
                </a:solidFill>
                <a:latin typeface="Roboto Mono"/>
                <a:ea typeface="Roboto Mono"/>
                <a:cs typeface="Roboto Mono"/>
                <a:sym typeface="Roboto Mono"/>
              </a:rPr>
              <a:t>threadIdx.x</a:t>
            </a:r>
            <a:r>
              <a:rPr lang="en-GB" dirty="0">
                <a:solidFill>
                  <a:srgbClr val="37474F"/>
                </a:solidFill>
                <a:latin typeface="Roboto Mono"/>
                <a:ea typeface="Roboto Mono"/>
                <a:cs typeface="Roboto Mono"/>
                <a:sym typeface="Roboto Mono"/>
              </a:rPr>
              <a:t>;</a:t>
            </a:r>
            <a:endParaRPr dirty="0">
              <a:solidFill>
                <a:srgbClr val="37474F"/>
              </a:solidFill>
              <a:latin typeface="Roboto Mono"/>
              <a:ea typeface="Roboto Mono"/>
              <a:cs typeface="Roboto Mono"/>
              <a:sym typeface="Roboto Mono"/>
            </a:endParaRPr>
          </a:p>
          <a:p>
            <a:pPr algn="l" rtl="0"/>
            <a:r>
              <a:rPr lang="en-GB" dirty="0">
                <a:solidFill>
                  <a:srgbClr val="37474F"/>
                </a:solidFill>
                <a:latin typeface="Roboto Mono"/>
                <a:ea typeface="Roboto Mono"/>
                <a:cs typeface="Roboto Mono"/>
                <a:sym typeface="Roboto Mono"/>
              </a:rPr>
              <a:t>    </a:t>
            </a:r>
            <a:r>
              <a:rPr lang="en-GB" dirty="0">
                <a:solidFill>
                  <a:srgbClr val="3F51B5"/>
                </a:solidFill>
                <a:latin typeface="Roboto Mono"/>
                <a:ea typeface="Roboto Mono"/>
                <a:cs typeface="Roboto Mono"/>
                <a:sym typeface="Roboto Mono"/>
              </a:rPr>
              <a:t>int</a:t>
            </a:r>
            <a:r>
              <a:rPr lang="en-GB" dirty="0">
                <a:solidFill>
                  <a:srgbClr val="37474F"/>
                </a:solidFill>
                <a:latin typeface="Roboto Mono"/>
                <a:ea typeface="Roboto Mono"/>
                <a:cs typeface="Roboto Mono"/>
                <a:sym typeface="Roboto Mono"/>
              </a:rPr>
              <a:t> result;</a:t>
            </a:r>
            <a:endParaRPr dirty="0">
              <a:solidFill>
                <a:srgbClr val="37474F"/>
              </a:solidFill>
              <a:latin typeface="Roboto Mono"/>
              <a:ea typeface="Roboto Mono"/>
              <a:cs typeface="Roboto Mono"/>
              <a:sym typeface="Roboto Mono"/>
            </a:endParaRPr>
          </a:p>
          <a:p>
            <a:pPr algn="l" rtl="0"/>
            <a:r>
              <a:rPr lang="en-GB" dirty="0">
                <a:solidFill>
                  <a:srgbClr val="37474F"/>
                </a:solidFill>
                <a:latin typeface="Roboto Mono"/>
                <a:ea typeface="Roboto Mono"/>
                <a:cs typeface="Roboto Mono"/>
                <a:sym typeface="Roboto Mono"/>
              </a:rPr>
              <a:t>    </a:t>
            </a:r>
            <a:r>
              <a:rPr lang="en-GB" dirty="0">
                <a:solidFill>
                  <a:srgbClr val="3F51B5"/>
                </a:solidFill>
                <a:latin typeface="Roboto Mono"/>
                <a:ea typeface="Roboto Mono"/>
                <a:cs typeface="Roboto Mono"/>
                <a:sym typeface="Roboto Mono"/>
              </a:rPr>
              <a:t>if</a:t>
            </a:r>
            <a:r>
              <a:rPr lang="en-GB" dirty="0">
                <a:solidFill>
                  <a:srgbClr val="37474F"/>
                </a:solidFill>
                <a:latin typeface="Roboto Mono"/>
                <a:ea typeface="Roboto Mono"/>
                <a:cs typeface="Roboto Mono"/>
                <a:sym typeface="Roboto Mono"/>
              </a:rPr>
              <a:t> (N % </a:t>
            </a:r>
            <a:r>
              <a:rPr lang="en-GB" dirty="0">
                <a:solidFill>
                  <a:srgbClr val="C53929"/>
                </a:solidFill>
                <a:latin typeface="Roboto Mono"/>
                <a:ea typeface="Roboto Mono"/>
                <a:cs typeface="Roboto Mono"/>
                <a:sym typeface="Roboto Mono"/>
              </a:rPr>
              <a:t>2</a:t>
            </a:r>
            <a:r>
              <a:rPr lang="en-GB" dirty="0">
                <a:solidFill>
                  <a:srgbClr val="37474F"/>
                </a:solidFill>
                <a:latin typeface="Roboto Mono"/>
                <a:ea typeface="Roboto Mono"/>
                <a:cs typeface="Roboto Mono"/>
                <a:sym typeface="Roboto Mono"/>
              </a:rPr>
              <a:t> == </a:t>
            </a:r>
            <a:r>
              <a:rPr lang="en-GB" dirty="0">
                <a:solidFill>
                  <a:srgbClr val="C53929"/>
                </a:solidFill>
                <a:latin typeface="Roboto Mono"/>
                <a:ea typeface="Roboto Mono"/>
                <a:cs typeface="Roboto Mono"/>
                <a:sym typeface="Roboto Mono"/>
              </a:rPr>
              <a:t>0</a:t>
            </a:r>
            <a:r>
              <a:rPr lang="en-GB" dirty="0">
                <a:solidFill>
                  <a:srgbClr val="37474F"/>
                </a:solidFill>
                <a:latin typeface="Roboto Mono"/>
                <a:ea typeface="Roboto Mono"/>
                <a:cs typeface="Roboto Mono"/>
                <a:sym typeface="Roboto Mono"/>
              </a:rPr>
              <a:t> )</a:t>
            </a:r>
            <a:endParaRPr dirty="0">
              <a:solidFill>
                <a:srgbClr val="37474F"/>
              </a:solidFill>
              <a:latin typeface="Roboto Mono"/>
              <a:ea typeface="Roboto Mono"/>
              <a:cs typeface="Roboto Mono"/>
              <a:sym typeface="Roboto Mono"/>
            </a:endParaRPr>
          </a:p>
          <a:p>
            <a:pPr algn="l" rtl="0"/>
            <a:r>
              <a:rPr lang="en-GB" dirty="0">
                <a:solidFill>
                  <a:srgbClr val="37474F"/>
                </a:solidFill>
                <a:latin typeface="Roboto Mono"/>
                <a:ea typeface="Roboto Mono"/>
                <a:cs typeface="Roboto Mono"/>
                <a:sym typeface="Roboto Mono"/>
              </a:rPr>
              <a:t>        result = N;</a:t>
            </a:r>
            <a:endParaRPr dirty="0">
              <a:solidFill>
                <a:srgbClr val="37474F"/>
              </a:solidFill>
              <a:latin typeface="Roboto Mono"/>
              <a:ea typeface="Roboto Mono"/>
              <a:cs typeface="Roboto Mono"/>
              <a:sym typeface="Roboto Mono"/>
            </a:endParaRPr>
          </a:p>
          <a:p>
            <a:pPr algn="l" rtl="0"/>
            <a:r>
              <a:rPr lang="en-GB" dirty="0">
                <a:solidFill>
                  <a:srgbClr val="37474F"/>
                </a:solidFill>
                <a:latin typeface="Roboto Mono"/>
                <a:ea typeface="Roboto Mono"/>
                <a:cs typeface="Roboto Mono"/>
                <a:sym typeface="Roboto Mono"/>
              </a:rPr>
              <a:t>    </a:t>
            </a:r>
            <a:r>
              <a:rPr lang="en-GB" dirty="0">
                <a:solidFill>
                  <a:srgbClr val="3F51B5"/>
                </a:solidFill>
                <a:latin typeface="Roboto Mono"/>
                <a:ea typeface="Roboto Mono"/>
                <a:cs typeface="Roboto Mono"/>
                <a:sym typeface="Roboto Mono"/>
              </a:rPr>
              <a:t>else</a:t>
            </a:r>
            <a:endParaRPr dirty="0">
              <a:solidFill>
                <a:srgbClr val="37474F"/>
              </a:solidFill>
              <a:latin typeface="Roboto Mono"/>
              <a:ea typeface="Roboto Mono"/>
              <a:cs typeface="Roboto Mono"/>
              <a:sym typeface="Roboto Mono"/>
            </a:endParaRPr>
          </a:p>
          <a:p>
            <a:pPr algn="l" rtl="0"/>
            <a:r>
              <a:rPr lang="en-GB" dirty="0">
                <a:solidFill>
                  <a:srgbClr val="37474F"/>
                </a:solidFill>
                <a:latin typeface="Roboto Mono"/>
                <a:ea typeface="Roboto Mono"/>
                <a:cs typeface="Roboto Mono"/>
                <a:sym typeface="Roboto Mono"/>
              </a:rPr>
              <a:t>        result = N*N;</a:t>
            </a:r>
            <a:endParaRPr dirty="0">
              <a:solidFill>
                <a:srgbClr val="37474F"/>
              </a:solidFill>
              <a:latin typeface="Roboto Mono"/>
              <a:ea typeface="Roboto Mono"/>
              <a:cs typeface="Roboto Mono"/>
              <a:sym typeface="Roboto Mono"/>
            </a:endParaRPr>
          </a:p>
          <a:p>
            <a:pPr algn="l" rtl="0"/>
            <a:r>
              <a:rPr lang="en-GB" dirty="0">
                <a:solidFill>
                  <a:srgbClr val="37474F"/>
                </a:solidFill>
                <a:latin typeface="Roboto Mono"/>
                <a:ea typeface="Roboto Mono"/>
                <a:cs typeface="Roboto Mono"/>
                <a:sym typeface="Roboto Mono"/>
              </a:rPr>
              <a:t>    data[index] = (</a:t>
            </a:r>
            <a:r>
              <a:rPr lang="en-GB" dirty="0">
                <a:solidFill>
                  <a:srgbClr val="3F51B5"/>
                </a:solidFill>
                <a:latin typeface="Roboto Mono"/>
                <a:ea typeface="Roboto Mono"/>
                <a:cs typeface="Roboto Mono"/>
                <a:sym typeface="Roboto Mono"/>
              </a:rPr>
              <a:t>float</a:t>
            </a:r>
            <a:r>
              <a:rPr lang="en-GB" dirty="0">
                <a:solidFill>
                  <a:srgbClr val="37474F"/>
                </a:solidFill>
                <a:latin typeface="Roboto Mono"/>
                <a:ea typeface="Roboto Mono"/>
                <a:cs typeface="Roboto Mono"/>
                <a:sym typeface="Roboto Mono"/>
              </a:rPr>
              <a:t>)result;</a:t>
            </a:r>
            <a:endParaRPr dirty="0">
              <a:solidFill>
                <a:srgbClr val="37474F"/>
              </a:solidFill>
              <a:latin typeface="Roboto Mono"/>
              <a:ea typeface="Roboto Mono"/>
              <a:cs typeface="Roboto Mono"/>
              <a:sym typeface="Roboto Mono"/>
            </a:endParaRPr>
          </a:p>
          <a:p>
            <a:pPr algn="l" rtl="0">
              <a:lnSpc>
                <a:spcPct val="150000"/>
              </a:lnSpc>
            </a:pPr>
            <a:r>
              <a:rPr lang="en-GB" dirty="0">
                <a:solidFill>
                  <a:srgbClr val="37474F"/>
                </a:solidFill>
                <a:latin typeface="Roboto Mono"/>
                <a:ea typeface="Roboto Mono"/>
                <a:cs typeface="Roboto Mono"/>
                <a:sym typeface="Roboto Mono"/>
              </a:rPr>
              <a:t>}</a:t>
            </a:r>
            <a:endParaRPr dirty="0">
              <a:solidFill>
                <a:srgbClr val="37474F"/>
              </a:solidFill>
              <a:latin typeface="Roboto Mono"/>
              <a:ea typeface="Roboto Mono"/>
              <a:cs typeface="Roboto Mono"/>
              <a:sym typeface="Roboto Mono"/>
            </a:endParaRPr>
          </a:p>
        </p:txBody>
      </p:sp>
      <p:sp>
        <p:nvSpPr>
          <p:cNvPr id="2199" name="Google Shape;2199;p60"/>
          <p:cNvSpPr txBox="1">
            <a:spLocks noGrp="1"/>
          </p:cNvSpPr>
          <p:nvPr>
            <p:ph type="body" idx="1"/>
          </p:nvPr>
        </p:nvSpPr>
        <p:spPr>
          <a:xfrm>
            <a:off x="339433" y="5136567"/>
            <a:ext cx="11326400" cy="523600"/>
          </a:xfrm>
          <a:prstGeom prst="rect">
            <a:avLst/>
          </a:prstGeom>
        </p:spPr>
        <p:txBody>
          <a:bodyPr spcFirstLastPara="1" wrap="square" lIns="91433" tIns="91433" rIns="91433" bIns="91433" anchor="t" anchorCtr="0">
            <a:noAutofit/>
          </a:bodyPr>
          <a:lstStyle/>
          <a:p>
            <a:pPr marL="0" indent="0" algn="ctr" rtl="0">
              <a:buNone/>
            </a:pPr>
            <a:r>
              <a:rPr lang="en-GB" sz="2400" dirty="0">
                <a:solidFill>
                  <a:schemeClr val="dk2"/>
                </a:solidFill>
              </a:rPr>
              <a:t>No, this code is not divergent. </a:t>
            </a:r>
            <a:r>
              <a:rPr lang="en-GB" sz="2400" dirty="0">
                <a:solidFill>
                  <a:schemeClr val="accent6"/>
                </a:solidFill>
              </a:rPr>
              <a:t>The value of </a:t>
            </a:r>
            <a:r>
              <a:rPr lang="en-GB" sz="2400" dirty="0">
                <a:solidFill>
                  <a:srgbClr val="188038"/>
                </a:solidFill>
                <a:latin typeface="Roboto Mono"/>
                <a:ea typeface="Roboto Mono"/>
                <a:sym typeface="Roboto Mono"/>
              </a:rPr>
              <a:t>N</a:t>
            </a:r>
            <a:r>
              <a:rPr lang="en-GB" sz="2400" dirty="0">
                <a:solidFill>
                  <a:schemeClr val="accent6"/>
                </a:solidFill>
              </a:rPr>
              <a:t> is the same for all threads</a:t>
            </a:r>
            <a:endParaRPr sz="2400" dirty="0">
              <a:solidFill>
                <a:schemeClr val="accent6"/>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203"/>
        <p:cNvGrpSpPr/>
        <p:nvPr/>
      </p:nvGrpSpPr>
      <p:grpSpPr>
        <a:xfrm>
          <a:off x="0" y="0"/>
          <a:ext cx="0" cy="0"/>
          <a:chOff x="0" y="0"/>
          <a:chExt cx="0" cy="0"/>
        </a:xfrm>
      </p:grpSpPr>
      <p:sp>
        <p:nvSpPr>
          <p:cNvPr id="2204" name="Google Shape;2204;p61"/>
          <p:cNvSpPr txBox="1">
            <a:spLocks noGrp="1"/>
          </p:cNvSpPr>
          <p:nvPr>
            <p:ph type="title"/>
          </p:nvPr>
        </p:nvSpPr>
        <p:spPr>
          <a:xfrm>
            <a:off x="302384" y="292575"/>
            <a:ext cx="10650400" cy="709600"/>
          </a:xfrm>
          <a:prstGeom prst="rect">
            <a:avLst/>
          </a:prstGeom>
          <a:noFill/>
        </p:spPr>
        <p:txBody>
          <a:bodyPr spcFirstLastPara="1" wrap="square" lIns="91433" tIns="91433" rIns="91433" bIns="91433" anchor="b" anchorCtr="0">
            <a:noAutofit/>
          </a:bodyPr>
          <a:lstStyle/>
          <a:p>
            <a:pPr rtl="0"/>
            <a:r>
              <a:rPr lang="en-GB"/>
              <a:t>Exercise - 2</a:t>
            </a:r>
            <a:endParaRPr/>
          </a:p>
        </p:txBody>
      </p:sp>
      <p:sp>
        <p:nvSpPr>
          <p:cNvPr id="2205" name="Google Shape;2205;p61"/>
          <p:cNvSpPr txBox="1">
            <a:spLocks noGrp="1"/>
          </p:cNvSpPr>
          <p:nvPr>
            <p:ph type="body" idx="1"/>
          </p:nvPr>
        </p:nvSpPr>
        <p:spPr>
          <a:xfrm>
            <a:off x="7331833" y="927200"/>
            <a:ext cx="4718000" cy="552400"/>
          </a:xfrm>
          <a:prstGeom prst="rect">
            <a:avLst/>
          </a:prstGeom>
        </p:spPr>
        <p:txBody>
          <a:bodyPr spcFirstLastPara="1" wrap="square" lIns="91433" tIns="91433" rIns="91433" bIns="91433" anchor="t" anchorCtr="0">
            <a:noAutofit/>
          </a:bodyPr>
          <a:lstStyle/>
          <a:p>
            <a:pPr marL="0" indent="0" rtl="0">
              <a:buNone/>
            </a:pPr>
            <a:r>
              <a:rPr lang="en-GB" sz="2267" b="1">
                <a:solidFill>
                  <a:schemeClr val="accent4"/>
                </a:solidFill>
              </a:rPr>
              <a:t>Q: What is the #warps per block?</a:t>
            </a:r>
            <a:endParaRPr sz="2267" b="1">
              <a:solidFill>
                <a:schemeClr val="accent4"/>
              </a:solidFill>
            </a:endParaRPr>
          </a:p>
        </p:txBody>
      </p:sp>
      <p:sp>
        <p:nvSpPr>
          <p:cNvPr id="2206" name="Google Shape;2206;p61"/>
          <p:cNvSpPr txBox="1">
            <a:spLocks noGrp="1"/>
          </p:cNvSpPr>
          <p:nvPr>
            <p:ph type="sldNum" idx="12"/>
          </p:nvPr>
        </p:nvSpPr>
        <p:spPr>
          <a:xfrm>
            <a:off x="11466783" y="5913927"/>
            <a:ext cx="731600" cy="418000"/>
          </a:xfrm>
          <a:prstGeom prst="rect">
            <a:avLst/>
          </a:prstGeom>
        </p:spPr>
        <p:txBody>
          <a:bodyPr spcFirstLastPara="1" wrap="square" lIns="91433" tIns="91433" rIns="91433" bIns="91433" anchor="t" anchorCtr="0">
            <a:noAutofit/>
          </a:bodyPr>
          <a:lstStyle/>
          <a:p>
            <a:pPr rtl="0"/>
            <a:fld id="{00000000-1234-1234-1234-123412341234}" type="slidenum">
              <a:rPr lang="en-GB"/>
              <a:pPr rtl="0"/>
              <a:t>58</a:t>
            </a:fld>
            <a:endParaRPr/>
          </a:p>
        </p:txBody>
      </p:sp>
      <p:sp>
        <p:nvSpPr>
          <p:cNvPr id="2208" name="Google Shape;2208;p61"/>
          <p:cNvSpPr txBox="1">
            <a:spLocks noGrp="1"/>
          </p:cNvSpPr>
          <p:nvPr>
            <p:ph type="body" idx="1"/>
          </p:nvPr>
        </p:nvSpPr>
        <p:spPr>
          <a:xfrm>
            <a:off x="7305633" y="1558967"/>
            <a:ext cx="4588000" cy="552400"/>
          </a:xfrm>
          <a:prstGeom prst="rect">
            <a:avLst/>
          </a:prstGeom>
        </p:spPr>
        <p:txBody>
          <a:bodyPr spcFirstLastPara="1" wrap="square" lIns="91433" tIns="91433" rIns="91433" bIns="91433" anchor="t" anchorCtr="0">
            <a:noAutofit/>
          </a:bodyPr>
          <a:lstStyle/>
          <a:p>
            <a:pPr marL="0" indent="0" rtl="0">
              <a:buNone/>
            </a:pPr>
            <a:r>
              <a:rPr lang="en-GB" sz="2267" b="1" dirty="0">
                <a:solidFill>
                  <a:schemeClr val="accent4"/>
                </a:solidFill>
              </a:rPr>
              <a:t>Q: What is the #warps in the grid?</a:t>
            </a:r>
            <a:endParaRPr sz="2267" b="1" dirty="0">
              <a:solidFill>
                <a:schemeClr val="accent4"/>
              </a:solidFill>
            </a:endParaRPr>
          </a:p>
        </p:txBody>
      </p:sp>
      <p:sp>
        <p:nvSpPr>
          <p:cNvPr id="2209" name="Google Shape;2209;p61"/>
          <p:cNvSpPr txBox="1">
            <a:spLocks noGrp="1"/>
          </p:cNvSpPr>
          <p:nvPr>
            <p:ph type="body" idx="1"/>
          </p:nvPr>
        </p:nvSpPr>
        <p:spPr>
          <a:xfrm>
            <a:off x="7353604" y="2535643"/>
            <a:ext cx="4153200" cy="552400"/>
          </a:xfrm>
          <a:prstGeom prst="rect">
            <a:avLst/>
          </a:prstGeom>
        </p:spPr>
        <p:txBody>
          <a:bodyPr spcFirstLastPara="1" wrap="square" lIns="91433" tIns="91433" rIns="91433" bIns="91433" anchor="t" anchorCtr="0">
            <a:noAutofit/>
          </a:bodyPr>
          <a:lstStyle/>
          <a:p>
            <a:pPr marL="0" indent="0" rtl="0">
              <a:buNone/>
            </a:pPr>
            <a:r>
              <a:rPr lang="en-GB" b="1" dirty="0">
                <a:solidFill>
                  <a:schemeClr val="accent4"/>
                </a:solidFill>
              </a:rPr>
              <a:t>Q: For this </a:t>
            </a:r>
            <a:r>
              <a:rPr lang="en-GB" b="1" dirty="0">
                <a:solidFill>
                  <a:schemeClr val="accent3"/>
                </a:solidFill>
              </a:rPr>
              <a:t>statement</a:t>
            </a:r>
            <a:r>
              <a:rPr lang="en-GB" b="1" dirty="0">
                <a:solidFill>
                  <a:schemeClr val="accent4"/>
                </a:solidFill>
              </a:rPr>
              <a:t>: how many warps in the grid are active? How many are divergent?</a:t>
            </a:r>
            <a:endParaRPr b="1" dirty="0">
              <a:solidFill>
                <a:schemeClr val="accent4"/>
              </a:solidFill>
            </a:endParaRPr>
          </a:p>
          <a:p>
            <a:pPr marL="0" indent="0" rtl="0">
              <a:buNone/>
            </a:pPr>
            <a:endParaRPr dirty="0">
              <a:solidFill>
                <a:schemeClr val="accent4"/>
              </a:solidFill>
            </a:endParaRPr>
          </a:p>
        </p:txBody>
      </p:sp>
      <p:sp>
        <p:nvSpPr>
          <p:cNvPr id="2210" name="Google Shape;2210;p61"/>
          <p:cNvSpPr txBox="1"/>
          <p:nvPr/>
        </p:nvSpPr>
        <p:spPr>
          <a:xfrm>
            <a:off x="316800" y="2060317"/>
            <a:ext cx="7214000" cy="4062610"/>
          </a:xfrm>
          <a:prstGeom prst="rect">
            <a:avLst/>
          </a:prstGeom>
          <a:noFill/>
          <a:ln>
            <a:noFill/>
          </a:ln>
        </p:spPr>
        <p:txBody>
          <a:bodyPr spcFirstLastPara="1" wrap="square" lIns="121900" tIns="121900" rIns="121900" bIns="121900" anchor="t" anchorCtr="0">
            <a:spAutoFit/>
          </a:bodyPr>
          <a:lstStyle/>
          <a:p>
            <a:pPr algn="l" rtl="0"/>
            <a:r>
              <a:rPr lang="en-GB" sz="1600" dirty="0">
                <a:solidFill>
                  <a:srgbClr val="37474F"/>
                </a:solidFill>
                <a:latin typeface="Roboto Mono"/>
                <a:ea typeface="Roboto Mono"/>
                <a:cs typeface="Roboto Mono"/>
                <a:sym typeface="Roboto Mono"/>
              </a:rPr>
              <a:t>__global__ </a:t>
            </a:r>
            <a:r>
              <a:rPr lang="en-GB" sz="1600" dirty="0">
                <a:solidFill>
                  <a:srgbClr val="3F51B5"/>
                </a:solidFill>
                <a:latin typeface="Roboto Mono"/>
                <a:ea typeface="Roboto Mono"/>
                <a:cs typeface="Roboto Mono"/>
                <a:sym typeface="Roboto Mono"/>
              </a:rPr>
              <a:t>void</a:t>
            </a:r>
            <a:r>
              <a:rPr lang="en-GB" sz="1600" dirty="0">
                <a:solidFill>
                  <a:srgbClr val="37474F"/>
                </a:solidFill>
                <a:latin typeface="Roboto Mono"/>
                <a:ea typeface="Roboto Mono"/>
                <a:cs typeface="Roboto Mono"/>
                <a:sym typeface="Roboto Mono"/>
              </a:rPr>
              <a:t> </a:t>
            </a:r>
            <a:r>
              <a:rPr lang="en-GB" sz="1600" dirty="0" err="1">
                <a:solidFill>
                  <a:srgbClr val="37474F"/>
                </a:solidFill>
                <a:latin typeface="Roboto Mono"/>
                <a:ea typeface="Roboto Mono"/>
                <a:cs typeface="Roboto Mono"/>
                <a:sym typeface="Roboto Mono"/>
              </a:rPr>
              <a:t>foo_kernel</a:t>
            </a:r>
            <a:r>
              <a:rPr lang="en-GB" sz="1600" dirty="0">
                <a:solidFill>
                  <a:srgbClr val="37474F"/>
                </a:solidFill>
                <a:latin typeface="Roboto Mono"/>
                <a:ea typeface="Roboto Mono"/>
                <a:cs typeface="Roboto Mono"/>
                <a:sym typeface="Roboto Mono"/>
              </a:rPr>
              <a:t> (</a:t>
            </a:r>
            <a:r>
              <a:rPr lang="en-GB" sz="1600" dirty="0">
                <a:solidFill>
                  <a:srgbClr val="3F51B5"/>
                </a:solidFill>
                <a:latin typeface="Roboto Mono"/>
                <a:ea typeface="Roboto Mono"/>
                <a:cs typeface="Roboto Mono"/>
                <a:sym typeface="Roboto Mono"/>
              </a:rPr>
              <a:t>int</a:t>
            </a:r>
            <a:r>
              <a:rPr lang="en-GB" sz="1600" dirty="0">
                <a:solidFill>
                  <a:srgbClr val="37474F"/>
                </a:solidFill>
                <a:latin typeface="Roboto Mono"/>
                <a:ea typeface="Roboto Mono"/>
                <a:cs typeface="Roboto Mono"/>
                <a:sym typeface="Roboto Mono"/>
              </a:rPr>
              <a:t>* a, </a:t>
            </a:r>
            <a:r>
              <a:rPr lang="en-GB" sz="1600" dirty="0">
                <a:solidFill>
                  <a:srgbClr val="3F51B5"/>
                </a:solidFill>
                <a:latin typeface="Roboto Mono"/>
                <a:ea typeface="Roboto Mono"/>
                <a:cs typeface="Roboto Mono"/>
                <a:sym typeface="Roboto Mono"/>
              </a:rPr>
              <a:t>int</a:t>
            </a:r>
            <a:r>
              <a:rPr lang="en-GB" sz="1600" dirty="0">
                <a:solidFill>
                  <a:srgbClr val="37474F"/>
                </a:solidFill>
                <a:latin typeface="Roboto Mono"/>
                <a:ea typeface="Roboto Mono"/>
                <a:cs typeface="Roboto Mono"/>
                <a:sym typeface="Roboto Mono"/>
              </a:rPr>
              <a:t>* b) {</a:t>
            </a:r>
            <a:endParaRPr sz="1600" dirty="0">
              <a:solidFill>
                <a:srgbClr val="37474F"/>
              </a:solidFill>
              <a:latin typeface="Roboto Mono"/>
              <a:ea typeface="Roboto Mono"/>
              <a:cs typeface="Roboto Mono"/>
              <a:sym typeface="Roboto Mono"/>
            </a:endParaRPr>
          </a:p>
          <a:p>
            <a:pPr algn="l" rtl="0"/>
            <a:r>
              <a:rPr lang="en-GB" sz="1600" dirty="0">
                <a:solidFill>
                  <a:srgbClr val="37474F"/>
                </a:solidFill>
                <a:latin typeface="Roboto Mono"/>
                <a:ea typeface="Roboto Mono"/>
                <a:cs typeface="Roboto Mono"/>
                <a:sym typeface="Roboto Mono"/>
              </a:rPr>
              <a:t>  </a:t>
            </a:r>
            <a:r>
              <a:rPr lang="en-GB" sz="1600" dirty="0">
                <a:solidFill>
                  <a:srgbClr val="3F51B5"/>
                </a:solidFill>
                <a:latin typeface="Roboto Mono"/>
                <a:ea typeface="Roboto Mono"/>
                <a:cs typeface="Roboto Mono"/>
                <a:sym typeface="Roboto Mono"/>
              </a:rPr>
              <a:t>unsigned</a:t>
            </a:r>
            <a:r>
              <a:rPr lang="en-GB" sz="1600" dirty="0">
                <a:solidFill>
                  <a:srgbClr val="37474F"/>
                </a:solidFill>
                <a:latin typeface="Roboto Mono"/>
                <a:ea typeface="Roboto Mono"/>
                <a:cs typeface="Roboto Mono"/>
                <a:sym typeface="Roboto Mono"/>
              </a:rPr>
              <a:t> </a:t>
            </a:r>
            <a:r>
              <a:rPr lang="en-GB" sz="1600" dirty="0">
                <a:solidFill>
                  <a:srgbClr val="3F51B5"/>
                </a:solidFill>
                <a:latin typeface="Roboto Mono"/>
                <a:ea typeface="Roboto Mono"/>
                <a:cs typeface="Roboto Mono"/>
                <a:sym typeface="Roboto Mono"/>
              </a:rPr>
              <a:t>int</a:t>
            </a:r>
            <a:r>
              <a:rPr lang="en-GB" sz="1600" dirty="0">
                <a:solidFill>
                  <a:srgbClr val="37474F"/>
                </a:solidFill>
                <a:latin typeface="Roboto Mono"/>
                <a:ea typeface="Roboto Mono"/>
                <a:cs typeface="Roboto Mono"/>
                <a:sym typeface="Roboto Mono"/>
              </a:rPr>
              <a:t> </a:t>
            </a:r>
            <a:r>
              <a:rPr lang="en-GB" sz="1600" dirty="0" err="1">
                <a:solidFill>
                  <a:srgbClr val="37474F"/>
                </a:solidFill>
                <a:latin typeface="Roboto Mono"/>
                <a:ea typeface="Roboto Mono"/>
                <a:cs typeface="Roboto Mono"/>
                <a:sym typeface="Roboto Mono"/>
              </a:rPr>
              <a:t>i</a:t>
            </a:r>
            <a:r>
              <a:rPr lang="en-GB" sz="1600" dirty="0">
                <a:solidFill>
                  <a:srgbClr val="37474F"/>
                </a:solidFill>
                <a:latin typeface="Roboto Mono"/>
                <a:ea typeface="Roboto Mono"/>
                <a:cs typeface="Roboto Mono"/>
                <a:sym typeface="Roboto Mono"/>
              </a:rPr>
              <a:t> = </a:t>
            </a:r>
            <a:r>
              <a:rPr lang="en-GB" sz="1600" dirty="0" err="1">
                <a:solidFill>
                  <a:srgbClr val="37474F"/>
                </a:solidFill>
                <a:latin typeface="Roboto Mono"/>
                <a:ea typeface="Roboto Mono"/>
                <a:cs typeface="Roboto Mono"/>
                <a:sym typeface="Roboto Mono"/>
              </a:rPr>
              <a:t>blockIdx.x</a:t>
            </a:r>
            <a:r>
              <a:rPr lang="en-GB" sz="1600" dirty="0">
                <a:solidFill>
                  <a:srgbClr val="37474F"/>
                </a:solidFill>
                <a:latin typeface="Roboto Mono"/>
                <a:ea typeface="Roboto Mono"/>
                <a:cs typeface="Roboto Mono"/>
                <a:sym typeface="Roboto Mono"/>
              </a:rPr>
              <a:t>*</a:t>
            </a:r>
            <a:r>
              <a:rPr lang="en-GB" sz="1600" dirty="0" err="1">
                <a:solidFill>
                  <a:srgbClr val="37474F"/>
                </a:solidFill>
                <a:latin typeface="Roboto Mono"/>
                <a:ea typeface="Roboto Mono"/>
                <a:cs typeface="Roboto Mono"/>
                <a:sym typeface="Roboto Mono"/>
              </a:rPr>
              <a:t>blockDim.x</a:t>
            </a:r>
            <a:r>
              <a:rPr lang="en-GB" sz="1600" dirty="0">
                <a:solidFill>
                  <a:srgbClr val="37474F"/>
                </a:solidFill>
                <a:latin typeface="Roboto Mono"/>
                <a:ea typeface="Roboto Mono"/>
                <a:cs typeface="Roboto Mono"/>
                <a:sym typeface="Roboto Mono"/>
              </a:rPr>
              <a:t> + </a:t>
            </a:r>
            <a:r>
              <a:rPr lang="en-GB" sz="1600" dirty="0" err="1">
                <a:solidFill>
                  <a:srgbClr val="37474F"/>
                </a:solidFill>
                <a:latin typeface="Roboto Mono"/>
                <a:ea typeface="Roboto Mono"/>
                <a:cs typeface="Roboto Mono"/>
                <a:sym typeface="Roboto Mono"/>
              </a:rPr>
              <a:t>threadIdx.x</a:t>
            </a:r>
            <a:r>
              <a:rPr lang="en-GB" sz="1600" dirty="0">
                <a:solidFill>
                  <a:srgbClr val="37474F"/>
                </a:solidFill>
                <a:latin typeface="Roboto Mono"/>
                <a:ea typeface="Roboto Mono"/>
                <a:cs typeface="Roboto Mono"/>
                <a:sym typeface="Roboto Mono"/>
              </a:rPr>
              <a:t>;</a:t>
            </a:r>
            <a:endParaRPr sz="1600" dirty="0">
              <a:solidFill>
                <a:srgbClr val="37474F"/>
              </a:solidFill>
              <a:latin typeface="Roboto Mono"/>
              <a:ea typeface="Roboto Mono"/>
              <a:cs typeface="Roboto Mono"/>
              <a:sym typeface="Roboto Mono"/>
            </a:endParaRPr>
          </a:p>
          <a:p>
            <a:pPr algn="l" rtl="0"/>
            <a:r>
              <a:rPr lang="en-GB" sz="1600" dirty="0">
                <a:solidFill>
                  <a:srgbClr val="37474F"/>
                </a:solidFill>
                <a:latin typeface="Roboto Mono"/>
                <a:ea typeface="Roboto Mono"/>
                <a:cs typeface="Roboto Mono"/>
                <a:sym typeface="Roboto Mono"/>
              </a:rPr>
              <a:t>  </a:t>
            </a:r>
            <a:r>
              <a:rPr lang="en-GB" sz="1600" dirty="0">
                <a:solidFill>
                  <a:srgbClr val="3F51B5"/>
                </a:solidFill>
                <a:latin typeface="Roboto Mono"/>
                <a:ea typeface="Roboto Mono"/>
                <a:cs typeface="Roboto Mono"/>
                <a:sym typeface="Roboto Mono"/>
              </a:rPr>
              <a:t>if</a:t>
            </a:r>
            <a:r>
              <a:rPr lang="en-GB" sz="1600" dirty="0">
                <a:solidFill>
                  <a:srgbClr val="37474F"/>
                </a:solidFill>
                <a:latin typeface="Roboto Mono"/>
                <a:ea typeface="Roboto Mono"/>
                <a:cs typeface="Roboto Mono"/>
                <a:sym typeface="Roboto Mono"/>
              </a:rPr>
              <a:t>(</a:t>
            </a:r>
            <a:r>
              <a:rPr lang="en-GB" sz="1600" dirty="0" err="1">
                <a:solidFill>
                  <a:srgbClr val="37474F"/>
                </a:solidFill>
                <a:latin typeface="Roboto Mono"/>
                <a:ea typeface="Roboto Mono"/>
                <a:cs typeface="Roboto Mono"/>
                <a:sym typeface="Roboto Mono"/>
              </a:rPr>
              <a:t>threadIdx.x</a:t>
            </a:r>
            <a:r>
              <a:rPr lang="en-GB" sz="1600" dirty="0">
                <a:solidFill>
                  <a:srgbClr val="37474F"/>
                </a:solidFill>
                <a:latin typeface="Roboto Mono"/>
                <a:ea typeface="Roboto Mono"/>
                <a:cs typeface="Roboto Mono"/>
                <a:sym typeface="Roboto Mono"/>
              </a:rPr>
              <a:t> &lt; </a:t>
            </a:r>
            <a:r>
              <a:rPr lang="en-GB" sz="1600" dirty="0">
                <a:solidFill>
                  <a:srgbClr val="C53929"/>
                </a:solidFill>
                <a:latin typeface="Roboto Mono"/>
                <a:ea typeface="Roboto Mono"/>
                <a:cs typeface="Roboto Mono"/>
                <a:sym typeface="Roboto Mono"/>
              </a:rPr>
              <a:t>40</a:t>
            </a:r>
            <a:r>
              <a:rPr lang="en-GB" sz="1600" dirty="0">
                <a:solidFill>
                  <a:srgbClr val="37474F"/>
                </a:solidFill>
                <a:latin typeface="Roboto Mono"/>
                <a:ea typeface="Roboto Mono"/>
                <a:cs typeface="Roboto Mono"/>
                <a:sym typeface="Roboto Mono"/>
              </a:rPr>
              <a:t> || </a:t>
            </a:r>
            <a:r>
              <a:rPr lang="en-GB" sz="1600" dirty="0" err="1">
                <a:solidFill>
                  <a:srgbClr val="37474F"/>
                </a:solidFill>
                <a:latin typeface="Roboto Mono"/>
                <a:ea typeface="Roboto Mono"/>
                <a:cs typeface="Roboto Mono"/>
                <a:sym typeface="Roboto Mono"/>
              </a:rPr>
              <a:t>threadIdx.x</a:t>
            </a:r>
            <a:r>
              <a:rPr lang="en-GB" sz="1600" dirty="0">
                <a:solidFill>
                  <a:srgbClr val="37474F"/>
                </a:solidFill>
                <a:latin typeface="Roboto Mono"/>
                <a:ea typeface="Roboto Mono"/>
                <a:cs typeface="Roboto Mono"/>
                <a:sym typeface="Roboto Mono"/>
              </a:rPr>
              <a:t> &gt;= </a:t>
            </a:r>
            <a:r>
              <a:rPr lang="en-GB" sz="1600" dirty="0">
                <a:solidFill>
                  <a:srgbClr val="C53929"/>
                </a:solidFill>
                <a:latin typeface="Roboto Mono"/>
                <a:ea typeface="Roboto Mono"/>
                <a:cs typeface="Roboto Mono"/>
                <a:sym typeface="Roboto Mono"/>
              </a:rPr>
              <a:t>104</a:t>
            </a:r>
            <a:r>
              <a:rPr lang="en-GB" sz="1600" dirty="0">
                <a:solidFill>
                  <a:srgbClr val="37474F"/>
                </a:solidFill>
                <a:latin typeface="Roboto Mono"/>
                <a:ea typeface="Roboto Mono"/>
                <a:cs typeface="Roboto Mono"/>
                <a:sym typeface="Roboto Mono"/>
              </a:rPr>
              <a:t>)</a:t>
            </a:r>
            <a:endParaRPr sz="1600" dirty="0">
              <a:solidFill>
                <a:srgbClr val="37474F"/>
              </a:solidFill>
              <a:latin typeface="Roboto Mono"/>
              <a:ea typeface="Roboto Mono"/>
              <a:cs typeface="Roboto Mono"/>
              <a:sym typeface="Roboto Mono"/>
            </a:endParaRPr>
          </a:p>
          <a:p>
            <a:pPr algn="l" rtl="0"/>
            <a:r>
              <a:rPr lang="en-GB" sz="1600" dirty="0">
                <a:solidFill>
                  <a:srgbClr val="37474F"/>
                </a:solidFill>
                <a:latin typeface="Roboto Mono"/>
                <a:ea typeface="Roboto Mono"/>
                <a:cs typeface="Roboto Mono"/>
                <a:sym typeface="Roboto Mono"/>
              </a:rPr>
              <a:t>    b[</a:t>
            </a:r>
            <a:r>
              <a:rPr lang="en-GB" sz="1600" dirty="0" err="1">
                <a:solidFill>
                  <a:srgbClr val="37474F"/>
                </a:solidFill>
                <a:latin typeface="Roboto Mono"/>
                <a:ea typeface="Roboto Mono"/>
                <a:cs typeface="Roboto Mono"/>
                <a:sym typeface="Roboto Mono"/>
              </a:rPr>
              <a:t>i</a:t>
            </a:r>
            <a:r>
              <a:rPr lang="en-GB" sz="1600" dirty="0">
                <a:solidFill>
                  <a:srgbClr val="37474F"/>
                </a:solidFill>
                <a:latin typeface="Roboto Mono"/>
                <a:ea typeface="Roboto Mono"/>
                <a:cs typeface="Roboto Mono"/>
                <a:sym typeface="Roboto Mono"/>
              </a:rPr>
              <a:t>] = a[</a:t>
            </a:r>
            <a:r>
              <a:rPr lang="en-GB" sz="1600" dirty="0" err="1">
                <a:solidFill>
                  <a:srgbClr val="37474F"/>
                </a:solidFill>
                <a:latin typeface="Roboto Mono"/>
                <a:ea typeface="Roboto Mono"/>
                <a:cs typeface="Roboto Mono"/>
                <a:sym typeface="Roboto Mono"/>
              </a:rPr>
              <a:t>i</a:t>
            </a:r>
            <a:r>
              <a:rPr lang="en-GB" sz="1600" dirty="0">
                <a:solidFill>
                  <a:srgbClr val="37474F"/>
                </a:solidFill>
                <a:latin typeface="Roboto Mono"/>
                <a:ea typeface="Roboto Mono"/>
                <a:cs typeface="Roboto Mono"/>
                <a:sym typeface="Roboto Mono"/>
              </a:rPr>
              <a:t>] + </a:t>
            </a:r>
            <a:r>
              <a:rPr lang="en-GB" sz="1600" dirty="0">
                <a:solidFill>
                  <a:srgbClr val="C53929"/>
                </a:solidFill>
                <a:latin typeface="Roboto Mono"/>
                <a:ea typeface="Roboto Mono"/>
                <a:cs typeface="Roboto Mono"/>
                <a:sym typeface="Roboto Mono"/>
              </a:rPr>
              <a:t>1</a:t>
            </a:r>
            <a:r>
              <a:rPr lang="en-GB" sz="1600" dirty="0">
                <a:solidFill>
                  <a:srgbClr val="37474F"/>
                </a:solidFill>
                <a:latin typeface="Roboto Mono"/>
                <a:ea typeface="Roboto Mono"/>
                <a:cs typeface="Roboto Mono"/>
                <a:sym typeface="Roboto Mono"/>
              </a:rPr>
              <a:t>;</a:t>
            </a:r>
            <a:endParaRPr sz="1600" dirty="0">
              <a:solidFill>
                <a:srgbClr val="37474F"/>
              </a:solidFill>
              <a:latin typeface="Roboto Mono"/>
              <a:ea typeface="Roboto Mono"/>
              <a:cs typeface="Roboto Mono"/>
              <a:sym typeface="Roboto Mono"/>
            </a:endParaRPr>
          </a:p>
          <a:p>
            <a:pPr algn="l" rtl="0"/>
            <a:endParaRPr sz="1600" dirty="0">
              <a:solidFill>
                <a:srgbClr val="37474F"/>
              </a:solidFill>
              <a:latin typeface="Roboto Mono"/>
              <a:ea typeface="Roboto Mono"/>
              <a:cs typeface="Roboto Mono"/>
              <a:sym typeface="Roboto Mono"/>
            </a:endParaRPr>
          </a:p>
          <a:p>
            <a:pPr algn="l" rtl="0"/>
            <a:r>
              <a:rPr lang="en-GB" sz="1600" dirty="0">
                <a:solidFill>
                  <a:srgbClr val="37474F"/>
                </a:solidFill>
                <a:latin typeface="Roboto Mono"/>
                <a:ea typeface="Roboto Mono"/>
                <a:cs typeface="Roboto Mono"/>
                <a:sym typeface="Roboto Mono"/>
              </a:rPr>
              <a:t>  </a:t>
            </a:r>
            <a:r>
              <a:rPr lang="en-GB" sz="1600" dirty="0">
                <a:solidFill>
                  <a:srgbClr val="3F51B5"/>
                </a:solidFill>
                <a:latin typeface="Roboto Mono"/>
                <a:ea typeface="Roboto Mono"/>
                <a:cs typeface="Roboto Mono"/>
                <a:sym typeface="Roboto Mono"/>
              </a:rPr>
              <a:t>if</a:t>
            </a:r>
            <a:r>
              <a:rPr lang="en-GB" sz="1600" dirty="0">
                <a:solidFill>
                  <a:srgbClr val="37474F"/>
                </a:solidFill>
                <a:latin typeface="Roboto Mono"/>
                <a:ea typeface="Roboto Mono"/>
                <a:cs typeface="Roboto Mono"/>
                <a:sym typeface="Roboto Mono"/>
              </a:rPr>
              <a:t> (i%</a:t>
            </a:r>
            <a:r>
              <a:rPr lang="en-GB" sz="1600" dirty="0">
                <a:solidFill>
                  <a:srgbClr val="C53929"/>
                </a:solidFill>
                <a:latin typeface="Roboto Mono"/>
                <a:ea typeface="Roboto Mono"/>
                <a:cs typeface="Roboto Mono"/>
                <a:sym typeface="Roboto Mono"/>
              </a:rPr>
              <a:t>2</a:t>
            </a:r>
            <a:r>
              <a:rPr lang="en-GB" sz="1600" dirty="0">
                <a:solidFill>
                  <a:srgbClr val="37474F"/>
                </a:solidFill>
                <a:latin typeface="Roboto Mono"/>
                <a:ea typeface="Roboto Mono"/>
                <a:cs typeface="Roboto Mono"/>
                <a:sym typeface="Roboto Mono"/>
              </a:rPr>
              <a:t> == </a:t>
            </a:r>
            <a:r>
              <a:rPr lang="en-GB" sz="1600" dirty="0">
                <a:solidFill>
                  <a:srgbClr val="C53929"/>
                </a:solidFill>
                <a:latin typeface="Roboto Mono"/>
                <a:ea typeface="Roboto Mono"/>
                <a:cs typeface="Roboto Mono"/>
                <a:sym typeface="Roboto Mono"/>
              </a:rPr>
              <a:t>0</a:t>
            </a:r>
            <a:r>
              <a:rPr lang="en-GB" sz="1600" dirty="0">
                <a:solidFill>
                  <a:srgbClr val="37474F"/>
                </a:solidFill>
                <a:latin typeface="Roboto Mono"/>
                <a:ea typeface="Roboto Mono"/>
                <a:cs typeface="Roboto Mono"/>
                <a:sym typeface="Roboto Mono"/>
              </a:rPr>
              <a:t>)</a:t>
            </a:r>
            <a:endParaRPr sz="1600" dirty="0">
              <a:solidFill>
                <a:srgbClr val="37474F"/>
              </a:solidFill>
              <a:latin typeface="Roboto Mono"/>
              <a:ea typeface="Roboto Mono"/>
              <a:cs typeface="Roboto Mono"/>
              <a:sym typeface="Roboto Mono"/>
            </a:endParaRPr>
          </a:p>
          <a:p>
            <a:pPr algn="l" rtl="0"/>
            <a:r>
              <a:rPr lang="en-GB" sz="1600" dirty="0">
                <a:solidFill>
                  <a:srgbClr val="37474F"/>
                </a:solidFill>
                <a:latin typeface="Roboto Mono"/>
                <a:ea typeface="Roboto Mono"/>
                <a:cs typeface="Roboto Mono"/>
                <a:sym typeface="Roboto Mono"/>
              </a:rPr>
              <a:t>    a[</a:t>
            </a:r>
            <a:r>
              <a:rPr lang="en-GB" sz="1600" dirty="0" err="1">
                <a:solidFill>
                  <a:srgbClr val="37474F"/>
                </a:solidFill>
                <a:latin typeface="Roboto Mono"/>
                <a:ea typeface="Roboto Mono"/>
                <a:cs typeface="Roboto Mono"/>
                <a:sym typeface="Roboto Mono"/>
              </a:rPr>
              <a:t>i</a:t>
            </a:r>
            <a:r>
              <a:rPr lang="en-GB" sz="1600" dirty="0">
                <a:solidFill>
                  <a:srgbClr val="37474F"/>
                </a:solidFill>
                <a:latin typeface="Roboto Mono"/>
                <a:ea typeface="Roboto Mono"/>
                <a:cs typeface="Roboto Mono"/>
                <a:sym typeface="Roboto Mono"/>
              </a:rPr>
              <a:t>] = b[</a:t>
            </a:r>
            <a:r>
              <a:rPr lang="en-GB" sz="1600" dirty="0" err="1">
                <a:solidFill>
                  <a:srgbClr val="37474F"/>
                </a:solidFill>
                <a:latin typeface="Roboto Mono"/>
                <a:ea typeface="Roboto Mono"/>
                <a:cs typeface="Roboto Mono"/>
                <a:sym typeface="Roboto Mono"/>
              </a:rPr>
              <a:t>i</a:t>
            </a:r>
            <a:r>
              <a:rPr lang="en-GB" sz="1600" dirty="0">
                <a:solidFill>
                  <a:srgbClr val="37474F"/>
                </a:solidFill>
                <a:latin typeface="Roboto Mono"/>
                <a:ea typeface="Roboto Mono"/>
                <a:cs typeface="Roboto Mono"/>
                <a:sym typeface="Roboto Mono"/>
              </a:rPr>
              <a:t>] *</a:t>
            </a:r>
            <a:r>
              <a:rPr lang="en-GB" sz="1600" dirty="0">
                <a:solidFill>
                  <a:srgbClr val="C53929"/>
                </a:solidFill>
                <a:latin typeface="Roboto Mono"/>
                <a:ea typeface="Roboto Mono"/>
                <a:cs typeface="Roboto Mono"/>
                <a:sym typeface="Roboto Mono"/>
              </a:rPr>
              <a:t>2</a:t>
            </a:r>
            <a:r>
              <a:rPr lang="en-GB" sz="1600" dirty="0">
                <a:solidFill>
                  <a:srgbClr val="37474F"/>
                </a:solidFill>
                <a:latin typeface="Roboto Mono"/>
                <a:ea typeface="Roboto Mono"/>
                <a:cs typeface="Roboto Mono"/>
                <a:sym typeface="Roboto Mono"/>
              </a:rPr>
              <a:t>;</a:t>
            </a:r>
            <a:endParaRPr sz="1600" dirty="0">
              <a:solidFill>
                <a:srgbClr val="37474F"/>
              </a:solidFill>
              <a:latin typeface="Roboto Mono"/>
              <a:ea typeface="Roboto Mono"/>
              <a:cs typeface="Roboto Mono"/>
              <a:sym typeface="Roboto Mono"/>
            </a:endParaRPr>
          </a:p>
          <a:p>
            <a:pPr algn="l" rtl="0"/>
            <a:endParaRPr sz="1600" dirty="0">
              <a:solidFill>
                <a:srgbClr val="37474F"/>
              </a:solidFill>
              <a:latin typeface="Roboto Mono"/>
              <a:ea typeface="Roboto Mono"/>
              <a:cs typeface="Roboto Mono"/>
              <a:sym typeface="Roboto Mono"/>
            </a:endParaRPr>
          </a:p>
          <a:p>
            <a:pPr algn="l" rtl="0"/>
            <a:endParaRPr sz="1600" dirty="0">
              <a:solidFill>
                <a:srgbClr val="37474F"/>
              </a:solidFill>
              <a:latin typeface="Roboto Mono"/>
              <a:ea typeface="Roboto Mono"/>
              <a:cs typeface="Roboto Mono"/>
              <a:sym typeface="Roboto Mono"/>
            </a:endParaRPr>
          </a:p>
          <a:p>
            <a:pPr algn="l" rtl="0"/>
            <a:r>
              <a:rPr lang="en-GB" sz="1600" dirty="0">
                <a:solidFill>
                  <a:srgbClr val="37474F"/>
                </a:solidFill>
                <a:latin typeface="Roboto Mono"/>
                <a:ea typeface="Roboto Mono"/>
                <a:cs typeface="Roboto Mono"/>
                <a:sym typeface="Roboto Mono"/>
              </a:rPr>
              <a:t>}</a:t>
            </a:r>
            <a:endParaRPr sz="1600" dirty="0">
              <a:solidFill>
                <a:srgbClr val="37474F"/>
              </a:solidFill>
              <a:latin typeface="Roboto Mono"/>
              <a:ea typeface="Roboto Mono"/>
              <a:cs typeface="Roboto Mono"/>
              <a:sym typeface="Roboto Mono"/>
            </a:endParaRPr>
          </a:p>
          <a:p>
            <a:pPr algn="l" rtl="0"/>
            <a:endParaRPr sz="1600" dirty="0">
              <a:solidFill>
                <a:srgbClr val="37474F"/>
              </a:solidFill>
              <a:latin typeface="Roboto Mono"/>
              <a:ea typeface="Roboto Mono"/>
              <a:cs typeface="Roboto Mono"/>
              <a:sym typeface="Roboto Mono"/>
            </a:endParaRPr>
          </a:p>
          <a:p>
            <a:pPr algn="l" rtl="0"/>
            <a:r>
              <a:rPr lang="en-GB" sz="1600" dirty="0">
                <a:solidFill>
                  <a:srgbClr val="3F51B5"/>
                </a:solidFill>
                <a:latin typeface="Roboto Mono"/>
                <a:ea typeface="Roboto Mono"/>
                <a:cs typeface="Roboto Mono"/>
                <a:sym typeface="Roboto Mono"/>
              </a:rPr>
              <a:t>void</a:t>
            </a:r>
            <a:r>
              <a:rPr lang="en-GB" sz="1600" dirty="0">
                <a:solidFill>
                  <a:srgbClr val="37474F"/>
                </a:solidFill>
                <a:latin typeface="Roboto Mono"/>
                <a:ea typeface="Roboto Mono"/>
                <a:cs typeface="Roboto Mono"/>
                <a:sym typeface="Roboto Mono"/>
              </a:rPr>
              <a:t> foo(</a:t>
            </a:r>
            <a:r>
              <a:rPr lang="en-GB" sz="1600" dirty="0">
                <a:solidFill>
                  <a:srgbClr val="3F51B5"/>
                </a:solidFill>
                <a:latin typeface="Roboto Mono"/>
                <a:ea typeface="Roboto Mono"/>
                <a:cs typeface="Roboto Mono"/>
                <a:sym typeface="Roboto Mono"/>
              </a:rPr>
              <a:t>int</a:t>
            </a:r>
            <a:r>
              <a:rPr lang="en-GB" sz="1600" dirty="0">
                <a:solidFill>
                  <a:srgbClr val="37474F"/>
                </a:solidFill>
                <a:latin typeface="Roboto Mono"/>
                <a:ea typeface="Roboto Mono"/>
                <a:cs typeface="Roboto Mono"/>
                <a:sym typeface="Roboto Mono"/>
              </a:rPr>
              <a:t>* </a:t>
            </a:r>
            <a:r>
              <a:rPr lang="en-GB" sz="1600" dirty="0" err="1">
                <a:solidFill>
                  <a:srgbClr val="37474F"/>
                </a:solidFill>
                <a:latin typeface="Roboto Mono"/>
                <a:ea typeface="Roboto Mono"/>
                <a:cs typeface="Roboto Mono"/>
                <a:sym typeface="Roboto Mono"/>
              </a:rPr>
              <a:t>a_d</a:t>
            </a:r>
            <a:r>
              <a:rPr lang="en-GB" sz="1600" dirty="0">
                <a:solidFill>
                  <a:srgbClr val="37474F"/>
                </a:solidFill>
                <a:latin typeface="Roboto Mono"/>
                <a:ea typeface="Roboto Mono"/>
                <a:cs typeface="Roboto Mono"/>
                <a:sym typeface="Roboto Mono"/>
              </a:rPr>
              <a:t>, </a:t>
            </a:r>
            <a:r>
              <a:rPr lang="en-GB" sz="1600" dirty="0">
                <a:solidFill>
                  <a:srgbClr val="3F51B5"/>
                </a:solidFill>
                <a:latin typeface="Roboto Mono"/>
                <a:ea typeface="Roboto Mono"/>
                <a:cs typeface="Roboto Mono"/>
                <a:sym typeface="Roboto Mono"/>
              </a:rPr>
              <a:t>int</a:t>
            </a:r>
            <a:r>
              <a:rPr lang="en-GB" sz="1600" dirty="0">
                <a:solidFill>
                  <a:srgbClr val="37474F"/>
                </a:solidFill>
                <a:latin typeface="Roboto Mono"/>
                <a:ea typeface="Roboto Mono"/>
                <a:cs typeface="Roboto Mono"/>
                <a:sym typeface="Roboto Mono"/>
              </a:rPr>
              <a:t>* </a:t>
            </a:r>
            <a:r>
              <a:rPr lang="en-GB" sz="1600" dirty="0" err="1">
                <a:solidFill>
                  <a:srgbClr val="37474F"/>
                </a:solidFill>
                <a:latin typeface="Roboto Mono"/>
                <a:ea typeface="Roboto Mono"/>
                <a:cs typeface="Roboto Mono"/>
                <a:sym typeface="Roboto Mono"/>
              </a:rPr>
              <a:t>b_d</a:t>
            </a:r>
            <a:r>
              <a:rPr lang="en-GB" sz="1600" dirty="0">
                <a:solidFill>
                  <a:srgbClr val="37474F"/>
                </a:solidFill>
                <a:latin typeface="Roboto Mono"/>
                <a:ea typeface="Roboto Mono"/>
                <a:cs typeface="Roboto Mono"/>
                <a:sym typeface="Roboto Mono"/>
              </a:rPr>
              <a:t>) {</a:t>
            </a:r>
            <a:endParaRPr sz="1600" dirty="0">
              <a:solidFill>
                <a:srgbClr val="37474F"/>
              </a:solidFill>
              <a:latin typeface="Roboto Mono"/>
              <a:ea typeface="Roboto Mono"/>
              <a:cs typeface="Roboto Mono"/>
              <a:sym typeface="Roboto Mono"/>
            </a:endParaRPr>
          </a:p>
          <a:p>
            <a:pPr algn="l" rtl="0"/>
            <a:r>
              <a:rPr lang="en-GB" sz="1600" dirty="0">
                <a:solidFill>
                  <a:srgbClr val="37474F"/>
                </a:solidFill>
                <a:latin typeface="Roboto Mono"/>
                <a:ea typeface="Roboto Mono"/>
                <a:cs typeface="Roboto Mono"/>
                <a:sym typeface="Roboto Mono"/>
              </a:rPr>
              <a:t>  </a:t>
            </a:r>
            <a:r>
              <a:rPr lang="en-GB" sz="1600" dirty="0">
                <a:solidFill>
                  <a:srgbClr val="3F51B5"/>
                </a:solidFill>
                <a:latin typeface="Roboto Mono"/>
                <a:ea typeface="Roboto Mono"/>
                <a:cs typeface="Roboto Mono"/>
                <a:sym typeface="Roboto Mono"/>
              </a:rPr>
              <a:t>unsigned</a:t>
            </a:r>
            <a:r>
              <a:rPr lang="en-GB" sz="1600" dirty="0">
                <a:solidFill>
                  <a:srgbClr val="37474F"/>
                </a:solidFill>
                <a:latin typeface="Roboto Mono"/>
                <a:ea typeface="Roboto Mono"/>
                <a:cs typeface="Roboto Mono"/>
                <a:sym typeface="Roboto Mono"/>
              </a:rPr>
              <a:t> </a:t>
            </a:r>
            <a:r>
              <a:rPr lang="en-GB" sz="1600" dirty="0">
                <a:solidFill>
                  <a:srgbClr val="3F51B5"/>
                </a:solidFill>
                <a:latin typeface="Roboto Mono"/>
                <a:ea typeface="Roboto Mono"/>
                <a:cs typeface="Roboto Mono"/>
                <a:sym typeface="Roboto Mono"/>
              </a:rPr>
              <a:t>int</a:t>
            </a:r>
            <a:r>
              <a:rPr lang="en-GB" sz="1600" dirty="0">
                <a:solidFill>
                  <a:srgbClr val="37474F"/>
                </a:solidFill>
                <a:latin typeface="Roboto Mono"/>
                <a:ea typeface="Roboto Mono"/>
                <a:cs typeface="Roboto Mono"/>
                <a:sym typeface="Roboto Mono"/>
              </a:rPr>
              <a:t> N = </a:t>
            </a:r>
            <a:r>
              <a:rPr lang="en-GB" sz="1600" dirty="0">
                <a:solidFill>
                  <a:srgbClr val="C53929"/>
                </a:solidFill>
                <a:latin typeface="Roboto Mono"/>
                <a:ea typeface="Roboto Mono"/>
                <a:cs typeface="Roboto Mono"/>
                <a:sym typeface="Roboto Mono"/>
              </a:rPr>
              <a:t>1024</a:t>
            </a:r>
            <a:r>
              <a:rPr lang="en-GB" sz="1600" dirty="0">
                <a:solidFill>
                  <a:srgbClr val="37474F"/>
                </a:solidFill>
                <a:latin typeface="Roboto Mono"/>
                <a:ea typeface="Roboto Mono"/>
                <a:cs typeface="Roboto Mono"/>
                <a:sym typeface="Roboto Mono"/>
              </a:rPr>
              <a:t>;</a:t>
            </a:r>
            <a:endParaRPr sz="1600" dirty="0">
              <a:solidFill>
                <a:srgbClr val="37474F"/>
              </a:solidFill>
              <a:latin typeface="Roboto Mono"/>
              <a:ea typeface="Roboto Mono"/>
              <a:cs typeface="Roboto Mono"/>
              <a:sym typeface="Roboto Mono"/>
            </a:endParaRPr>
          </a:p>
          <a:p>
            <a:pPr algn="l" rtl="0"/>
            <a:r>
              <a:rPr lang="en-GB" sz="1600" dirty="0">
                <a:solidFill>
                  <a:srgbClr val="37474F"/>
                </a:solidFill>
                <a:latin typeface="Roboto Mono"/>
                <a:ea typeface="Roboto Mono"/>
                <a:cs typeface="Roboto Mono"/>
                <a:sym typeface="Roboto Mono"/>
              </a:rPr>
              <a:t>  </a:t>
            </a:r>
            <a:r>
              <a:rPr lang="en-GB" sz="1600" dirty="0" err="1">
                <a:solidFill>
                  <a:srgbClr val="37474F"/>
                </a:solidFill>
                <a:latin typeface="Roboto Mono"/>
                <a:ea typeface="Roboto Mono"/>
                <a:cs typeface="Roboto Mono"/>
                <a:sym typeface="Roboto Mono"/>
              </a:rPr>
              <a:t>foo_kernel</a:t>
            </a:r>
            <a:r>
              <a:rPr lang="en-GB" sz="1600" dirty="0">
                <a:solidFill>
                  <a:srgbClr val="37474F"/>
                </a:solidFill>
                <a:latin typeface="Roboto Mono"/>
                <a:ea typeface="Roboto Mono"/>
                <a:cs typeface="Roboto Mono"/>
                <a:sym typeface="Roboto Mono"/>
              </a:rPr>
              <a:t> &lt;&lt;&lt; N/128, </a:t>
            </a:r>
            <a:r>
              <a:rPr lang="en-GB" sz="1600" dirty="0">
                <a:solidFill>
                  <a:srgbClr val="C53929"/>
                </a:solidFill>
                <a:latin typeface="Roboto Mono"/>
                <a:ea typeface="Roboto Mono"/>
                <a:cs typeface="Roboto Mono"/>
                <a:sym typeface="Roboto Mono"/>
              </a:rPr>
              <a:t>128</a:t>
            </a:r>
            <a:r>
              <a:rPr lang="en-GB" sz="1600" dirty="0">
                <a:solidFill>
                  <a:srgbClr val="37474F"/>
                </a:solidFill>
                <a:latin typeface="Roboto Mono"/>
                <a:ea typeface="Roboto Mono"/>
                <a:cs typeface="Roboto Mono"/>
                <a:sym typeface="Roboto Mono"/>
              </a:rPr>
              <a:t> &gt;&gt;&gt;(</a:t>
            </a:r>
            <a:r>
              <a:rPr lang="en-GB" sz="1600" dirty="0" err="1">
                <a:solidFill>
                  <a:srgbClr val="37474F"/>
                </a:solidFill>
                <a:latin typeface="Roboto Mono"/>
                <a:ea typeface="Roboto Mono"/>
                <a:cs typeface="Roboto Mono"/>
                <a:sym typeface="Roboto Mono"/>
              </a:rPr>
              <a:t>a_d</a:t>
            </a:r>
            <a:r>
              <a:rPr lang="en-GB" sz="1600" dirty="0">
                <a:solidFill>
                  <a:srgbClr val="37474F"/>
                </a:solidFill>
                <a:latin typeface="Roboto Mono"/>
                <a:ea typeface="Roboto Mono"/>
                <a:cs typeface="Roboto Mono"/>
                <a:sym typeface="Roboto Mono"/>
              </a:rPr>
              <a:t>, </a:t>
            </a:r>
            <a:r>
              <a:rPr lang="en-GB" sz="1600" dirty="0" err="1">
                <a:solidFill>
                  <a:srgbClr val="37474F"/>
                </a:solidFill>
                <a:latin typeface="Roboto Mono"/>
                <a:ea typeface="Roboto Mono"/>
                <a:cs typeface="Roboto Mono"/>
                <a:sym typeface="Roboto Mono"/>
              </a:rPr>
              <a:t>b_d</a:t>
            </a:r>
            <a:r>
              <a:rPr lang="en-GB" sz="1600" dirty="0">
                <a:solidFill>
                  <a:srgbClr val="37474F"/>
                </a:solidFill>
                <a:latin typeface="Roboto Mono"/>
                <a:ea typeface="Roboto Mono"/>
                <a:cs typeface="Roboto Mono"/>
                <a:sym typeface="Roboto Mono"/>
              </a:rPr>
              <a:t>);</a:t>
            </a:r>
            <a:endParaRPr sz="1600" dirty="0">
              <a:solidFill>
                <a:srgbClr val="37474F"/>
              </a:solidFill>
              <a:latin typeface="Roboto Mono"/>
              <a:ea typeface="Roboto Mono"/>
              <a:cs typeface="Roboto Mono"/>
              <a:sym typeface="Roboto Mono"/>
            </a:endParaRPr>
          </a:p>
          <a:p>
            <a:pPr algn="l" rtl="0">
              <a:lnSpc>
                <a:spcPct val="150000"/>
              </a:lnSpc>
            </a:pPr>
            <a:r>
              <a:rPr lang="en-GB" sz="1600" dirty="0">
                <a:solidFill>
                  <a:srgbClr val="37474F"/>
                </a:solidFill>
                <a:latin typeface="Roboto Mono"/>
                <a:ea typeface="Roboto Mono"/>
                <a:cs typeface="Roboto Mono"/>
                <a:sym typeface="Roboto Mono"/>
              </a:rPr>
              <a:t>}</a:t>
            </a:r>
            <a:endParaRPr sz="1600" dirty="0">
              <a:solidFill>
                <a:srgbClr val="37474F"/>
              </a:solidFill>
              <a:latin typeface="Roboto Mono"/>
              <a:ea typeface="Roboto Mono"/>
              <a:cs typeface="Roboto Mono"/>
              <a:sym typeface="Roboto Mono"/>
            </a:endParaRPr>
          </a:p>
        </p:txBody>
      </p:sp>
      <p:sp>
        <p:nvSpPr>
          <p:cNvPr id="2211" name="Google Shape;2211;p61"/>
          <p:cNvSpPr/>
          <p:nvPr/>
        </p:nvSpPr>
        <p:spPr>
          <a:xfrm>
            <a:off x="726000" y="2895600"/>
            <a:ext cx="2474400" cy="2924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rtl="0"/>
            <a:endParaRPr>
              <a:latin typeface="Lato"/>
              <a:ea typeface="Lato"/>
              <a:cs typeface="Lato"/>
              <a:sym typeface="Lato"/>
            </a:endParaRPr>
          </a:p>
        </p:txBody>
      </p:sp>
      <p:sp>
        <p:nvSpPr>
          <p:cNvPr id="2212" name="Google Shape;2212;p61"/>
          <p:cNvSpPr txBox="1">
            <a:spLocks noGrp="1"/>
          </p:cNvSpPr>
          <p:nvPr>
            <p:ph type="body" idx="1"/>
          </p:nvPr>
        </p:nvSpPr>
        <p:spPr>
          <a:xfrm>
            <a:off x="7530800" y="4305484"/>
            <a:ext cx="6413200" cy="552400"/>
          </a:xfrm>
          <a:prstGeom prst="rect">
            <a:avLst/>
          </a:prstGeom>
        </p:spPr>
        <p:txBody>
          <a:bodyPr spcFirstLastPara="1" wrap="square" lIns="91433" tIns="91433" rIns="91433" bIns="91433" anchor="t" anchorCtr="0">
            <a:noAutofit/>
          </a:bodyPr>
          <a:lstStyle/>
          <a:p>
            <a:pPr marL="0" indent="0" rtl="0">
              <a:buNone/>
            </a:pPr>
            <a:r>
              <a:rPr lang="en-GB" dirty="0">
                <a:solidFill>
                  <a:schemeClr val="accent6"/>
                </a:solidFill>
              </a:rPr>
              <a:t>Note the if condition on </a:t>
            </a:r>
            <a:r>
              <a:rPr lang="en-GB" dirty="0" err="1">
                <a:solidFill>
                  <a:srgbClr val="188038"/>
                </a:solidFill>
                <a:latin typeface="Roboto Mono"/>
                <a:ea typeface="Roboto Mono"/>
                <a:cs typeface="Roboto Mono"/>
                <a:sym typeface="Roboto Mono"/>
              </a:rPr>
              <a:t>threadIdx</a:t>
            </a:r>
            <a:br>
              <a:rPr lang="en-GB" dirty="0">
                <a:solidFill>
                  <a:schemeClr val="accent6"/>
                </a:solidFill>
              </a:rPr>
            </a:br>
            <a:endParaRPr dirty="0">
              <a:solidFill>
                <a:schemeClr val="accent6"/>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0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0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0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22CB4-6D13-5EB5-1EDB-A5D50F433B4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41C03B9-55D8-9DA2-396A-AFCA5E127AE7}"/>
              </a:ext>
            </a:extLst>
          </p:cNvPr>
          <p:cNvSpPr txBox="1">
            <a:spLocks noGrp="1"/>
          </p:cNvSpPr>
          <p:nvPr>
            <p:ph type="ctrTitle"/>
          </p:nvPr>
        </p:nvSpPr>
        <p:spPr>
          <a:xfrm>
            <a:off x="2592156" y="1212596"/>
            <a:ext cx="6771640" cy="1997342"/>
          </a:xfrm>
          <a:prstGeom prst="rect">
            <a:avLst/>
          </a:prstGeom>
        </p:spPr>
        <p:txBody>
          <a:bodyPr vert="horz" wrap="square" lIns="0" tIns="12065" rIns="0" bIns="0" rtlCol="0">
            <a:spAutoFit/>
          </a:bodyPr>
          <a:lstStyle/>
          <a:p>
            <a:pPr marL="12700" marR="5080">
              <a:spcBef>
                <a:spcPts val="95"/>
              </a:spcBef>
            </a:pPr>
            <a:r>
              <a:rPr sz="4300" spc="-10" dirty="0">
                <a:solidFill>
                  <a:srgbClr val="EEECE1"/>
                </a:solidFill>
              </a:rPr>
              <a:t>OVERLAPPING </a:t>
            </a:r>
            <a:r>
              <a:rPr sz="4300" spc="-165" dirty="0">
                <a:solidFill>
                  <a:srgbClr val="EEECE1"/>
                </a:solidFill>
              </a:rPr>
              <a:t>COMPUTATION</a:t>
            </a:r>
            <a:r>
              <a:rPr sz="4300" spc="-385" dirty="0">
                <a:solidFill>
                  <a:srgbClr val="EEECE1"/>
                </a:solidFill>
              </a:rPr>
              <a:t> </a:t>
            </a:r>
            <a:r>
              <a:rPr sz="4300" spc="-35" dirty="0">
                <a:solidFill>
                  <a:srgbClr val="EEECE1"/>
                </a:solidFill>
              </a:rPr>
              <a:t>AND </a:t>
            </a:r>
            <a:r>
              <a:rPr sz="4300" spc="-55" dirty="0">
                <a:solidFill>
                  <a:srgbClr val="EEECE1"/>
                </a:solidFill>
              </a:rPr>
              <a:t>COMMUNICATION:</a:t>
            </a:r>
            <a:endParaRPr sz="4300"/>
          </a:p>
        </p:txBody>
      </p:sp>
      <p:sp>
        <p:nvSpPr>
          <p:cNvPr id="3" name="object 3">
            <a:extLst>
              <a:ext uri="{FF2B5EF4-FFF2-40B4-BE49-F238E27FC236}">
                <a16:creationId xmlns:a16="http://schemas.microsoft.com/office/drawing/2014/main" id="{8B94DF0A-3C1F-AC45-5F63-6E5BF169CCC8}"/>
              </a:ext>
            </a:extLst>
          </p:cNvPr>
          <p:cNvSpPr txBox="1"/>
          <p:nvPr/>
        </p:nvSpPr>
        <p:spPr>
          <a:xfrm>
            <a:off x="2325117" y="3834514"/>
            <a:ext cx="2590800" cy="680720"/>
          </a:xfrm>
          <a:prstGeom prst="rect">
            <a:avLst/>
          </a:prstGeom>
        </p:spPr>
        <p:txBody>
          <a:bodyPr vert="horz" wrap="square" lIns="0" tIns="12065" rIns="0" bIns="0" rtlCol="0">
            <a:spAutoFit/>
          </a:bodyPr>
          <a:lstStyle/>
          <a:p>
            <a:pPr marL="12700">
              <a:spcBef>
                <a:spcPts val="95"/>
              </a:spcBef>
            </a:pPr>
            <a:r>
              <a:rPr sz="4300" spc="-80" dirty="0">
                <a:solidFill>
                  <a:srgbClr val="EEECE1"/>
                </a:solidFill>
                <a:latin typeface="Arial"/>
                <a:cs typeface="Arial"/>
              </a:rPr>
              <a:t>STREAMS</a:t>
            </a:r>
            <a:endParaRPr sz="4300">
              <a:latin typeface="Arial"/>
              <a:cs typeface="Arial"/>
            </a:endParaRPr>
          </a:p>
        </p:txBody>
      </p:sp>
      <p:sp>
        <p:nvSpPr>
          <p:cNvPr id="4" name="object 4">
            <a:extLst>
              <a:ext uri="{FF2B5EF4-FFF2-40B4-BE49-F238E27FC236}">
                <a16:creationId xmlns:a16="http://schemas.microsoft.com/office/drawing/2014/main" id="{4AD8DA9B-C58E-C410-AB3D-4347CA967329}"/>
              </a:ext>
            </a:extLst>
          </p:cNvPr>
          <p:cNvSpPr txBox="1"/>
          <p:nvPr/>
        </p:nvSpPr>
        <p:spPr>
          <a:xfrm>
            <a:off x="9224009" y="57403"/>
            <a:ext cx="224154" cy="228268"/>
          </a:xfrm>
          <a:prstGeom prst="rect">
            <a:avLst/>
          </a:prstGeom>
        </p:spPr>
        <p:txBody>
          <a:bodyPr vert="horz" wrap="square" lIns="0" tIns="12700" rIns="0" bIns="0" rtlCol="0">
            <a:spAutoFit/>
          </a:bodyPr>
          <a:lstStyle/>
          <a:p>
            <a:pPr marL="12700">
              <a:spcBef>
                <a:spcPts val="100"/>
              </a:spcBef>
            </a:pPr>
            <a:r>
              <a:rPr sz="1400" b="1" spc="-25" dirty="0">
                <a:solidFill>
                  <a:srgbClr val="FFFFFF"/>
                </a:solidFill>
                <a:latin typeface="Arial"/>
                <a:cs typeface="Arial"/>
              </a:rPr>
              <a:t>92</a:t>
            </a:r>
            <a:endParaRPr sz="1400">
              <a:latin typeface="Arial"/>
              <a:cs typeface="Arial"/>
            </a:endParaRPr>
          </a:p>
        </p:txBody>
      </p:sp>
    </p:spTree>
    <p:extLst>
      <p:ext uri="{BB962C8B-B14F-4D97-AF65-F5344CB8AC3E}">
        <p14:creationId xmlns:p14="http://schemas.microsoft.com/office/powerpoint/2010/main" val="123514355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22499" y="729741"/>
            <a:ext cx="10795000" cy="627736"/>
          </a:xfrm>
          <a:prstGeom prst="rect">
            <a:avLst/>
          </a:prstGeom>
        </p:spPr>
        <p:txBody>
          <a:bodyPr vert="horz" wrap="square" lIns="0" tIns="12065" rIns="0" bIns="0" rtlCol="0">
            <a:spAutoFit/>
          </a:bodyPr>
          <a:lstStyle/>
          <a:p>
            <a:pPr marL="24765">
              <a:spcBef>
                <a:spcPts val="95"/>
              </a:spcBef>
            </a:pPr>
            <a:r>
              <a:rPr spc="-100" dirty="0"/>
              <a:t>Main</a:t>
            </a:r>
            <a:r>
              <a:rPr spc="-135" dirty="0"/>
              <a:t> </a:t>
            </a:r>
            <a:r>
              <a:rPr spc="-120" dirty="0"/>
              <a:t>performance</a:t>
            </a:r>
            <a:r>
              <a:rPr spc="-130" dirty="0"/>
              <a:t> </a:t>
            </a:r>
            <a:r>
              <a:rPr spc="-65" dirty="0"/>
              <a:t>bottleneck?</a:t>
            </a:r>
          </a:p>
        </p:txBody>
      </p:sp>
      <p:sp>
        <p:nvSpPr>
          <p:cNvPr id="3" name="object 3"/>
          <p:cNvSpPr txBox="1"/>
          <p:nvPr/>
        </p:nvSpPr>
        <p:spPr>
          <a:xfrm>
            <a:off x="2059940" y="2065146"/>
            <a:ext cx="7424420" cy="1656864"/>
          </a:xfrm>
          <a:prstGeom prst="rect">
            <a:avLst/>
          </a:prstGeom>
        </p:spPr>
        <p:txBody>
          <a:bodyPr vert="horz" wrap="square" lIns="0" tIns="12700" rIns="0" bIns="0" rtlCol="0">
            <a:spAutoFit/>
          </a:bodyPr>
          <a:lstStyle/>
          <a:p>
            <a:pPr marL="194945" marR="5080" indent="-182880">
              <a:spcBef>
                <a:spcPts val="100"/>
              </a:spcBef>
              <a:buClr>
                <a:srgbClr val="4F80BC"/>
              </a:buClr>
              <a:buSzPct val="85416"/>
              <a:buChar char="•"/>
              <a:tabLst>
                <a:tab pos="194945" algn="l"/>
              </a:tabLst>
            </a:pPr>
            <a:r>
              <a:rPr sz="2400" dirty="0">
                <a:latin typeface="Arial"/>
                <a:cs typeface="Arial"/>
              </a:rPr>
              <a:t>In</a:t>
            </a:r>
            <a:r>
              <a:rPr sz="2400" spc="-45" dirty="0">
                <a:latin typeface="Arial"/>
                <a:cs typeface="Arial"/>
              </a:rPr>
              <a:t> </a:t>
            </a:r>
            <a:r>
              <a:rPr sz="2400" dirty="0">
                <a:latin typeface="Arial"/>
                <a:cs typeface="Arial"/>
              </a:rPr>
              <a:t>many</a:t>
            </a:r>
            <a:r>
              <a:rPr sz="2400" spc="-35" dirty="0">
                <a:latin typeface="Arial"/>
                <a:cs typeface="Arial"/>
              </a:rPr>
              <a:t> </a:t>
            </a:r>
            <a:r>
              <a:rPr sz="2400" dirty="0">
                <a:latin typeface="Arial"/>
                <a:cs typeface="Arial"/>
              </a:rPr>
              <a:t>applications,</a:t>
            </a:r>
            <a:r>
              <a:rPr sz="2400" spc="-15" dirty="0">
                <a:latin typeface="Arial"/>
                <a:cs typeface="Arial"/>
              </a:rPr>
              <a:t> </a:t>
            </a:r>
            <a:r>
              <a:rPr sz="2400" dirty="0">
                <a:latin typeface="Arial"/>
                <a:cs typeface="Arial"/>
              </a:rPr>
              <a:t>a</a:t>
            </a:r>
            <a:r>
              <a:rPr sz="2400" spc="-45" dirty="0">
                <a:latin typeface="Arial"/>
                <a:cs typeface="Arial"/>
              </a:rPr>
              <a:t> </a:t>
            </a:r>
            <a:r>
              <a:rPr sz="2400" dirty="0">
                <a:latin typeface="Arial"/>
                <a:cs typeface="Arial"/>
              </a:rPr>
              <a:t>bottleneck</a:t>
            </a:r>
            <a:r>
              <a:rPr sz="2400" spc="-30" dirty="0">
                <a:latin typeface="Arial"/>
                <a:cs typeface="Arial"/>
              </a:rPr>
              <a:t> </a:t>
            </a:r>
            <a:r>
              <a:rPr sz="2400" dirty="0">
                <a:latin typeface="Arial"/>
                <a:cs typeface="Arial"/>
              </a:rPr>
              <a:t>is</a:t>
            </a:r>
            <a:r>
              <a:rPr sz="2400" spc="-45" dirty="0">
                <a:latin typeface="Arial"/>
                <a:cs typeface="Arial"/>
              </a:rPr>
              <a:t> </a:t>
            </a:r>
            <a:r>
              <a:rPr sz="2400" dirty="0">
                <a:latin typeface="Arial"/>
                <a:cs typeface="Arial"/>
              </a:rPr>
              <a:t>the</a:t>
            </a:r>
            <a:r>
              <a:rPr sz="2400" spc="-45" dirty="0">
                <a:latin typeface="Arial"/>
                <a:cs typeface="Arial"/>
              </a:rPr>
              <a:t> </a:t>
            </a:r>
            <a:r>
              <a:rPr sz="2400" dirty="0">
                <a:latin typeface="Arial"/>
                <a:cs typeface="Arial"/>
              </a:rPr>
              <a:t>data</a:t>
            </a:r>
            <a:r>
              <a:rPr sz="2400" spc="-45" dirty="0">
                <a:latin typeface="Arial"/>
                <a:cs typeface="Arial"/>
              </a:rPr>
              <a:t> </a:t>
            </a:r>
            <a:r>
              <a:rPr sz="2400" spc="-10" dirty="0">
                <a:latin typeface="Arial"/>
                <a:cs typeface="Arial"/>
              </a:rPr>
              <a:t>transfer </a:t>
            </a:r>
            <a:r>
              <a:rPr sz="2400" dirty="0">
                <a:latin typeface="Arial"/>
                <a:cs typeface="Arial"/>
              </a:rPr>
              <a:t>between</a:t>
            </a:r>
            <a:r>
              <a:rPr sz="2400" spc="-35" dirty="0">
                <a:latin typeface="Arial"/>
                <a:cs typeface="Arial"/>
              </a:rPr>
              <a:t> </a:t>
            </a:r>
            <a:r>
              <a:rPr sz="2400" dirty="0">
                <a:latin typeface="Arial"/>
                <a:cs typeface="Arial"/>
              </a:rPr>
              <a:t>the</a:t>
            </a:r>
            <a:r>
              <a:rPr sz="2400" spc="-35" dirty="0">
                <a:latin typeface="Arial"/>
                <a:cs typeface="Arial"/>
              </a:rPr>
              <a:t> </a:t>
            </a:r>
            <a:r>
              <a:rPr sz="2400" dirty="0">
                <a:latin typeface="Arial"/>
                <a:cs typeface="Arial"/>
              </a:rPr>
              <a:t>CPU</a:t>
            </a:r>
            <a:r>
              <a:rPr sz="2400" spc="-35" dirty="0">
                <a:latin typeface="Arial"/>
                <a:cs typeface="Arial"/>
              </a:rPr>
              <a:t> </a:t>
            </a:r>
            <a:r>
              <a:rPr sz="2400" dirty="0">
                <a:latin typeface="Arial"/>
                <a:cs typeface="Arial"/>
              </a:rPr>
              <a:t>and</a:t>
            </a:r>
            <a:r>
              <a:rPr sz="2400" spc="-25" dirty="0">
                <a:latin typeface="Arial"/>
                <a:cs typeface="Arial"/>
              </a:rPr>
              <a:t> </a:t>
            </a:r>
            <a:r>
              <a:rPr sz="2400" dirty="0">
                <a:latin typeface="Arial"/>
                <a:cs typeface="Arial"/>
              </a:rPr>
              <a:t>the</a:t>
            </a:r>
            <a:r>
              <a:rPr sz="2400" spc="-40" dirty="0">
                <a:latin typeface="Arial"/>
                <a:cs typeface="Arial"/>
              </a:rPr>
              <a:t> </a:t>
            </a:r>
            <a:r>
              <a:rPr sz="2400" spc="-20" dirty="0">
                <a:latin typeface="Arial"/>
                <a:cs typeface="Arial"/>
              </a:rPr>
              <a:t>GPU!</a:t>
            </a:r>
            <a:endParaRPr sz="2400">
              <a:latin typeface="Arial"/>
              <a:cs typeface="Arial"/>
            </a:endParaRPr>
          </a:p>
          <a:p>
            <a:pPr>
              <a:spcBef>
                <a:spcPts val="1270"/>
              </a:spcBef>
              <a:buClr>
                <a:srgbClr val="4F80BC"/>
              </a:buClr>
              <a:buFont typeface="Arial"/>
              <a:buChar char="•"/>
            </a:pPr>
            <a:endParaRPr sz="2400">
              <a:latin typeface="Arial"/>
              <a:cs typeface="Arial"/>
            </a:endParaRPr>
          </a:p>
          <a:p>
            <a:pPr marL="195580" indent="-182880">
              <a:spcBef>
                <a:spcPts val="5"/>
              </a:spcBef>
              <a:buClr>
                <a:srgbClr val="4F80BC"/>
              </a:buClr>
              <a:buSzPct val="85416"/>
              <a:buChar char="•"/>
              <a:tabLst>
                <a:tab pos="195580" algn="l"/>
              </a:tabLst>
            </a:pPr>
            <a:r>
              <a:rPr sz="2400" dirty="0">
                <a:latin typeface="Arial"/>
                <a:cs typeface="Arial"/>
              </a:rPr>
              <a:t>How</a:t>
            </a:r>
            <a:r>
              <a:rPr sz="2400" spc="-20" dirty="0">
                <a:latin typeface="Arial"/>
                <a:cs typeface="Arial"/>
              </a:rPr>
              <a:t> </a:t>
            </a:r>
            <a:r>
              <a:rPr sz="2400" dirty="0">
                <a:latin typeface="Arial"/>
                <a:cs typeface="Arial"/>
              </a:rPr>
              <a:t>can</a:t>
            </a:r>
            <a:r>
              <a:rPr sz="2400" spc="-25" dirty="0">
                <a:latin typeface="Arial"/>
                <a:cs typeface="Arial"/>
              </a:rPr>
              <a:t> </a:t>
            </a:r>
            <a:r>
              <a:rPr sz="2400" dirty="0">
                <a:latin typeface="Arial"/>
                <a:cs typeface="Arial"/>
              </a:rPr>
              <a:t>we</a:t>
            </a:r>
            <a:r>
              <a:rPr sz="2400" spc="-20" dirty="0">
                <a:latin typeface="Arial"/>
                <a:cs typeface="Arial"/>
              </a:rPr>
              <a:t> </a:t>
            </a:r>
            <a:r>
              <a:rPr sz="2400" dirty="0">
                <a:latin typeface="Arial"/>
                <a:cs typeface="Arial"/>
              </a:rPr>
              <a:t>fix</a:t>
            </a:r>
            <a:r>
              <a:rPr sz="2400" spc="-30" dirty="0">
                <a:latin typeface="Arial"/>
                <a:cs typeface="Arial"/>
              </a:rPr>
              <a:t> </a:t>
            </a:r>
            <a:r>
              <a:rPr sz="2400" spc="-10" dirty="0">
                <a:latin typeface="Arial"/>
                <a:cs typeface="Arial"/>
              </a:rPr>
              <a:t>this?</a:t>
            </a:r>
            <a:endParaRPr sz="2400">
              <a:latin typeface="Arial"/>
              <a:cs typeface="Arial"/>
            </a:endParaRPr>
          </a:p>
        </p:txBody>
      </p:sp>
    </p:spTree>
    <p:extLst>
      <p:ext uri="{BB962C8B-B14F-4D97-AF65-F5344CB8AC3E}">
        <p14:creationId xmlns:p14="http://schemas.microsoft.com/office/powerpoint/2010/main" val="33317156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22499" y="729741"/>
            <a:ext cx="10795000" cy="566822"/>
          </a:xfrm>
          <a:prstGeom prst="rect">
            <a:avLst/>
          </a:prstGeom>
        </p:spPr>
        <p:txBody>
          <a:bodyPr vert="horz" wrap="square" lIns="0" tIns="12700" rIns="0" bIns="0" rtlCol="0">
            <a:spAutoFit/>
          </a:bodyPr>
          <a:lstStyle/>
          <a:p>
            <a:pPr marL="24765">
              <a:spcBef>
                <a:spcPts val="100"/>
              </a:spcBef>
            </a:pPr>
            <a:r>
              <a:rPr sz="3600" spc="-90" dirty="0"/>
              <a:t>Overlap</a:t>
            </a:r>
            <a:r>
              <a:rPr sz="3600" spc="-195" dirty="0"/>
              <a:t> </a:t>
            </a:r>
            <a:r>
              <a:rPr sz="3600" spc="-100" dirty="0"/>
              <a:t>Computation</a:t>
            </a:r>
            <a:r>
              <a:rPr sz="3600" spc="-210" dirty="0"/>
              <a:t> </a:t>
            </a:r>
            <a:r>
              <a:rPr sz="3600" spc="-70" dirty="0"/>
              <a:t>and</a:t>
            </a:r>
            <a:r>
              <a:rPr sz="3600" spc="-185" dirty="0"/>
              <a:t> </a:t>
            </a:r>
            <a:r>
              <a:rPr sz="3600" spc="-80" dirty="0"/>
              <a:t>Communication</a:t>
            </a:r>
            <a:endParaRPr sz="3600"/>
          </a:p>
        </p:txBody>
      </p:sp>
      <p:sp>
        <p:nvSpPr>
          <p:cNvPr id="3" name="object 3"/>
          <p:cNvSpPr txBox="1"/>
          <p:nvPr/>
        </p:nvSpPr>
        <p:spPr>
          <a:xfrm>
            <a:off x="2059940" y="1625549"/>
            <a:ext cx="7768590" cy="758190"/>
          </a:xfrm>
          <a:prstGeom prst="rect">
            <a:avLst/>
          </a:prstGeom>
        </p:spPr>
        <p:txBody>
          <a:bodyPr vert="horz" wrap="square" lIns="0" tIns="12700" rIns="0" bIns="0" rtlCol="0">
            <a:spAutoFit/>
          </a:bodyPr>
          <a:lstStyle/>
          <a:p>
            <a:pPr marL="196215" indent="-183515">
              <a:spcBef>
                <a:spcPts val="100"/>
              </a:spcBef>
              <a:buClr>
                <a:srgbClr val="4F80BC"/>
              </a:buClr>
              <a:buSzPct val="85416"/>
              <a:buChar char="•"/>
              <a:tabLst>
                <a:tab pos="196215" algn="l"/>
              </a:tabLst>
            </a:pPr>
            <a:r>
              <a:rPr sz="2400" dirty="0">
                <a:latin typeface="Arial"/>
                <a:cs typeface="Arial"/>
              </a:rPr>
              <a:t>Main</a:t>
            </a:r>
            <a:r>
              <a:rPr sz="2400" spc="-30" dirty="0">
                <a:latin typeface="Arial"/>
                <a:cs typeface="Arial"/>
              </a:rPr>
              <a:t> </a:t>
            </a:r>
            <a:r>
              <a:rPr sz="2400" dirty="0">
                <a:latin typeface="Arial"/>
                <a:cs typeface="Arial"/>
              </a:rPr>
              <a:t>idea:</a:t>
            </a:r>
            <a:r>
              <a:rPr sz="2400" spc="-45" dirty="0">
                <a:latin typeface="Arial"/>
                <a:cs typeface="Arial"/>
              </a:rPr>
              <a:t> </a:t>
            </a:r>
            <a:r>
              <a:rPr sz="2400" dirty="0">
                <a:latin typeface="Arial"/>
                <a:cs typeface="Arial"/>
              </a:rPr>
              <a:t>while</a:t>
            </a:r>
            <a:r>
              <a:rPr sz="2400" spc="-15" dirty="0">
                <a:latin typeface="Arial"/>
                <a:cs typeface="Arial"/>
              </a:rPr>
              <a:t> </a:t>
            </a:r>
            <a:r>
              <a:rPr sz="2400" dirty="0">
                <a:latin typeface="Arial"/>
                <a:cs typeface="Arial"/>
              </a:rPr>
              <a:t>executing</a:t>
            </a:r>
            <a:r>
              <a:rPr sz="2400" spc="-25" dirty="0">
                <a:latin typeface="Arial"/>
                <a:cs typeface="Arial"/>
              </a:rPr>
              <a:t> </a:t>
            </a:r>
            <a:r>
              <a:rPr sz="2400" dirty="0">
                <a:latin typeface="Arial"/>
                <a:cs typeface="Arial"/>
              </a:rPr>
              <a:t>a</a:t>
            </a:r>
            <a:r>
              <a:rPr sz="2400" spc="-40" dirty="0">
                <a:latin typeface="Arial"/>
                <a:cs typeface="Arial"/>
              </a:rPr>
              <a:t> </a:t>
            </a:r>
            <a:r>
              <a:rPr sz="2400" dirty="0">
                <a:latin typeface="Arial"/>
                <a:cs typeface="Arial"/>
              </a:rPr>
              <a:t>kernel,</a:t>
            </a:r>
            <a:r>
              <a:rPr sz="2400" spc="-40" dirty="0">
                <a:latin typeface="Arial"/>
                <a:cs typeface="Arial"/>
              </a:rPr>
              <a:t> </a:t>
            </a:r>
            <a:r>
              <a:rPr sz="2400" dirty="0">
                <a:latin typeface="Arial"/>
                <a:cs typeface="Arial"/>
              </a:rPr>
              <a:t>bring</a:t>
            </a:r>
            <a:r>
              <a:rPr sz="2400" spc="-30" dirty="0">
                <a:latin typeface="Arial"/>
                <a:cs typeface="Arial"/>
              </a:rPr>
              <a:t> </a:t>
            </a:r>
            <a:r>
              <a:rPr sz="2400" dirty="0">
                <a:latin typeface="Arial"/>
                <a:cs typeface="Arial"/>
              </a:rPr>
              <a:t>data</a:t>
            </a:r>
            <a:r>
              <a:rPr sz="2400" spc="-40" dirty="0">
                <a:latin typeface="Arial"/>
                <a:cs typeface="Arial"/>
              </a:rPr>
              <a:t> </a:t>
            </a:r>
            <a:r>
              <a:rPr sz="2400" dirty="0">
                <a:latin typeface="Arial"/>
                <a:cs typeface="Arial"/>
              </a:rPr>
              <a:t>in</a:t>
            </a:r>
            <a:r>
              <a:rPr sz="2400" spc="-45" dirty="0">
                <a:latin typeface="Arial"/>
                <a:cs typeface="Arial"/>
              </a:rPr>
              <a:t> </a:t>
            </a:r>
            <a:r>
              <a:rPr sz="2400" dirty="0">
                <a:latin typeface="Arial"/>
                <a:cs typeface="Arial"/>
              </a:rPr>
              <a:t>for</a:t>
            </a:r>
            <a:r>
              <a:rPr sz="2400" spc="-45" dirty="0">
                <a:latin typeface="Arial"/>
                <a:cs typeface="Arial"/>
              </a:rPr>
              <a:t> </a:t>
            </a:r>
            <a:r>
              <a:rPr sz="2400" spc="-25" dirty="0">
                <a:latin typeface="Arial"/>
                <a:cs typeface="Arial"/>
              </a:rPr>
              <a:t>the</a:t>
            </a:r>
            <a:endParaRPr sz="2400">
              <a:latin typeface="Arial"/>
              <a:cs typeface="Arial"/>
            </a:endParaRPr>
          </a:p>
          <a:p>
            <a:pPr marL="194945">
              <a:spcBef>
                <a:spcPts val="5"/>
              </a:spcBef>
            </a:pPr>
            <a:r>
              <a:rPr sz="2400" dirty="0">
                <a:latin typeface="Arial"/>
                <a:cs typeface="Arial"/>
              </a:rPr>
              <a:t>next</a:t>
            </a:r>
            <a:r>
              <a:rPr sz="2400" spc="-40" dirty="0">
                <a:latin typeface="Arial"/>
                <a:cs typeface="Arial"/>
              </a:rPr>
              <a:t> </a:t>
            </a:r>
            <a:r>
              <a:rPr sz="2400" spc="-10" dirty="0">
                <a:latin typeface="Arial"/>
                <a:cs typeface="Arial"/>
              </a:rPr>
              <a:t>kernel!</a:t>
            </a:r>
            <a:endParaRPr sz="2400">
              <a:latin typeface="Arial"/>
              <a:cs typeface="Arial"/>
            </a:endParaRPr>
          </a:p>
        </p:txBody>
      </p:sp>
      <p:grpSp>
        <p:nvGrpSpPr>
          <p:cNvPr id="4" name="object 4"/>
          <p:cNvGrpSpPr/>
          <p:nvPr/>
        </p:nvGrpSpPr>
        <p:grpSpPr>
          <a:xfrm>
            <a:off x="2433827" y="3179064"/>
            <a:ext cx="7777480" cy="3298190"/>
            <a:chOff x="909827" y="3179064"/>
            <a:chExt cx="7777480" cy="3298190"/>
          </a:xfrm>
        </p:grpSpPr>
        <p:pic>
          <p:nvPicPr>
            <p:cNvPr id="5" name="object 5"/>
            <p:cNvPicPr/>
            <p:nvPr/>
          </p:nvPicPr>
          <p:blipFill>
            <a:blip r:embed="rId2" cstate="print"/>
            <a:stretch>
              <a:fillRect/>
            </a:stretch>
          </p:blipFill>
          <p:spPr>
            <a:xfrm>
              <a:off x="909827" y="3179064"/>
              <a:ext cx="7776969" cy="3297935"/>
            </a:xfrm>
            <a:prstGeom prst="rect">
              <a:avLst/>
            </a:prstGeom>
          </p:spPr>
        </p:pic>
        <p:sp>
          <p:nvSpPr>
            <p:cNvPr id="6" name="object 6"/>
            <p:cNvSpPr/>
            <p:nvPr/>
          </p:nvSpPr>
          <p:spPr>
            <a:xfrm>
              <a:off x="4213098" y="4365498"/>
              <a:ext cx="719455" cy="721360"/>
            </a:xfrm>
            <a:custGeom>
              <a:avLst/>
              <a:gdLst/>
              <a:ahLst/>
              <a:cxnLst/>
              <a:rect l="l" t="t" r="r" b="b"/>
              <a:pathLst>
                <a:path w="719454" h="721360">
                  <a:moveTo>
                    <a:pt x="539496" y="0"/>
                  </a:moveTo>
                  <a:lnTo>
                    <a:pt x="179832" y="0"/>
                  </a:lnTo>
                  <a:lnTo>
                    <a:pt x="179832" y="361188"/>
                  </a:lnTo>
                  <a:lnTo>
                    <a:pt x="0" y="361188"/>
                  </a:lnTo>
                  <a:lnTo>
                    <a:pt x="359664" y="720852"/>
                  </a:lnTo>
                  <a:lnTo>
                    <a:pt x="719328" y="361188"/>
                  </a:lnTo>
                  <a:lnTo>
                    <a:pt x="539496" y="361188"/>
                  </a:lnTo>
                  <a:lnTo>
                    <a:pt x="539496" y="0"/>
                  </a:lnTo>
                  <a:close/>
                </a:path>
              </a:pathLst>
            </a:custGeom>
            <a:solidFill>
              <a:srgbClr val="4F80BC"/>
            </a:solidFill>
          </p:spPr>
          <p:txBody>
            <a:bodyPr wrap="square" lIns="0" tIns="0" rIns="0" bIns="0" rtlCol="0"/>
            <a:lstStyle/>
            <a:p>
              <a:endParaRPr/>
            </a:p>
          </p:txBody>
        </p:sp>
        <p:sp>
          <p:nvSpPr>
            <p:cNvPr id="7" name="object 7"/>
            <p:cNvSpPr/>
            <p:nvPr/>
          </p:nvSpPr>
          <p:spPr>
            <a:xfrm>
              <a:off x="4213098" y="4365498"/>
              <a:ext cx="719455" cy="721360"/>
            </a:xfrm>
            <a:custGeom>
              <a:avLst/>
              <a:gdLst/>
              <a:ahLst/>
              <a:cxnLst/>
              <a:rect l="l" t="t" r="r" b="b"/>
              <a:pathLst>
                <a:path w="719454" h="721360">
                  <a:moveTo>
                    <a:pt x="0" y="361188"/>
                  </a:moveTo>
                  <a:lnTo>
                    <a:pt x="179832" y="361188"/>
                  </a:lnTo>
                  <a:lnTo>
                    <a:pt x="179832" y="0"/>
                  </a:lnTo>
                  <a:lnTo>
                    <a:pt x="539496" y="0"/>
                  </a:lnTo>
                  <a:lnTo>
                    <a:pt x="539496" y="361188"/>
                  </a:lnTo>
                  <a:lnTo>
                    <a:pt x="719328" y="361188"/>
                  </a:lnTo>
                  <a:lnTo>
                    <a:pt x="359664" y="720852"/>
                  </a:lnTo>
                  <a:lnTo>
                    <a:pt x="0" y="361188"/>
                  </a:lnTo>
                  <a:close/>
                </a:path>
              </a:pathLst>
            </a:custGeom>
            <a:ln w="26424">
              <a:solidFill>
                <a:srgbClr val="385D89"/>
              </a:solidFill>
            </a:ln>
          </p:spPr>
          <p:txBody>
            <a:bodyPr wrap="square" lIns="0" tIns="0" rIns="0" bIns="0" rtlCol="0"/>
            <a:lstStyle/>
            <a:p>
              <a:endParaRPr/>
            </a:p>
          </p:txBody>
        </p:sp>
      </p:grpSp>
    </p:spTree>
    <p:extLst>
      <p:ext uri="{BB962C8B-B14F-4D97-AF65-F5344CB8AC3E}">
        <p14:creationId xmlns:p14="http://schemas.microsoft.com/office/powerpoint/2010/main" val="69735445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22499" y="729741"/>
            <a:ext cx="10795000" cy="627736"/>
          </a:xfrm>
          <a:prstGeom prst="rect">
            <a:avLst/>
          </a:prstGeom>
        </p:spPr>
        <p:txBody>
          <a:bodyPr vert="horz" wrap="square" lIns="0" tIns="12065" rIns="0" bIns="0" rtlCol="0">
            <a:spAutoFit/>
          </a:bodyPr>
          <a:lstStyle/>
          <a:p>
            <a:pPr marL="24765">
              <a:spcBef>
                <a:spcPts val="95"/>
              </a:spcBef>
            </a:pPr>
            <a:r>
              <a:rPr spc="-105" dirty="0"/>
              <a:t>What</a:t>
            </a:r>
            <a:r>
              <a:rPr spc="-185" dirty="0"/>
              <a:t> </a:t>
            </a:r>
            <a:r>
              <a:rPr spc="-90" dirty="0"/>
              <a:t>are</a:t>
            </a:r>
            <a:r>
              <a:rPr spc="-170" dirty="0"/>
              <a:t> </a:t>
            </a:r>
            <a:r>
              <a:rPr spc="-70" dirty="0"/>
              <a:t>streams?</a:t>
            </a:r>
          </a:p>
        </p:txBody>
      </p:sp>
      <p:sp>
        <p:nvSpPr>
          <p:cNvPr id="3" name="object 3"/>
          <p:cNvSpPr txBox="1"/>
          <p:nvPr/>
        </p:nvSpPr>
        <p:spPr>
          <a:xfrm>
            <a:off x="1854200" y="1625549"/>
            <a:ext cx="8460740" cy="4367862"/>
          </a:xfrm>
          <a:prstGeom prst="rect">
            <a:avLst/>
          </a:prstGeom>
        </p:spPr>
        <p:txBody>
          <a:bodyPr vert="horz" wrap="square" lIns="0" tIns="12700" rIns="0" bIns="0" rtlCol="0">
            <a:spAutoFit/>
          </a:bodyPr>
          <a:lstStyle/>
          <a:p>
            <a:pPr marL="196215" indent="-183515">
              <a:spcBef>
                <a:spcPts val="100"/>
              </a:spcBef>
              <a:buClr>
                <a:srgbClr val="4F80BC"/>
              </a:buClr>
              <a:buSzPct val="85416"/>
              <a:buFont typeface="Arial"/>
              <a:buChar char="•"/>
              <a:tabLst>
                <a:tab pos="196215" algn="l"/>
              </a:tabLst>
            </a:pPr>
            <a:r>
              <a:rPr sz="2400" b="1" dirty="0">
                <a:solidFill>
                  <a:srgbClr val="1F487C"/>
                </a:solidFill>
                <a:latin typeface="Arial"/>
                <a:cs typeface="Arial"/>
              </a:rPr>
              <a:t>Stream</a:t>
            </a:r>
            <a:r>
              <a:rPr sz="2400" b="1" spc="-55" dirty="0">
                <a:solidFill>
                  <a:srgbClr val="1F487C"/>
                </a:solidFill>
                <a:latin typeface="Arial"/>
                <a:cs typeface="Arial"/>
              </a:rPr>
              <a:t> </a:t>
            </a:r>
            <a:r>
              <a:rPr sz="2400" dirty="0">
                <a:latin typeface="Arial"/>
                <a:cs typeface="Arial"/>
              </a:rPr>
              <a:t>=</a:t>
            </a:r>
            <a:r>
              <a:rPr sz="2400" spc="-55" dirty="0">
                <a:latin typeface="Arial"/>
                <a:cs typeface="Arial"/>
              </a:rPr>
              <a:t> </a:t>
            </a:r>
            <a:r>
              <a:rPr sz="2400" dirty="0">
                <a:latin typeface="Arial"/>
                <a:cs typeface="Arial"/>
              </a:rPr>
              <a:t>a</a:t>
            </a:r>
            <a:r>
              <a:rPr sz="2400" spc="-60" dirty="0">
                <a:latin typeface="Arial"/>
                <a:cs typeface="Arial"/>
              </a:rPr>
              <a:t> </a:t>
            </a:r>
            <a:r>
              <a:rPr sz="2400" dirty="0">
                <a:latin typeface="Arial"/>
                <a:cs typeface="Arial"/>
              </a:rPr>
              <a:t>sequence</a:t>
            </a:r>
            <a:r>
              <a:rPr sz="2400" spc="-35" dirty="0">
                <a:latin typeface="Arial"/>
                <a:cs typeface="Arial"/>
              </a:rPr>
              <a:t> </a:t>
            </a:r>
            <a:r>
              <a:rPr sz="2400" dirty="0">
                <a:latin typeface="Arial"/>
                <a:cs typeface="Arial"/>
              </a:rPr>
              <a:t>of</a:t>
            </a:r>
            <a:r>
              <a:rPr sz="2400" spc="-60" dirty="0">
                <a:latin typeface="Arial"/>
                <a:cs typeface="Arial"/>
              </a:rPr>
              <a:t> </a:t>
            </a:r>
            <a:r>
              <a:rPr sz="2400" dirty="0">
                <a:latin typeface="Arial"/>
                <a:cs typeface="Arial"/>
              </a:rPr>
              <a:t>operations</a:t>
            </a:r>
            <a:r>
              <a:rPr sz="2400" spc="-45" dirty="0">
                <a:latin typeface="Arial"/>
                <a:cs typeface="Arial"/>
              </a:rPr>
              <a:t> </a:t>
            </a:r>
            <a:r>
              <a:rPr sz="2400" dirty="0">
                <a:latin typeface="Arial"/>
                <a:cs typeface="Arial"/>
              </a:rPr>
              <a:t>that</a:t>
            </a:r>
            <a:r>
              <a:rPr sz="2400" spc="-50" dirty="0">
                <a:latin typeface="Arial"/>
                <a:cs typeface="Arial"/>
              </a:rPr>
              <a:t> </a:t>
            </a:r>
            <a:r>
              <a:rPr sz="2400" dirty="0">
                <a:latin typeface="Arial"/>
                <a:cs typeface="Arial"/>
              </a:rPr>
              <a:t>execute</a:t>
            </a:r>
            <a:r>
              <a:rPr sz="2400" spc="-40" dirty="0">
                <a:latin typeface="Arial"/>
                <a:cs typeface="Arial"/>
              </a:rPr>
              <a:t> </a:t>
            </a:r>
            <a:r>
              <a:rPr sz="2400" dirty="0">
                <a:latin typeface="Arial"/>
                <a:cs typeface="Arial"/>
              </a:rPr>
              <a:t>on</a:t>
            </a:r>
            <a:r>
              <a:rPr sz="2400" spc="-65" dirty="0">
                <a:latin typeface="Arial"/>
                <a:cs typeface="Arial"/>
              </a:rPr>
              <a:t> </a:t>
            </a:r>
            <a:r>
              <a:rPr sz="2400" spc="-25" dirty="0">
                <a:latin typeface="Arial"/>
                <a:cs typeface="Arial"/>
              </a:rPr>
              <a:t>the</a:t>
            </a:r>
            <a:endParaRPr sz="2400">
              <a:latin typeface="Arial"/>
              <a:cs typeface="Arial"/>
            </a:endParaRPr>
          </a:p>
          <a:p>
            <a:pPr marL="195580">
              <a:spcBef>
                <a:spcPts val="5"/>
              </a:spcBef>
            </a:pPr>
            <a:r>
              <a:rPr sz="2400" dirty="0">
                <a:latin typeface="Arial"/>
                <a:cs typeface="Arial"/>
              </a:rPr>
              <a:t>device</a:t>
            </a:r>
            <a:r>
              <a:rPr sz="2400" spc="-40" dirty="0">
                <a:latin typeface="Arial"/>
                <a:cs typeface="Arial"/>
              </a:rPr>
              <a:t> </a:t>
            </a:r>
            <a:r>
              <a:rPr sz="2400" dirty="0">
                <a:latin typeface="Arial"/>
                <a:cs typeface="Arial"/>
              </a:rPr>
              <a:t>in</a:t>
            </a:r>
            <a:r>
              <a:rPr sz="2400" spc="-40" dirty="0">
                <a:latin typeface="Arial"/>
                <a:cs typeface="Arial"/>
              </a:rPr>
              <a:t> </a:t>
            </a:r>
            <a:r>
              <a:rPr sz="2400" dirty="0">
                <a:latin typeface="Arial"/>
                <a:cs typeface="Arial"/>
              </a:rPr>
              <a:t>the</a:t>
            </a:r>
            <a:r>
              <a:rPr sz="2400" spc="-45" dirty="0">
                <a:latin typeface="Arial"/>
                <a:cs typeface="Arial"/>
              </a:rPr>
              <a:t> </a:t>
            </a:r>
            <a:r>
              <a:rPr sz="2400" dirty="0">
                <a:latin typeface="Arial"/>
                <a:cs typeface="Arial"/>
              </a:rPr>
              <a:t>order</a:t>
            </a:r>
            <a:r>
              <a:rPr sz="2400" spc="-40" dirty="0">
                <a:latin typeface="Arial"/>
                <a:cs typeface="Arial"/>
              </a:rPr>
              <a:t> </a:t>
            </a:r>
            <a:r>
              <a:rPr sz="2400" dirty="0">
                <a:latin typeface="Arial"/>
                <a:cs typeface="Arial"/>
              </a:rPr>
              <a:t>in</a:t>
            </a:r>
            <a:r>
              <a:rPr sz="2400" spc="-45" dirty="0">
                <a:latin typeface="Arial"/>
                <a:cs typeface="Arial"/>
              </a:rPr>
              <a:t> </a:t>
            </a:r>
            <a:r>
              <a:rPr sz="2400" dirty="0">
                <a:latin typeface="Arial"/>
                <a:cs typeface="Arial"/>
              </a:rPr>
              <a:t>which</a:t>
            </a:r>
            <a:r>
              <a:rPr sz="2400" spc="-40" dirty="0">
                <a:latin typeface="Arial"/>
                <a:cs typeface="Arial"/>
              </a:rPr>
              <a:t> </a:t>
            </a:r>
            <a:r>
              <a:rPr sz="2400" dirty="0">
                <a:latin typeface="Arial"/>
                <a:cs typeface="Arial"/>
              </a:rPr>
              <a:t>they</a:t>
            </a:r>
            <a:r>
              <a:rPr sz="2400" spc="-45" dirty="0">
                <a:latin typeface="Arial"/>
                <a:cs typeface="Arial"/>
              </a:rPr>
              <a:t> </a:t>
            </a:r>
            <a:r>
              <a:rPr sz="2400" dirty="0">
                <a:latin typeface="Arial"/>
                <a:cs typeface="Arial"/>
              </a:rPr>
              <a:t>are</a:t>
            </a:r>
            <a:r>
              <a:rPr sz="2400" spc="-55" dirty="0">
                <a:latin typeface="Arial"/>
                <a:cs typeface="Arial"/>
              </a:rPr>
              <a:t> </a:t>
            </a:r>
            <a:r>
              <a:rPr sz="2400" dirty="0">
                <a:latin typeface="Arial"/>
                <a:cs typeface="Arial"/>
              </a:rPr>
              <a:t>issued</a:t>
            </a:r>
            <a:r>
              <a:rPr sz="2400" spc="-25" dirty="0">
                <a:latin typeface="Arial"/>
                <a:cs typeface="Arial"/>
              </a:rPr>
              <a:t> </a:t>
            </a:r>
            <a:r>
              <a:rPr sz="2400" dirty="0">
                <a:latin typeface="Arial"/>
                <a:cs typeface="Arial"/>
              </a:rPr>
              <a:t>by</a:t>
            </a:r>
            <a:r>
              <a:rPr sz="2400" spc="-60" dirty="0">
                <a:latin typeface="Arial"/>
                <a:cs typeface="Arial"/>
              </a:rPr>
              <a:t> </a:t>
            </a:r>
            <a:r>
              <a:rPr sz="2400" dirty="0">
                <a:latin typeface="Arial"/>
                <a:cs typeface="Arial"/>
              </a:rPr>
              <a:t>the</a:t>
            </a:r>
            <a:r>
              <a:rPr sz="2400" spc="-45" dirty="0">
                <a:latin typeface="Arial"/>
                <a:cs typeface="Arial"/>
              </a:rPr>
              <a:t> </a:t>
            </a:r>
            <a:r>
              <a:rPr sz="2400" dirty="0">
                <a:latin typeface="Arial"/>
                <a:cs typeface="Arial"/>
              </a:rPr>
              <a:t>host</a:t>
            </a:r>
            <a:r>
              <a:rPr sz="2400" spc="-45" dirty="0">
                <a:latin typeface="Arial"/>
                <a:cs typeface="Arial"/>
              </a:rPr>
              <a:t> </a:t>
            </a:r>
            <a:r>
              <a:rPr sz="2400" spc="-10" dirty="0">
                <a:latin typeface="Arial"/>
                <a:cs typeface="Arial"/>
              </a:rPr>
              <a:t>code.</a:t>
            </a:r>
            <a:endParaRPr sz="2400">
              <a:latin typeface="Arial"/>
              <a:cs typeface="Arial"/>
            </a:endParaRPr>
          </a:p>
          <a:p>
            <a:pPr>
              <a:spcBef>
                <a:spcPts val="1270"/>
              </a:spcBef>
            </a:pPr>
            <a:endParaRPr sz="2400">
              <a:latin typeface="Arial"/>
              <a:cs typeface="Arial"/>
            </a:endParaRPr>
          </a:p>
          <a:p>
            <a:pPr marL="195580" indent="-182880">
              <a:buClr>
                <a:srgbClr val="4F80BC"/>
              </a:buClr>
              <a:buSzPct val="85416"/>
              <a:buChar char="•"/>
              <a:tabLst>
                <a:tab pos="195580" algn="l"/>
              </a:tabLst>
            </a:pPr>
            <a:r>
              <a:rPr sz="2400" dirty="0">
                <a:latin typeface="Arial"/>
                <a:cs typeface="Arial"/>
              </a:rPr>
              <a:t>Same</a:t>
            </a:r>
            <a:r>
              <a:rPr sz="2400" spc="-40" dirty="0">
                <a:latin typeface="Arial"/>
                <a:cs typeface="Arial"/>
              </a:rPr>
              <a:t> </a:t>
            </a:r>
            <a:r>
              <a:rPr sz="2400" dirty="0">
                <a:latin typeface="Arial"/>
                <a:cs typeface="Arial"/>
              </a:rPr>
              <a:t>stream:</a:t>
            </a:r>
            <a:r>
              <a:rPr sz="2400" spc="-55" dirty="0">
                <a:latin typeface="Arial"/>
                <a:cs typeface="Arial"/>
              </a:rPr>
              <a:t> </a:t>
            </a:r>
            <a:r>
              <a:rPr sz="2400" spc="-10" dirty="0">
                <a:latin typeface="Arial"/>
                <a:cs typeface="Arial"/>
              </a:rPr>
              <a:t>In-</a:t>
            </a:r>
            <a:r>
              <a:rPr sz="2400" dirty="0">
                <a:latin typeface="Arial"/>
                <a:cs typeface="Arial"/>
              </a:rPr>
              <a:t>Order</a:t>
            </a:r>
            <a:r>
              <a:rPr sz="2400" spc="-60" dirty="0">
                <a:latin typeface="Arial"/>
                <a:cs typeface="Arial"/>
              </a:rPr>
              <a:t> </a:t>
            </a:r>
            <a:r>
              <a:rPr sz="2400" spc="-10" dirty="0">
                <a:latin typeface="Arial"/>
                <a:cs typeface="Arial"/>
              </a:rPr>
              <a:t>execution</a:t>
            </a:r>
            <a:endParaRPr sz="2400">
              <a:latin typeface="Arial"/>
              <a:cs typeface="Arial"/>
            </a:endParaRPr>
          </a:p>
          <a:p>
            <a:pPr marL="195580" indent="-182880">
              <a:spcBef>
                <a:spcPts val="580"/>
              </a:spcBef>
              <a:buClr>
                <a:srgbClr val="4F80BC"/>
              </a:buClr>
              <a:buSzPct val="85416"/>
              <a:buChar char="•"/>
              <a:tabLst>
                <a:tab pos="195580" algn="l"/>
              </a:tabLst>
            </a:pPr>
            <a:r>
              <a:rPr sz="2400" dirty="0">
                <a:latin typeface="Arial"/>
                <a:cs typeface="Arial"/>
              </a:rPr>
              <a:t>Different</a:t>
            </a:r>
            <a:r>
              <a:rPr sz="2400" spc="-80" dirty="0">
                <a:latin typeface="Arial"/>
                <a:cs typeface="Arial"/>
              </a:rPr>
              <a:t> </a:t>
            </a:r>
            <a:r>
              <a:rPr sz="2400" dirty="0">
                <a:latin typeface="Arial"/>
                <a:cs typeface="Arial"/>
              </a:rPr>
              <a:t>streams:</a:t>
            </a:r>
            <a:r>
              <a:rPr sz="2400" spc="-85" dirty="0">
                <a:latin typeface="Arial"/>
                <a:cs typeface="Arial"/>
              </a:rPr>
              <a:t> </a:t>
            </a:r>
            <a:r>
              <a:rPr sz="2400" dirty="0">
                <a:latin typeface="Arial"/>
                <a:cs typeface="Arial"/>
              </a:rPr>
              <a:t>Out-</a:t>
            </a:r>
            <a:r>
              <a:rPr sz="2400" spc="-10" dirty="0">
                <a:latin typeface="Arial"/>
                <a:cs typeface="Arial"/>
              </a:rPr>
              <a:t>of-</a:t>
            </a:r>
            <a:r>
              <a:rPr sz="2400" dirty="0">
                <a:latin typeface="Arial"/>
                <a:cs typeface="Arial"/>
              </a:rPr>
              <a:t>Order</a:t>
            </a:r>
            <a:r>
              <a:rPr sz="2400" spc="-105" dirty="0">
                <a:latin typeface="Arial"/>
                <a:cs typeface="Arial"/>
              </a:rPr>
              <a:t> </a:t>
            </a:r>
            <a:r>
              <a:rPr sz="2400" spc="-10" dirty="0">
                <a:latin typeface="Arial"/>
                <a:cs typeface="Arial"/>
              </a:rPr>
              <a:t>execution</a:t>
            </a:r>
            <a:endParaRPr sz="2400">
              <a:latin typeface="Arial"/>
              <a:cs typeface="Arial"/>
            </a:endParaRPr>
          </a:p>
          <a:p>
            <a:pPr>
              <a:spcBef>
                <a:spcPts val="1270"/>
              </a:spcBef>
              <a:buClr>
                <a:srgbClr val="4F80BC"/>
              </a:buClr>
              <a:buFont typeface="Arial"/>
              <a:buChar char="•"/>
            </a:pPr>
            <a:endParaRPr sz="2400">
              <a:latin typeface="Arial"/>
              <a:cs typeface="Arial"/>
            </a:endParaRPr>
          </a:p>
          <a:p>
            <a:pPr marL="195580" indent="-182880">
              <a:buClr>
                <a:srgbClr val="4F80BC"/>
              </a:buClr>
              <a:buSzPct val="85416"/>
              <a:buChar char="•"/>
              <a:tabLst>
                <a:tab pos="195580" algn="l"/>
              </a:tabLst>
            </a:pPr>
            <a:r>
              <a:rPr sz="2400" dirty="0">
                <a:latin typeface="Arial"/>
                <a:cs typeface="Arial"/>
              </a:rPr>
              <a:t>Default</a:t>
            </a:r>
            <a:r>
              <a:rPr sz="2400" spc="-65" dirty="0">
                <a:latin typeface="Arial"/>
                <a:cs typeface="Arial"/>
              </a:rPr>
              <a:t> </a:t>
            </a:r>
            <a:r>
              <a:rPr sz="2400" dirty="0">
                <a:latin typeface="Arial"/>
                <a:cs typeface="Arial"/>
              </a:rPr>
              <a:t>stream</a:t>
            </a:r>
            <a:r>
              <a:rPr sz="2400" spc="-90" dirty="0">
                <a:latin typeface="Arial"/>
                <a:cs typeface="Arial"/>
              </a:rPr>
              <a:t> </a:t>
            </a:r>
            <a:r>
              <a:rPr sz="2400" dirty="0">
                <a:latin typeface="Arial"/>
                <a:cs typeface="Arial"/>
              </a:rPr>
              <a:t>=</a:t>
            </a:r>
            <a:r>
              <a:rPr sz="2400" spc="-75" dirty="0">
                <a:latin typeface="Arial"/>
                <a:cs typeface="Arial"/>
              </a:rPr>
              <a:t> </a:t>
            </a:r>
            <a:r>
              <a:rPr sz="2400" dirty="0">
                <a:latin typeface="Arial"/>
                <a:cs typeface="Arial"/>
              </a:rPr>
              <a:t>Synchronizing</a:t>
            </a:r>
            <a:r>
              <a:rPr sz="2400" spc="-30" dirty="0">
                <a:latin typeface="Arial"/>
                <a:cs typeface="Arial"/>
              </a:rPr>
              <a:t> </a:t>
            </a:r>
            <a:r>
              <a:rPr sz="2400" spc="-10" dirty="0">
                <a:latin typeface="Arial"/>
                <a:cs typeface="Arial"/>
              </a:rPr>
              <a:t>stream</a:t>
            </a:r>
            <a:endParaRPr sz="2400">
              <a:latin typeface="Arial"/>
              <a:cs typeface="Arial"/>
            </a:endParaRPr>
          </a:p>
          <a:p>
            <a:pPr marL="469900" lvl="1" indent="-182880">
              <a:spcBef>
                <a:spcPts val="484"/>
              </a:spcBef>
              <a:buClr>
                <a:srgbClr val="4F80BC"/>
              </a:buClr>
              <a:buSzPct val="85000"/>
              <a:buChar char="•"/>
              <a:tabLst>
                <a:tab pos="469900" algn="l"/>
              </a:tabLst>
            </a:pPr>
            <a:r>
              <a:rPr sz="2000" dirty="0">
                <a:latin typeface="Arial"/>
                <a:cs typeface="Arial"/>
              </a:rPr>
              <a:t>No</a:t>
            </a:r>
            <a:r>
              <a:rPr sz="2000" spc="-25" dirty="0">
                <a:latin typeface="Arial"/>
                <a:cs typeface="Arial"/>
              </a:rPr>
              <a:t> </a:t>
            </a:r>
            <a:r>
              <a:rPr sz="2000" dirty="0">
                <a:latin typeface="Arial"/>
                <a:cs typeface="Arial"/>
              </a:rPr>
              <a:t>operation</a:t>
            </a:r>
            <a:r>
              <a:rPr sz="2000" spc="-35" dirty="0">
                <a:latin typeface="Arial"/>
                <a:cs typeface="Arial"/>
              </a:rPr>
              <a:t> </a:t>
            </a:r>
            <a:r>
              <a:rPr sz="2000" dirty="0">
                <a:latin typeface="Arial"/>
                <a:cs typeface="Arial"/>
              </a:rPr>
              <a:t>in</a:t>
            </a:r>
            <a:r>
              <a:rPr sz="2000" spc="-10" dirty="0">
                <a:latin typeface="Arial"/>
                <a:cs typeface="Arial"/>
              </a:rPr>
              <a:t> </a:t>
            </a:r>
            <a:r>
              <a:rPr sz="2000" dirty="0">
                <a:latin typeface="Arial"/>
                <a:cs typeface="Arial"/>
              </a:rPr>
              <a:t>the</a:t>
            </a:r>
            <a:r>
              <a:rPr sz="2000" spc="-25" dirty="0">
                <a:latin typeface="Arial"/>
                <a:cs typeface="Arial"/>
              </a:rPr>
              <a:t> </a:t>
            </a:r>
            <a:r>
              <a:rPr sz="2000" dirty="0">
                <a:latin typeface="Arial"/>
                <a:cs typeface="Arial"/>
              </a:rPr>
              <a:t>default</a:t>
            </a:r>
            <a:r>
              <a:rPr sz="2000" spc="-35" dirty="0">
                <a:latin typeface="Arial"/>
                <a:cs typeface="Arial"/>
              </a:rPr>
              <a:t> </a:t>
            </a:r>
            <a:r>
              <a:rPr sz="2000" dirty="0">
                <a:latin typeface="Arial"/>
                <a:cs typeface="Arial"/>
              </a:rPr>
              <a:t>stream</a:t>
            </a:r>
            <a:r>
              <a:rPr sz="2000" spc="-45" dirty="0">
                <a:latin typeface="Arial"/>
                <a:cs typeface="Arial"/>
              </a:rPr>
              <a:t> </a:t>
            </a:r>
            <a:r>
              <a:rPr sz="2000" dirty="0">
                <a:latin typeface="Arial"/>
                <a:cs typeface="Arial"/>
              </a:rPr>
              <a:t>can</a:t>
            </a:r>
            <a:r>
              <a:rPr sz="2000" spc="-15" dirty="0">
                <a:latin typeface="Arial"/>
                <a:cs typeface="Arial"/>
              </a:rPr>
              <a:t> </a:t>
            </a:r>
            <a:r>
              <a:rPr sz="2000" dirty="0">
                <a:latin typeface="Arial"/>
                <a:cs typeface="Arial"/>
              </a:rPr>
              <a:t>begin</a:t>
            </a:r>
            <a:r>
              <a:rPr sz="2000" spc="-15" dirty="0">
                <a:latin typeface="Arial"/>
                <a:cs typeface="Arial"/>
              </a:rPr>
              <a:t> </a:t>
            </a:r>
            <a:r>
              <a:rPr sz="2000" dirty="0">
                <a:latin typeface="Arial"/>
                <a:cs typeface="Arial"/>
              </a:rPr>
              <a:t>until</a:t>
            </a:r>
            <a:r>
              <a:rPr sz="2000" spc="-15" dirty="0">
                <a:latin typeface="Arial"/>
                <a:cs typeface="Arial"/>
              </a:rPr>
              <a:t> </a:t>
            </a:r>
            <a:r>
              <a:rPr sz="2000" dirty="0">
                <a:latin typeface="Arial"/>
                <a:cs typeface="Arial"/>
              </a:rPr>
              <a:t>all</a:t>
            </a:r>
            <a:r>
              <a:rPr sz="2000" spc="-5" dirty="0">
                <a:latin typeface="Arial"/>
                <a:cs typeface="Arial"/>
              </a:rPr>
              <a:t> </a:t>
            </a:r>
            <a:r>
              <a:rPr sz="2000" dirty="0">
                <a:latin typeface="Arial"/>
                <a:cs typeface="Arial"/>
              </a:rPr>
              <a:t>previously</a:t>
            </a:r>
            <a:r>
              <a:rPr sz="2000" spc="-40" dirty="0">
                <a:latin typeface="Arial"/>
                <a:cs typeface="Arial"/>
              </a:rPr>
              <a:t> </a:t>
            </a:r>
            <a:r>
              <a:rPr sz="2000" spc="-10" dirty="0">
                <a:latin typeface="Arial"/>
                <a:cs typeface="Arial"/>
              </a:rPr>
              <a:t>issued</a:t>
            </a:r>
            <a:endParaRPr sz="2000">
              <a:latin typeface="Arial"/>
              <a:cs typeface="Arial"/>
            </a:endParaRPr>
          </a:p>
          <a:p>
            <a:pPr marL="469900">
              <a:spcBef>
                <a:spcPts val="5"/>
              </a:spcBef>
            </a:pPr>
            <a:r>
              <a:rPr sz="2000" dirty="0">
                <a:latin typeface="Arial"/>
                <a:cs typeface="Arial"/>
              </a:rPr>
              <a:t>operations</a:t>
            </a:r>
            <a:r>
              <a:rPr sz="2000" spc="-40" dirty="0">
                <a:latin typeface="Arial"/>
                <a:cs typeface="Arial"/>
              </a:rPr>
              <a:t> </a:t>
            </a:r>
            <a:r>
              <a:rPr sz="2000" dirty="0">
                <a:latin typeface="Arial"/>
                <a:cs typeface="Arial"/>
              </a:rPr>
              <a:t>in any</a:t>
            </a:r>
            <a:r>
              <a:rPr sz="2000" spc="-5" dirty="0">
                <a:latin typeface="Arial"/>
                <a:cs typeface="Arial"/>
              </a:rPr>
              <a:t> </a:t>
            </a:r>
            <a:r>
              <a:rPr sz="2000" dirty="0">
                <a:latin typeface="Arial"/>
                <a:cs typeface="Arial"/>
              </a:rPr>
              <a:t>stream</a:t>
            </a:r>
            <a:r>
              <a:rPr sz="2000" spc="-45" dirty="0">
                <a:latin typeface="Arial"/>
                <a:cs typeface="Arial"/>
              </a:rPr>
              <a:t> </a:t>
            </a:r>
            <a:r>
              <a:rPr sz="2000" dirty="0">
                <a:latin typeface="Arial"/>
                <a:cs typeface="Arial"/>
              </a:rPr>
              <a:t>on</a:t>
            </a:r>
            <a:r>
              <a:rPr sz="2000" spc="-15" dirty="0">
                <a:latin typeface="Arial"/>
                <a:cs typeface="Arial"/>
              </a:rPr>
              <a:t> </a:t>
            </a:r>
            <a:r>
              <a:rPr sz="2000" dirty="0">
                <a:latin typeface="Arial"/>
                <a:cs typeface="Arial"/>
              </a:rPr>
              <a:t>the</a:t>
            </a:r>
            <a:r>
              <a:rPr sz="2000" spc="-20" dirty="0">
                <a:latin typeface="Arial"/>
                <a:cs typeface="Arial"/>
              </a:rPr>
              <a:t> </a:t>
            </a:r>
            <a:r>
              <a:rPr sz="2000" dirty="0">
                <a:latin typeface="Arial"/>
                <a:cs typeface="Arial"/>
              </a:rPr>
              <a:t>device</a:t>
            </a:r>
            <a:r>
              <a:rPr sz="2000" spc="-15" dirty="0">
                <a:latin typeface="Arial"/>
                <a:cs typeface="Arial"/>
              </a:rPr>
              <a:t> </a:t>
            </a:r>
            <a:r>
              <a:rPr sz="2000" dirty="0">
                <a:latin typeface="Arial"/>
                <a:cs typeface="Arial"/>
              </a:rPr>
              <a:t>have</a:t>
            </a:r>
            <a:r>
              <a:rPr sz="2000" spc="-5" dirty="0">
                <a:latin typeface="Arial"/>
                <a:cs typeface="Arial"/>
              </a:rPr>
              <a:t> </a:t>
            </a:r>
            <a:r>
              <a:rPr sz="2000" spc="-10" dirty="0">
                <a:latin typeface="Arial"/>
                <a:cs typeface="Arial"/>
              </a:rPr>
              <a:t>completed.</a:t>
            </a:r>
            <a:endParaRPr sz="2000">
              <a:latin typeface="Arial"/>
              <a:cs typeface="Arial"/>
            </a:endParaRPr>
          </a:p>
          <a:p>
            <a:pPr marL="469900" marR="539750" lvl="1" indent="-182880">
              <a:spcBef>
                <a:spcPts val="480"/>
              </a:spcBef>
              <a:buClr>
                <a:srgbClr val="4F80BC"/>
              </a:buClr>
              <a:buSzPct val="85000"/>
              <a:buChar char="•"/>
              <a:tabLst>
                <a:tab pos="469900" algn="l"/>
              </a:tabLst>
            </a:pPr>
            <a:r>
              <a:rPr sz="2000" dirty="0">
                <a:latin typeface="Arial"/>
                <a:cs typeface="Arial"/>
              </a:rPr>
              <a:t>An</a:t>
            </a:r>
            <a:r>
              <a:rPr sz="2000" spc="-10" dirty="0">
                <a:latin typeface="Arial"/>
                <a:cs typeface="Arial"/>
              </a:rPr>
              <a:t> </a:t>
            </a:r>
            <a:r>
              <a:rPr sz="2000" dirty="0">
                <a:latin typeface="Arial"/>
                <a:cs typeface="Arial"/>
              </a:rPr>
              <a:t>operation</a:t>
            </a:r>
            <a:r>
              <a:rPr sz="2000" spc="-30" dirty="0">
                <a:latin typeface="Arial"/>
                <a:cs typeface="Arial"/>
              </a:rPr>
              <a:t> </a:t>
            </a:r>
            <a:r>
              <a:rPr sz="2000" dirty="0">
                <a:latin typeface="Arial"/>
                <a:cs typeface="Arial"/>
              </a:rPr>
              <a:t>in the</a:t>
            </a:r>
            <a:r>
              <a:rPr sz="2000" spc="-15" dirty="0">
                <a:latin typeface="Arial"/>
                <a:cs typeface="Arial"/>
              </a:rPr>
              <a:t> </a:t>
            </a:r>
            <a:r>
              <a:rPr sz="2000" dirty="0">
                <a:latin typeface="Arial"/>
                <a:cs typeface="Arial"/>
              </a:rPr>
              <a:t>default</a:t>
            </a:r>
            <a:r>
              <a:rPr sz="2000" spc="-25" dirty="0">
                <a:latin typeface="Arial"/>
                <a:cs typeface="Arial"/>
              </a:rPr>
              <a:t> </a:t>
            </a:r>
            <a:r>
              <a:rPr sz="2000" dirty="0">
                <a:latin typeface="Arial"/>
                <a:cs typeface="Arial"/>
              </a:rPr>
              <a:t>stream</a:t>
            </a:r>
            <a:r>
              <a:rPr sz="2000" spc="-40" dirty="0">
                <a:latin typeface="Arial"/>
                <a:cs typeface="Arial"/>
              </a:rPr>
              <a:t> </a:t>
            </a:r>
            <a:r>
              <a:rPr sz="2000" dirty="0">
                <a:latin typeface="Arial"/>
                <a:cs typeface="Arial"/>
              </a:rPr>
              <a:t>must</a:t>
            </a:r>
            <a:r>
              <a:rPr sz="2000" spc="-35" dirty="0">
                <a:latin typeface="Arial"/>
                <a:cs typeface="Arial"/>
              </a:rPr>
              <a:t> </a:t>
            </a:r>
            <a:r>
              <a:rPr sz="2000" dirty="0">
                <a:latin typeface="Arial"/>
                <a:cs typeface="Arial"/>
              </a:rPr>
              <a:t>complete</a:t>
            </a:r>
            <a:r>
              <a:rPr sz="2000" spc="-35" dirty="0">
                <a:latin typeface="Arial"/>
                <a:cs typeface="Arial"/>
              </a:rPr>
              <a:t> </a:t>
            </a:r>
            <a:r>
              <a:rPr sz="2000" dirty="0">
                <a:latin typeface="Arial"/>
                <a:cs typeface="Arial"/>
              </a:rPr>
              <a:t>before</a:t>
            </a:r>
            <a:r>
              <a:rPr sz="2000" spc="-25" dirty="0">
                <a:latin typeface="Arial"/>
                <a:cs typeface="Arial"/>
              </a:rPr>
              <a:t> </a:t>
            </a:r>
            <a:r>
              <a:rPr sz="2000" dirty="0">
                <a:latin typeface="Arial"/>
                <a:cs typeface="Arial"/>
              </a:rPr>
              <a:t>any</a:t>
            </a:r>
            <a:r>
              <a:rPr sz="2000" spc="-20" dirty="0">
                <a:latin typeface="Arial"/>
                <a:cs typeface="Arial"/>
              </a:rPr>
              <a:t> </a:t>
            </a:r>
            <a:r>
              <a:rPr sz="2000" spc="-10" dirty="0">
                <a:latin typeface="Arial"/>
                <a:cs typeface="Arial"/>
              </a:rPr>
              <a:t>other </a:t>
            </a:r>
            <a:r>
              <a:rPr sz="2000" dirty="0">
                <a:latin typeface="Arial"/>
                <a:cs typeface="Arial"/>
              </a:rPr>
              <a:t>operation</a:t>
            </a:r>
            <a:r>
              <a:rPr sz="2000" spc="-35" dirty="0">
                <a:latin typeface="Arial"/>
                <a:cs typeface="Arial"/>
              </a:rPr>
              <a:t> </a:t>
            </a:r>
            <a:r>
              <a:rPr sz="2000" dirty="0">
                <a:latin typeface="Arial"/>
                <a:cs typeface="Arial"/>
              </a:rPr>
              <a:t>in any</a:t>
            </a:r>
            <a:r>
              <a:rPr sz="2000" spc="-25" dirty="0">
                <a:latin typeface="Arial"/>
                <a:cs typeface="Arial"/>
              </a:rPr>
              <a:t> </a:t>
            </a:r>
            <a:r>
              <a:rPr sz="2000" dirty="0">
                <a:latin typeface="Arial"/>
                <a:cs typeface="Arial"/>
              </a:rPr>
              <a:t>stream</a:t>
            </a:r>
            <a:r>
              <a:rPr sz="2000" spc="-40" dirty="0">
                <a:latin typeface="Arial"/>
                <a:cs typeface="Arial"/>
              </a:rPr>
              <a:t> </a:t>
            </a:r>
            <a:r>
              <a:rPr sz="2000" dirty="0">
                <a:latin typeface="Arial"/>
                <a:cs typeface="Arial"/>
              </a:rPr>
              <a:t>on the</a:t>
            </a:r>
            <a:r>
              <a:rPr sz="2000" spc="-15" dirty="0">
                <a:latin typeface="Arial"/>
                <a:cs typeface="Arial"/>
              </a:rPr>
              <a:t> </a:t>
            </a:r>
            <a:r>
              <a:rPr sz="2000" dirty="0">
                <a:latin typeface="Arial"/>
                <a:cs typeface="Arial"/>
              </a:rPr>
              <a:t>device</a:t>
            </a:r>
            <a:r>
              <a:rPr sz="2000" spc="-15" dirty="0">
                <a:latin typeface="Arial"/>
                <a:cs typeface="Arial"/>
              </a:rPr>
              <a:t> </a:t>
            </a:r>
            <a:r>
              <a:rPr sz="2000" dirty="0">
                <a:latin typeface="Arial"/>
                <a:cs typeface="Arial"/>
              </a:rPr>
              <a:t>can</a:t>
            </a:r>
            <a:r>
              <a:rPr sz="2000" spc="-35" dirty="0">
                <a:latin typeface="Arial"/>
                <a:cs typeface="Arial"/>
              </a:rPr>
              <a:t> </a:t>
            </a:r>
            <a:r>
              <a:rPr sz="2000" spc="-10" dirty="0">
                <a:latin typeface="Arial"/>
                <a:cs typeface="Arial"/>
              </a:rPr>
              <a:t>begin.</a:t>
            </a:r>
            <a:endParaRPr sz="2000">
              <a:latin typeface="Arial"/>
              <a:cs typeface="Arial"/>
            </a:endParaRPr>
          </a:p>
        </p:txBody>
      </p:sp>
      <p:sp>
        <p:nvSpPr>
          <p:cNvPr id="4" name="object 4"/>
          <p:cNvSpPr txBox="1"/>
          <p:nvPr/>
        </p:nvSpPr>
        <p:spPr>
          <a:xfrm>
            <a:off x="9224007" y="45213"/>
            <a:ext cx="279400" cy="299720"/>
          </a:xfrm>
          <a:prstGeom prst="rect">
            <a:avLst/>
          </a:prstGeom>
        </p:spPr>
        <p:txBody>
          <a:bodyPr vert="horz" wrap="square" lIns="0" tIns="12700" rIns="0" bIns="0" rtlCol="0">
            <a:spAutoFit/>
          </a:bodyPr>
          <a:lstStyle/>
          <a:p>
            <a:pPr marL="12700">
              <a:spcBef>
                <a:spcPts val="100"/>
              </a:spcBef>
            </a:pPr>
            <a:r>
              <a:rPr spc="-25" dirty="0">
                <a:latin typeface="Arial"/>
                <a:cs typeface="Arial"/>
              </a:rPr>
              <a:t>95</a:t>
            </a:r>
            <a:endParaRPr>
              <a:latin typeface="Arial"/>
              <a:cs typeface="Arial"/>
            </a:endParaRPr>
          </a:p>
        </p:txBody>
      </p:sp>
    </p:spTree>
    <p:extLst>
      <p:ext uri="{BB962C8B-B14F-4D97-AF65-F5344CB8AC3E}">
        <p14:creationId xmlns:p14="http://schemas.microsoft.com/office/powerpoint/2010/main" val="7498156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59940" y="697737"/>
            <a:ext cx="4047490" cy="635000"/>
          </a:xfrm>
          <a:prstGeom prst="rect">
            <a:avLst/>
          </a:prstGeom>
        </p:spPr>
        <p:txBody>
          <a:bodyPr vert="horz" wrap="square" lIns="0" tIns="12065" rIns="0" bIns="0" rtlCol="0">
            <a:spAutoFit/>
          </a:bodyPr>
          <a:lstStyle/>
          <a:p>
            <a:pPr marL="12700">
              <a:spcBef>
                <a:spcPts val="95"/>
              </a:spcBef>
            </a:pPr>
            <a:r>
              <a:rPr spc="-85" dirty="0"/>
              <a:t>The</a:t>
            </a:r>
            <a:r>
              <a:rPr spc="-175" dirty="0"/>
              <a:t> </a:t>
            </a:r>
            <a:r>
              <a:rPr spc="-110" dirty="0"/>
              <a:t>default</a:t>
            </a:r>
            <a:r>
              <a:rPr spc="-175" dirty="0"/>
              <a:t> </a:t>
            </a:r>
            <a:r>
              <a:rPr spc="-50" dirty="0"/>
              <a:t>stream</a:t>
            </a:r>
          </a:p>
        </p:txBody>
      </p:sp>
      <p:sp>
        <p:nvSpPr>
          <p:cNvPr id="3" name="object 3"/>
          <p:cNvSpPr txBox="1"/>
          <p:nvPr/>
        </p:nvSpPr>
        <p:spPr>
          <a:xfrm>
            <a:off x="1602740" y="1526792"/>
            <a:ext cx="8857615" cy="5225148"/>
          </a:xfrm>
          <a:prstGeom prst="rect">
            <a:avLst/>
          </a:prstGeom>
        </p:spPr>
        <p:txBody>
          <a:bodyPr vert="horz" wrap="square" lIns="0" tIns="13335" rIns="0" bIns="0" rtlCol="0">
            <a:spAutoFit/>
          </a:bodyPr>
          <a:lstStyle/>
          <a:p>
            <a:pPr marL="624840">
              <a:spcBef>
                <a:spcPts val="105"/>
              </a:spcBef>
              <a:tabLst>
                <a:tab pos="3063875" algn="l"/>
                <a:tab pos="3521075" algn="l"/>
              </a:tabLst>
            </a:pPr>
            <a:r>
              <a:rPr sz="2000" b="1" spc="-10" dirty="0">
                <a:latin typeface="Courier New"/>
                <a:cs typeface="Courier New"/>
              </a:rPr>
              <a:t>cudaMemcpy(</a:t>
            </a:r>
            <a:r>
              <a:rPr sz="2000" b="1" spc="-10" dirty="0" err="1">
                <a:latin typeface="Courier New"/>
                <a:cs typeface="Courier New"/>
              </a:rPr>
              <a:t>d</a:t>
            </a:r>
            <a:r>
              <a:rPr lang="en-US" sz="2000" b="1" spc="-10" dirty="0" err="1">
                <a:latin typeface="Courier New"/>
                <a:cs typeface="Courier New"/>
              </a:rPr>
              <a:t>A</a:t>
            </a:r>
            <a:r>
              <a:rPr sz="2000" b="1" spc="-10" dirty="0">
                <a:latin typeface="Courier New"/>
                <a:cs typeface="Courier New"/>
              </a:rPr>
              <a:t>,</a:t>
            </a:r>
            <a:r>
              <a:rPr sz="2000" dirty="0">
                <a:latin typeface="Times New Roman"/>
                <a:cs typeface="Times New Roman"/>
              </a:rPr>
              <a:t>	</a:t>
            </a:r>
            <a:r>
              <a:rPr sz="2000" b="1" spc="-25" dirty="0">
                <a:latin typeface="Courier New"/>
                <a:cs typeface="Courier New"/>
              </a:rPr>
              <a:t>a,</a:t>
            </a:r>
            <a:r>
              <a:rPr sz="2000" dirty="0">
                <a:latin typeface="Times New Roman"/>
                <a:cs typeface="Times New Roman"/>
              </a:rPr>
              <a:t>	</a:t>
            </a:r>
            <a:r>
              <a:rPr sz="2000" b="1" spc="-10" dirty="0">
                <a:latin typeface="Courier New"/>
                <a:cs typeface="Courier New"/>
              </a:rPr>
              <a:t>numBytes,cudaMemcpyHostToDevice);</a:t>
            </a:r>
            <a:endParaRPr sz="2000" dirty="0">
              <a:latin typeface="Courier New"/>
              <a:cs typeface="Courier New"/>
            </a:endParaRPr>
          </a:p>
          <a:p>
            <a:pPr marL="624840"/>
            <a:r>
              <a:rPr sz="2000" b="1" spc="-10" dirty="0">
                <a:latin typeface="Courier New"/>
                <a:cs typeface="Courier New"/>
              </a:rPr>
              <a:t>increment&lt;&lt;&lt;1,N&gt;&gt;&gt;(d_a);</a:t>
            </a:r>
            <a:endParaRPr sz="2000" dirty="0">
              <a:latin typeface="Courier New"/>
              <a:cs typeface="Courier New"/>
            </a:endParaRPr>
          </a:p>
          <a:p>
            <a:pPr marL="624840"/>
            <a:r>
              <a:rPr sz="2000" b="1" spc="-10" dirty="0">
                <a:latin typeface="Courier New"/>
                <a:cs typeface="Courier New"/>
              </a:rPr>
              <a:t>CpuFunction(b);</a:t>
            </a:r>
            <a:endParaRPr sz="2000" dirty="0">
              <a:latin typeface="Courier New"/>
              <a:cs typeface="Courier New"/>
            </a:endParaRPr>
          </a:p>
          <a:p>
            <a:pPr marL="624840">
              <a:tabLst>
                <a:tab pos="2759075" algn="l"/>
                <a:tab pos="3521075" algn="l"/>
              </a:tabLst>
            </a:pPr>
            <a:r>
              <a:rPr sz="2000" b="1" spc="-10" dirty="0">
                <a:latin typeface="Courier New"/>
                <a:cs typeface="Courier New"/>
              </a:rPr>
              <a:t>cudaMemcpy(a,</a:t>
            </a:r>
            <a:r>
              <a:rPr sz="2000" dirty="0">
                <a:latin typeface="Times New Roman"/>
                <a:cs typeface="Times New Roman"/>
              </a:rPr>
              <a:t>	</a:t>
            </a:r>
            <a:r>
              <a:rPr sz="2000" b="1" spc="-20" dirty="0" err="1">
                <a:latin typeface="Courier New"/>
                <a:cs typeface="Courier New"/>
              </a:rPr>
              <a:t>d</a:t>
            </a:r>
            <a:r>
              <a:rPr lang="en-US" sz="2000" b="1" spc="-20" dirty="0" err="1">
                <a:latin typeface="Courier New"/>
                <a:cs typeface="Courier New"/>
              </a:rPr>
              <a:t>A</a:t>
            </a:r>
            <a:r>
              <a:rPr sz="2000" b="1" spc="-20" dirty="0">
                <a:latin typeface="Courier New"/>
                <a:cs typeface="Courier New"/>
              </a:rPr>
              <a:t>,</a:t>
            </a:r>
            <a:r>
              <a:rPr sz="2000" dirty="0">
                <a:latin typeface="Times New Roman"/>
                <a:cs typeface="Times New Roman"/>
              </a:rPr>
              <a:t>	</a:t>
            </a:r>
            <a:r>
              <a:rPr sz="2000" b="1" spc="-10" dirty="0">
                <a:latin typeface="Courier New"/>
                <a:cs typeface="Courier New"/>
              </a:rPr>
              <a:t>numBytes,cudaMemcpyDeviceToHost);</a:t>
            </a:r>
            <a:endParaRPr sz="2000" dirty="0">
              <a:latin typeface="Courier New"/>
              <a:cs typeface="Courier New"/>
            </a:endParaRPr>
          </a:p>
          <a:p>
            <a:pPr>
              <a:spcBef>
                <a:spcPts val="1040"/>
              </a:spcBef>
            </a:pPr>
            <a:endParaRPr sz="2000" dirty="0">
              <a:latin typeface="Courier New"/>
              <a:cs typeface="Courier New"/>
            </a:endParaRPr>
          </a:p>
          <a:p>
            <a:pPr marL="196215" indent="-183515">
              <a:spcBef>
                <a:spcPts val="5"/>
              </a:spcBef>
              <a:buClr>
                <a:srgbClr val="4F80BC"/>
              </a:buClr>
              <a:buSzPct val="85416"/>
              <a:buChar char="•"/>
              <a:tabLst>
                <a:tab pos="196215" algn="l"/>
              </a:tabLst>
            </a:pPr>
            <a:r>
              <a:rPr sz="2400" dirty="0">
                <a:latin typeface="Arial"/>
                <a:cs typeface="Arial"/>
              </a:rPr>
              <a:t>All</a:t>
            </a:r>
            <a:r>
              <a:rPr sz="2400" spc="-60" dirty="0">
                <a:latin typeface="Arial"/>
                <a:cs typeface="Arial"/>
              </a:rPr>
              <a:t> </a:t>
            </a:r>
            <a:r>
              <a:rPr sz="2400" dirty="0">
                <a:latin typeface="Arial"/>
                <a:cs typeface="Arial"/>
              </a:rPr>
              <a:t>operations</a:t>
            </a:r>
            <a:r>
              <a:rPr sz="2400" spc="-45" dirty="0">
                <a:latin typeface="Arial"/>
                <a:cs typeface="Arial"/>
              </a:rPr>
              <a:t> </a:t>
            </a:r>
            <a:r>
              <a:rPr sz="2400" dirty="0">
                <a:latin typeface="Arial"/>
                <a:cs typeface="Arial"/>
              </a:rPr>
              <a:t>happen</a:t>
            </a:r>
            <a:r>
              <a:rPr sz="2400" spc="-45" dirty="0">
                <a:latin typeface="Arial"/>
                <a:cs typeface="Arial"/>
              </a:rPr>
              <a:t> </a:t>
            </a:r>
            <a:r>
              <a:rPr sz="2400" dirty="0">
                <a:latin typeface="Arial"/>
                <a:cs typeface="Arial"/>
              </a:rPr>
              <a:t>in</a:t>
            </a:r>
            <a:r>
              <a:rPr sz="2400" spc="-70" dirty="0">
                <a:latin typeface="Arial"/>
                <a:cs typeface="Arial"/>
              </a:rPr>
              <a:t> </a:t>
            </a:r>
            <a:r>
              <a:rPr sz="2400" dirty="0">
                <a:latin typeface="Arial"/>
                <a:cs typeface="Arial"/>
              </a:rPr>
              <a:t>the</a:t>
            </a:r>
            <a:r>
              <a:rPr sz="2400" spc="-75" dirty="0">
                <a:latin typeface="Arial"/>
                <a:cs typeface="Arial"/>
              </a:rPr>
              <a:t> </a:t>
            </a:r>
            <a:r>
              <a:rPr sz="2400" dirty="0">
                <a:latin typeface="Arial"/>
                <a:cs typeface="Arial"/>
              </a:rPr>
              <a:t>same</a:t>
            </a:r>
            <a:r>
              <a:rPr sz="2400" spc="-70" dirty="0">
                <a:latin typeface="Arial"/>
                <a:cs typeface="Arial"/>
              </a:rPr>
              <a:t> </a:t>
            </a:r>
            <a:r>
              <a:rPr sz="2400" spc="-10" dirty="0">
                <a:latin typeface="Arial"/>
                <a:cs typeface="Arial"/>
              </a:rPr>
              <a:t>stream</a:t>
            </a:r>
            <a:endParaRPr sz="2400" dirty="0">
              <a:latin typeface="Arial"/>
              <a:cs typeface="Arial"/>
            </a:endParaRPr>
          </a:p>
          <a:p>
            <a:pPr marL="195580" indent="-182880">
              <a:spcBef>
                <a:spcPts val="575"/>
              </a:spcBef>
              <a:buClr>
                <a:srgbClr val="4F80BC"/>
              </a:buClr>
              <a:buSzPct val="85416"/>
              <a:buChar char="•"/>
              <a:tabLst>
                <a:tab pos="195580" algn="l"/>
              </a:tabLst>
            </a:pPr>
            <a:r>
              <a:rPr sz="2400" dirty="0">
                <a:solidFill>
                  <a:srgbClr val="297FD5"/>
                </a:solidFill>
                <a:latin typeface="Arial"/>
                <a:cs typeface="Arial"/>
              </a:rPr>
              <a:t>Device</a:t>
            </a:r>
            <a:r>
              <a:rPr sz="2400" spc="-70" dirty="0">
                <a:solidFill>
                  <a:srgbClr val="297FD5"/>
                </a:solidFill>
                <a:latin typeface="Arial"/>
                <a:cs typeface="Arial"/>
              </a:rPr>
              <a:t> </a:t>
            </a:r>
            <a:r>
              <a:rPr sz="2400" spc="-20" dirty="0">
                <a:solidFill>
                  <a:srgbClr val="297FD5"/>
                </a:solidFill>
                <a:latin typeface="Arial"/>
                <a:cs typeface="Arial"/>
              </a:rPr>
              <a:t>(GPU)</a:t>
            </a:r>
            <a:endParaRPr sz="2400" dirty="0">
              <a:latin typeface="Arial"/>
              <a:cs typeface="Arial"/>
            </a:endParaRPr>
          </a:p>
          <a:p>
            <a:pPr marL="469900" lvl="1" indent="-182880">
              <a:spcBef>
                <a:spcPts val="484"/>
              </a:spcBef>
              <a:buClr>
                <a:srgbClr val="4F80BC"/>
              </a:buClr>
              <a:buSzPct val="85000"/>
              <a:buChar char="•"/>
              <a:tabLst>
                <a:tab pos="469900" algn="l"/>
              </a:tabLst>
            </a:pPr>
            <a:r>
              <a:rPr sz="2000" dirty="0">
                <a:latin typeface="Arial"/>
                <a:cs typeface="Arial"/>
              </a:rPr>
              <a:t>Synchronous</a:t>
            </a:r>
            <a:r>
              <a:rPr sz="2000" spc="-35" dirty="0">
                <a:latin typeface="Arial"/>
                <a:cs typeface="Arial"/>
              </a:rPr>
              <a:t> </a:t>
            </a:r>
            <a:r>
              <a:rPr sz="2000" spc="-10" dirty="0">
                <a:latin typeface="Arial"/>
                <a:cs typeface="Arial"/>
              </a:rPr>
              <a:t>execution</a:t>
            </a:r>
            <a:endParaRPr sz="2000" dirty="0">
              <a:latin typeface="Arial"/>
              <a:cs typeface="Arial"/>
            </a:endParaRPr>
          </a:p>
          <a:p>
            <a:pPr marL="744855" lvl="2" indent="-184150">
              <a:spcBef>
                <a:spcPts val="440"/>
              </a:spcBef>
              <a:buClr>
                <a:srgbClr val="4F80BC"/>
              </a:buClr>
              <a:buSzPct val="88888"/>
              <a:buChar char="•"/>
              <a:tabLst>
                <a:tab pos="744855" algn="l"/>
              </a:tabLst>
            </a:pPr>
            <a:r>
              <a:rPr dirty="0">
                <a:latin typeface="Arial"/>
                <a:cs typeface="Arial"/>
              </a:rPr>
              <a:t>all</a:t>
            </a:r>
            <a:r>
              <a:rPr spc="-5" dirty="0">
                <a:latin typeface="Arial"/>
                <a:cs typeface="Arial"/>
              </a:rPr>
              <a:t> </a:t>
            </a:r>
            <a:r>
              <a:rPr dirty="0">
                <a:latin typeface="Arial"/>
                <a:cs typeface="Arial"/>
              </a:rPr>
              <a:t>operations</a:t>
            </a:r>
            <a:r>
              <a:rPr spc="-5" dirty="0">
                <a:latin typeface="Arial"/>
                <a:cs typeface="Arial"/>
              </a:rPr>
              <a:t> </a:t>
            </a:r>
            <a:r>
              <a:rPr dirty="0">
                <a:latin typeface="Arial"/>
                <a:cs typeface="Arial"/>
              </a:rPr>
              <a:t>execute</a:t>
            </a:r>
            <a:r>
              <a:rPr spc="15" dirty="0">
                <a:latin typeface="Arial"/>
                <a:cs typeface="Arial"/>
              </a:rPr>
              <a:t> </a:t>
            </a:r>
            <a:r>
              <a:rPr dirty="0">
                <a:latin typeface="Arial"/>
                <a:cs typeface="Arial"/>
              </a:rPr>
              <a:t>(in</a:t>
            </a:r>
            <a:r>
              <a:rPr spc="-25" dirty="0">
                <a:latin typeface="Arial"/>
                <a:cs typeface="Arial"/>
              </a:rPr>
              <a:t> </a:t>
            </a:r>
            <a:r>
              <a:rPr dirty="0">
                <a:latin typeface="Arial"/>
                <a:cs typeface="Arial"/>
              </a:rPr>
              <a:t>order), one</a:t>
            </a:r>
            <a:r>
              <a:rPr spc="-15" dirty="0">
                <a:latin typeface="Arial"/>
                <a:cs typeface="Arial"/>
              </a:rPr>
              <a:t> </a:t>
            </a:r>
            <a:r>
              <a:rPr dirty="0">
                <a:latin typeface="Arial"/>
                <a:cs typeface="Arial"/>
              </a:rPr>
              <a:t>after</a:t>
            </a:r>
            <a:r>
              <a:rPr spc="-15" dirty="0">
                <a:latin typeface="Arial"/>
                <a:cs typeface="Arial"/>
              </a:rPr>
              <a:t> </a:t>
            </a:r>
            <a:r>
              <a:rPr dirty="0">
                <a:latin typeface="Arial"/>
                <a:cs typeface="Arial"/>
              </a:rPr>
              <a:t>the</a:t>
            </a:r>
            <a:r>
              <a:rPr spc="-20" dirty="0">
                <a:latin typeface="Arial"/>
                <a:cs typeface="Arial"/>
              </a:rPr>
              <a:t> </a:t>
            </a:r>
            <a:r>
              <a:rPr dirty="0">
                <a:latin typeface="Arial"/>
                <a:cs typeface="Arial"/>
              </a:rPr>
              <a:t>previous</a:t>
            </a:r>
            <a:r>
              <a:rPr spc="-10" dirty="0">
                <a:latin typeface="Arial"/>
                <a:cs typeface="Arial"/>
              </a:rPr>
              <a:t> </a:t>
            </a:r>
            <a:r>
              <a:rPr dirty="0">
                <a:latin typeface="Arial"/>
                <a:cs typeface="Arial"/>
              </a:rPr>
              <a:t>has </a:t>
            </a:r>
            <a:r>
              <a:rPr spc="-10" dirty="0">
                <a:latin typeface="Arial"/>
                <a:cs typeface="Arial"/>
              </a:rPr>
              <a:t>finished</a:t>
            </a:r>
            <a:endParaRPr dirty="0">
              <a:latin typeface="Arial"/>
              <a:cs typeface="Arial"/>
            </a:endParaRPr>
          </a:p>
          <a:p>
            <a:pPr marL="469900" lvl="1" indent="-182880">
              <a:spcBef>
                <a:spcPts val="325"/>
              </a:spcBef>
              <a:buClr>
                <a:srgbClr val="4F80BC"/>
              </a:buClr>
              <a:buSzPct val="85000"/>
              <a:buChar char="•"/>
              <a:tabLst>
                <a:tab pos="469900" algn="l"/>
              </a:tabLst>
            </a:pPr>
            <a:r>
              <a:rPr sz="2000" dirty="0">
                <a:latin typeface="Arial"/>
                <a:cs typeface="Arial"/>
              </a:rPr>
              <a:t>Unaware</a:t>
            </a:r>
            <a:r>
              <a:rPr sz="2000" spc="-60" dirty="0">
                <a:latin typeface="Arial"/>
                <a:cs typeface="Arial"/>
              </a:rPr>
              <a:t> </a:t>
            </a:r>
            <a:r>
              <a:rPr sz="2000" dirty="0">
                <a:latin typeface="Arial"/>
                <a:cs typeface="Arial"/>
              </a:rPr>
              <a:t>of</a:t>
            </a:r>
            <a:r>
              <a:rPr sz="2000" spc="-35" dirty="0">
                <a:latin typeface="Arial"/>
                <a:cs typeface="Arial"/>
              </a:rPr>
              <a:t> </a:t>
            </a:r>
            <a:r>
              <a:rPr sz="2200" b="1" spc="-10" dirty="0">
                <a:latin typeface="Courier New"/>
                <a:cs typeface="Courier New"/>
              </a:rPr>
              <a:t>CpuFunction()</a:t>
            </a:r>
            <a:endParaRPr sz="2200" dirty="0">
              <a:latin typeface="Courier New"/>
              <a:cs typeface="Courier New"/>
            </a:endParaRPr>
          </a:p>
          <a:p>
            <a:pPr marL="195580" indent="-182880">
              <a:spcBef>
                <a:spcPts val="770"/>
              </a:spcBef>
              <a:buClr>
                <a:srgbClr val="4F80BC"/>
              </a:buClr>
              <a:buSzPct val="85416"/>
              <a:buChar char="•"/>
              <a:tabLst>
                <a:tab pos="195580" algn="l"/>
              </a:tabLst>
            </a:pPr>
            <a:r>
              <a:rPr sz="2400" dirty="0">
                <a:solidFill>
                  <a:srgbClr val="297FD5"/>
                </a:solidFill>
                <a:latin typeface="Arial"/>
                <a:cs typeface="Arial"/>
              </a:rPr>
              <a:t>Host</a:t>
            </a:r>
            <a:r>
              <a:rPr sz="2400" spc="-40" dirty="0">
                <a:solidFill>
                  <a:srgbClr val="297FD5"/>
                </a:solidFill>
                <a:latin typeface="Arial"/>
                <a:cs typeface="Arial"/>
              </a:rPr>
              <a:t> </a:t>
            </a:r>
            <a:r>
              <a:rPr sz="2400" spc="-20" dirty="0">
                <a:solidFill>
                  <a:srgbClr val="297FD5"/>
                </a:solidFill>
                <a:latin typeface="Arial"/>
                <a:cs typeface="Arial"/>
              </a:rPr>
              <a:t>(CPU)</a:t>
            </a:r>
            <a:endParaRPr sz="2400" dirty="0">
              <a:latin typeface="Arial"/>
              <a:cs typeface="Arial"/>
            </a:endParaRPr>
          </a:p>
          <a:p>
            <a:pPr marL="469900" lvl="1" indent="-182880">
              <a:spcBef>
                <a:spcPts val="350"/>
              </a:spcBef>
              <a:buClr>
                <a:srgbClr val="4F80BC"/>
              </a:buClr>
              <a:buSzPct val="85000"/>
              <a:buChar char="•"/>
              <a:tabLst>
                <a:tab pos="469900" algn="l"/>
              </a:tabLst>
            </a:pPr>
            <a:r>
              <a:rPr sz="2000" dirty="0">
                <a:latin typeface="Arial"/>
                <a:cs typeface="Arial"/>
              </a:rPr>
              <a:t>Launches</a:t>
            </a:r>
            <a:r>
              <a:rPr sz="2000" spc="-50" dirty="0">
                <a:latin typeface="Arial"/>
                <a:cs typeface="Arial"/>
              </a:rPr>
              <a:t> </a:t>
            </a:r>
            <a:r>
              <a:rPr sz="2000" b="1" dirty="0">
                <a:latin typeface="Courier New"/>
                <a:cs typeface="Courier New"/>
              </a:rPr>
              <a:t>increment</a:t>
            </a:r>
            <a:r>
              <a:rPr sz="2000" spc="-15" dirty="0">
                <a:latin typeface="Times New Roman"/>
                <a:cs typeface="Times New Roman"/>
              </a:rPr>
              <a:t> </a:t>
            </a:r>
            <a:r>
              <a:rPr sz="2000" dirty="0">
                <a:latin typeface="Arial"/>
                <a:cs typeface="Arial"/>
              </a:rPr>
              <a:t>and</a:t>
            </a:r>
            <a:r>
              <a:rPr sz="2000" spc="-25" dirty="0">
                <a:latin typeface="Arial"/>
                <a:cs typeface="Arial"/>
              </a:rPr>
              <a:t> </a:t>
            </a:r>
            <a:r>
              <a:rPr sz="2000" dirty="0">
                <a:latin typeface="Arial"/>
                <a:cs typeface="Arial"/>
              </a:rPr>
              <a:t>regains</a:t>
            </a:r>
            <a:r>
              <a:rPr sz="2000" spc="-30" dirty="0">
                <a:latin typeface="Arial"/>
                <a:cs typeface="Arial"/>
              </a:rPr>
              <a:t> </a:t>
            </a:r>
            <a:r>
              <a:rPr sz="2000" spc="-10" dirty="0">
                <a:latin typeface="Arial"/>
                <a:cs typeface="Arial"/>
              </a:rPr>
              <a:t>control</a:t>
            </a:r>
            <a:endParaRPr sz="2000" dirty="0">
              <a:latin typeface="Arial"/>
              <a:cs typeface="Arial"/>
            </a:endParaRPr>
          </a:p>
          <a:p>
            <a:pPr marL="469900" lvl="1" indent="-182880">
              <a:spcBef>
                <a:spcPts val="480"/>
              </a:spcBef>
              <a:buClr>
                <a:srgbClr val="4F80BC"/>
              </a:buClr>
              <a:buSzPct val="85000"/>
              <a:buFont typeface="Arial"/>
              <a:buChar char="•"/>
              <a:tabLst>
                <a:tab pos="469900" algn="l"/>
              </a:tabLst>
            </a:pPr>
            <a:r>
              <a:rPr sz="2000" b="1" dirty="0">
                <a:solidFill>
                  <a:srgbClr val="297FD5"/>
                </a:solidFill>
                <a:latin typeface="Arial"/>
                <a:cs typeface="Arial"/>
              </a:rPr>
              <a:t>May</a:t>
            </a:r>
            <a:r>
              <a:rPr sz="2000" b="1" spc="-60" dirty="0">
                <a:solidFill>
                  <a:srgbClr val="297FD5"/>
                </a:solidFill>
                <a:latin typeface="Arial"/>
                <a:cs typeface="Arial"/>
              </a:rPr>
              <a:t> </a:t>
            </a:r>
            <a:r>
              <a:rPr sz="2000" dirty="0">
                <a:latin typeface="Arial"/>
                <a:cs typeface="Arial"/>
              </a:rPr>
              <a:t>execute</a:t>
            </a:r>
            <a:r>
              <a:rPr sz="2000" spc="-50" dirty="0">
                <a:latin typeface="Arial"/>
                <a:cs typeface="Arial"/>
              </a:rPr>
              <a:t> </a:t>
            </a:r>
            <a:r>
              <a:rPr sz="2000" b="1" dirty="0">
                <a:latin typeface="Courier New"/>
                <a:cs typeface="Courier New"/>
              </a:rPr>
              <a:t>CpuFunction()</a:t>
            </a:r>
            <a:r>
              <a:rPr sz="2000" spc="-25" dirty="0">
                <a:latin typeface="Times New Roman"/>
                <a:cs typeface="Times New Roman"/>
              </a:rPr>
              <a:t> </a:t>
            </a:r>
            <a:r>
              <a:rPr sz="2000" dirty="0">
                <a:solidFill>
                  <a:srgbClr val="297FD5"/>
                </a:solidFill>
                <a:latin typeface="Arial"/>
                <a:cs typeface="Arial"/>
              </a:rPr>
              <a:t>before</a:t>
            </a:r>
            <a:r>
              <a:rPr sz="2000" spc="-65" dirty="0">
                <a:solidFill>
                  <a:srgbClr val="297FD5"/>
                </a:solidFill>
                <a:latin typeface="Arial"/>
                <a:cs typeface="Arial"/>
              </a:rPr>
              <a:t> </a:t>
            </a:r>
            <a:r>
              <a:rPr sz="2000" b="1" dirty="0">
                <a:latin typeface="Courier New"/>
                <a:cs typeface="Courier New"/>
              </a:rPr>
              <a:t>increment&lt;&lt;&lt;&gt;&gt;&gt;()</a:t>
            </a:r>
            <a:r>
              <a:rPr sz="2000" spc="25" dirty="0">
                <a:latin typeface="Times New Roman"/>
                <a:cs typeface="Times New Roman"/>
              </a:rPr>
              <a:t> </a:t>
            </a:r>
            <a:r>
              <a:rPr sz="2000" dirty="0">
                <a:latin typeface="Arial"/>
                <a:cs typeface="Arial"/>
              </a:rPr>
              <a:t>has</a:t>
            </a:r>
            <a:r>
              <a:rPr sz="2000" spc="-35" dirty="0">
                <a:latin typeface="Arial"/>
                <a:cs typeface="Arial"/>
              </a:rPr>
              <a:t> </a:t>
            </a:r>
            <a:r>
              <a:rPr sz="2000" spc="-10" dirty="0">
                <a:latin typeface="Arial"/>
                <a:cs typeface="Arial"/>
              </a:rPr>
              <a:t>finished</a:t>
            </a:r>
            <a:endParaRPr sz="2000" dirty="0">
              <a:latin typeface="Arial"/>
              <a:cs typeface="Arial"/>
            </a:endParaRPr>
          </a:p>
          <a:p>
            <a:pPr marL="469900" lvl="1" indent="-182880">
              <a:spcBef>
                <a:spcPts val="1110"/>
              </a:spcBef>
              <a:buClr>
                <a:srgbClr val="4F80BC"/>
              </a:buClr>
              <a:buSzPct val="85000"/>
              <a:buChar char="•"/>
              <a:tabLst>
                <a:tab pos="469900" algn="l"/>
                <a:tab pos="7331709" algn="l"/>
              </a:tabLst>
            </a:pPr>
            <a:r>
              <a:rPr sz="2000" dirty="0">
                <a:latin typeface="Arial"/>
                <a:cs typeface="Arial"/>
              </a:rPr>
              <a:t>Final</a:t>
            </a:r>
            <a:r>
              <a:rPr sz="2000" spc="-15" dirty="0">
                <a:latin typeface="Arial"/>
                <a:cs typeface="Arial"/>
              </a:rPr>
              <a:t> </a:t>
            </a:r>
            <a:r>
              <a:rPr sz="2000" dirty="0">
                <a:latin typeface="Arial"/>
                <a:cs typeface="Arial"/>
              </a:rPr>
              <a:t>copy</a:t>
            </a:r>
            <a:r>
              <a:rPr sz="2000" spc="-30" dirty="0">
                <a:latin typeface="Arial"/>
                <a:cs typeface="Arial"/>
              </a:rPr>
              <a:t> </a:t>
            </a:r>
            <a:r>
              <a:rPr sz="2000" dirty="0">
                <a:latin typeface="Arial"/>
                <a:cs typeface="Arial"/>
              </a:rPr>
              <a:t>starts</a:t>
            </a:r>
            <a:r>
              <a:rPr sz="2000" spc="-45" dirty="0">
                <a:latin typeface="Arial"/>
                <a:cs typeface="Arial"/>
              </a:rPr>
              <a:t> </a:t>
            </a:r>
            <a:r>
              <a:rPr sz="2000" dirty="0">
                <a:solidFill>
                  <a:srgbClr val="297FD5"/>
                </a:solidFill>
                <a:latin typeface="Arial"/>
                <a:cs typeface="Arial"/>
              </a:rPr>
              <a:t>after</a:t>
            </a:r>
            <a:r>
              <a:rPr sz="2000" spc="-45" dirty="0">
                <a:solidFill>
                  <a:srgbClr val="297FD5"/>
                </a:solidFill>
                <a:latin typeface="Arial"/>
                <a:cs typeface="Arial"/>
              </a:rPr>
              <a:t> </a:t>
            </a:r>
            <a:r>
              <a:rPr sz="2000" dirty="0">
                <a:latin typeface="Arial"/>
                <a:cs typeface="Arial"/>
              </a:rPr>
              <a:t>both</a:t>
            </a:r>
            <a:r>
              <a:rPr sz="2000" spc="-30" dirty="0">
                <a:latin typeface="Arial"/>
                <a:cs typeface="Arial"/>
              </a:rPr>
              <a:t> </a:t>
            </a:r>
            <a:r>
              <a:rPr sz="2000" b="1" dirty="0">
                <a:latin typeface="Courier New"/>
                <a:cs typeface="Courier New"/>
              </a:rPr>
              <a:t>increment</a:t>
            </a:r>
            <a:r>
              <a:rPr sz="2000" spc="-10" dirty="0">
                <a:latin typeface="Times New Roman"/>
                <a:cs typeface="Times New Roman"/>
              </a:rPr>
              <a:t> </a:t>
            </a:r>
            <a:r>
              <a:rPr sz="2000" dirty="0">
                <a:latin typeface="Arial"/>
                <a:cs typeface="Arial"/>
              </a:rPr>
              <a:t>and</a:t>
            </a:r>
            <a:r>
              <a:rPr sz="2000" spc="-25" dirty="0">
                <a:latin typeface="Arial"/>
                <a:cs typeface="Arial"/>
              </a:rPr>
              <a:t> </a:t>
            </a:r>
            <a:r>
              <a:rPr sz="2000" b="1" spc="-10" dirty="0">
                <a:latin typeface="Courier New"/>
                <a:cs typeface="Courier New"/>
              </a:rPr>
              <a:t>CpuFunction</a:t>
            </a:r>
            <a:r>
              <a:rPr sz="2000" dirty="0">
                <a:latin typeface="Times New Roman"/>
                <a:cs typeface="Times New Roman"/>
              </a:rPr>
              <a:t>	</a:t>
            </a:r>
            <a:r>
              <a:rPr sz="2000" spc="-10" dirty="0">
                <a:latin typeface="Arial"/>
                <a:cs typeface="Arial"/>
              </a:rPr>
              <a:t>finished</a:t>
            </a:r>
            <a:endParaRPr sz="2000" dirty="0">
              <a:latin typeface="Arial"/>
              <a:cs typeface="Arial"/>
            </a:endParaRPr>
          </a:p>
        </p:txBody>
      </p:sp>
      <p:sp>
        <p:nvSpPr>
          <p:cNvPr id="4" name="object 4"/>
          <p:cNvSpPr txBox="1"/>
          <p:nvPr/>
        </p:nvSpPr>
        <p:spPr>
          <a:xfrm>
            <a:off x="9224014" y="19303"/>
            <a:ext cx="267335" cy="285115"/>
          </a:xfrm>
          <a:prstGeom prst="rect">
            <a:avLst/>
          </a:prstGeom>
        </p:spPr>
        <p:txBody>
          <a:bodyPr vert="horz" wrap="square" lIns="0" tIns="12700" rIns="0" bIns="0" rtlCol="0">
            <a:spAutoFit/>
          </a:bodyPr>
          <a:lstStyle/>
          <a:p>
            <a:pPr marL="12700">
              <a:spcBef>
                <a:spcPts val="100"/>
              </a:spcBef>
            </a:pPr>
            <a:r>
              <a:rPr sz="1700" spc="-25" dirty="0">
                <a:latin typeface="Arial"/>
                <a:cs typeface="Arial"/>
              </a:rPr>
              <a:t>96</a:t>
            </a:r>
            <a:endParaRPr sz="1700">
              <a:latin typeface="Arial"/>
              <a:cs typeface="Arial"/>
            </a:endParaRPr>
          </a:p>
        </p:txBody>
      </p:sp>
    </p:spTree>
    <p:extLst>
      <p:ext uri="{BB962C8B-B14F-4D97-AF65-F5344CB8AC3E}">
        <p14:creationId xmlns:p14="http://schemas.microsoft.com/office/powerpoint/2010/main" val="282448217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59940" y="697737"/>
            <a:ext cx="4375150" cy="635000"/>
          </a:xfrm>
          <a:prstGeom prst="rect">
            <a:avLst/>
          </a:prstGeom>
        </p:spPr>
        <p:txBody>
          <a:bodyPr vert="horz" wrap="square" lIns="0" tIns="12065" rIns="0" bIns="0" rtlCol="0">
            <a:spAutoFit/>
          </a:bodyPr>
          <a:lstStyle/>
          <a:p>
            <a:pPr marL="12700">
              <a:spcBef>
                <a:spcPts val="95"/>
              </a:spcBef>
            </a:pPr>
            <a:r>
              <a:rPr spc="-130" dirty="0"/>
              <a:t>Non-</a:t>
            </a:r>
            <a:r>
              <a:rPr spc="-110" dirty="0"/>
              <a:t>default </a:t>
            </a:r>
            <a:r>
              <a:rPr spc="-55" dirty="0"/>
              <a:t>streams</a:t>
            </a:r>
          </a:p>
        </p:txBody>
      </p:sp>
      <p:sp>
        <p:nvSpPr>
          <p:cNvPr id="3" name="object 3"/>
          <p:cNvSpPr txBox="1"/>
          <p:nvPr/>
        </p:nvSpPr>
        <p:spPr>
          <a:xfrm>
            <a:off x="1710333" y="1521663"/>
            <a:ext cx="7207884" cy="3946530"/>
          </a:xfrm>
          <a:prstGeom prst="rect">
            <a:avLst/>
          </a:prstGeom>
        </p:spPr>
        <p:txBody>
          <a:bodyPr vert="horz" wrap="square" lIns="0" tIns="12065" rIns="0" bIns="0" rtlCol="0">
            <a:spAutoFit/>
          </a:bodyPr>
          <a:lstStyle/>
          <a:p>
            <a:pPr marL="196215" indent="-183515">
              <a:spcBef>
                <a:spcPts val="95"/>
              </a:spcBef>
              <a:buClr>
                <a:srgbClr val="4F80BC"/>
              </a:buClr>
              <a:buSzPct val="84210"/>
              <a:buChar char="•"/>
              <a:tabLst>
                <a:tab pos="196215" algn="l"/>
              </a:tabLst>
            </a:pPr>
            <a:r>
              <a:rPr sz="1900" dirty="0">
                <a:latin typeface="Arial"/>
                <a:cs typeface="Arial"/>
              </a:rPr>
              <a:t>Enable</a:t>
            </a:r>
            <a:r>
              <a:rPr sz="1900" spc="-50" dirty="0">
                <a:latin typeface="Arial"/>
                <a:cs typeface="Arial"/>
              </a:rPr>
              <a:t> </a:t>
            </a:r>
            <a:r>
              <a:rPr sz="1900" dirty="0">
                <a:latin typeface="Arial"/>
                <a:cs typeface="Arial"/>
              </a:rPr>
              <a:t>asynchronous</a:t>
            </a:r>
            <a:r>
              <a:rPr sz="1900" spc="-30" dirty="0">
                <a:latin typeface="Arial"/>
                <a:cs typeface="Arial"/>
              </a:rPr>
              <a:t> </a:t>
            </a:r>
            <a:r>
              <a:rPr sz="1900" dirty="0">
                <a:latin typeface="Arial"/>
                <a:cs typeface="Arial"/>
              </a:rPr>
              <a:t>execution</a:t>
            </a:r>
            <a:r>
              <a:rPr sz="1900" spc="-35" dirty="0">
                <a:latin typeface="Arial"/>
                <a:cs typeface="Arial"/>
              </a:rPr>
              <a:t> </a:t>
            </a:r>
            <a:r>
              <a:rPr sz="1900" dirty="0">
                <a:latin typeface="Arial"/>
                <a:cs typeface="Arial"/>
              </a:rPr>
              <a:t>and</a:t>
            </a:r>
            <a:r>
              <a:rPr sz="1900" spc="-60" dirty="0">
                <a:latin typeface="Arial"/>
                <a:cs typeface="Arial"/>
              </a:rPr>
              <a:t> </a:t>
            </a:r>
            <a:r>
              <a:rPr sz="1900" spc="-10" dirty="0">
                <a:latin typeface="Arial"/>
                <a:cs typeface="Arial"/>
              </a:rPr>
              <a:t>overlaps</a:t>
            </a:r>
            <a:endParaRPr sz="1900">
              <a:latin typeface="Arial"/>
              <a:cs typeface="Arial"/>
            </a:endParaRPr>
          </a:p>
          <a:p>
            <a:pPr marL="468630" marR="2780030" lvl="1" indent="-182245">
              <a:lnSpc>
                <a:spcPct val="99000"/>
              </a:lnSpc>
              <a:spcBef>
                <a:spcPts val="35"/>
              </a:spcBef>
              <a:buClr>
                <a:srgbClr val="4F80BC"/>
              </a:buClr>
              <a:buSzPct val="84375"/>
              <a:buChar char="•"/>
              <a:tabLst>
                <a:tab pos="547370" algn="l"/>
                <a:tab pos="2239010" algn="l"/>
              </a:tabLst>
            </a:pPr>
            <a:r>
              <a:rPr sz="1600" dirty="0">
                <a:latin typeface="Arial"/>
                <a:cs typeface="Arial"/>
              </a:rPr>
              <a:t>Require</a:t>
            </a:r>
            <a:r>
              <a:rPr sz="1600" spc="-5" dirty="0">
                <a:latin typeface="Arial"/>
                <a:cs typeface="Arial"/>
              </a:rPr>
              <a:t> </a:t>
            </a:r>
            <a:r>
              <a:rPr sz="1600" dirty="0">
                <a:latin typeface="Arial"/>
                <a:cs typeface="Arial"/>
              </a:rPr>
              <a:t>special</a:t>
            </a:r>
            <a:r>
              <a:rPr sz="1600" spc="-20" dirty="0">
                <a:latin typeface="Arial"/>
                <a:cs typeface="Arial"/>
              </a:rPr>
              <a:t> </a:t>
            </a:r>
            <a:r>
              <a:rPr sz="1600" spc="-10" dirty="0">
                <a:latin typeface="Arial"/>
                <a:cs typeface="Arial"/>
              </a:rPr>
              <a:t>creation/deletion</a:t>
            </a:r>
            <a:r>
              <a:rPr sz="1600" dirty="0">
                <a:latin typeface="Arial"/>
                <a:cs typeface="Arial"/>
              </a:rPr>
              <a:t> of</a:t>
            </a:r>
            <a:r>
              <a:rPr sz="1600" spc="25" dirty="0">
                <a:latin typeface="Arial"/>
                <a:cs typeface="Arial"/>
              </a:rPr>
              <a:t> </a:t>
            </a:r>
            <a:r>
              <a:rPr sz="1600" spc="-10" dirty="0">
                <a:latin typeface="Arial"/>
                <a:cs typeface="Arial"/>
              </a:rPr>
              <a:t>streams 	</a:t>
            </a:r>
            <a:r>
              <a:rPr sz="1700" b="1" spc="-10" dirty="0">
                <a:latin typeface="Courier New"/>
                <a:cs typeface="Courier New"/>
              </a:rPr>
              <a:t>cudaStream_t</a:t>
            </a:r>
            <a:r>
              <a:rPr sz="1700" dirty="0">
                <a:latin typeface="Times New Roman"/>
                <a:cs typeface="Times New Roman"/>
              </a:rPr>
              <a:t>	</a:t>
            </a:r>
            <a:r>
              <a:rPr sz="1700" b="1" spc="-10" dirty="0">
                <a:latin typeface="Courier New"/>
                <a:cs typeface="Courier New"/>
              </a:rPr>
              <a:t>stream1;</a:t>
            </a:r>
            <a:r>
              <a:rPr sz="1700" spc="-10" dirty="0">
                <a:latin typeface="Times New Roman"/>
                <a:cs typeface="Times New Roman"/>
              </a:rPr>
              <a:t> 	</a:t>
            </a:r>
            <a:r>
              <a:rPr sz="1700" b="1" spc="-10" dirty="0">
                <a:latin typeface="Courier New"/>
                <a:cs typeface="Courier New"/>
              </a:rPr>
              <a:t>cudaStreamCreate(&amp;</a:t>
            </a:r>
            <a:r>
              <a:rPr sz="1700" b="1" spc="-10" dirty="0">
                <a:solidFill>
                  <a:srgbClr val="D2523B"/>
                </a:solidFill>
                <a:latin typeface="Courier New"/>
                <a:cs typeface="Courier New"/>
              </a:rPr>
              <a:t>stream1</a:t>
            </a:r>
            <a:r>
              <a:rPr sz="1700" b="1" spc="-10" dirty="0">
                <a:latin typeface="Courier New"/>
                <a:cs typeface="Courier New"/>
              </a:rPr>
              <a:t>)</a:t>
            </a:r>
            <a:r>
              <a:rPr sz="1700" spc="-10" dirty="0">
                <a:latin typeface="Times New Roman"/>
                <a:cs typeface="Times New Roman"/>
              </a:rPr>
              <a:t> 	</a:t>
            </a:r>
            <a:r>
              <a:rPr sz="1700" b="1" spc="-10" dirty="0">
                <a:latin typeface="Courier New"/>
                <a:cs typeface="Courier New"/>
              </a:rPr>
              <a:t>cudaStreamDestroy(</a:t>
            </a:r>
            <a:r>
              <a:rPr sz="1700" b="1" spc="-10" dirty="0">
                <a:solidFill>
                  <a:srgbClr val="D2523B"/>
                </a:solidFill>
                <a:latin typeface="Courier New"/>
                <a:cs typeface="Courier New"/>
              </a:rPr>
              <a:t>stream1</a:t>
            </a:r>
            <a:r>
              <a:rPr sz="1700" b="1" spc="-10" dirty="0">
                <a:latin typeface="Courier New"/>
                <a:cs typeface="Courier New"/>
              </a:rPr>
              <a:t>)</a:t>
            </a:r>
            <a:endParaRPr sz="1700">
              <a:latin typeface="Courier New"/>
              <a:cs typeface="Courier New"/>
            </a:endParaRPr>
          </a:p>
          <a:p>
            <a:pPr lvl="1">
              <a:spcBef>
                <a:spcPts val="55"/>
              </a:spcBef>
              <a:buClr>
                <a:srgbClr val="4F80BC"/>
              </a:buClr>
              <a:buFont typeface="Arial"/>
              <a:buChar char="•"/>
            </a:pPr>
            <a:endParaRPr sz="1700">
              <a:latin typeface="Courier New"/>
              <a:cs typeface="Courier New"/>
            </a:endParaRPr>
          </a:p>
          <a:p>
            <a:pPr marL="469265" lvl="1" indent="-182245">
              <a:lnSpc>
                <a:spcPts val="1889"/>
              </a:lnSpc>
              <a:spcBef>
                <a:spcPts val="5"/>
              </a:spcBef>
              <a:buClr>
                <a:srgbClr val="4F80BC"/>
              </a:buClr>
              <a:buSzPct val="84375"/>
              <a:buChar char="•"/>
              <a:tabLst>
                <a:tab pos="469265" algn="l"/>
              </a:tabLst>
            </a:pPr>
            <a:r>
              <a:rPr sz="1600" dirty="0">
                <a:latin typeface="Arial"/>
                <a:cs typeface="Arial"/>
              </a:rPr>
              <a:t>Special</a:t>
            </a:r>
            <a:r>
              <a:rPr sz="1600" spc="-25" dirty="0">
                <a:latin typeface="Arial"/>
                <a:cs typeface="Arial"/>
              </a:rPr>
              <a:t> </a:t>
            </a:r>
            <a:r>
              <a:rPr sz="1600" dirty="0">
                <a:latin typeface="Arial"/>
                <a:cs typeface="Arial"/>
              </a:rPr>
              <a:t>copy </a:t>
            </a:r>
            <a:r>
              <a:rPr sz="1600" spc="-10" dirty="0">
                <a:latin typeface="Arial"/>
                <a:cs typeface="Arial"/>
              </a:rPr>
              <a:t>operations</a:t>
            </a:r>
            <a:endParaRPr sz="1600">
              <a:latin typeface="Arial"/>
              <a:cs typeface="Arial"/>
            </a:endParaRPr>
          </a:p>
          <a:p>
            <a:pPr marL="561340">
              <a:lnSpc>
                <a:spcPts val="2010"/>
              </a:lnSpc>
              <a:tabLst>
                <a:tab pos="4076065" algn="l"/>
                <a:tab pos="5247640" algn="l"/>
              </a:tabLst>
            </a:pPr>
            <a:r>
              <a:rPr sz="1700" b="1" spc="-10" dirty="0">
                <a:latin typeface="Courier New"/>
                <a:cs typeface="Courier New"/>
              </a:rPr>
              <a:t>cudaMemcpyAsync(deviceMem,</a:t>
            </a:r>
            <a:r>
              <a:rPr sz="1700" dirty="0">
                <a:latin typeface="Times New Roman"/>
                <a:cs typeface="Times New Roman"/>
              </a:rPr>
              <a:t>	</a:t>
            </a:r>
            <a:r>
              <a:rPr sz="1700" b="1" spc="-10" dirty="0">
                <a:latin typeface="Courier New"/>
                <a:cs typeface="Courier New"/>
              </a:rPr>
              <a:t>hostMem,</a:t>
            </a:r>
            <a:r>
              <a:rPr sz="1700" dirty="0">
                <a:latin typeface="Times New Roman"/>
                <a:cs typeface="Times New Roman"/>
              </a:rPr>
              <a:t>	</a:t>
            </a:r>
            <a:r>
              <a:rPr sz="1700" b="1" spc="-10" dirty="0">
                <a:latin typeface="Courier New"/>
                <a:cs typeface="Courier New"/>
              </a:rPr>
              <a:t>size,</a:t>
            </a:r>
            <a:endParaRPr sz="1700">
              <a:latin typeface="Courier New"/>
              <a:cs typeface="Courier New"/>
            </a:endParaRPr>
          </a:p>
          <a:p>
            <a:pPr marL="2621915">
              <a:tabLst>
                <a:tab pos="5748020" algn="l"/>
              </a:tabLst>
            </a:pPr>
            <a:r>
              <a:rPr sz="1700" b="1" spc="-10" dirty="0">
                <a:latin typeface="Courier New"/>
                <a:cs typeface="Courier New"/>
              </a:rPr>
              <a:t>cudaMemcpyHostToDevice,</a:t>
            </a:r>
            <a:r>
              <a:rPr sz="1700" dirty="0">
                <a:latin typeface="Times New Roman"/>
                <a:cs typeface="Times New Roman"/>
              </a:rPr>
              <a:t>	</a:t>
            </a:r>
            <a:r>
              <a:rPr sz="1700" b="1" spc="-10" dirty="0">
                <a:solidFill>
                  <a:srgbClr val="D2523B"/>
                </a:solidFill>
                <a:latin typeface="Courier New"/>
                <a:cs typeface="Courier New"/>
              </a:rPr>
              <a:t>stream1</a:t>
            </a:r>
            <a:r>
              <a:rPr sz="1700" b="1" spc="-10" dirty="0">
                <a:latin typeface="Courier New"/>
                <a:cs typeface="Courier New"/>
              </a:rPr>
              <a:t>)</a:t>
            </a:r>
            <a:endParaRPr sz="1700">
              <a:latin typeface="Courier New"/>
              <a:cs typeface="Courier New"/>
            </a:endParaRPr>
          </a:p>
          <a:p>
            <a:pPr>
              <a:spcBef>
                <a:spcPts val="55"/>
              </a:spcBef>
            </a:pPr>
            <a:endParaRPr sz="1700">
              <a:latin typeface="Courier New"/>
              <a:cs typeface="Courier New"/>
            </a:endParaRPr>
          </a:p>
          <a:p>
            <a:pPr marL="469265" lvl="1" indent="-182245">
              <a:lnSpc>
                <a:spcPts val="1889"/>
              </a:lnSpc>
              <a:buClr>
                <a:srgbClr val="4F80BC"/>
              </a:buClr>
              <a:buSzPct val="84375"/>
              <a:buChar char="•"/>
              <a:tabLst>
                <a:tab pos="469265" algn="l"/>
              </a:tabLst>
            </a:pPr>
            <a:r>
              <a:rPr sz="1600" dirty="0">
                <a:latin typeface="Arial"/>
                <a:cs typeface="Arial"/>
              </a:rPr>
              <a:t>Special</a:t>
            </a:r>
            <a:r>
              <a:rPr sz="1600" spc="-50" dirty="0">
                <a:latin typeface="Arial"/>
                <a:cs typeface="Arial"/>
              </a:rPr>
              <a:t> </a:t>
            </a:r>
            <a:r>
              <a:rPr sz="1600" dirty="0">
                <a:latin typeface="Arial"/>
                <a:cs typeface="Arial"/>
              </a:rPr>
              <a:t>optional</a:t>
            </a:r>
            <a:r>
              <a:rPr sz="1600" spc="-40" dirty="0">
                <a:latin typeface="Arial"/>
                <a:cs typeface="Arial"/>
              </a:rPr>
              <a:t> </a:t>
            </a:r>
            <a:r>
              <a:rPr sz="1600" dirty="0">
                <a:latin typeface="Arial"/>
                <a:cs typeface="Arial"/>
              </a:rPr>
              <a:t>kernel</a:t>
            </a:r>
            <a:r>
              <a:rPr sz="1600" spc="-35" dirty="0">
                <a:latin typeface="Arial"/>
                <a:cs typeface="Arial"/>
              </a:rPr>
              <a:t> </a:t>
            </a:r>
            <a:r>
              <a:rPr sz="1600" dirty="0">
                <a:latin typeface="Arial"/>
                <a:cs typeface="Arial"/>
              </a:rPr>
              <a:t>parameter (the</a:t>
            </a:r>
            <a:r>
              <a:rPr sz="1600" spc="-15" dirty="0">
                <a:latin typeface="Arial"/>
                <a:cs typeface="Arial"/>
              </a:rPr>
              <a:t> </a:t>
            </a:r>
            <a:r>
              <a:rPr sz="1600" dirty="0">
                <a:latin typeface="Arial"/>
                <a:cs typeface="Arial"/>
              </a:rPr>
              <a:t>last</a:t>
            </a:r>
            <a:r>
              <a:rPr sz="1600" spc="-45" dirty="0">
                <a:latin typeface="Arial"/>
                <a:cs typeface="Arial"/>
              </a:rPr>
              <a:t> </a:t>
            </a:r>
            <a:r>
              <a:rPr sz="1600" spc="-20" dirty="0">
                <a:latin typeface="Arial"/>
                <a:cs typeface="Arial"/>
              </a:rPr>
              <a:t>one)</a:t>
            </a:r>
            <a:endParaRPr sz="1600">
              <a:latin typeface="Arial"/>
              <a:cs typeface="Arial"/>
            </a:endParaRPr>
          </a:p>
          <a:p>
            <a:pPr marL="561340">
              <a:lnSpc>
                <a:spcPts val="2010"/>
              </a:lnSpc>
              <a:tabLst>
                <a:tab pos="2512695" algn="l"/>
                <a:tab pos="2903855" algn="l"/>
                <a:tab pos="3295650" algn="l"/>
              </a:tabLst>
            </a:pPr>
            <a:r>
              <a:rPr sz="1700" b="1" spc="-10" dirty="0">
                <a:latin typeface="Courier New"/>
                <a:cs typeface="Courier New"/>
              </a:rPr>
              <a:t>increment&lt;&lt;&lt;1,</a:t>
            </a:r>
            <a:r>
              <a:rPr sz="1700" dirty="0">
                <a:latin typeface="Times New Roman"/>
                <a:cs typeface="Times New Roman"/>
              </a:rPr>
              <a:t>	</a:t>
            </a:r>
            <a:r>
              <a:rPr sz="1700" b="1" spc="-25" dirty="0">
                <a:latin typeface="Courier New"/>
                <a:cs typeface="Courier New"/>
              </a:rPr>
              <a:t>N,</a:t>
            </a:r>
            <a:r>
              <a:rPr sz="1700" dirty="0">
                <a:latin typeface="Times New Roman"/>
                <a:cs typeface="Times New Roman"/>
              </a:rPr>
              <a:t>	</a:t>
            </a:r>
            <a:r>
              <a:rPr sz="1700" b="1" spc="-25" dirty="0">
                <a:latin typeface="Courier New"/>
                <a:cs typeface="Courier New"/>
              </a:rPr>
              <a:t>0,</a:t>
            </a:r>
            <a:r>
              <a:rPr sz="1700" dirty="0">
                <a:latin typeface="Times New Roman"/>
                <a:cs typeface="Times New Roman"/>
              </a:rPr>
              <a:t>	</a:t>
            </a:r>
            <a:r>
              <a:rPr sz="1700" b="1" spc="-10" dirty="0">
                <a:solidFill>
                  <a:srgbClr val="D2523B"/>
                </a:solidFill>
                <a:latin typeface="Courier New"/>
                <a:cs typeface="Courier New"/>
              </a:rPr>
              <a:t>stream1</a:t>
            </a:r>
            <a:r>
              <a:rPr sz="1700" b="1" spc="-10" dirty="0">
                <a:latin typeface="Courier New"/>
                <a:cs typeface="Courier New"/>
              </a:rPr>
              <a:t>&gt;&gt;&gt;(d_a)</a:t>
            </a:r>
            <a:endParaRPr sz="1700">
              <a:latin typeface="Courier New"/>
              <a:cs typeface="Courier New"/>
            </a:endParaRPr>
          </a:p>
          <a:p>
            <a:pPr>
              <a:lnSpc>
                <a:spcPct val="100000"/>
              </a:lnSpc>
            </a:pPr>
            <a:endParaRPr sz="1700">
              <a:latin typeface="Courier New"/>
              <a:cs typeface="Courier New"/>
            </a:endParaRPr>
          </a:p>
          <a:p>
            <a:pPr>
              <a:spcBef>
                <a:spcPts val="229"/>
              </a:spcBef>
            </a:pPr>
            <a:endParaRPr sz="1700">
              <a:latin typeface="Courier New"/>
              <a:cs typeface="Courier New"/>
            </a:endParaRPr>
          </a:p>
          <a:p>
            <a:pPr marL="561340">
              <a:tabLst>
                <a:tab pos="1862455" algn="l"/>
                <a:tab pos="3684270" algn="l"/>
                <a:tab pos="4595495" algn="l"/>
                <a:tab pos="5116195" algn="l"/>
                <a:tab pos="5636260" algn="l"/>
                <a:tab pos="6417310" algn="l"/>
              </a:tabLst>
            </a:pPr>
            <a:r>
              <a:rPr sz="1700" b="1" spc="-10" dirty="0">
                <a:latin typeface="Courier New"/>
                <a:cs typeface="Courier New"/>
              </a:rPr>
              <a:t>execution</a:t>
            </a:r>
            <a:r>
              <a:rPr sz="1700" dirty="0">
                <a:latin typeface="Times New Roman"/>
                <a:cs typeface="Times New Roman"/>
              </a:rPr>
              <a:t>	</a:t>
            </a:r>
            <a:r>
              <a:rPr sz="1700" b="1" spc="-10" dirty="0">
                <a:latin typeface="Courier New"/>
                <a:cs typeface="Courier New"/>
              </a:rPr>
              <a:t>configuration</a:t>
            </a:r>
            <a:r>
              <a:rPr sz="1700" dirty="0">
                <a:latin typeface="Times New Roman"/>
                <a:cs typeface="Times New Roman"/>
              </a:rPr>
              <a:t>	</a:t>
            </a:r>
            <a:r>
              <a:rPr sz="1700" b="1" spc="-10" dirty="0">
                <a:latin typeface="Courier New"/>
                <a:cs typeface="Courier New"/>
              </a:rPr>
              <a:t>&lt;&lt;&lt;Dg,</a:t>
            </a:r>
            <a:r>
              <a:rPr sz="1700" dirty="0">
                <a:latin typeface="Times New Roman"/>
                <a:cs typeface="Times New Roman"/>
              </a:rPr>
              <a:t>	</a:t>
            </a:r>
            <a:r>
              <a:rPr sz="1700" b="1" spc="-25" dirty="0">
                <a:latin typeface="Courier New"/>
                <a:cs typeface="Courier New"/>
              </a:rPr>
              <a:t>Db,</a:t>
            </a:r>
            <a:r>
              <a:rPr sz="1700" dirty="0">
                <a:latin typeface="Times New Roman"/>
                <a:cs typeface="Times New Roman"/>
              </a:rPr>
              <a:t>	</a:t>
            </a:r>
            <a:r>
              <a:rPr sz="1700" b="1" spc="-25" dirty="0">
                <a:latin typeface="Courier New"/>
                <a:cs typeface="Courier New"/>
              </a:rPr>
              <a:t>Ns,</a:t>
            </a:r>
            <a:r>
              <a:rPr sz="1700" dirty="0">
                <a:latin typeface="Times New Roman"/>
                <a:cs typeface="Times New Roman"/>
              </a:rPr>
              <a:t>	</a:t>
            </a:r>
            <a:r>
              <a:rPr sz="1700" b="1" spc="-10" dirty="0">
                <a:latin typeface="Courier New"/>
                <a:cs typeface="Courier New"/>
              </a:rPr>
              <a:t>S&gt;&gt;&gt;,</a:t>
            </a:r>
            <a:r>
              <a:rPr sz="1700" dirty="0">
                <a:latin typeface="Times New Roman"/>
                <a:cs typeface="Times New Roman"/>
              </a:rPr>
              <a:t>	</a:t>
            </a:r>
            <a:r>
              <a:rPr sz="1700" b="1" spc="-10" dirty="0">
                <a:latin typeface="Courier New"/>
                <a:cs typeface="Courier New"/>
              </a:rPr>
              <a:t>where:</a:t>
            </a:r>
            <a:endParaRPr sz="1700">
              <a:latin typeface="Courier New"/>
              <a:cs typeface="Courier New"/>
            </a:endParaRPr>
          </a:p>
        </p:txBody>
      </p:sp>
      <p:graphicFrame>
        <p:nvGraphicFramePr>
          <p:cNvPr id="4" name="object 4"/>
          <p:cNvGraphicFramePr>
            <a:graphicFrameLocks noGrp="1"/>
          </p:cNvGraphicFramePr>
          <p:nvPr/>
        </p:nvGraphicFramePr>
        <p:xfrm>
          <a:off x="2239924" y="5663766"/>
          <a:ext cx="6434453" cy="503555"/>
        </p:xfrm>
        <a:graphic>
          <a:graphicData uri="http://schemas.openxmlformats.org/drawingml/2006/table">
            <a:tbl>
              <a:tblPr firstRow="1" bandRow="1">
                <a:tableStyleId>{2D5ABB26-0587-4C30-8999-92F81FD0307C}</a:tableStyleId>
              </a:tblPr>
              <a:tblGrid>
                <a:gridCol w="356235">
                  <a:extLst>
                    <a:ext uri="{9D8B030D-6E8A-4147-A177-3AD203B41FA5}">
                      <a16:colId xmlns:a16="http://schemas.microsoft.com/office/drawing/2014/main" val="20000"/>
                    </a:ext>
                  </a:extLst>
                </a:gridCol>
                <a:gridCol w="1364615">
                  <a:extLst>
                    <a:ext uri="{9D8B030D-6E8A-4147-A177-3AD203B41FA5}">
                      <a16:colId xmlns:a16="http://schemas.microsoft.com/office/drawing/2014/main" val="20001"/>
                    </a:ext>
                  </a:extLst>
                </a:gridCol>
                <a:gridCol w="2278379">
                  <a:extLst>
                    <a:ext uri="{9D8B030D-6E8A-4147-A177-3AD203B41FA5}">
                      <a16:colId xmlns:a16="http://schemas.microsoft.com/office/drawing/2014/main" val="20002"/>
                    </a:ext>
                  </a:extLst>
                </a:gridCol>
                <a:gridCol w="1040764">
                  <a:extLst>
                    <a:ext uri="{9D8B030D-6E8A-4147-A177-3AD203B41FA5}">
                      <a16:colId xmlns:a16="http://schemas.microsoft.com/office/drawing/2014/main" val="20003"/>
                    </a:ext>
                  </a:extLst>
                </a:gridCol>
                <a:gridCol w="1394460">
                  <a:extLst>
                    <a:ext uri="{9D8B030D-6E8A-4147-A177-3AD203B41FA5}">
                      <a16:colId xmlns:a16="http://schemas.microsoft.com/office/drawing/2014/main" val="20004"/>
                    </a:ext>
                  </a:extLst>
                </a:gridCol>
              </a:tblGrid>
              <a:tr h="251460">
                <a:tc>
                  <a:txBody>
                    <a:bodyPr/>
                    <a:lstStyle/>
                    <a:p>
                      <a:pPr marR="25400" algn="ctr">
                        <a:lnSpc>
                          <a:spcPts val="1760"/>
                        </a:lnSpc>
                      </a:pPr>
                      <a:r>
                        <a:rPr sz="1700" b="1" spc="-25" dirty="0">
                          <a:latin typeface="Courier New"/>
                          <a:cs typeface="Courier New"/>
                        </a:rPr>
                        <a:t>Dg</a:t>
                      </a:r>
                      <a:endParaRPr sz="1700">
                        <a:latin typeface="Courier New"/>
                        <a:cs typeface="Courier New"/>
                      </a:endParaRPr>
                    </a:p>
                  </a:txBody>
                  <a:tcPr marL="0" marR="0" marT="0" marB="0"/>
                </a:tc>
                <a:tc>
                  <a:txBody>
                    <a:bodyPr/>
                    <a:lstStyle/>
                    <a:p>
                      <a:pPr marL="64135">
                        <a:lnSpc>
                          <a:spcPts val="1760"/>
                        </a:lnSpc>
                      </a:pPr>
                      <a:r>
                        <a:rPr sz="1700" b="1" spc="-10" dirty="0">
                          <a:latin typeface="Courier New"/>
                          <a:cs typeface="Courier New"/>
                        </a:rPr>
                        <a:t>(dim3)</a:t>
                      </a:r>
                      <a:endParaRPr sz="1700">
                        <a:latin typeface="Courier New"/>
                        <a:cs typeface="Courier New"/>
                      </a:endParaRPr>
                    </a:p>
                  </a:txBody>
                  <a:tcPr marL="0" marR="0" marT="0" marB="0"/>
                </a:tc>
                <a:tc>
                  <a:txBody>
                    <a:bodyPr/>
                    <a:lstStyle/>
                    <a:p>
                      <a:pPr marR="57150" algn="r">
                        <a:lnSpc>
                          <a:spcPts val="1760"/>
                        </a:lnSpc>
                        <a:tabLst>
                          <a:tab pos="1300480" algn="l"/>
                        </a:tabLst>
                      </a:pPr>
                      <a:r>
                        <a:rPr sz="1700" b="1" spc="-10" dirty="0">
                          <a:latin typeface="Courier New"/>
                          <a:cs typeface="Courier New"/>
                        </a:rPr>
                        <a:t>dimension</a:t>
                      </a:r>
                      <a:r>
                        <a:rPr sz="1700" dirty="0">
                          <a:latin typeface="Times New Roman"/>
                          <a:cs typeface="Times New Roman"/>
                        </a:rPr>
                        <a:t>	</a:t>
                      </a:r>
                      <a:r>
                        <a:rPr sz="1700" b="1" spc="-25" dirty="0">
                          <a:latin typeface="Courier New"/>
                          <a:cs typeface="Courier New"/>
                        </a:rPr>
                        <a:t>and</a:t>
                      </a:r>
                      <a:endParaRPr sz="1700">
                        <a:latin typeface="Courier New"/>
                        <a:cs typeface="Courier New"/>
                      </a:endParaRPr>
                    </a:p>
                  </a:txBody>
                  <a:tcPr marL="0" marR="0" marT="0" marB="0"/>
                </a:tc>
                <a:tc>
                  <a:txBody>
                    <a:bodyPr/>
                    <a:lstStyle/>
                    <a:p>
                      <a:pPr marL="1270" algn="ctr">
                        <a:lnSpc>
                          <a:spcPts val="1760"/>
                        </a:lnSpc>
                        <a:tabLst>
                          <a:tab pos="652145" algn="l"/>
                        </a:tabLst>
                      </a:pPr>
                      <a:r>
                        <a:rPr sz="1700" b="1" spc="-20" dirty="0">
                          <a:latin typeface="Courier New"/>
                          <a:cs typeface="Courier New"/>
                        </a:rPr>
                        <a:t>size</a:t>
                      </a:r>
                      <a:r>
                        <a:rPr sz="1700" dirty="0">
                          <a:latin typeface="Times New Roman"/>
                          <a:cs typeface="Times New Roman"/>
                        </a:rPr>
                        <a:t>	</a:t>
                      </a:r>
                      <a:r>
                        <a:rPr sz="1700" b="1" spc="-25" dirty="0">
                          <a:latin typeface="Courier New"/>
                          <a:cs typeface="Courier New"/>
                        </a:rPr>
                        <a:t>of</a:t>
                      </a:r>
                      <a:endParaRPr sz="1700">
                        <a:latin typeface="Courier New"/>
                        <a:cs typeface="Courier New"/>
                      </a:endParaRPr>
                    </a:p>
                  </a:txBody>
                  <a:tcPr marL="0" marR="0" marT="0" marB="0"/>
                </a:tc>
                <a:tc>
                  <a:txBody>
                    <a:bodyPr/>
                    <a:lstStyle/>
                    <a:p>
                      <a:pPr marL="64769">
                        <a:lnSpc>
                          <a:spcPts val="1760"/>
                        </a:lnSpc>
                        <a:tabLst>
                          <a:tab pos="586740" algn="l"/>
                        </a:tabLst>
                      </a:pPr>
                      <a:r>
                        <a:rPr sz="1700" b="1" spc="-25" dirty="0">
                          <a:latin typeface="Courier New"/>
                          <a:cs typeface="Courier New"/>
                        </a:rPr>
                        <a:t>the</a:t>
                      </a:r>
                      <a:r>
                        <a:rPr sz="1700" dirty="0">
                          <a:latin typeface="Times New Roman"/>
                          <a:cs typeface="Times New Roman"/>
                        </a:rPr>
                        <a:t>	</a:t>
                      </a:r>
                      <a:r>
                        <a:rPr sz="1700" b="1" spc="-20" dirty="0">
                          <a:latin typeface="Courier New"/>
                          <a:cs typeface="Courier New"/>
                        </a:rPr>
                        <a:t>grid</a:t>
                      </a:r>
                      <a:endParaRPr sz="1700">
                        <a:latin typeface="Courier New"/>
                        <a:cs typeface="Courier New"/>
                      </a:endParaRPr>
                    </a:p>
                  </a:txBody>
                  <a:tcPr marL="0" marR="0" marT="0" marB="0"/>
                </a:tc>
                <a:extLst>
                  <a:ext uri="{0D108BD9-81ED-4DB2-BD59-A6C34878D82A}">
                    <a16:rowId xmlns:a16="http://schemas.microsoft.com/office/drawing/2014/main" val="10000"/>
                  </a:ext>
                </a:extLst>
              </a:tr>
              <a:tr h="252095">
                <a:tc>
                  <a:txBody>
                    <a:bodyPr/>
                    <a:lstStyle/>
                    <a:p>
                      <a:pPr marR="24765" algn="ctr">
                        <a:lnSpc>
                          <a:spcPts val="1814"/>
                        </a:lnSpc>
                      </a:pPr>
                      <a:r>
                        <a:rPr sz="1700" b="1" spc="-25" dirty="0">
                          <a:latin typeface="Courier New"/>
                          <a:cs typeface="Courier New"/>
                        </a:rPr>
                        <a:t>Db</a:t>
                      </a:r>
                      <a:endParaRPr sz="1700">
                        <a:latin typeface="Courier New"/>
                        <a:cs typeface="Courier New"/>
                      </a:endParaRPr>
                    </a:p>
                  </a:txBody>
                  <a:tcPr marL="0" marR="0" marT="0" marB="0"/>
                </a:tc>
                <a:tc>
                  <a:txBody>
                    <a:bodyPr/>
                    <a:lstStyle/>
                    <a:p>
                      <a:pPr marL="64769">
                        <a:lnSpc>
                          <a:spcPts val="1814"/>
                        </a:lnSpc>
                      </a:pPr>
                      <a:r>
                        <a:rPr sz="1700" b="1" spc="-10" dirty="0">
                          <a:latin typeface="Courier New"/>
                          <a:cs typeface="Courier New"/>
                        </a:rPr>
                        <a:t>(dim3)</a:t>
                      </a:r>
                      <a:endParaRPr sz="1700">
                        <a:latin typeface="Courier New"/>
                        <a:cs typeface="Courier New"/>
                      </a:endParaRPr>
                    </a:p>
                  </a:txBody>
                  <a:tcPr marL="0" marR="0" marT="0" marB="0"/>
                </a:tc>
                <a:tc>
                  <a:txBody>
                    <a:bodyPr/>
                    <a:lstStyle/>
                    <a:p>
                      <a:pPr marR="59055" algn="r">
                        <a:lnSpc>
                          <a:spcPts val="1814"/>
                        </a:lnSpc>
                        <a:tabLst>
                          <a:tab pos="1300480" algn="l"/>
                        </a:tabLst>
                      </a:pPr>
                      <a:r>
                        <a:rPr sz="1700" b="1" spc="-10" dirty="0">
                          <a:latin typeface="Courier New"/>
                          <a:cs typeface="Courier New"/>
                        </a:rPr>
                        <a:t>dimension</a:t>
                      </a:r>
                      <a:r>
                        <a:rPr sz="1700" dirty="0">
                          <a:latin typeface="Times New Roman"/>
                          <a:cs typeface="Times New Roman"/>
                        </a:rPr>
                        <a:t>	</a:t>
                      </a:r>
                      <a:r>
                        <a:rPr sz="1700" b="1" spc="-25" dirty="0">
                          <a:latin typeface="Courier New"/>
                          <a:cs typeface="Courier New"/>
                        </a:rPr>
                        <a:t>and</a:t>
                      </a:r>
                      <a:endParaRPr sz="1700">
                        <a:latin typeface="Courier New"/>
                        <a:cs typeface="Courier New"/>
                      </a:endParaRPr>
                    </a:p>
                  </a:txBody>
                  <a:tcPr marL="0" marR="0" marT="0" marB="0"/>
                </a:tc>
                <a:tc>
                  <a:txBody>
                    <a:bodyPr/>
                    <a:lstStyle/>
                    <a:p>
                      <a:pPr algn="ctr">
                        <a:lnSpc>
                          <a:spcPts val="1814"/>
                        </a:lnSpc>
                        <a:tabLst>
                          <a:tab pos="650240" algn="l"/>
                        </a:tabLst>
                      </a:pPr>
                      <a:r>
                        <a:rPr sz="1700" b="1" spc="-20" dirty="0">
                          <a:latin typeface="Courier New"/>
                          <a:cs typeface="Courier New"/>
                        </a:rPr>
                        <a:t>size</a:t>
                      </a:r>
                      <a:r>
                        <a:rPr sz="1700" dirty="0">
                          <a:latin typeface="Times New Roman"/>
                          <a:cs typeface="Times New Roman"/>
                        </a:rPr>
                        <a:t>	</a:t>
                      </a:r>
                      <a:r>
                        <a:rPr sz="1700" b="1" spc="-25" dirty="0">
                          <a:latin typeface="Courier New"/>
                          <a:cs typeface="Courier New"/>
                        </a:rPr>
                        <a:t>of</a:t>
                      </a:r>
                      <a:endParaRPr sz="1700">
                        <a:latin typeface="Courier New"/>
                        <a:cs typeface="Courier New"/>
                      </a:endParaRPr>
                    </a:p>
                  </a:txBody>
                  <a:tcPr marL="0" marR="0" marT="0" marB="0"/>
                </a:tc>
                <a:tc>
                  <a:txBody>
                    <a:bodyPr/>
                    <a:lstStyle/>
                    <a:p>
                      <a:pPr marL="64135">
                        <a:lnSpc>
                          <a:spcPts val="1814"/>
                        </a:lnSpc>
                        <a:tabLst>
                          <a:tab pos="714375" algn="l"/>
                        </a:tabLst>
                      </a:pPr>
                      <a:r>
                        <a:rPr sz="1700" b="1" spc="-20" dirty="0">
                          <a:latin typeface="Courier New"/>
                          <a:cs typeface="Courier New"/>
                        </a:rPr>
                        <a:t>each</a:t>
                      </a:r>
                      <a:r>
                        <a:rPr sz="1700" dirty="0">
                          <a:latin typeface="Times New Roman"/>
                          <a:cs typeface="Times New Roman"/>
                        </a:rPr>
                        <a:t>	</a:t>
                      </a:r>
                      <a:r>
                        <a:rPr sz="1700" b="1" spc="-20" dirty="0">
                          <a:latin typeface="Courier New"/>
                          <a:cs typeface="Courier New"/>
                        </a:rPr>
                        <a:t>block</a:t>
                      </a:r>
                      <a:endParaRPr sz="1700">
                        <a:latin typeface="Courier New"/>
                        <a:cs typeface="Courier New"/>
                      </a:endParaRPr>
                    </a:p>
                  </a:txBody>
                  <a:tcPr marL="0" marR="0" marT="0" marB="0"/>
                </a:tc>
                <a:extLst>
                  <a:ext uri="{0D108BD9-81ED-4DB2-BD59-A6C34878D82A}">
                    <a16:rowId xmlns:a16="http://schemas.microsoft.com/office/drawing/2014/main" val="10001"/>
                  </a:ext>
                </a:extLst>
              </a:tr>
            </a:tbl>
          </a:graphicData>
        </a:graphic>
      </p:graphicFrame>
      <p:sp>
        <p:nvSpPr>
          <p:cNvPr id="5" name="object 5"/>
          <p:cNvSpPr txBox="1"/>
          <p:nvPr/>
        </p:nvSpPr>
        <p:spPr>
          <a:xfrm>
            <a:off x="2258974" y="6133289"/>
            <a:ext cx="8093709" cy="544195"/>
          </a:xfrm>
          <a:prstGeom prst="rect">
            <a:avLst/>
          </a:prstGeom>
        </p:spPr>
        <p:txBody>
          <a:bodyPr vert="horz" wrap="square" lIns="0" tIns="12700" rIns="0" bIns="0" rtlCol="0">
            <a:spAutoFit/>
          </a:bodyPr>
          <a:lstStyle/>
          <a:p>
            <a:pPr marL="12700" marR="5080">
              <a:spcBef>
                <a:spcPts val="100"/>
              </a:spcBef>
              <a:tabLst>
                <a:tab pos="272415" algn="l"/>
                <a:tab pos="401955" algn="l"/>
                <a:tab pos="2225040" algn="l"/>
                <a:tab pos="3136265" algn="l"/>
                <a:tab pos="3787140" algn="l"/>
                <a:tab pos="4438015" algn="l"/>
                <a:tab pos="5088255" algn="l"/>
                <a:tab pos="5999480" algn="l"/>
                <a:tab pos="6910705" algn="l"/>
                <a:tab pos="7432040" algn="l"/>
              </a:tabLst>
            </a:pPr>
            <a:r>
              <a:rPr sz="1700" b="1" spc="-35" dirty="0">
                <a:latin typeface="Courier New"/>
                <a:cs typeface="Courier New"/>
              </a:rPr>
              <a:t>Ns</a:t>
            </a:r>
            <a:r>
              <a:rPr sz="1700" dirty="0">
                <a:latin typeface="Times New Roman"/>
                <a:cs typeface="Times New Roman"/>
              </a:rPr>
              <a:t>	</a:t>
            </a:r>
            <a:r>
              <a:rPr sz="1700" b="1" spc="-10" dirty="0">
                <a:latin typeface="Courier New"/>
                <a:cs typeface="Courier New"/>
              </a:rPr>
              <a:t>(size_t)</a:t>
            </a:r>
            <a:r>
              <a:rPr sz="1700" dirty="0">
                <a:latin typeface="Times New Roman"/>
                <a:cs typeface="Times New Roman"/>
              </a:rPr>
              <a:t>	</a:t>
            </a:r>
            <a:r>
              <a:rPr sz="1700" b="1" spc="-10" dirty="0">
                <a:latin typeface="Courier New"/>
                <a:cs typeface="Courier New"/>
              </a:rPr>
              <a:t>dynamically</a:t>
            </a:r>
            <a:r>
              <a:rPr sz="1700" dirty="0">
                <a:latin typeface="Times New Roman"/>
                <a:cs typeface="Times New Roman"/>
              </a:rPr>
              <a:t>	</a:t>
            </a:r>
            <a:r>
              <a:rPr sz="1700" b="1" spc="-10" dirty="0">
                <a:latin typeface="Courier New"/>
                <a:cs typeface="Courier New"/>
              </a:rPr>
              <a:t>allocated</a:t>
            </a:r>
            <a:r>
              <a:rPr sz="1700" dirty="0">
                <a:latin typeface="Times New Roman"/>
                <a:cs typeface="Times New Roman"/>
              </a:rPr>
              <a:t>	</a:t>
            </a:r>
            <a:r>
              <a:rPr sz="1700" b="1" spc="-10" dirty="0">
                <a:latin typeface="Courier New"/>
                <a:cs typeface="Courier New"/>
              </a:rPr>
              <a:t>shared</a:t>
            </a:r>
            <a:r>
              <a:rPr sz="1700" dirty="0">
                <a:latin typeface="Times New Roman"/>
                <a:cs typeface="Times New Roman"/>
              </a:rPr>
              <a:t>	</a:t>
            </a:r>
            <a:r>
              <a:rPr sz="1700" b="1" spc="-10" dirty="0">
                <a:latin typeface="Courier New"/>
                <a:cs typeface="Courier New"/>
              </a:rPr>
              <a:t>memory</a:t>
            </a:r>
            <a:r>
              <a:rPr sz="1700" dirty="0">
                <a:latin typeface="Times New Roman"/>
                <a:cs typeface="Times New Roman"/>
              </a:rPr>
              <a:t>	</a:t>
            </a:r>
            <a:r>
              <a:rPr sz="1700" b="1" spc="-25" dirty="0">
                <a:latin typeface="Courier New"/>
                <a:cs typeface="Courier New"/>
              </a:rPr>
              <a:t>per</a:t>
            </a:r>
            <a:r>
              <a:rPr sz="1700" dirty="0">
                <a:latin typeface="Times New Roman"/>
                <a:cs typeface="Times New Roman"/>
              </a:rPr>
              <a:t>	</a:t>
            </a:r>
            <a:r>
              <a:rPr sz="1700" b="1" spc="-20" dirty="0">
                <a:latin typeface="Courier New"/>
                <a:cs typeface="Courier New"/>
              </a:rPr>
              <a:t>block</a:t>
            </a:r>
            <a:r>
              <a:rPr sz="1700" spc="-20" dirty="0">
                <a:latin typeface="Times New Roman"/>
                <a:cs typeface="Times New Roman"/>
              </a:rPr>
              <a:t> </a:t>
            </a:r>
            <a:r>
              <a:rPr sz="1700" b="1" spc="-50" dirty="0">
                <a:latin typeface="Courier New"/>
                <a:cs typeface="Courier New"/>
              </a:rPr>
              <a:t>S</a:t>
            </a:r>
            <a:r>
              <a:rPr sz="1700" dirty="0">
                <a:latin typeface="Times New Roman"/>
                <a:cs typeface="Times New Roman"/>
              </a:rPr>
              <a:t>	</a:t>
            </a:r>
            <a:r>
              <a:rPr sz="1700" b="1" spc="-10" dirty="0">
                <a:latin typeface="Courier New"/>
                <a:cs typeface="Courier New"/>
              </a:rPr>
              <a:t>(cudaStream_t)</a:t>
            </a:r>
            <a:r>
              <a:rPr sz="1700" dirty="0">
                <a:latin typeface="Times New Roman"/>
                <a:cs typeface="Times New Roman"/>
              </a:rPr>
              <a:t>	</a:t>
            </a:r>
            <a:r>
              <a:rPr sz="1700" b="1" spc="-10" dirty="0">
                <a:latin typeface="Courier New"/>
                <a:cs typeface="Courier New"/>
              </a:rPr>
              <a:t>stream</a:t>
            </a:r>
            <a:r>
              <a:rPr sz="1700" dirty="0">
                <a:latin typeface="Times New Roman"/>
                <a:cs typeface="Times New Roman"/>
              </a:rPr>
              <a:t>	</a:t>
            </a:r>
            <a:r>
              <a:rPr sz="1700" b="1" spc="-10" dirty="0">
                <a:latin typeface="Courier New"/>
                <a:cs typeface="Courier New"/>
              </a:rPr>
              <a:t>(optional</a:t>
            </a:r>
            <a:r>
              <a:rPr sz="1700" dirty="0">
                <a:latin typeface="Times New Roman"/>
                <a:cs typeface="Times New Roman"/>
              </a:rPr>
              <a:t>	</a:t>
            </a:r>
            <a:r>
              <a:rPr sz="1700" b="1" spc="-10" dirty="0">
                <a:latin typeface="Courier New"/>
                <a:cs typeface="Courier New"/>
              </a:rPr>
              <a:t>parameter)</a:t>
            </a:r>
            <a:endParaRPr sz="1700">
              <a:latin typeface="Courier New"/>
              <a:cs typeface="Courier New"/>
            </a:endParaRPr>
          </a:p>
        </p:txBody>
      </p:sp>
    </p:spTree>
    <p:extLst>
      <p:ext uri="{BB962C8B-B14F-4D97-AF65-F5344CB8AC3E}">
        <p14:creationId xmlns:p14="http://schemas.microsoft.com/office/powerpoint/2010/main" val="232891330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1956A-9DE3-CA26-641B-01297ECA0CA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F29C5A0-41BD-A0E0-699D-45DA1C4E0F7E}"/>
              </a:ext>
            </a:extLst>
          </p:cNvPr>
          <p:cNvSpPr txBox="1">
            <a:spLocks noGrp="1"/>
          </p:cNvSpPr>
          <p:nvPr>
            <p:ph type="title"/>
          </p:nvPr>
        </p:nvSpPr>
        <p:spPr>
          <a:xfrm>
            <a:off x="2059940" y="697737"/>
            <a:ext cx="4375150" cy="635000"/>
          </a:xfrm>
          <a:prstGeom prst="rect">
            <a:avLst/>
          </a:prstGeom>
        </p:spPr>
        <p:txBody>
          <a:bodyPr vert="horz" wrap="square" lIns="0" tIns="12065" rIns="0" bIns="0" rtlCol="0">
            <a:spAutoFit/>
          </a:bodyPr>
          <a:lstStyle/>
          <a:p>
            <a:pPr marL="12700">
              <a:spcBef>
                <a:spcPts val="95"/>
              </a:spcBef>
            </a:pPr>
            <a:r>
              <a:rPr spc="-130" dirty="0"/>
              <a:t>Non-</a:t>
            </a:r>
            <a:r>
              <a:rPr spc="-110" dirty="0"/>
              <a:t>default </a:t>
            </a:r>
            <a:r>
              <a:rPr spc="-55" dirty="0"/>
              <a:t>streams</a:t>
            </a:r>
          </a:p>
        </p:txBody>
      </p:sp>
      <p:pic>
        <p:nvPicPr>
          <p:cNvPr id="6" name="Picture 5">
            <a:extLst>
              <a:ext uri="{FF2B5EF4-FFF2-40B4-BE49-F238E27FC236}">
                <a16:creationId xmlns:a16="http://schemas.microsoft.com/office/drawing/2014/main" id="{1E510890-1410-EE9B-A271-720C2F77FDB8}"/>
              </a:ext>
            </a:extLst>
          </p:cNvPr>
          <p:cNvPicPr>
            <a:picLocks noChangeAspect="1"/>
          </p:cNvPicPr>
          <p:nvPr/>
        </p:nvPicPr>
        <p:blipFill>
          <a:blip r:embed="rId2"/>
          <a:stretch>
            <a:fillRect/>
          </a:stretch>
        </p:blipFill>
        <p:spPr>
          <a:xfrm>
            <a:off x="82826" y="2819400"/>
            <a:ext cx="12026348" cy="2682493"/>
          </a:xfrm>
          <a:prstGeom prst="rect">
            <a:avLst/>
          </a:prstGeom>
        </p:spPr>
      </p:pic>
    </p:spTree>
    <p:extLst>
      <p:ext uri="{BB962C8B-B14F-4D97-AF65-F5344CB8AC3E}">
        <p14:creationId xmlns:p14="http://schemas.microsoft.com/office/powerpoint/2010/main" val="217255414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59940" y="697737"/>
            <a:ext cx="4375150" cy="635000"/>
          </a:xfrm>
          <a:prstGeom prst="rect">
            <a:avLst/>
          </a:prstGeom>
        </p:spPr>
        <p:txBody>
          <a:bodyPr vert="horz" wrap="square" lIns="0" tIns="12065" rIns="0" bIns="0" rtlCol="0">
            <a:spAutoFit/>
          </a:bodyPr>
          <a:lstStyle/>
          <a:p>
            <a:pPr marL="12700">
              <a:spcBef>
                <a:spcPts val="95"/>
              </a:spcBef>
            </a:pPr>
            <a:r>
              <a:rPr spc="-130" dirty="0"/>
              <a:t>Non-</a:t>
            </a:r>
            <a:r>
              <a:rPr spc="-110" dirty="0"/>
              <a:t>default </a:t>
            </a:r>
            <a:r>
              <a:rPr spc="-55" dirty="0"/>
              <a:t>streams</a:t>
            </a:r>
          </a:p>
        </p:txBody>
      </p:sp>
      <p:sp>
        <p:nvSpPr>
          <p:cNvPr id="3" name="object 3"/>
          <p:cNvSpPr txBox="1"/>
          <p:nvPr/>
        </p:nvSpPr>
        <p:spPr>
          <a:xfrm>
            <a:off x="2059940" y="1552086"/>
            <a:ext cx="5798820" cy="2369880"/>
          </a:xfrm>
          <a:prstGeom prst="rect">
            <a:avLst/>
          </a:prstGeom>
        </p:spPr>
        <p:txBody>
          <a:bodyPr vert="horz" wrap="square" lIns="0" tIns="86360" rIns="0" bIns="0" rtlCol="0">
            <a:spAutoFit/>
          </a:bodyPr>
          <a:lstStyle/>
          <a:p>
            <a:pPr marL="196215" indent="-183515">
              <a:spcBef>
                <a:spcPts val="680"/>
              </a:spcBef>
              <a:buClr>
                <a:srgbClr val="4F80BC"/>
              </a:buClr>
              <a:buSzPct val="85416"/>
              <a:buChar char="•"/>
              <a:tabLst>
                <a:tab pos="196215" algn="l"/>
              </a:tabLst>
            </a:pPr>
            <a:r>
              <a:rPr sz="2400" spc="-10" dirty="0">
                <a:latin typeface="Arial"/>
                <a:cs typeface="Arial"/>
              </a:rPr>
              <a:t>Synchronization</a:t>
            </a:r>
            <a:endParaRPr sz="2400">
              <a:latin typeface="Arial"/>
              <a:cs typeface="Arial"/>
            </a:endParaRPr>
          </a:p>
          <a:p>
            <a:pPr marL="469900" lvl="1" indent="-182880">
              <a:spcBef>
                <a:spcPts val="484"/>
              </a:spcBef>
              <a:buClr>
                <a:srgbClr val="4F80BC"/>
              </a:buClr>
              <a:buSzPct val="85000"/>
              <a:buChar char="•"/>
              <a:tabLst>
                <a:tab pos="469900" algn="l"/>
              </a:tabLst>
            </a:pPr>
            <a:r>
              <a:rPr sz="2000" dirty="0">
                <a:latin typeface="Arial"/>
                <a:cs typeface="Arial"/>
              </a:rPr>
              <a:t>All</a:t>
            </a:r>
            <a:r>
              <a:rPr sz="2000" spc="-30" dirty="0">
                <a:latin typeface="Arial"/>
                <a:cs typeface="Arial"/>
              </a:rPr>
              <a:t> </a:t>
            </a:r>
            <a:r>
              <a:rPr sz="2000" spc="-10" dirty="0">
                <a:latin typeface="Arial"/>
                <a:cs typeface="Arial"/>
              </a:rPr>
              <a:t>streams</a:t>
            </a:r>
            <a:endParaRPr sz="2000">
              <a:latin typeface="Arial"/>
              <a:cs typeface="Arial"/>
            </a:endParaRPr>
          </a:p>
          <a:p>
            <a:pPr marL="742950" lvl="2" indent="-181610">
              <a:spcBef>
                <a:spcPts val="330"/>
              </a:spcBef>
              <a:buClr>
                <a:srgbClr val="4F80BC"/>
              </a:buClr>
              <a:buSzPct val="88636"/>
              <a:buFont typeface="Arial"/>
              <a:buChar char="•"/>
              <a:tabLst>
                <a:tab pos="742950" algn="l"/>
              </a:tabLst>
            </a:pPr>
            <a:r>
              <a:rPr sz="2200" b="1" spc="-10" dirty="0">
                <a:latin typeface="Courier New"/>
                <a:cs typeface="Courier New"/>
              </a:rPr>
              <a:t>cudaDeviceSynchronize()</a:t>
            </a:r>
            <a:endParaRPr sz="2200">
              <a:latin typeface="Courier New"/>
              <a:cs typeface="Courier New"/>
            </a:endParaRPr>
          </a:p>
          <a:p>
            <a:pPr lvl="2">
              <a:spcBef>
                <a:spcPts val="1065"/>
              </a:spcBef>
              <a:buClr>
                <a:srgbClr val="4F80BC"/>
              </a:buClr>
              <a:buFont typeface="Arial"/>
              <a:buChar char="•"/>
            </a:pPr>
            <a:endParaRPr sz="2200">
              <a:latin typeface="Courier New"/>
              <a:cs typeface="Courier New"/>
            </a:endParaRPr>
          </a:p>
          <a:p>
            <a:pPr marL="469900" lvl="1" indent="-182880">
              <a:buClr>
                <a:srgbClr val="4F80BC"/>
              </a:buClr>
              <a:buSzPct val="85000"/>
              <a:buChar char="•"/>
              <a:tabLst>
                <a:tab pos="469900" algn="l"/>
              </a:tabLst>
            </a:pPr>
            <a:r>
              <a:rPr sz="2000" dirty="0">
                <a:latin typeface="Arial"/>
                <a:cs typeface="Arial"/>
              </a:rPr>
              <a:t>Specific</a:t>
            </a:r>
            <a:r>
              <a:rPr sz="2000" spc="-25" dirty="0">
                <a:latin typeface="Arial"/>
                <a:cs typeface="Arial"/>
              </a:rPr>
              <a:t> </a:t>
            </a:r>
            <a:r>
              <a:rPr sz="2000" spc="-10" dirty="0">
                <a:latin typeface="Arial"/>
                <a:cs typeface="Arial"/>
              </a:rPr>
              <a:t>stream:</a:t>
            </a:r>
            <a:endParaRPr sz="2000">
              <a:latin typeface="Arial"/>
              <a:cs typeface="Arial"/>
            </a:endParaRPr>
          </a:p>
          <a:p>
            <a:pPr marL="742950" lvl="2" indent="-181610">
              <a:spcBef>
                <a:spcPts val="330"/>
              </a:spcBef>
              <a:buClr>
                <a:srgbClr val="4F80BC"/>
              </a:buClr>
              <a:buSzPct val="88636"/>
              <a:buFont typeface="Arial"/>
              <a:buChar char="•"/>
              <a:tabLst>
                <a:tab pos="742950" algn="l"/>
              </a:tabLst>
            </a:pPr>
            <a:r>
              <a:rPr sz="2200" b="1" spc="-10" dirty="0">
                <a:latin typeface="Courier New"/>
                <a:cs typeface="Courier New"/>
              </a:rPr>
              <a:t>cudaStreamSyncrhonize(stream1)</a:t>
            </a:r>
            <a:endParaRPr sz="2200">
              <a:latin typeface="Courier New"/>
              <a:cs typeface="Courier New"/>
            </a:endParaRPr>
          </a:p>
        </p:txBody>
      </p:sp>
    </p:spTree>
    <p:extLst>
      <p:ext uri="{BB962C8B-B14F-4D97-AF65-F5344CB8AC3E}">
        <p14:creationId xmlns:p14="http://schemas.microsoft.com/office/powerpoint/2010/main" val="23814915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22499" y="729741"/>
            <a:ext cx="10795000" cy="627736"/>
          </a:xfrm>
          <a:prstGeom prst="rect">
            <a:avLst/>
          </a:prstGeom>
        </p:spPr>
        <p:txBody>
          <a:bodyPr vert="horz" wrap="square" lIns="0" tIns="12065" rIns="0" bIns="0" rtlCol="0">
            <a:spAutoFit/>
          </a:bodyPr>
          <a:lstStyle/>
          <a:p>
            <a:pPr marL="24765">
              <a:spcBef>
                <a:spcPts val="95"/>
              </a:spcBef>
            </a:pPr>
            <a:r>
              <a:rPr spc="-85" dirty="0"/>
              <a:t>The</a:t>
            </a:r>
            <a:r>
              <a:rPr spc="-175" dirty="0"/>
              <a:t> </a:t>
            </a:r>
            <a:r>
              <a:rPr spc="-100" dirty="0"/>
              <a:t>typical</a:t>
            </a:r>
            <a:r>
              <a:rPr spc="-200" dirty="0"/>
              <a:t> </a:t>
            </a:r>
            <a:r>
              <a:rPr spc="-120" dirty="0"/>
              <a:t>vector-</a:t>
            </a:r>
            <a:r>
              <a:rPr spc="-25" dirty="0"/>
              <a:t>add</a:t>
            </a:r>
          </a:p>
        </p:txBody>
      </p:sp>
      <p:sp>
        <p:nvSpPr>
          <p:cNvPr id="3" name="object 3"/>
          <p:cNvSpPr txBox="1"/>
          <p:nvPr/>
        </p:nvSpPr>
        <p:spPr>
          <a:xfrm>
            <a:off x="2087065" y="1748408"/>
            <a:ext cx="8103870" cy="1782476"/>
          </a:xfrm>
          <a:prstGeom prst="rect">
            <a:avLst/>
          </a:prstGeom>
        </p:spPr>
        <p:txBody>
          <a:bodyPr vert="horz" wrap="square" lIns="0" tIns="13335" rIns="0" bIns="0" rtlCol="0">
            <a:spAutoFit/>
          </a:bodyPr>
          <a:lstStyle/>
          <a:p>
            <a:pPr marL="12700">
              <a:spcBef>
                <a:spcPts val="105"/>
              </a:spcBef>
              <a:tabLst>
                <a:tab pos="2450465" algn="l"/>
                <a:tab pos="2908300" algn="l"/>
                <a:tab pos="4432935" algn="l"/>
              </a:tabLst>
            </a:pPr>
            <a:r>
              <a:rPr sz="2000" b="1" spc="-10" dirty="0">
                <a:latin typeface="Courier New"/>
                <a:cs typeface="Courier New"/>
              </a:rPr>
              <a:t>cudaMemcpy(d_a,</a:t>
            </a:r>
            <a:r>
              <a:rPr sz="2000" dirty="0">
                <a:latin typeface="Times New Roman"/>
                <a:cs typeface="Times New Roman"/>
              </a:rPr>
              <a:t>	</a:t>
            </a:r>
            <a:r>
              <a:rPr sz="2000" b="1" spc="-25" dirty="0">
                <a:latin typeface="Courier New"/>
                <a:cs typeface="Courier New"/>
              </a:rPr>
              <a:t>a,</a:t>
            </a:r>
            <a:r>
              <a:rPr sz="2000" dirty="0">
                <a:latin typeface="Times New Roman"/>
                <a:cs typeface="Times New Roman"/>
              </a:rPr>
              <a:t>	</a:t>
            </a:r>
            <a:r>
              <a:rPr sz="2000" b="1" spc="-10" dirty="0">
                <a:latin typeface="Courier New"/>
                <a:cs typeface="Courier New"/>
              </a:rPr>
              <a:t>numBytes,</a:t>
            </a:r>
            <a:r>
              <a:rPr sz="2000" dirty="0">
                <a:latin typeface="Times New Roman"/>
                <a:cs typeface="Times New Roman"/>
              </a:rPr>
              <a:t>	</a:t>
            </a:r>
            <a:r>
              <a:rPr sz="2000" b="1" spc="-10" dirty="0">
                <a:latin typeface="Courier New"/>
                <a:cs typeface="Courier New"/>
              </a:rPr>
              <a:t>cudaMemcpyHostToDevice);</a:t>
            </a:r>
            <a:endParaRPr sz="2000">
              <a:latin typeface="Courier New"/>
              <a:cs typeface="Courier New"/>
            </a:endParaRPr>
          </a:p>
          <a:p>
            <a:pPr marL="12700">
              <a:tabLst>
                <a:tab pos="2450465" algn="l"/>
                <a:tab pos="2908300" algn="l"/>
                <a:tab pos="4432935" algn="l"/>
              </a:tabLst>
            </a:pPr>
            <a:r>
              <a:rPr sz="2000" b="1" spc="-10" dirty="0">
                <a:latin typeface="Courier New"/>
                <a:cs typeface="Courier New"/>
              </a:rPr>
              <a:t>cudaMemcpy(d_b,</a:t>
            </a:r>
            <a:r>
              <a:rPr sz="2000" dirty="0">
                <a:latin typeface="Times New Roman"/>
                <a:cs typeface="Times New Roman"/>
              </a:rPr>
              <a:t>	</a:t>
            </a:r>
            <a:r>
              <a:rPr sz="2000" b="1" spc="-25" dirty="0">
                <a:latin typeface="Courier New"/>
                <a:cs typeface="Courier New"/>
              </a:rPr>
              <a:t>b,</a:t>
            </a:r>
            <a:r>
              <a:rPr sz="2000" dirty="0">
                <a:latin typeface="Times New Roman"/>
                <a:cs typeface="Times New Roman"/>
              </a:rPr>
              <a:t>	</a:t>
            </a:r>
            <a:r>
              <a:rPr sz="2000" b="1" spc="-10" dirty="0">
                <a:latin typeface="Courier New"/>
                <a:cs typeface="Courier New"/>
              </a:rPr>
              <a:t>numBytes,</a:t>
            </a:r>
            <a:r>
              <a:rPr sz="2000" dirty="0">
                <a:latin typeface="Times New Roman"/>
                <a:cs typeface="Times New Roman"/>
              </a:rPr>
              <a:t>	</a:t>
            </a:r>
            <a:r>
              <a:rPr sz="2000" b="1" spc="-10" dirty="0">
                <a:latin typeface="Courier New"/>
                <a:cs typeface="Courier New"/>
              </a:rPr>
              <a:t>cudaMemcpyHostToDevice);</a:t>
            </a:r>
            <a:endParaRPr sz="2000">
              <a:latin typeface="Courier New"/>
              <a:cs typeface="Courier New"/>
            </a:endParaRPr>
          </a:p>
          <a:p>
            <a:pPr marL="12700" marR="5080">
              <a:lnSpc>
                <a:spcPct val="200000"/>
              </a:lnSpc>
              <a:tabLst>
                <a:tab pos="2145665" algn="l"/>
                <a:tab pos="2908300" algn="l"/>
                <a:tab pos="3212465" algn="l"/>
                <a:tab pos="4432935" algn="l"/>
                <a:tab pos="5650865" algn="l"/>
                <a:tab pos="6412865" algn="l"/>
              </a:tabLst>
            </a:pPr>
            <a:r>
              <a:rPr sz="2000" b="1" spc="-10" dirty="0">
                <a:latin typeface="Courier New"/>
                <a:cs typeface="Courier New"/>
              </a:rPr>
              <a:t>vector_add&lt;&lt;&lt;blocks,</a:t>
            </a:r>
            <a:r>
              <a:rPr sz="2000" dirty="0">
                <a:latin typeface="Times New Roman"/>
                <a:cs typeface="Times New Roman"/>
              </a:rPr>
              <a:t>	</a:t>
            </a:r>
            <a:r>
              <a:rPr sz="2000" b="1" spc="-10" dirty="0">
                <a:latin typeface="Courier New"/>
                <a:cs typeface="Courier New"/>
              </a:rPr>
              <a:t>threads&gt;&gt;&gt;(d_a,</a:t>
            </a:r>
            <a:r>
              <a:rPr sz="2000" dirty="0">
                <a:latin typeface="Times New Roman"/>
                <a:cs typeface="Times New Roman"/>
              </a:rPr>
              <a:t>	</a:t>
            </a:r>
            <a:r>
              <a:rPr sz="2000" b="1" spc="-20" dirty="0">
                <a:latin typeface="Courier New"/>
                <a:cs typeface="Courier New"/>
              </a:rPr>
              <a:t>d_b,</a:t>
            </a:r>
            <a:r>
              <a:rPr sz="2000" dirty="0">
                <a:latin typeface="Times New Roman"/>
                <a:cs typeface="Times New Roman"/>
              </a:rPr>
              <a:t>	</a:t>
            </a:r>
            <a:r>
              <a:rPr sz="2000" b="1" spc="-10" dirty="0">
                <a:latin typeface="Courier New"/>
                <a:cs typeface="Courier New"/>
              </a:rPr>
              <a:t>d_c);</a:t>
            </a:r>
            <a:r>
              <a:rPr sz="2000" spc="-10" dirty="0">
                <a:latin typeface="Times New Roman"/>
                <a:cs typeface="Times New Roman"/>
              </a:rPr>
              <a:t> </a:t>
            </a:r>
            <a:r>
              <a:rPr sz="2000" b="1" spc="-10" dirty="0">
                <a:latin typeface="Courier New"/>
                <a:cs typeface="Courier New"/>
              </a:rPr>
              <a:t>cudaMemcpy(c,</a:t>
            </a:r>
            <a:r>
              <a:rPr sz="2000" dirty="0">
                <a:latin typeface="Times New Roman"/>
                <a:cs typeface="Times New Roman"/>
              </a:rPr>
              <a:t>	</a:t>
            </a:r>
            <a:r>
              <a:rPr sz="2000" b="1" spc="-20" dirty="0">
                <a:latin typeface="Courier New"/>
                <a:cs typeface="Courier New"/>
              </a:rPr>
              <a:t>d_c,</a:t>
            </a:r>
            <a:r>
              <a:rPr sz="2000" dirty="0">
                <a:latin typeface="Times New Roman"/>
                <a:cs typeface="Times New Roman"/>
              </a:rPr>
              <a:t>	</a:t>
            </a:r>
            <a:r>
              <a:rPr sz="2000" b="1" spc="-10" dirty="0">
                <a:latin typeface="Courier New"/>
                <a:cs typeface="Courier New"/>
              </a:rPr>
              <a:t>numBytes,</a:t>
            </a:r>
            <a:r>
              <a:rPr sz="2000" dirty="0">
                <a:latin typeface="Times New Roman"/>
                <a:cs typeface="Times New Roman"/>
              </a:rPr>
              <a:t>	</a:t>
            </a:r>
            <a:r>
              <a:rPr sz="2000" b="1" spc="-10" dirty="0">
                <a:latin typeface="Courier New"/>
                <a:cs typeface="Courier New"/>
              </a:rPr>
              <a:t>cudaMemcpyDeviceToHost);</a:t>
            </a:r>
            <a:endParaRPr sz="2000">
              <a:latin typeface="Courier New"/>
              <a:cs typeface="Courier New"/>
            </a:endParaRPr>
          </a:p>
        </p:txBody>
      </p:sp>
    </p:spTree>
    <p:extLst>
      <p:ext uri="{BB962C8B-B14F-4D97-AF65-F5344CB8AC3E}">
        <p14:creationId xmlns:p14="http://schemas.microsoft.com/office/powerpoint/2010/main" val="198051596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59941" y="353060"/>
            <a:ext cx="7898765" cy="635000"/>
          </a:xfrm>
          <a:prstGeom prst="rect">
            <a:avLst/>
          </a:prstGeom>
        </p:spPr>
        <p:txBody>
          <a:bodyPr vert="horz" wrap="square" lIns="0" tIns="12065" rIns="0" bIns="0" rtlCol="0">
            <a:spAutoFit/>
          </a:bodyPr>
          <a:lstStyle/>
          <a:p>
            <a:pPr marL="12700">
              <a:spcBef>
                <a:spcPts val="95"/>
              </a:spcBef>
            </a:pPr>
            <a:r>
              <a:rPr spc="-125" dirty="0"/>
              <a:t>Computation-</a:t>
            </a:r>
            <a:r>
              <a:rPr spc="-114" dirty="0"/>
              <a:t>communication</a:t>
            </a:r>
            <a:r>
              <a:rPr spc="-95" dirty="0"/>
              <a:t> </a:t>
            </a:r>
            <a:r>
              <a:rPr spc="-10" dirty="0"/>
              <a:t>overlap</a:t>
            </a:r>
          </a:p>
        </p:txBody>
      </p:sp>
      <p:sp>
        <p:nvSpPr>
          <p:cNvPr id="3" name="object 3"/>
          <p:cNvSpPr txBox="1"/>
          <p:nvPr/>
        </p:nvSpPr>
        <p:spPr>
          <a:xfrm>
            <a:off x="1839263" y="1319911"/>
            <a:ext cx="8451215" cy="5581015"/>
          </a:xfrm>
          <a:prstGeom prst="rect">
            <a:avLst/>
          </a:prstGeom>
        </p:spPr>
        <p:txBody>
          <a:bodyPr vert="horz" wrap="square" lIns="0" tIns="12700" rIns="0" bIns="0" rtlCol="0">
            <a:spAutoFit/>
          </a:bodyPr>
          <a:lstStyle/>
          <a:p>
            <a:pPr marL="27305" marR="2266950">
              <a:spcBef>
                <a:spcPts val="100"/>
              </a:spcBef>
              <a:tabLst>
                <a:tab pos="572770" algn="l"/>
                <a:tab pos="1938655" algn="l"/>
                <a:tab pos="2211070" algn="l"/>
                <a:tab pos="2485390" algn="l"/>
                <a:tab pos="2893695" algn="l"/>
                <a:tab pos="3303904" algn="l"/>
                <a:tab pos="3713479" algn="l"/>
                <a:tab pos="3986529" algn="l"/>
                <a:tab pos="4669155" algn="l"/>
                <a:tab pos="5352415" algn="l"/>
              </a:tabLst>
            </a:pPr>
            <a:r>
              <a:rPr b="1" spc="-25" dirty="0">
                <a:latin typeface="Courier New"/>
                <a:cs typeface="Courier New"/>
              </a:rPr>
              <a:t>int</a:t>
            </a:r>
            <a:r>
              <a:rPr dirty="0">
                <a:latin typeface="Times New Roman"/>
                <a:cs typeface="Times New Roman"/>
              </a:rPr>
              <a:t>	</a:t>
            </a:r>
            <a:r>
              <a:rPr b="1" spc="-10" dirty="0">
                <a:latin typeface="Courier New"/>
                <a:cs typeface="Courier New"/>
              </a:rPr>
              <a:t>nrStreams</a:t>
            </a:r>
            <a:r>
              <a:rPr dirty="0">
                <a:latin typeface="Times New Roman"/>
                <a:cs typeface="Times New Roman"/>
              </a:rPr>
              <a:t>	</a:t>
            </a:r>
            <a:r>
              <a:rPr b="1" spc="-50" dirty="0">
                <a:latin typeface="Courier New"/>
                <a:cs typeface="Courier New"/>
              </a:rPr>
              <a:t>=</a:t>
            </a:r>
            <a:r>
              <a:rPr dirty="0">
                <a:latin typeface="Times New Roman"/>
                <a:cs typeface="Times New Roman"/>
              </a:rPr>
              <a:t>	</a:t>
            </a:r>
            <a:r>
              <a:rPr b="1" spc="-20" dirty="0">
                <a:latin typeface="Courier New"/>
                <a:cs typeface="Courier New"/>
              </a:rPr>
              <a:t>???;</a:t>
            </a:r>
            <a:r>
              <a:rPr dirty="0">
                <a:latin typeface="Times New Roman"/>
                <a:cs typeface="Times New Roman"/>
              </a:rPr>
              <a:t>	</a:t>
            </a:r>
            <a:r>
              <a:rPr b="1" spc="-25" dirty="0">
                <a:latin typeface="Courier New"/>
                <a:cs typeface="Courier New"/>
              </a:rPr>
              <a:t>//</a:t>
            </a:r>
            <a:r>
              <a:rPr dirty="0">
                <a:latin typeface="Times New Roman"/>
                <a:cs typeface="Times New Roman"/>
              </a:rPr>
              <a:t>	</a:t>
            </a:r>
            <a:r>
              <a:rPr b="1" spc="-20" dirty="0">
                <a:latin typeface="Courier New"/>
                <a:cs typeface="Courier New"/>
              </a:rPr>
              <a:t>play</a:t>
            </a:r>
            <a:r>
              <a:rPr dirty="0">
                <a:latin typeface="Times New Roman"/>
                <a:cs typeface="Times New Roman"/>
              </a:rPr>
              <a:t>	</a:t>
            </a:r>
            <a:r>
              <a:rPr b="1" spc="-20" dirty="0">
                <a:latin typeface="Courier New"/>
                <a:cs typeface="Courier New"/>
              </a:rPr>
              <a:t>with</a:t>
            </a:r>
            <a:r>
              <a:rPr dirty="0">
                <a:latin typeface="Times New Roman"/>
                <a:cs typeface="Times New Roman"/>
              </a:rPr>
              <a:t>	</a:t>
            </a:r>
            <a:r>
              <a:rPr b="1" spc="-20" dirty="0">
                <a:latin typeface="Courier New"/>
                <a:cs typeface="Courier New"/>
              </a:rPr>
              <a:t>this</a:t>
            </a:r>
            <a:r>
              <a:rPr dirty="0">
                <a:latin typeface="Times New Roman"/>
                <a:cs typeface="Times New Roman"/>
              </a:rPr>
              <a:t>	</a:t>
            </a:r>
            <a:r>
              <a:rPr b="1" spc="-10" dirty="0">
                <a:latin typeface="Courier New"/>
                <a:cs typeface="Courier New"/>
              </a:rPr>
              <a:t>value!</a:t>
            </a:r>
            <a:r>
              <a:rPr spc="-10" dirty="0">
                <a:latin typeface="Times New Roman"/>
                <a:cs typeface="Times New Roman"/>
              </a:rPr>
              <a:t> </a:t>
            </a:r>
            <a:r>
              <a:rPr b="1" spc="-25" dirty="0">
                <a:latin typeface="Courier New"/>
                <a:cs typeface="Courier New"/>
              </a:rPr>
              <a:t>int</a:t>
            </a:r>
            <a:r>
              <a:rPr dirty="0">
                <a:latin typeface="Times New Roman"/>
                <a:cs typeface="Times New Roman"/>
              </a:rPr>
              <a:t>	</a:t>
            </a:r>
            <a:r>
              <a:rPr b="1" spc="-10" dirty="0">
                <a:latin typeface="Courier New"/>
                <a:cs typeface="Courier New"/>
              </a:rPr>
              <a:t>streamBytes</a:t>
            </a:r>
            <a:r>
              <a:rPr dirty="0">
                <a:latin typeface="Times New Roman"/>
                <a:cs typeface="Times New Roman"/>
              </a:rPr>
              <a:t>	</a:t>
            </a:r>
            <a:r>
              <a:rPr b="1" spc="-50" dirty="0">
                <a:latin typeface="Courier New"/>
                <a:cs typeface="Courier New"/>
              </a:rPr>
              <a:t>=</a:t>
            </a:r>
            <a:r>
              <a:rPr dirty="0">
                <a:latin typeface="Times New Roman"/>
                <a:cs typeface="Times New Roman"/>
              </a:rPr>
              <a:t>	</a:t>
            </a:r>
            <a:r>
              <a:rPr b="1" spc="-10" dirty="0">
                <a:latin typeface="Courier New"/>
                <a:cs typeface="Courier New"/>
              </a:rPr>
              <a:t>numBytes</a:t>
            </a:r>
            <a:r>
              <a:rPr dirty="0">
                <a:latin typeface="Times New Roman"/>
                <a:cs typeface="Times New Roman"/>
              </a:rPr>
              <a:t>	</a:t>
            </a:r>
            <a:r>
              <a:rPr b="1" spc="-50" dirty="0">
                <a:latin typeface="Courier New"/>
                <a:cs typeface="Courier New"/>
              </a:rPr>
              <a:t>/</a:t>
            </a:r>
            <a:r>
              <a:rPr dirty="0">
                <a:latin typeface="Times New Roman"/>
                <a:cs typeface="Times New Roman"/>
              </a:rPr>
              <a:t>	</a:t>
            </a:r>
            <a:r>
              <a:rPr b="1" spc="-10" dirty="0">
                <a:latin typeface="Courier New"/>
                <a:cs typeface="Courier New"/>
              </a:rPr>
              <a:t>nrStreams;</a:t>
            </a:r>
            <a:endParaRPr>
              <a:latin typeface="Courier New"/>
              <a:cs typeface="Courier New"/>
            </a:endParaRPr>
          </a:p>
          <a:p>
            <a:pPr>
              <a:spcBef>
                <a:spcPts val="120"/>
              </a:spcBef>
            </a:pPr>
            <a:endParaRPr>
              <a:latin typeface="Courier New"/>
              <a:cs typeface="Courier New"/>
            </a:endParaRPr>
          </a:p>
          <a:p>
            <a:pPr marL="27305">
              <a:tabLst>
                <a:tab pos="572770" algn="l"/>
                <a:tab pos="1256030" algn="l"/>
                <a:tab pos="1528445" algn="l"/>
                <a:tab pos="1802764" algn="l"/>
                <a:tab pos="2211070" algn="l"/>
                <a:tab pos="2485390" algn="l"/>
                <a:tab pos="2758440" algn="l"/>
                <a:tab pos="4123690" algn="l"/>
                <a:tab pos="4805045" algn="l"/>
              </a:tabLst>
            </a:pPr>
            <a:r>
              <a:rPr b="1" spc="-25" dirty="0">
                <a:latin typeface="Courier New"/>
                <a:cs typeface="Courier New"/>
              </a:rPr>
              <a:t>for</a:t>
            </a:r>
            <a:r>
              <a:rPr dirty="0">
                <a:latin typeface="Times New Roman"/>
                <a:cs typeface="Times New Roman"/>
              </a:rPr>
              <a:t>	</a:t>
            </a:r>
            <a:r>
              <a:rPr b="1" spc="-20" dirty="0">
                <a:latin typeface="Courier New"/>
                <a:cs typeface="Courier New"/>
              </a:rPr>
              <a:t>(int</a:t>
            </a:r>
            <a:r>
              <a:rPr dirty="0">
                <a:latin typeface="Times New Roman"/>
                <a:cs typeface="Times New Roman"/>
              </a:rPr>
              <a:t>	</a:t>
            </a:r>
            <a:r>
              <a:rPr b="1" spc="-50" dirty="0">
                <a:latin typeface="Courier New"/>
                <a:cs typeface="Courier New"/>
              </a:rPr>
              <a:t>i</a:t>
            </a:r>
            <a:r>
              <a:rPr dirty="0">
                <a:latin typeface="Times New Roman"/>
                <a:cs typeface="Times New Roman"/>
              </a:rPr>
              <a:t>	</a:t>
            </a:r>
            <a:r>
              <a:rPr b="1" spc="-50" dirty="0">
                <a:latin typeface="Courier New"/>
                <a:cs typeface="Courier New"/>
              </a:rPr>
              <a:t>=</a:t>
            </a:r>
            <a:r>
              <a:rPr dirty="0">
                <a:latin typeface="Times New Roman"/>
                <a:cs typeface="Times New Roman"/>
              </a:rPr>
              <a:t>	</a:t>
            </a:r>
            <a:r>
              <a:rPr b="1" spc="-25" dirty="0">
                <a:latin typeface="Courier New"/>
                <a:cs typeface="Courier New"/>
              </a:rPr>
              <a:t>0;</a:t>
            </a:r>
            <a:r>
              <a:rPr dirty="0">
                <a:latin typeface="Times New Roman"/>
                <a:cs typeface="Times New Roman"/>
              </a:rPr>
              <a:t>	</a:t>
            </a:r>
            <a:r>
              <a:rPr b="1" spc="-50" dirty="0">
                <a:latin typeface="Courier New"/>
                <a:cs typeface="Courier New"/>
              </a:rPr>
              <a:t>i</a:t>
            </a:r>
            <a:r>
              <a:rPr dirty="0">
                <a:latin typeface="Times New Roman"/>
                <a:cs typeface="Times New Roman"/>
              </a:rPr>
              <a:t>	</a:t>
            </a:r>
            <a:r>
              <a:rPr b="1" spc="-50" dirty="0">
                <a:latin typeface="Courier New"/>
                <a:cs typeface="Courier New"/>
              </a:rPr>
              <a:t>&lt;</a:t>
            </a:r>
            <a:r>
              <a:rPr dirty="0">
                <a:latin typeface="Times New Roman"/>
                <a:cs typeface="Times New Roman"/>
              </a:rPr>
              <a:t>	</a:t>
            </a:r>
            <a:r>
              <a:rPr b="1" spc="-10" dirty="0">
                <a:latin typeface="Courier New"/>
                <a:cs typeface="Courier New"/>
              </a:rPr>
              <a:t>nStreams;</a:t>
            </a:r>
            <a:r>
              <a:rPr dirty="0">
                <a:latin typeface="Times New Roman"/>
                <a:cs typeface="Times New Roman"/>
              </a:rPr>
              <a:t>	</a:t>
            </a:r>
            <a:r>
              <a:rPr b="1" spc="-20" dirty="0">
                <a:latin typeface="Courier New"/>
                <a:cs typeface="Courier New"/>
              </a:rPr>
              <a:t>++i)</a:t>
            </a:r>
            <a:r>
              <a:rPr dirty="0">
                <a:latin typeface="Times New Roman"/>
                <a:cs typeface="Times New Roman"/>
              </a:rPr>
              <a:t>	</a:t>
            </a:r>
            <a:r>
              <a:rPr b="1" spc="-50" dirty="0">
                <a:latin typeface="Courier New"/>
                <a:cs typeface="Courier New"/>
              </a:rPr>
              <a:t>{</a:t>
            </a:r>
            <a:endParaRPr>
              <a:latin typeface="Courier New"/>
              <a:cs typeface="Courier New"/>
            </a:endParaRPr>
          </a:p>
          <a:p>
            <a:pPr marL="300355">
              <a:tabLst>
                <a:tab pos="845819" algn="l"/>
                <a:tab pos="1802764" algn="l"/>
                <a:tab pos="2075814" algn="l"/>
                <a:tab pos="2348865" algn="l"/>
                <a:tab pos="2621280" algn="l"/>
                <a:tab pos="4260215" algn="l"/>
                <a:tab pos="4532630" algn="l"/>
              </a:tabLst>
            </a:pPr>
            <a:r>
              <a:rPr b="1" spc="-25" dirty="0">
                <a:latin typeface="Courier New"/>
                <a:cs typeface="Courier New"/>
              </a:rPr>
              <a:t>int</a:t>
            </a:r>
            <a:r>
              <a:rPr dirty="0">
                <a:latin typeface="Times New Roman"/>
                <a:cs typeface="Times New Roman"/>
              </a:rPr>
              <a:t>	</a:t>
            </a:r>
            <a:r>
              <a:rPr b="1" spc="-10" dirty="0">
                <a:latin typeface="Courier New"/>
                <a:cs typeface="Courier New"/>
              </a:rPr>
              <a:t>offset</a:t>
            </a:r>
            <a:r>
              <a:rPr dirty="0">
                <a:latin typeface="Times New Roman"/>
                <a:cs typeface="Times New Roman"/>
              </a:rPr>
              <a:t>	</a:t>
            </a:r>
            <a:r>
              <a:rPr b="1" spc="-50" dirty="0">
                <a:latin typeface="Courier New"/>
                <a:cs typeface="Courier New"/>
              </a:rPr>
              <a:t>=</a:t>
            </a:r>
            <a:r>
              <a:rPr dirty="0">
                <a:latin typeface="Times New Roman"/>
                <a:cs typeface="Times New Roman"/>
              </a:rPr>
              <a:t>	</a:t>
            </a:r>
            <a:r>
              <a:rPr b="1" spc="-50" dirty="0">
                <a:latin typeface="Courier New"/>
                <a:cs typeface="Courier New"/>
              </a:rPr>
              <a:t>i</a:t>
            </a:r>
            <a:r>
              <a:rPr dirty="0">
                <a:latin typeface="Times New Roman"/>
                <a:cs typeface="Times New Roman"/>
              </a:rPr>
              <a:t>	</a:t>
            </a:r>
            <a:r>
              <a:rPr b="1" spc="-50" dirty="0">
                <a:latin typeface="Courier New"/>
                <a:cs typeface="Courier New"/>
              </a:rPr>
              <a:t>*</a:t>
            </a:r>
            <a:r>
              <a:rPr dirty="0">
                <a:latin typeface="Times New Roman"/>
                <a:cs typeface="Times New Roman"/>
              </a:rPr>
              <a:t>	</a:t>
            </a:r>
            <a:r>
              <a:rPr b="1" spc="-10" dirty="0">
                <a:latin typeface="Courier New"/>
                <a:cs typeface="Courier New"/>
              </a:rPr>
              <a:t>streamBytes</a:t>
            </a:r>
            <a:r>
              <a:rPr dirty="0">
                <a:latin typeface="Times New Roman"/>
                <a:cs typeface="Times New Roman"/>
              </a:rPr>
              <a:t>	</a:t>
            </a:r>
            <a:r>
              <a:rPr b="1" spc="-50" dirty="0">
                <a:latin typeface="Courier New"/>
                <a:cs typeface="Courier New"/>
              </a:rPr>
              <a:t>/</a:t>
            </a:r>
            <a:r>
              <a:rPr dirty="0">
                <a:latin typeface="Times New Roman"/>
                <a:cs typeface="Times New Roman"/>
              </a:rPr>
              <a:t>	</a:t>
            </a:r>
            <a:r>
              <a:rPr b="1" spc="-10" dirty="0">
                <a:latin typeface="Courier New"/>
                <a:cs typeface="Courier New"/>
              </a:rPr>
              <a:t>sizeof(int);</a:t>
            </a:r>
            <a:endParaRPr>
              <a:latin typeface="Courier New"/>
              <a:cs typeface="Courier New"/>
            </a:endParaRPr>
          </a:p>
          <a:p>
            <a:pPr>
              <a:spcBef>
                <a:spcPts val="120"/>
              </a:spcBef>
            </a:pPr>
            <a:endParaRPr>
              <a:latin typeface="Courier New"/>
              <a:cs typeface="Courier New"/>
            </a:endParaRPr>
          </a:p>
          <a:p>
            <a:pPr marL="942340" marR="1308735" indent="-641985">
              <a:tabLst>
                <a:tab pos="4124960" algn="l"/>
                <a:tab pos="4218940" algn="l"/>
                <a:tab pos="5488940" algn="l"/>
              </a:tabLst>
            </a:pPr>
            <a:r>
              <a:rPr b="1" spc="-10" dirty="0">
                <a:latin typeface="Courier New"/>
                <a:cs typeface="Courier New"/>
              </a:rPr>
              <a:t>cudaMemcpyAsync(d_a+offset,</a:t>
            </a:r>
            <a:r>
              <a:rPr dirty="0">
                <a:latin typeface="Times New Roman"/>
                <a:cs typeface="Times New Roman"/>
              </a:rPr>
              <a:t>	</a:t>
            </a:r>
            <a:r>
              <a:rPr b="1" spc="-10" dirty="0">
                <a:latin typeface="Courier New"/>
                <a:cs typeface="Courier New"/>
              </a:rPr>
              <a:t>a+offset,</a:t>
            </a:r>
            <a:r>
              <a:rPr dirty="0">
                <a:latin typeface="Times New Roman"/>
                <a:cs typeface="Times New Roman"/>
              </a:rPr>
              <a:t>	</a:t>
            </a:r>
            <a:r>
              <a:rPr b="1" spc="-10" dirty="0">
                <a:latin typeface="Courier New"/>
                <a:cs typeface="Courier New"/>
              </a:rPr>
              <a:t>streamBytes,</a:t>
            </a:r>
            <a:r>
              <a:rPr spc="-10" dirty="0">
                <a:latin typeface="Times New Roman"/>
                <a:cs typeface="Times New Roman"/>
              </a:rPr>
              <a:t> </a:t>
            </a:r>
            <a:r>
              <a:rPr b="1" spc="-10" dirty="0">
                <a:latin typeface="Courier New"/>
                <a:cs typeface="Courier New"/>
              </a:rPr>
              <a:t>cudaMemcpyHostToDevice,</a:t>
            </a:r>
            <a:r>
              <a:rPr dirty="0">
                <a:latin typeface="Times New Roman"/>
                <a:cs typeface="Times New Roman"/>
              </a:rPr>
              <a:t>		</a:t>
            </a:r>
            <a:r>
              <a:rPr b="1" spc="-10" dirty="0">
                <a:solidFill>
                  <a:srgbClr val="DD7F46"/>
                </a:solidFill>
                <a:latin typeface="Courier New"/>
                <a:cs typeface="Courier New"/>
              </a:rPr>
              <a:t>stream[i]</a:t>
            </a:r>
            <a:r>
              <a:rPr b="1" spc="-10" dirty="0">
                <a:latin typeface="Courier New"/>
                <a:cs typeface="Courier New"/>
              </a:rPr>
              <a:t>);</a:t>
            </a:r>
            <a:endParaRPr>
              <a:latin typeface="Courier New"/>
              <a:cs typeface="Courier New"/>
            </a:endParaRPr>
          </a:p>
          <a:p>
            <a:pPr marL="300355">
              <a:tabLst>
                <a:tab pos="4124960" algn="l"/>
                <a:tab pos="5488940" algn="l"/>
              </a:tabLst>
            </a:pPr>
            <a:r>
              <a:rPr b="1" spc="-10" dirty="0">
                <a:latin typeface="Courier New"/>
                <a:cs typeface="Courier New"/>
              </a:rPr>
              <a:t>cudaMemcpyAsync(d_b+offset,</a:t>
            </a:r>
            <a:r>
              <a:rPr dirty="0">
                <a:latin typeface="Times New Roman"/>
                <a:cs typeface="Times New Roman"/>
              </a:rPr>
              <a:t>	</a:t>
            </a:r>
            <a:r>
              <a:rPr b="1" spc="-10" dirty="0">
                <a:latin typeface="Courier New"/>
                <a:cs typeface="Courier New"/>
              </a:rPr>
              <a:t>b+offset,</a:t>
            </a:r>
            <a:r>
              <a:rPr dirty="0">
                <a:latin typeface="Times New Roman"/>
                <a:cs typeface="Times New Roman"/>
              </a:rPr>
              <a:t>	</a:t>
            </a:r>
            <a:r>
              <a:rPr b="1" spc="-10" dirty="0">
                <a:latin typeface="Courier New"/>
                <a:cs typeface="Courier New"/>
              </a:rPr>
              <a:t>streamBytes,</a:t>
            </a:r>
            <a:endParaRPr>
              <a:latin typeface="Courier New"/>
              <a:cs typeface="Courier New"/>
            </a:endParaRPr>
          </a:p>
          <a:p>
            <a:pPr marL="942340">
              <a:tabLst>
                <a:tab pos="4218940" algn="l"/>
              </a:tabLst>
            </a:pPr>
            <a:r>
              <a:rPr b="1" spc="-10" dirty="0">
                <a:latin typeface="Courier New"/>
                <a:cs typeface="Courier New"/>
              </a:rPr>
              <a:t>cudaMemcpyHostToDevice,</a:t>
            </a:r>
            <a:r>
              <a:rPr dirty="0">
                <a:latin typeface="Times New Roman"/>
                <a:cs typeface="Times New Roman"/>
              </a:rPr>
              <a:t>	</a:t>
            </a:r>
            <a:r>
              <a:rPr b="1" spc="-10" dirty="0">
                <a:solidFill>
                  <a:srgbClr val="DD7F46"/>
                </a:solidFill>
                <a:latin typeface="Courier New"/>
                <a:cs typeface="Courier New"/>
              </a:rPr>
              <a:t>stream[i]</a:t>
            </a:r>
            <a:r>
              <a:rPr b="1" spc="-10" dirty="0">
                <a:latin typeface="Courier New"/>
                <a:cs typeface="Courier New"/>
              </a:rPr>
              <a:t>);</a:t>
            </a:r>
            <a:endParaRPr>
              <a:latin typeface="Courier New"/>
              <a:cs typeface="Courier New"/>
            </a:endParaRPr>
          </a:p>
          <a:p>
            <a:pPr>
              <a:spcBef>
                <a:spcPts val="125"/>
              </a:spcBef>
            </a:pPr>
            <a:endParaRPr>
              <a:latin typeface="Courier New"/>
              <a:cs typeface="Courier New"/>
            </a:endParaRPr>
          </a:p>
          <a:p>
            <a:pPr marL="300355">
              <a:tabLst>
                <a:tab pos="4397375" algn="l"/>
              </a:tabLst>
            </a:pPr>
            <a:r>
              <a:rPr b="1" spc="-10" dirty="0">
                <a:latin typeface="Courier New"/>
                <a:cs typeface="Courier New"/>
              </a:rPr>
              <a:t>vector_add&lt;&lt;&lt;</a:t>
            </a:r>
            <a:r>
              <a:rPr b="1" spc="-10" dirty="0">
                <a:solidFill>
                  <a:srgbClr val="FF0000"/>
                </a:solidFill>
                <a:latin typeface="Courier New"/>
                <a:cs typeface="Courier New"/>
              </a:rPr>
              <a:t>blocks/nStreams</a:t>
            </a:r>
            <a:r>
              <a:rPr b="1" spc="-10" dirty="0">
                <a:latin typeface="Courier New"/>
                <a:cs typeface="Courier New"/>
              </a:rPr>
              <a:t>,</a:t>
            </a:r>
            <a:r>
              <a:rPr dirty="0">
                <a:latin typeface="Times New Roman"/>
                <a:cs typeface="Times New Roman"/>
              </a:rPr>
              <a:t>	</a:t>
            </a:r>
            <a:r>
              <a:rPr b="1" spc="-10" dirty="0">
                <a:latin typeface="Courier New"/>
                <a:cs typeface="Courier New"/>
              </a:rPr>
              <a:t>threads,</a:t>
            </a:r>
            <a:endParaRPr>
              <a:latin typeface="Courier New"/>
              <a:cs typeface="Courier New"/>
            </a:endParaRPr>
          </a:p>
          <a:p>
            <a:pPr marL="1856105">
              <a:tabLst>
                <a:tab pos="2266950" algn="l"/>
                <a:tab pos="4723130" algn="l"/>
                <a:tab pos="5406390" algn="l"/>
                <a:tab pos="6089015" algn="l"/>
              </a:tabLst>
            </a:pPr>
            <a:r>
              <a:rPr b="1" spc="-25" dirty="0">
                <a:latin typeface="Courier New"/>
                <a:cs typeface="Courier New"/>
              </a:rPr>
              <a:t>0,</a:t>
            </a:r>
            <a:r>
              <a:rPr dirty="0">
                <a:latin typeface="Times New Roman"/>
                <a:cs typeface="Times New Roman"/>
              </a:rPr>
              <a:t>	</a:t>
            </a:r>
            <a:r>
              <a:rPr b="1" spc="-10" dirty="0">
                <a:solidFill>
                  <a:srgbClr val="DD7F46"/>
                </a:solidFill>
                <a:latin typeface="Courier New"/>
                <a:cs typeface="Courier New"/>
              </a:rPr>
              <a:t>stream[i]</a:t>
            </a:r>
            <a:r>
              <a:rPr b="1" spc="-10" dirty="0">
                <a:latin typeface="Courier New"/>
                <a:cs typeface="Courier New"/>
              </a:rPr>
              <a:t>&gt;&gt;&gt;(d_a,</a:t>
            </a:r>
            <a:r>
              <a:rPr dirty="0">
                <a:latin typeface="Times New Roman"/>
                <a:cs typeface="Times New Roman"/>
              </a:rPr>
              <a:t>	</a:t>
            </a:r>
            <a:r>
              <a:rPr b="1" spc="-20" dirty="0">
                <a:latin typeface="Courier New"/>
                <a:cs typeface="Courier New"/>
              </a:rPr>
              <a:t>d_b,</a:t>
            </a:r>
            <a:r>
              <a:rPr dirty="0">
                <a:latin typeface="Times New Roman"/>
                <a:cs typeface="Times New Roman"/>
              </a:rPr>
              <a:t>	</a:t>
            </a:r>
            <a:r>
              <a:rPr b="1" spc="-20" dirty="0">
                <a:latin typeface="Courier New"/>
                <a:cs typeface="Courier New"/>
              </a:rPr>
              <a:t>d_c,</a:t>
            </a:r>
            <a:r>
              <a:rPr dirty="0">
                <a:latin typeface="Times New Roman"/>
                <a:cs typeface="Times New Roman"/>
              </a:rPr>
              <a:t>	</a:t>
            </a:r>
            <a:r>
              <a:rPr b="1" spc="-10" dirty="0">
                <a:latin typeface="Courier New"/>
                <a:cs typeface="Courier New"/>
              </a:rPr>
              <a:t>offset);</a:t>
            </a:r>
            <a:endParaRPr>
              <a:latin typeface="Courier New"/>
              <a:cs typeface="Courier New"/>
            </a:endParaRPr>
          </a:p>
          <a:p>
            <a:pPr>
              <a:spcBef>
                <a:spcPts val="120"/>
              </a:spcBef>
            </a:pPr>
            <a:endParaRPr>
              <a:latin typeface="Courier New"/>
              <a:cs typeface="Courier New"/>
            </a:endParaRPr>
          </a:p>
          <a:p>
            <a:pPr marL="300355">
              <a:tabLst>
                <a:tab pos="3850640" algn="l"/>
                <a:tab pos="5488940" algn="l"/>
              </a:tabLst>
            </a:pPr>
            <a:r>
              <a:rPr b="1" spc="-10" dirty="0">
                <a:latin typeface="Courier New"/>
                <a:cs typeface="Courier New"/>
              </a:rPr>
              <a:t>cudaMemcpyAsync(c+offset,</a:t>
            </a:r>
            <a:r>
              <a:rPr dirty="0">
                <a:latin typeface="Times New Roman"/>
                <a:cs typeface="Times New Roman"/>
              </a:rPr>
              <a:t>	</a:t>
            </a:r>
            <a:r>
              <a:rPr b="1" spc="-10" dirty="0">
                <a:latin typeface="Courier New"/>
                <a:cs typeface="Courier New"/>
              </a:rPr>
              <a:t>d_c+offset,</a:t>
            </a:r>
            <a:r>
              <a:rPr dirty="0">
                <a:latin typeface="Times New Roman"/>
                <a:cs typeface="Times New Roman"/>
              </a:rPr>
              <a:t>	</a:t>
            </a:r>
            <a:r>
              <a:rPr b="1" spc="-10" dirty="0">
                <a:latin typeface="Courier New"/>
                <a:cs typeface="Courier New"/>
              </a:rPr>
              <a:t>streamBytes,</a:t>
            </a:r>
            <a:endParaRPr>
              <a:latin typeface="Courier New"/>
              <a:cs typeface="Courier New"/>
            </a:endParaRPr>
          </a:p>
          <a:p>
            <a:pPr marL="942340">
              <a:spcBef>
                <a:spcPts val="5"/>
              </a:spcBef>
              <a:tabLst>
                <a:tab pos="4218940" algn="l"/>
              </a:tabLst>
            </a:pPr>
            <a:r>
              <a:rPr b="1" spc="-10" dirty="0">
                <a:latin typeface="Courier New"/>
                <a:cs typeface="Courier New"/>
              </a:rPr>
              <a:t>cudaMemcpyDeviceToHost,</a:t>
            </a:r>
            <a:r>
              <a:rPr dirty="0">
                <a:latin typeface="Times New Roman"/>
                <a:cs typeface="Times New Roman"/>
              </a:rPr>
              <a:t>	</a:t>
            </a:r>
            <a:r>
              <a:rPr b="1" spc="-10" dirty="0">
                <a:solidFill>
                  <a:srgbClr val="DD7F46"/>
                </a:solidFill>
                <a:latin typeface="Courier New"/>
                <a:cs typeface="Courier New"/>
              </a:rPr>
              <a:t>stream[i]</a:t>
            </a:r>
            <a:r>
              <a:rPr b="1" spc="-10" dirty="0">
                <a:latin typeface="Courier New"/>
                <a:cs typeface="Courier New"/>
              </a:rPr>
              <a:t>);</a:t>
            </a:r>
            <a:endParaRPr>
              <a:latin typeface="Courier New"/>
              <a:cs typeface="Courier New"/>
            </a:endParaRPr>
          </a:p>
          <a:p>
            <a:pPr marL="27305"/>
            <a:r>
              <a:rPr b="1" spc="-50" dirty="0">
                <a:latin typeface="Courier New"/>
                <a:cs typeface="Courier New"/>
              </a:rPr>
              <a:t>}</a:t>
            </a:r>
            <a:endParaRPr>
              <a:latin typeface="Courier New"/>
              <a:cs typeface="Courier New"/>
            </a:endParaRPr>
          </a:p>
          <a:p>
            <a:pPr marL="27305"/>
            <a:r>
              <a:rPr b="1" spc="-10" dirty="0">
                <a:solidFill>
                  <a:srgbClr val="FF0000"/>
                </a:solidFill>
                <a:latin typeface="Courier New"/>
                <a:cs typeface="Courier New"/>
              </a:rPr>
              <a:t>cudaDeviceSynchronize();</a:t>
            </a:r>
            <a:endParaRPr>
              <a:latin typeface="Courier New"/>
              <a:cs typeface="Courier New"/>
            </a:endParaRPr>
          </a:p>
          <a:p>
            <a:pPr>
              <a:spcBef>
                <a:spcPts val="285"/>
              </a:spcBef>
            </a:pPr>
            <a:endParaRPr>
              <a:latin typeface="Courier New"/>
              <a:cs typeface="Courier New"/>
            </a:endParaRPr>
          </a:p>
          <a:p>
            <a:pPr marL="12700"/>
            <a:r>
              <a:rPr sz="1400" u="heavy" spc="-10" dirty="0">
                <a:solidFill>
                  <a:srgbClr val="0000FF"/>
                </a:solidFill>
                <a:uFill>
                  <a:solidFill>
                    <a:srgbClr val="0000FF"/>
                  </a:solidFill>
                </a:uFill>
                <a:latin typeface="Arial"/>
                <a:cs typeface="Arial"/>
                <a:hlinkClick r:id="rId2"/>
              </a:rPr>
              <a:t>https://github.com/parallel-forall/code-samples/blob/master/series/cuda-cpp/overlap-data-transfers/async.cu</a:t>
            </a:r>
            <a:endParaRPr sz="1400">
              <a:latin typeface="Arial"/>
              <a:cs typeface="Arial"/>
            </a:endParaRPr>
          </a:p>
        </p:txBody>
      </p:sp>
    </p:spTree>
    <p:extLst>
      <p:ext uri="{BB962C8B-B14F-4D97-AF65-F5344CB8AC3E}">
        <p14:creationId xmlns:p14="http://schemas.microsoft.com/office/powerpoint/2010/main" val="357620695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59941" y="697737"/>
            <a:ext cx="7898765" cy="635000"/>
          </a:xfrm>
          <a:prstGeom prst="rect">
            <a:avLst/>
          </a:prstGeom>
        </p:spPr>
        <p:txBody>
          <a:bodyPr vert="horz" wrap="square" lIns="0" tIns="12065" rIns="0" bIns="0" rtlCol="0">
            <a:spAutoFit/>
          </a:bodyPr>
          <a:lstStyle/>
          <a:p>
            <a:pPr marL="12700">
              <a:spcBef>
                <a:spcPts val="95"/>
              </a:spcBef>
            </a:pPr>
            <a:r>
              <a:rPr spc="-125" dirty="0"/>
              <a:t>Computation-</a:t>
            </a:r>
            <a:r>
              <a:rPr spc="-114" dirty="0"/>
              <a:t>communication</a:t>
            </a:r>
            <a:r>
              <a:rPr spc="-95" dirty="0"/>
              <a:t> </a:t>
            </a:r>
            <a:r>
              <a:rPr spc="-10" dirty="0"/>
              <a:t>overlap</a:t>
            </a:r>
          </a:p>
        </p:txBody>
      </p:sp>
      <p:pic>
        <p:nvPicPr>
          <p:cNvPr id="3" name="object 3"/>
          <p:cNvPicPr/>
          <p:nvPr/>
        </p:nvPicPr>
        <p:blipFill>
          <a:blip r:embed="rId2" cstate="print"/>
          <a:stretch>
            <a:fillRect/>
          </a:stretch>
        </p:blipFill>
        <p:spPr>
          <a:xfrm>
            <a:off x="1539241" y="1845564"/>
            <a:ext cx="9128759" cy="1355140"/>
          </a:xfrm>
          <a:prstGeom prst="rect">
            <a:avLst/>
          </a:prstGeom>
        </p:spPr>
      </p:pic>
      <p:sp>
        <p:nvSpPr>
          <p:cNvPr id="4" name="object 4"/>
          <p:cNvSpPr txBox="1"/>
          <p:nvPr/>
        </p:nvSpPr>
        <p:spPr>
          <a:xfrm>
            <a:off x="9224010" y="19304"/>
            <a:ext cx="387985" cy="285115"/>
          </a:xfrm>
          <a:prstGeom prst="rect">
            <a:avLst/>
          </a:prstGeom>
        </p:spPr>
        <p:txBody>
          <a:bodyPr vert="horz" wrap="square" lIns="0" tIns="12700" rIns="0" bIns="0" rtlCol="0">
            <a:spAutoFit/>
          </a:bodyPr>
          <a:lstStyle/>
          <a:p>
            <a:pPr marL="12700">
              <a:spcBef>
                <a:spcPts val="100"/>
              </a:spcBef>
            </a:pPr>
            <a:r>
              <a:rPr sz="1700" spc="-25" dirty="0">
                <a:latin typeface="Arial"/>
                <a:cs typeface="Arial"/>
              </a:rPr>
              <a:t>101</a:t>
            </a:r>
            <a:endParaRPr sz="1700">
              <a:latin typeface="Arial"/>
              <a:cs typeface="Arial"/>
            </a:endParaRPr>
          </a:p>
        </p:txBody>
      </p:sp>
      <p:pic>
        <p:nvPicPr>
          <p:cNvPr id="5" name="object 5"/>
          <p:cNvPicPr/>
          <p:nvPr/>
        </p:nvPicPr>
        <p:blipFill>
          <a:blip r:embed="rId3" cstate="print"/>
          <a:stretch>
            <a:fillRect/>
          </a:stretch>
        </p:blipFill>
        <p:spPr>
          <a:xfrm>
            <a:off x="1996440" y="5157217"/>
            <a:ext cx="8165306" cy="898356"/>
          </a:xfrm>
          <a:prstGeom prst="rect">
            <a:avLst/>
          </a:prstGeom>
        </p:spPr>
      </p:pic>
      <p:grpSp>
        <p:nvGrpSpPr>
          <p:cNvPr id="6" name="object 6"/>
          <p:cNvGrpSpPr/>
          <p:nvPr/>
        </p:nvGrpSpPr>
        <p:grpSpPr>
          <a:xfrm>
            <a:off x="5147814" y="3488178"/>
            <a:ext cx="1538605" cy="1294765"/>
            <a:chOff x="3623813" y="3488177"/>
            <a:chExt cx="1538605" cy="1294765"/>
          </a:xfrm>
        </p:grpSpPr>
        <p:sp>
          <p:nvSpPr>
            <p:cNvPr id="7" name="object 7"/>
            <p:cNvSpPr/>
            <p:nvPr/>
          </p:nvSpPr>
          <p:spPr>
            <a:xfrm>
              <a:off x="3637026" y="3501389"/>
              <a:ext cx="1511935" cy="1268095"/>
            </a:xfrm>
            <a:custGeom>
              <a:avLst/>
              <a:gdLst/>
              <a:ahLst/>
              <a:cxnLst/>
              <a:rect l="l" t="t" r="r" b="b"/>
              <a:pathLst>
                <a:path w="1511935" h="1268095">
                  <a:moveTo>
                    <a:pt x="1133856" y="0"/>
                  </a:moveTo>
                  <a:lnTo>
                    <a:pt x="377952" y="0"/>
                  </a:lnTo>
                  <a:lnTo>
                    <a:pt x="377952" y="633984"/>
                  </a:lnTo>
                  <a:lnTo>
                    <a:pt x="0" y="633984"/>
                  </a:lnTo>
                  <a:lnTo>
                    <a:pt x="755904" y="1267968"/>
                  </a:lnTo>
                  <a:lnTo>
                    <a:pt x="1511808" y="633984"/>
                  </a:lnTo>
                  <a:lnTo>
                    <a:pt x="1133856" y="633984"/>
                  </a:lnTo>
                  <a:lnTo>
                    <a:pt x="1133856" y="0"/>
                  </a:lnTo>
                  <a:close/>
                </a:path>
              </a:pathLst>
            </a:custGeom>
            <a:solidFill>
              <a:srgbClr val="4F80BC"/>
            </a:solidFill>
          </p:spPr>
          <p:txBody>
            <a:bodyPr wrap="square" lIns="0" tIns="0" rIns="0" bIns="0" rtlCol="0"/>
            <a:lstStyle/>
            <a:p>
              <a:endParaRPr/>
            </a:p>
          </p:txBody>
        </p:sp>
        <p:sp>
          <p:nvSpPr>
            <p:cNvPr id="8" name="object 8"/>
            <p:cNvSpPr/>
            <p:nvPr/>
          </p:nvSpPr>
          <p:spPr>
            <a:xfrm>
              <a:off x="3637026" y="3501389"/>
              <a:ext cx="1511935" cy="1268095"/>
            </a:xfrm>
            <a:custGeom>
              <a:avLst/>
              <a:gdLst/>
              <a:ahLst/>
              <a:cxnLst/>
              <a:rect l="l" t="t" r="r" b="b"/>
              <a:pathLst>
                <a:path w="1511935" h="1268095">
                  <a:moveTo>
                    <a:pt x="0" y="633984"/>
                  </a:moveTo>
                  <a:lnTo>
                    <a:pt x="377952" y="633984"/>
                  </a:lnTo>
                  <a:lnTo>
                    <a:pt x="377952" y="0"/>
                  </a:lnTo>
                  <a:lnTo>
                    <a:pt x="1133856" y="0"/>
                  </a:lnTo>
                  <a:lnTo>
                    <a:pt x="1133856" y="633984"/>
                  </a:lnTo>
                  <a:lnTo>
                    <a:pt x="1511808" y="633984"/>
                  </a:lnTo>
                  <a:lnTo>
                    <a:pt x="755904" y="1267968"/>
                  </a:lnTo>
                  <a:lnTo>
                    <a:pt x="0" y="633984"/>
                  </a:lnTo>
                  <a:close/>
                </a:path>
              </a:pathLst>
            </a:custGeom>
            <a:ln w="26424">
              <a:solidFill>
                <a:srgbClr val="385D89"/>
              </a:solidFill>
            </a:ln>
          </p:spPr>
          <p:txBody>
            <a:bodyPr wrap="square" lIns="0" tIns="0" rIns="0" bIns="0" rtlCol="0"/>
            <a:lstStyle/>
            <a:p>
              <a:endParaRPr/>
            </a:p>
          </p:txBody>
        </p:sp>
      </p:grpSp>
      <p:sp>
        <p:nvSpPr>
          <p:cNvPr id="9" name="object 9"/>
          <p:cNvSpPr txBox="1"/>
          <p:nvPr/>
        </p:nvSpPr>
        <p:spPr>
          <a:xfrm>
            <a:off x="1602739" y="4777314"/>
            <a:ext cx="2335530" cy="314960"/>
          </a:xfrm>
          <a:prstGeom prst="rect">
            <a:avLst/>
          </a:prstGeom>
        </p:spPr>
        <p:txBody>
          <a:bodyPr vert="horz" wrap="square" lIns="0" tIns="12065" rIns="0" bIns="0" rtlCol="0">
            <a:spAutoFit/>
          </a:bodyPr>
          <a:lstStyle/>
          <a:p>
            <a:pPr marL="12700">
              <a:spcBef>
                <a:spcPts val="95"/>
              </a:spcBef>
            </a:pPr>
            <a:r>
              <a:rPr sz="1900" spc="-50" dirty="0">
                <a:latin typeface="Arial Black"/>
                <a:cs typeface="Arial Black"/>
              </a:rPr>
              <a:t>Streaming</a:t>
            </a:r>
            <a:r>
              <a:rPr sz="1900" spc="-15" dirty="0">
                <a:latin typeface="Times New Roman"/>
                <a:cs typeface="Times New Roman"/>
              </a:rPr>
              <a:t> </a:t>
            </a:r>
            <a:r>
              <a:rPr sz="1900" spc="-50" dirty="0">
                <a:latin typeface="Arial Black"/>
                <a:cs typeface="Arial Black"/>
              </a:rPr>
              <a:t>Version</a:t>
            </a:r>
            <a:endParaRPr sz="1900">
              <a:latin typeface="Arial Black"/>
              <a:cs typeface="Arial Black"/>
            </a:endParaRPr>
          </a:p>
        </p:txBody>
      </p:sp>
    </p:spTree>
    <p:extLst>
      <p:ext uri="{BB962C8B-B14F-4D97-AF65-F5344CB8AC3E}">
        <p14:creationId xmlns:p14="http://schemas.microsoft.com/office/powerpoint/2010/main" val="113158631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5.0.0"/>
  <p:tag name="SLIDO_PRESENTATION_ID" val="00000000-0000-0000-0000-000000000000"/>
  <p:tag name="SLIDO_EVENT_UUID" val="6df0fb94-421e-4373-948f-499c7cb68d2c"/>
  <p:tag name="SLIDO_EVENT_SECTION_UUID" val="a83656b7-94a5-4717-9a56-be529c7637c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9600</TotalTime>
  <Words>5439</Words>
  <Application>Microsoft Macintosh PowerPoint</Application>
  <PresentationFormat>Widescreen</PresentationFormat>
  <Paragraphs>917</Paragraphs>
  <Slides>69</Slides>
  <Notes>33</Notes>
  <HiddenSlides>1</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69</vt:i4>
      </vt:variant>
    </vt:vector>
  </HeadingPairs>
  <TitlesOfParts>
    <vt:vector size="82" baseType="lpstr">
      <vt:lpstr>Aptos</vt:lpstr>
      <vt:lpstr>Arial</vt:lpstr>
      <vt:lpstr>Arial Black</vt:lpstr>
      <vt:lpstr>Calibri</vt:lpstr>
      <vt:lpstr>Courier New</vt:lpstr>
      <vt:lpstr>Lato</vt:lpstr>
      <vt:lpstr>Menlo</vt:lpstr>
      <vt:lpstr>NVIDIA Sans</vt:lpstr>
      <vt:lpstr>Roboto</vt:lpstr>
      <vt:lpstr>Roboto Mono</vt:lpstr>
      <vt:lpstr>Times New Roman</vt:lpstr>
      <vt:lpstr>Wingdings</vt:lpstr>
      <vt:lpstr>Office Theme</vt:lpstr>
      <vt:lpstr>PowerPoint Presentation</vt:lpstr>
      <vt:lpstr>PowerPoint Presentation</vt:lpstr>
      <vt:lpstr>The story so far…</vt:lpstr>
      <vt:lpstr>High-level architecture</vt:lpstr>
      <vt:lpstr>CUDA program :  RECIPE!</vt:lpstr>
      <vt:lpstr>Execution flow</vt:lpstr>
      <vt:lpstr>More on Complex Geometries</vt:lpstr>
      <vt:lpstr>kind of Geometries</vt:lpstr>
      <vt:lpstr>PowerPoint Presentation</vt:lpstr>
      <vt:lpstr>Indexing</vt:lpstr>
      <vt:lpstr>PowerPoint Presentation</vt:lpstr>
      <vt:lpstr>Data in Memory</vt:lpstr>
      <vt:lpstr>Moving Data To/From the GPU</vt:lpstr>
      <vt:lpstr>Transferring Data To/From the GPU</vt:lpstr>
      <vt:lpstr>Explicit Memory Operations</vt:lpstr>
      <vt:lpstr>Explicit Memory Allocation </vt:lpstr>
      <vt:lpstr>PowerPoint Presentation</vt:lpstr>
      <vt:lpstr>Unified Memory</vt:lpstr>
      <vt:lpstr>Multiple Applications Running on one GPU</vt:lpstr>
      <vt:lpstr>EXCERCISE</vt:lpstr>
      <vt:lpstr>MEMORY SPACES</vt:lpstr>
      <vt:lpstr>Multiple Device Memory Scopes</vt:lpstr>
      <vt:lpstr>Memory spaces: Per thread</vt:lpstr>
      <vt:lpstr>Memory spaces: DEVICE memory</vt:lpstr>
      <vt:lpstr>Memory spaces: Shared memory</vt:lpstr>
      <vt:lpstr>Memory spaces: Shared memory</vt:lpstr>
      <vt:lpstr>Revisiting GPU architecture</vt:lpstr>
      <vt:lpstr>Memory spaces: texture memory</vt:lpstr>
      <vt:lpstr>Memory spaces: Constant</vt:lpstr>
      <vt:lpstr>Memory hierarchy</vt:lpstr>
      <vt:lpstr>PowerPoint Presentation</vt:lpstr>
      <vt:lpstr>Threads in a GPU architecture</vt:lpstr>
      <vt:lpstr>CUDA Kernel</vt:lpstr>
      <vt:lpstr>PowerPoint Presentation</vt:lpstr>
      <vt:lpstr>What Happens When We Execute a CUDA Program?</vt:lpstr>
      <vt:lpstr>Scheduling on The GPU</vt:lpstr>
      <vt:lpstr>Block Scheduling</vt:lpstr>
      <vt:lpstr>Block Scheduling</vt:lpstr>
      <vt:lpstr>Block Scheduling : SUMMARY</vt:lpstr>
      <vt:lpstr>Thread Scheduling</vt:lpstr>
      <vt:lpstr>Warps</vt:lpstr>
      <vt:lpstr>Warps</vt:lpstr>
      <vt:lpstr>Warps</vt:lpstr>
      <vt:lpstr>Warps</vt:lpstr>
      <vt:lpstr>Warps</vt:lpstr>
      <vt:lpstr>Stalled Warps</vt:lpstr>
      <vt:lpstr>Resource limitations on SM</vt:lpstr>
      <vt:lpstr>Synchronization (preview)</vt:lpstr>
      <vt:lpstr>Atomic Operations (preview)</vt:lpstr>
      <vt:lpstr>Thread Divergence</vt:lpstr>
      <vt:lpstr>Thread Divergence</vt:lpstr>
      <vt:lpstr>Thread Divergence</vt:lpstr>
      <vt:lpstr>Divergence can cause deadlocks</vt:lpstr>
      <vt:lpstr>Avoiding divergence</vt:lpstr>
      <vt:lpstr>Thread Divergence</vt:lpstr>
      <vt:lpstr>Avoiding divergence</vt:lpstr>
      <vt:lpstr>Exercise - 1</vt:lpstr>
      <vt:lpstr>Exercise - 2</vt:lpstr>
      <vt:lpstr>OVERLAPPING COMPUTATION AND COMMUNICATION:</vt:lpstr>
      <vt:lpstr>Main performance bottleneck?</vt:lpstr>
      <vt:lpstr>Overlap Computation and Communication</vt:lpstr>
      <vt:lpstr>What are streams?</vt:lpstr>
      <vt:lpstr>The default stream</vt:lpstr>
      <vt:lpstr>Non-default streams</vt:lpstr>
      <vt:lpstr>Non-default streams</vt:lpstr>
      <vt:lpstr>Non-default streams</vt:lpstr>
      <vt:lpstr>The typical vector-add</vt:lpstr>
      <vt:lpstr>Computation-communication overlap</vt:lpstr>
      <vt:lpstr>Computation-communication overlap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 programming many-core computing: CUDA introduction (3/5)</dc:title>
  <dc:creator>rob</dc:creator>
  <cp:lastModifiedBy>Dolly Sapra</cp:lastModifiedBy>
  <cp:revision>23</cp:revision>
  <dcterms:created xsi:type="dcterms:W3CDTF">2024-11-13T12:19:10Z</dcterms:created>
  <dcterms:modified xsi:type="dcterms:W3CDTF">2025-11-09T21:31:58Z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2024-11-13T00:00:00Z</vt:filetime>
  </property>
  <property fmtid="{D5CDD505-2E9C-101B-9397-08002B2CF9AE}" pid="3" name="Creator">
    <vt:lpwstr>Microsoft® PowerPoint® for Microsoft 365</vt:lpwstr>
  </property>
  <property fmtid="{D5CDD505-2E9C-101B-9397-08002B2CF9AE}" pid="4" name="LastSaved">
    <vt:filetime>2024-11-13T00:00:00Z</vt:filetime>
  </property>
  <property fmtid="{D5CDD505-2E9C-101B-9397-08002B2CF9AE}" pid="5" name="Producer">
    <vt:lpwstr>GPL Ghostscript 9.26</vt:lpwstr>
  </property>
</Properties>
</file>